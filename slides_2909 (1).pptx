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6" r:id="rId1"/>
    <p:sldMasterId id="2147483687" r:id="rId2"/>
    <p:sldMasterId id="2147483722" r:id="rId3"/>
    <p:sldMasterId id="2147483717" r:id="rId4"/>
  </p:sldMasterIdLst>
  <p:notesMasterIdLst>
    <p:notesMasterId r:id="rId34"/>
  </p:notesMasterIdLst>
  <p:sldIdLst>
    <p:sldId id="287" r:id="rId5"/>
    <p:sldId id="289" r:id="rId6"/>
    <p:sldId id="271" r:id="rId7"/>
    <p:sldId id="288" r:id="rId8"/>
    <p:sldId id="290" r:id="rId9"/>
    <p:sldId id="282" r:id="rId10"/>
    <p:sldId id="257" r:id="rId11"/>
    <p:sldId id="262" r:id="rId12"/>
    <p:sldId id="275" r:id="rId13"/>
    <p:sldId id="264" r:id="rId14"/>
    <p:sldId id="272" r:id="rId15"/>
    <p:sldId id="291" r:id="rId16"/>
    <p:sldId id="278" r:id="rId17"/>
    <p:sldId id="280" r:id="rId18"/>
    <p:sldId id="268" r:id="rId19"/>
    <p:sldId id="292" r:id="rId20"/>
    <p:sldId id="267" r:id="rId21"/>
    <p:sldId id="269" r:id="rId22"/>
    <p:sldId id="293" r:id="rId23"/>
    <p:sldId id="296" r:id="rId24"/>
    <p:sldId id="259" r:id="rId25"/>
    <p:sldId id="294" r:id="rId26"/>
    <p:sldId id="295" r:id="rId27"/>
    <p:sldId id="277" r:id="rId28"/>
    <p:sldId id="256" r:id="rId29"/>
    <p:sldId id="258" r:id="rId30"/>
    <p:sldId id="261" r:id="rId31"/>
    <p:sldId id="260" r:id="rId32"/>
    <p:sldId id="286" r:id="rId3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21523DF-8796-45EC-B5ED-4E503E1F0E63}">
          <p14:sldIdLst>
            <p14:sldId id="287"/>
          </p14:sldIdLst>
        </p14:section>
        <p14:section name="introduction" id="{0625C36A-E498-445E-8511-0B5E5D12FD91}">
          <p14:sldIdLst>
            <p14:sldId id="289"/>
            <p14:sldId id="271"/>
            <p14:sldId id="288"/>
            <p14:sldId id="290"/>
            <p14:sldId id="282"/>
          </p14:sldIdLst>
        </p14:section>
        <p14:section name="Extension DARES" id="{B46AD496-F498-4B71-8E7E-5DEBD37A3222}">
          <p14:sldIdLst>
            <p14:sldId id="257"/>
            <p14:sldId id="262"/>
          </p14:sldIdLst>
        </p14:section>
        <p14:section name="event study moyen terme" id="{4613DF84-E2AD-4ABB-B049-BB7BF5CE0CE8}">
          <p14:sldIdLst>
            <p14:sldId id="275"/>
            <p14:sldId id="264"/>
            <p14:sldId id="272"/>
            <p14:sldId id="291"/>
          </p14:sldIdLst>
        </p14:section>
        <p14:section name="long-terme" id="{2806E7E5-3382-4A10-BEE5-AACE3D9349E5}">
          <p14:sldIdLst>
            <p14:sldId id="278"/>
            <p14:sldId id="280"/>
          </p14:sldIdLst>
        </p14:section>
        <p14:section name="consommation de droits" id="{9EAFE943-EDB2-4DA4-94A9-78FE13ED28D2}">
          <p14:sldIdLst>
            <p14:sldId id="268"/>
          </p14:sldIdLst>
        </p14:section>
        <p14:section name="analyse de séquences" id="{A0E0A2FC-AFAF-4B1E-9117-AE6CA9C71CEA}">
          <p14:sldIdLst>
            <p14:sldId id="292"/>
            <p14:sldId id="267"/>
            <p14:sldId id="269"/>
            <p14:sldId id="293"/>
            <p14:sldId id="296"/>
            <p14:sldId id="259"/>
            <p14:sldId id="294"/>
            <p14:sldId id="295"/>
          </p14:sldIdLst>
        </p14:section>
        <p14:section name="slides masquées" id="{F4B02289-DA5D-46CB-A6CC-7B2FE138512E}">
          <p14:sldIdLst>
            <p14:sldId id="277"/>
            <p14:sldId id="256"/>
            <p14:sldId id="258"/>
            <p14:sldId id="261"/>
            <p14:sldId id="260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2" pos="1323">
          <p15:clr>
            <a:srgbClr val="A4A3A4"/>
          </p15:clr>
        </p15:guide>
        <p15:guide id="3" orient="horz" pos="1502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9EBFEC-EEF1-C716-9F09-23F6E127D94B}" name="COSTANZO Baptiste" initials="CB" userId="S::bcostanzo@unedic.fr::6b33f76f-2bba-4ae1-95d0-467f7ea4df06" providerId="AD"/>
  <p188:author id="{A540DDF8-E3B7-174B-EF84-64590914434C}" name="EL AAZDOUDI Salma" initials="SE" userId="S::selaazdoudi@unedic.fr::28d60433-ec6b-4bfb-8161-9f29ac0c4d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1DD"/>
    <a:srgbClr val="E8F2E0"/>
    <a:srgbClr val="E6F2F2"/>
    <a:srgbClr val="FFEACC"/>
    <a:srgbClr val="A6C6CB"/>
    <a:srgbClr val="F2F8F9"/>
    <a:srgbClr val="FFE8CC"/>
    <a:srgbClr val="E6F1F1"/>
    <a:srgbClr val="E3D1ED"/>
    <a:srgbClr val="7BBB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3BBFA-6F59-40BC-B489-017AE0431D00}" v="1187" dt="2026-10-12T12:49:59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pos="1323"/>
        <p:guide orient="horz" pos="15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750" y="1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CDC79D72-F109-4499-B19B-5C42BC05D854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27" y="4777782"/>
            <a:ext cx="5438140" cy="390783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29305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750" y="9429305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79BCF11A-3F90-4CE2-B285-2EE7D9BEB7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05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CF11A-3F90-4CE2-B285-2EE7D9BEB75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179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CF11A-3F90-4CE2-B285-2EE7D9BEB75B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034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 Titre général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D3473EF-F8FA-7745-A335-18295E13A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9999" y="3917302"/>
            <a:ext cx="7296000" cy="278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288494"/>
                </a:solidFill>
                <a:latin typeface="Montserrat SemiBold" pitchFamily="2" charset="77"/>
              </a:defRPr>
            </a:lvl1pPr>
            <a:lvl2pPr marL="457200" indent="0">
              <a:buNone/>
              <a:defRPr sz="1600" b="1" i="0">
                <a:solidFill>
                  <a:srgbClr val="288494"/>
                </a:solidFill>
                <a:latin typeface="Montserrat" pitchFamily="2" charset="77"/>
              </a:defRPr>
            </a:lvl2pPr>
            <a:lvl3pPr marL="914400" indent="0">
              <a:buNone/>
              <a:defRPr sz="1600" b="1" i="0">
                <a:solidFill>
                  <a:srgbClr val="288494"/>
                </a:solidFill>
                <a:latin typeface="Montserrat" pitchFamily="2" charset="77"/>
              </a:defRPr>
            </a:lvl3pPr>
            <a:lvl4pPr marL="1371600" indent="0">
              <a:buNone/>
              <a:defRPr sz="1600" b="1" i="0">
                <a:solidFill>
                  <a:srgbClr val="288494"/>
                </a:solidFill>
                <a:latin typeface="Montserrat" pitchFamily="2" charset="77"/>
              </a:defRPr>
            </a:lvl4pPr>
            <a:lvl5pPr marL="1828800" indent="0">
              <a:buNone/>
              <a:defRPr sz="1600" b="1" i="0">
                <a:solidFill>
                  <a:srgbClr val="288494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 sz="1600" b="1">
                <a:solidFill>
                  <a:srgbClr val="007B7B"/>
                </a:solidFill>
                <a:latin typeface="Montserrat SemiBold" pitchFamily="2" charset="77"/>
              </a:rPr>
              <a:t>Cliquez pour modifier le sous-titre sur une ligne</a:t>
            </a:r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E26800-083F-6A43-A967-8ED2A654B374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4320000" y="2520000"/>
            <a:ext cx="7296000" cy="134178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0" i="0" cap="all" baseline="0">
                <a:solidFill>
                  <a:srgbClr val="288494"/>
                </a:solidFill>
                <a:latin typeface="Montserrat Medium" pitchFamily="2" charset="77"/>
              </a:defRPr>
            </a:lvl1pPr>
            <a:lvl2pPr>
              <a:defRPr sz="3200" baseline="0">
                <a:latin typeface="Montserrat" pitchFamily="2" charset="77"/>
              </a:defRPr>
            </a:lvl2pPr>
            <a:lvl3pPr>
              <a:defRPr sz="3200" baseline="0">
                <a:latin typeface="Montserrat" pitchFamily="2" charset="77"/>
              </a:defRPr>
            </a:lvl3pPr>
            <a:lvl4pPr>
              <a:defRPr sz="3200" baseline="0">
                <a:latin typeface="Montserrat" pitchFamily="2" charset="77"/>
              </a:defRPr>
            </a:lvl4pPr>
            <a:lvl5pPr>
              <a:defRPr sz="3200" baseline="0"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général </a:t>
            </a:r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AFCDC171-826A-4D03-85A9-40C6B454F24B}"/>
              </a:ext>
            </a:extLst>
          </p:cNvPr>
          <p:cNvSpPr txBox="1">
            <a:spLocks/>
          </p:cNvSpPr>
          <p:nvPr/>
        </p:nvSpPr>
        <p:spPr>
          <a:xfrm>
            <a:off x="1962151" y="6390662"/>
            <a:ext cx="361950" cy="270000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200" baseline="0"/>
          </a:p>
        </p:txBody>
      </p:sp>
    </p:spTree>
    <p:extLst>
      <p:ext uri="{BB962C8B-B14F-4D97-AF65-F5344CB8AC3E}">
        <p14:creationId xmlns:p14="http://schemas.microsoft.com/office/powerpoint/2010/main" val="130181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.2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6705296-0273-4C7A-B163-213993253081}"/>
              </a:ext>
            </a:extLst>
          </p:cNvPr>
          <p:cNvSpPr txBox="1">
            <a:spLocks/>
          </p:cNvSpPr>
          <p:nvPr/>
        </p:nvSpPr>
        <p:spPr>
          <a:xfrm>
            <a:off x="1195532" y="6390662"/>
            <a:ext cx="361950" cy="270000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7FC66A-7EF2-0745-BCB5-75B075010D7A}" type="slidenum">
              <a:rPr lang="fr-FR" sz="1000" baseline="0" smtClean="0"/>
              <a:pPr/>
              <a:t>‹N°›</a:t>
            </a:fld>
            <a:endParaRPr lang="fr-FR" sz="1200" baseline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2BCAFD-C2F1-4FF8-9DCF-B1FC26CEACBB}"/>
              </a:ext>
            </a:extLst>
          </p:cNvPr>
          <p:cNvSpPr txBox="1">
            <a:spLocks/>
          </p:cNvSpPr>
          <p:nvPr/>
        </p:nvSpPr>
        <p:spPr>
          <a:xfrm>
            <a:off x="2047271" y="6399898"/>
            <a:ext cx="5891384" cy="270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b="0"/>
              <a:t>APPARIEMENTS SUR LE MARCHE DU TRAVAIL ET RUPTURES CONVENTIONNELLES</a:t>
            </a: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D7EFED49-3569-4317-AF67-4FAB52C93AAB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2666691" y="749495"/>
            <a:ext cx="7296000" cy="63460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0" i="0" cap="all" baseline="0">
                <a:solidFill>
                  <a:srgbClr val="288494"/>
                </a:solidFill>
                <a:latin typeface="Montserrat Medium" pitchFamily="2" charset="77"/>
              </a:defRPr>
            </a:lvl1pPr>
            <a:lvl2pPr>
              <a:defRPr sz="3200" baseline="0">
                <a:latin typeface="Montserrat" pitchFamily="2" charset="77"/>
              </a:defRPr>
            </a:lvl2pPr>
            <a:lvl3pPr>
              <a:defRPr sz="3200" baseline="0">
                <a:latin typeface="Montserrat" pitchFamily="2" charset="77"/>
              </a:defRPr>
            </a:lvl3pPr>
            <a:lvl4pPr>
              <a:defRPr sz="3200" baseline="0">
                <a:latin typeface="Montserrat" pitchFamily="2" charset="77"/>
              </a:defRPr>
            </a:lvl4pPr>
            <a:lvl5pPr>
              <a:defRPr sz="3200" baseline="0">
                <a:latin typeface="Montserrat" pitchFamily="2" charset="77"/>
              </a:defRPr>
            </a:lvl5pPr>
          </a:lstStyle>
          <a:p>
            <a:pPr lvl="0"/>
            <a:r>
              <a:rPr lang="fr-FR"/>
              <a:t>sommaire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271A1EE-ED42-4910-A21C-6671394F8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98788" y="1458478"/>
            <a:ext cx="6062662" cy="2817957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7C80"/>
              </a:buClr>
              <a:buFont typeface="Wingdings" panose="05000000000000000000" pitchFamily="2" charset="2"/>
              <a:buChar char="§"/>
              <a:defRPr sz="1600" b="1" baseline="0">
                <a:solidFill>
                  <a:srgbClr val="94C43E"/>
                </a:solidFill>
                <a:latin typeface="Montserrat SemiBold"/>
              </a:defRPr>
            </a:lvl1pPr>
            <a:lvl2pPr marL="0" indent="-342900">
              <a:buClr>
                <a:srgbClr val="288494"/>
              </a:buClr>
              <a:buFont typeface="Wingdings" panose="05000000000000000000" pitchFamily="2" charset="2"/>
              <a:buChar char="§"/>
              <a:defRPr sz="1600" b="1" baseline="0">
                <a:solidFill>
                  <a:srgbClr val="94C43E"/>
                </a:solidFill>
                <a:latin typeface="Montserrat"/>
              </a:defRPr>
            </a:lvl2pPr>
            <a:lvl3pPr marL="803275" indent="-174625">
              <a:buClr>
                <a:srgbClr val="007B80"/>
              </a:buClr>
              <a:buFont typeface="Courier New" panose="02070309020205020404" pitchFamily="49" charset="0"/>
              <a:buChar char="o"/>
              <a:defRPr sz="1400" b="0">
                <a:latin typeface="+mj-lt"/>
              </a:defRPr>
            </a:lvl3pPr>
            <a:lvl4pPr marL="1255713" indent="-174625">
              <a:buClr>
                <a:srgbClr val="007B80"/>
              </a:buClr>
              <a:buFont typeface="Montserrat" panose="00000500000000000000" pitchFamily="2" charset="0"/>
              <a:buChar char="−"/>
              <a:defRPr sz="1400">
                <a:latin typeface="+mj-lt"/>
              </a:defRPr>
            </a:lvl4pPr>
          </a:lstStyle>
          <a:p>
            <a:pPr lvl="1"/>
            <a:r>
              <a:rPr lang="fr-FR"/>
              <a:t>Premier niveau</a:t>
            </a:r>
          </a:p>
          <a:p>
            <a:pPr lvl="2"/>
            <a:r>
              <a:rPr lang="fr-FR"/>
              <a:t>Deuxième niveau </a:t>
            </a:r>
          </a:p>
          <a:p>
            <a:pPr lvl="3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87667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2 décision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802B9C-C956-416F-B474-BEE5F39CCBFC}"/>
              </a:ext>
            </a:extLst>
          </p:cNvPr>
          <p:cNvSpPr/>
          <p:nvPr/>
        </p:nvSpPr>
        <p:spPr>
          <a:xfrm>
            <a:off x="2305051" y="485775"/>
            <a:ext cx="9401174" cy="5904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D7EFED49-3569-4317-AF67-4FAB52C93AAB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4320000" y="2520000"/>
            <a:ext cx="7296000" cy="909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0" i="0" cap="all" baseline="0">
                <a:solidFill>
                  <a:srgbClr val="288494"/>
                </a:solidFill>
                <a:latin typeface="Montserrat Medium" pitchFamily="2" charset="77"/>
              </a:defRPr>
            </a:lvl1pPr>
            <a:lvl2pPr>
              <a:defRPr sz="3200" baseline="0">
                <a:latin typeface="Montserrat" pitchFamily="2" charset="77"/>
              </a:defRPr>
            </a:lvl2pPr>
            <a:lvl3pPr>
              <a:defRPr sz="3200" baseline="0">
                <a:latin typeface="Montserrat" pitchFamily="2" charset="77"/>
              </a:defRPr>
            </a:lvl3pPr>
            <a:lvl4pPr>
              <a:defRPr sz="3200" baseline="0">
                <a:latin typeface="Montserrat" pitchFamily="2" charset="77"/>
              </a:defRPr>
            </a:lvl4pPr>
            <a:lvl5pPr>
              <a:defRPr sz="3200" baseline="0"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général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271A1EE-ED42-4910-A21C-6671394F86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588" y="3629024"/>
            <a:ext cx="6062662" cy="1933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baseline="0">
                <a:solidFill>
                  <a:srgbClr val="94C43E"/>
                </a:solidFill>
                <a:latin typeface="Montserrat SemiBold"/>
              </a:defRPr>
            </a:lvl1pPr>
            <a:lvl2pPr marL="0" indent="-342900">
              <a:buClr>
                <a:srgbClr val="288494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tx1"/>
                </a:solidFill>
                <a:latin typeface="Montserrat"/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5C88442-CEDE-4E22-933D-1EA3C0E2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911" y="6331436"/>
            <a:ext cx="801076" cy="277256"/>
          </a:xfrm>
          <a:prstGeom prst="rect">
            <a:avLst/>
          </a:prstGeom>
        </p:spPr>
      </p:pic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E86287E5-C557-4296-A64B-EE802E8A5349}"/>
              </a:ext>
            </a:extLst>
          </p:cNvPr>
          <p:cNvSpPr txBox="1">
            <a:spLocks/>
          </p:cNvSpPr>
          <p:nvPr/>
        </p:nvSpPr>
        <p:spPr>
          <a:xfrm>
            <a:off x="1195532" y="6390662"/>
            <a:ext cx="361950" cy="270000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7FC66A-7EF2-0745-BCB5-75B075010D7A}" type="slidenum">
              <a:rPr lang="fr-FR" sz="1000" baseline="0" smtClean="0"/>
              <a:pPr/>
              <a:t>‹N°›</a:t>
            </a:fld>
            <a:endParaRPr lang="fr-FR" sz="1200" baseline="0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BE632298-F531-407F-B597-7345E250F3BE}"/>
              </a:ext>
            </a:extLst>
          </p:cNvPr>
          <p:cNvSpPr txBox="1">
            <a:spLocks/>
          </p:cNvSpPr>
          <p:nvPr/>
        </p:nvSpPr>
        <p:spPr>
          <a:xfrm>
            <a:off x="2047270" y="6399898"/>
            <a:ext cx="5780547" cy="270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b="0"/>
              <a:t>APPARIEMENTS SUR LE MARCHE DU TRAVAIL ET RUPTURES CONVENTIONNELLES</a:t>
            </a:r>
          </a:p>
        </p:txBody>
      </p:sp>
    </p:spTree>
    <p:extLst>
      <p:ext uri="{BB962C8B-B14F-4D97-AF65-F5344CB8AC3E}">
        <p14:creationId xmlns:p14="http://schemas.microsoft.com/office/powerpoint/2010/main" val="170336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3 Décision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2C16D2A-790C-4CD3-9F4E-BFC27B626C72}"/>
              </a:ext>
            </a:extLst>
          </p:cNvPr>
          <p:cNvSpPr/>
          <p:nvPr/>
        </p:nvSpPr>
        <p:spPr>
          <a:xfrm>
            <a:off x="2305051" y="485775"/>
            <a:ext cx="9401174" cy="5904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D7EFED49-3569-4317-AF67-4FAB52C93AAB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4320000" y="2520000"/>
            <a:ext cx="7296000" cy="909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0" i="0" cap="all" baseline="0">
                <a:solidFill>
                  <a:srgbClr val="288494"/>
                </a:solidFill>
                <a:latin typeface="Montserrat Medium" pitchFamily="2" charset="77"/>
              </a:defRPr>
            </a:lvl1pPr>
            <a:lvl2pPr>
              <a:defRPr sz="3200" baseline="0">
                <a:latin typeface="Montserrat" pitchFamily="2" charset="77"/>
              </a:defRPr>
            </a:lvl2pPr>
            <a:lvl3pPr>
              <a:defRPr sz="3200" baseline="0">
                <a:latin typeface="Montserrat" pitchFamily="2" charset="77"/>
              </a:defRPr>
            </a:lvl3pPr>
            <a:lvl4pPr>
              <a:defRPr sz="3200" baseline="0">
                <a:latin typeface="Montserrat" pitchFamily="2" charset="77"/>
              </a:defRPr>
            </a:lvl4pPr>
            <a:lvl5pPr>
              <a:defRPr sz="3200" baseline="0"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général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271A1EE-ED42-4910-A21C-6671394F86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588" y="3629025"/>
            <a:ext cx="606266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baseline="0">
                <a:solidFill>
                  <a:srgbClr val="94C43E"/>
                </a:solidFill>
                <a:latin typeface="Montserrat SemiBold"/>
              </a:defRPr>
            </a:lvl1pPr>
            <a:lvl2pPr marL="0" indent="-342900">
              <a:buClr>
                <a:srgbClr val="288494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tx1"/>
                </a:solidFill>
                <a:latin typeface="Montserrat"/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DBD48E9-4A52-4C99-9261-4C8210B83A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9588" y="4781550"/>
            <a:ext cx="6062662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1" baseline="0">
                <a:solidFill>
                  <a:sysClr val="windowText" lastClr="000000"/>
                </a:solidFill>
                <a:latin typeface="Montserra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41B2A71-F8E8-48B9-8C31-1C0EDF7DB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911" y="6331436"/>
            <a:ext cx="801076" cy="277256"/>
          </a:xfrm>
          <a:prstGeom prst="rect">
            <a:avLst/>
          </a:prstGeom>
        </p:spPr>
      </p:pic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CF3BD7F6-B735-4C24-BC16-BEC4C7E23708}"/>
              </a:ext>
            </a:extLst>
          </p:cNvPr>
          <p:cNvSpPr txBox="1">
            <a:spLocks/>
          </p:cNvSpPr>
          <p:nvPr/>
        </p:nvSpPr>
        <p:spPr>
          <a:xfrm>
            <a:off x="1195532" y="6390662"/>
            <a:ext cx="361950" cy="270000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7FC66A-7EF2-0745-BCB5-75B075010D7A}" type="slidenum">
              <a:rPr lang="fr-FR" sz="1000" baseline="0" smtClean="0"/>
              <a:pPr/>
              <a:t>‹N°›</a:t>
            </a:fld>
            <a:endParaRPr lang="fr-FR" sz="1200" baseline="0"/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ED9FEEFE-1B79-4ED9-88CF-482F1C03D9A0}"/>
              </a:ext>
            </a:extLst>
          </p:cNvPr>
          <p:cNvSpPr txBox="1">
            <a:spLocks/>
          </p:cNvSpPr>
          <p:nvPr/>
        </p:nvSpPr>
        <p:spPr>
          <a:xfrm>
            <a:off x="2047271" y="6399898"/>
            <a:ext cx="6023002" cy="270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b="0"/>
              <a:t>APPARIEMENTS SUR LE MARCHE DU TRAVAIL ET RUPTURES CONVENTIONNELLES</a:t>
            </a:r>
          </a:p>
        </p:txBody>
      </p:sp>
    </p:spTree>
    <p:extLst>
      <p:ext uri="{BB962C8B-B14F-4D97-AF65-F5344CB8AC3E}">
        <p14:creationId xmlns:p14="http://schemas.microsoft.com/office/powerpoint/2010/main" val="764050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12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 Titre souligné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2632E56-09F5-974D-B745-4083A4342D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80000" y="2520000"/>
            <a:ext cx="9120000" cy="21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  <a:lvl2pPr marL="45720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2pPr>
            <a:lvl3pPr marL="91440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3pPr>
            <a:lvl4pPr marL="137160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4pPr>
            <a:lvl5pPr marL="182880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 titre souligné</a:t>
            </a:r>
          </a:p>
        </p:txBody>
      </p:sp>
    </p:spTree>
    <p:extLst>
      <p:ext uri="{BB962C8B-B14F-4D97-AF65-F5344CB8AC3E}">
        <p14:creationId xmlns:p14="http://schemas.microsoft.com/office/powerpoint/2010/main" val="3344013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05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2 Tourne texte vert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680934-4DD2-7F46-92D7-5284A0A7D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000" y="360000"/>
            <a:ext cx="6000000" cy="180000"/>
          </a:xfrm>
          <a:prstGeom prst="rect">
            <a:avLst/>
          </a:prstGeom>
        </p:spPr>
        <p:txBody>
          <a:bodyPr r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all" baseline="0"/>
              <a:t>Cliquez pour modifier le rappel de titre</a:t>
            </a:r>
            <a:endParaRPr lang="fr-FR"/>
          </a:p>
          <a:p>
            <a:pPr lvl="0"/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0584019-5E4E-4845-9CC6-E753285D9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2002" y="1782002"/>
            <a:ext cx="10174817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33B67644-1170-5D4F-8613-0719731E9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2000" y="881999"/>
            <a:ext cx="10176000" cy="4320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rgbClr val="94C43E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Cliquez pour modifier le Titre 1 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6EDD7132-741E-514A-91C4-C3810676F6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69" y="1331519"/>
            <a:ext cx="10174817" cy="432000"/>
          </a:xfrm>
          <a:prstGeom prst="rect">
            <a:avLst/>
          </a:prstGeom>
        </p:spPr>
        <p:txBody>
          <a:bodyPr lIns="0" rIns="0"/>
          <a:lstStyle>
            <a:lvl1pPr marL="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3pPr>
            <a:lvl4pPr marL="13716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4pPr>
            <a:lvl5pPr marL="18288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2</a:t>
            </a:r>
          </a:p>
        </p:txBody>
      </p:sp>
    </p:spTree>
    <p:extLst>
      <p:ext uri="{BB962C8B-B14F-4D97-AF65-F5344CB8AC3E}">
        <p14:creationId xmlns:p14="http://schemas.microsoft.com/office/powerpoint/2010/main" val="294911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6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3 Tourne texte vert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680934-4DD2-7F46-92D7-5284A0A7D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000" y="360000"/>
            <a:ext cx="6000000" cy="180000"/>
          </a:xfrm>
          <a:prstGeom prst="rect">
            <a:avLst/>
          </a:prstGeom>
        </p:spPr>
        <p:txBody>
          <a:bodyPr r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all" baseline="0"/>
              <a:t>Cliquez pour modifier le rappel de titre</a:t>
            </a:r>
            <a:endParaRPr lang="fr-FR"/>
          </a:p>
          <a:p>
            <a:pPr lvl="0"/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0584019-5E4E-4845-9CC6-E753285D9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2002" y="1782002"/>
            <a:ext cx="4875447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33B67644-1170-5D4F-8613-0719731E9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2000" y="881999"/>
            <a:ext cx="10176000" cy="4320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rgbClr val="94C43E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Cliquez pour modifier le Titre 1 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6EDD7132-741E-514A-91C4-C3810676F6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69" y="1331519"/>
            <a:ext cx="10174817" cy="432000"/>
          </a:xfrm>
          <a:prstGeom prst="rect">
            <a:avLst/>
          </a:prstGeom>
        </p:spPr>
        <p:txBody>
          <a:bodyPr lIns="0" rIns="0"/>
          <a:lstStyle>
            <a:lvl1pPr marL="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3pPr>
            <a:lvl4pPr marL="13716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4pPr>
            <a:lvl5pPr marL="18288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2</a:t>
            </a:r>
          </a:p>
        </p:txBody>
      </p: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76291061-F0AC-4EA8-BB1A-8FEE743DE4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2139" y="1792094"/>
            <a:ext cx="4875447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70987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4 Tourne texte vert 1 colonn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680934-4DD2-7F46-92D7-5284A0A7D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000" y="360000"/>
            <a:ext cx="6000000" cy="180000"/>
          </a:xfrm>
          <a:prstGeom prst="rect">
            <a:avLst/>
          </a:prstGeom>
        </p:spPr>
        <p:txBody>
          <a:bodyPr r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all" baseline="0"/>
              <a:t>Cliquez pour modifier le rappel de titre</a:t>
            </a:r>
            <a:endParaRPr lang="fr-FR"/>
          </a:p>
          <a:p>
            <a:pPr lvl="0"/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0584019-5E4E-4845-9CC6-E753285D9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2003" y="1782002"/>
            <a:ext cx="4703998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33B67644-1170-5D4F-8613-0719731E9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2000" y="881999"/>
            <a:ext cx="10176000" cy="4320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rgbClr val="94C43E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Cliquez pour modifier le Titre 1 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6EDD7132-741E-514A-91C4-C3810676F6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69" y="1331519"/>
            <a:ext cx="10174817" cy="432000"/>
          </a:xfrm>
          <a:prstGeom prst="rect">
            <a:avLst/>
          </a:prstGeom>
        </p:spPr>
        <p:txBody>
          <a:bodyPr lIns="0" rIns="0"/>
          <a:lstStyle>
            <a:lvl1pPr marL="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3pPr>
            <a:lvl4pPr marL="13716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4pPr>
            <a:lvl5pPr marL="18288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2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3E20860D-BF9C-40AE-BD82-A81434691C9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610350" y="1782001"/>
            <a:ext cx="4956469" cy="44021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aseline="0">
                <a:latin typeface="Montserra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768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5 Tourne texte vert 1 colonne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680934-4DD2-7F46-92D7-5284A0A7D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000" y="360000"/>
            <a:ext cx="6000000" cy="180000"/>
          </a:xfrm>
          <a:prstGeom prst="rect">
            <a:avLst/>
          </a:prstGeom>
        </p:spPr>
        <p:txBody>
          <a:bodyPr r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all" baseline="0"/>
              <a:t>Cliquez pour modifier le rappel de titre</a:t>
            </a:r>
            <a:endParaRPr lang="fr-FR"/>
          </a:p>
          <a:p>
            <a:pPr lvl="0"/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0584019-5E4E-4845-9CC6-E753285D9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2003" y="1782002"/>
            <a:ext cx="4703998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33B67644-1170-5D4F-8613-0719731E9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2000" y="881999"/>
            <a:ext cx="10176000" cy="4320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rgbClr val="94C43E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Cliquez pour modifier le Titre 1 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6EDD7132-741E-514A-91C4-C3810676F6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69" y="1331519"/>
            <a:ext cx="10174817" cy="432000"/>
          </a:xfrm>
          <a:prstGeom prst="rect">
            <a:avLst/>
          </a:prstGeom>
        </p:spPr>
        <p:txBody>
          <a:bodyPr lIns="0" rIns="0"/>
          <a:lstStyle>
            <a:lvl1pPr marL="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3pPr>
            <a:lvl4pPr marL="13716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4pPr>
            <a:lvl5pPr marL="18288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2</a:t>
            </a:r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E2889781-9365-4ED8-899E-093A459F2DF8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619875" y="1782764"/>
            <a:ext cx="4948238" cy="4401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aseline="0">
                <a:latin typeface="Montserra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82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321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EB4F6664-172E-40F3-958E-ED6548518F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9309" y="2029617"/>
            <a:ext cx="2059709" cy="1230819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200" b="1" i="0">
                <a:solidFill>
                  <a:srgbClr val="007B80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TEXTE SUR UNE OU PLUSIEURS LIGNES 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9A1CAA16-D3C0-4203-B293-F2251739B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09309" y="3428999"/>
            <a:ext cx="2059709" cy="468745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1" i="0">
                <a:solidFill>
                  <a:srgbClr val="7D8790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Date</a:t>
            </a:r>
          </a:p>
          <a:p>
            <a:pPr lvl="0"/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7151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.1 Phot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AA4A7B4F-3438-4F08-A057-7D9980BF7A2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9925" y="6416166"/>
            <a:ext cx="4759325" cy="23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cap="all" baseline="0">
                <a:solidFill>
                  <a:srgbClr val="288494"/>
                </a:solidFill>
                <a:latin typeface="Montserrat"/>
              </a:defRPr>
            </a:lvl1pPr>
          </a:lstStyle>
          <a:p>
            <a:pPr lvl="0"/>
            <a:r>
              <a:rPr lang="fr-FR"/>
              <a:t>Cliquer pour modifier le titre du document + date</a:t>
            </a:r>
          </a:p>
        </p:txBody>
      </p:sp>
    </p:spTree>
    <p:extLst>
      <p:ext uri="{BB962C8B-B14F-4D97-AF65-F5344CB8AC3E}">
        <p14:creationId xmlns:p14="http://schemas.microsoft.com/office/powerpoint/2010/main" val="1003383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.1 Phot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AA4A7B4F-3438-4F08-A057-7D9980BF7A2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9925" y="6416166"/>
            <a:ext cx="4759325" cy="23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cap="all" baseline="0">
                <a:solidFill>
                  <a:srgbClr val="288494"/>
                </a:solidFill>
                <a:latin typeface="Montserrat"/>
              </a:defRPr>
            </a:lvl1pPr>
          </a:lstStyle>
          <a:p>
            <a:pPr lvl="0"/>
            <a:r>
              <a:rPr lang="fr-FR"/>
              <a:t>Cliquer pour modifier le titre du document + date</a:t>
            </a:r>
          </a:p>
        </p:txBody>
      </p:sp>
      <p:pic>
        <p:nvPicPr>
          <p:cNvPr id="3" name="Image 2" descr="Une image contenant personne, intérieur, cuisine&#10;&#10;Description générée automatiquement">
            <a:extLst>
              <a:ext uri="{FF2B5EF4-FFF2-40B4-BE49-F238E27FC236}">
                <a16:creationId xmlns:a16="http://schemas.microsoft.com/office/drawing/2014/main" id="{6315B33C-7102-4FAA-A822-F28C71EF63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7" b="539"/>
          <a:stretch/>
        </p:blipFill>
        <p:spPr>
          <a:xfrm>
            <a:off x="757382" y="239355"/>
            <a:ext cx="11439816" cy="617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53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64F429DF-6382-49B1-9055-56B60B058C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3492" y="5958037"/>
            <a:ext cx="1390472" cy="43500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59E2912-B5C1-4EF5-A904-AAF644CF88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948" y="0"/>
            <a:ext cx="1945127" cy="65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2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20" r:id="rId2"/>
    <p:sldLayoutId id="2147483679" r:id="rId3"/>
    <p:sldLayoutId id="2147483714" r:id="rId4"/>
    <p:sldLayoutId id="214748373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3D83A37C-B7FA-473B-9146-E1E9061B52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863600" cy="6644640"/>
          </a:xfrm>
          <a:prstGeom prst="rect">
            <a:avLst/>
          </a:prstGeom>
        </p:spPr>
      </p:pic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516D163E-05D1-4EB9-82C4-B297DEA30976}"/>
              </a:ext>
            </a:extLst>
          </p:cNvPr>
          <p:cNvSpPr txBox="1">
            <a:spLocks/>
          </p:cNvSpPr>
          <p:nvPr/>
        </p:nvSpPr>
        <p:spPr>
          <a:xfrm>
            <a:off x="9008533" y="6426155"/>
            <a:ext cx="2960865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fr-FR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9AD9AF-5BF8-DF45-AA8D-09654B44B213}" type="slidenum">
              <a:rPr lang="fr-FR" sz="800" smtClean="0">
                <a:solidFill>
                  <a:schemeClr val="bg1"/>
                </a:solidFill>
              </a:rPr>
              <a:pPr/>
              <a:t>‹N°›</a:t>
            </a:fld>
            <a:endParaRPr lang="fr-FR" sz="800">
              <a:solidFill>
                <a:schemeClr val="bg1"/>
              </a:solidFill>
            </a:endParaRP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7FF8D6CB-B41A-4398-B35E-9FA2A5E7378F}"/>
              </a:ext>
            </a:extLst>
          </p:cNvPr>
          <p:cNvSpPr txBox="1">
            <a:spLocks/>
          </p:cNvSpPr>
          <p:nvPr/>
        </p:nvSpPr>
        <p:spPr>
          <a:xfrm>
            <a:off x="-129208" y="6418655"/>
            <a:ext cx="455117" cy="225985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7FC66A-7EF2-0745-BCB5-75B075010D7A}" type="slidenum">
              <a:rPr lang="fr-FR" sz="1000" baseline="0" smtClean="0"/>
              <a:pPr/>
              <a:t>‹N°›</a:t>
            </a:fld>
            <a:endParaRPr lang="fr-FR" sz="1200" baseline="0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CCC935A5-CEDF-45C3-8F90-37B5399BCB91}"/>
              </a:ext>
            </a:extLst>
          </p:cNvPr>
          <p:cNvSpPr txBox="1">
            <a:spLocks/>
          </p:cNvSpPr>
          <p:nvPr/>
        </p:nvSpPr>
        <p:spPr>
          <a:xfrm>
            <a:off x="596013" y="6430728"/>
            <a:ext cx="5908696" cy="27725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b="0"/>
              <a:t>APPARIEMENTS SUR LE MARCHE DU TRAVAIL ET RUPTURES CONVENTIONNELLES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1C86AAC-1462-447B-AF1B-448A6DBA56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4911" y="6331436"/>
            <a:ext cx="801076" cy="2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7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15" r:id="rId3"/>
    <p:sldLayoutId id="2147483712" r:id="rId4"/>
    <p:sldLayoutId id="2147483713" r:id="rId5"/>
    <p:sldLayoutId id="214748373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Image 6">
            <a:extLst>
              <a:ext uri="{FF2B5EF4-FFF2-40B4-BE49-F238E27FC236}">
                <a16:creationId xmlns:a16="http://schemas.microsoft.com/office/drawing/2014/main" id="{564D14E1-C67F-4B45-979A-D17188B0ECA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928018"/>
            <a:ext cx="2743200" cy="300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0D57099-274D-4043-A811-C506D4711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203C0E7-B220-4404-88A2-F64B54B9C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BC93307-3C0A-4E14-9339-7E40321C2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9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00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01DE24A-92A0-4D19-92BD-8E2BFD7EE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6360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sv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svg"/><Relationship Id="rId18" Type="http://schemas.openxmlformats.org/officeDocument/2006/relationships/image" Target="../media/image62.svg"/><Relationship Id="rId3" Type="http://schemas.openxmlformats.org/officeDocument/2006/relationships/image" Target="../media/image50.svg"/><Relationship Id="rId7" Type="http://schemas.openxmlformats.org/officeDocument/2006/relationships/image" Target="../media/image53.svg"/><Relationship Id="rId12" Type="http://schemas.openxmlformats.org/officeDocument/2006/relationships/image" Target="../media/image58.svg"/><Relationship Id="rId17" Type="http://schemas.openxmlformats.org/officeDocument/2006/relationships/image" Target="../media/image6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57.svg"/><Relationship Id="rId5" Type="http://schemas.openxmlformats.org/officeDocument/2006/relationships/image" Target="../media/image51.svg"/><Relationship Id="rId15" Type="http://schemas.openxmlformats.org/officeDocument/2006/relationships/image" Target="../media/image61.png"/><Relationship Id="rId10" Type="http://schemas.openxmlformats.org/officeDocument/2006/relationships/image" Target="../media/image56.svg"/><Relationship Id="rId19" Type="http://schemas.openxmlformats.org/officeDocument/2006/relationships/image" Target="../media/image37.svg"/><Relationship Id="rId4" Type="http://schemas.openxmlformats.org/officeDocument/2006/relationships/image" Target="../media/image35.svg"/><Relationship Id="rId9" Type="http://schemas.openxmlformats.org/officeDocument/2006/relationships/image" Target="../media/image55.svg"/><Relationship Id="rId14" Type="http://schemas.openxmlformats.org/officeDocument/2006/relationships/image" Target="../media/image6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7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76.svg"/><Relationship Id="rId3" Type="http://schemas.openxmlformats.org/officeDocument/2006/relationships/image" Target="../media/image43.svg"/><Relationship Id="rId7" Type="http://schemas.openxmlformats.org/officeDocument/2006/relationships/image" Target="../media/image71.svg"/><Relationship Id="rId12" Type="http://schemas.openxmlformats.org/officeDocument/2006/relationships/image" Target="../media/image75.svg"/><Relationship Id="rId17" Type="http://schemas.openxmlformats.org/officeDocument/2006/relationships/image" Target="../media/image83.png"/><Relationship Id="rId2" Type="http://schemas.openxmlformats.org/officeDocument/2006/relationships/image" Target="../media/image50.sv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svg"/><Relationship Id="rId11" Type="http://schemas.openxmlformats.org/officeDocument/2006/relationships/image" Target="../media/image74.svg"/><Relationship Id="rId5" Type="http://schemas.openxmlformats.org/officeDocument/2006/relationships/image" Target="../media/image69.sv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68.png"/><Relationship Id="rId9" Type="http://schemas.openxmlformats.org/officeDocument/2006/relationships/image" Target="../media/image73.svg"/><Relationship Id="rId14" Type="http://schemas.openxmlformats.org/officeDocument/2006/relationships/image" Target="../media/image7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4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7.svg"/><Relationship Id="rId7" Type="http://schemas.openxmlformats.org/officeDocument/2006/relationships/image" Target="../media/image89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svg"/><Relationship Id="rId5" Type="http://schemas.openxmlformats.org/officeDocument/2006/relationships/image" Target="../media/image88.svg"/><Relationship Id="rId4" Type="http://schemas.openxmlformats.org/officeDocument/2006/relationships/image" Target="../media/image44.svg"/><Relationship Id="rId9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3" Type="http://schemas.openxmlformats.org/officeDocument/2006/relationships/image" Target="../media/image43.svg"/><Relationship Id="rId7" Type="http://schemas.openxmlformats.org/officeDocument/2006/relationships/image" Target="../media/image94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69.svg"/><Relationship Id="rId9" Type="http://schemas.openxmlformats.org/officeDocument/2006/relationships/image" Target="../media/image9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svg"/><Relationship Id="rId13" Type="http://schemas.openxmlformats.org/officeDocument/2006/relationships/image" Target="../media/image39.svg"/><Relationship Id="rId3" Type="http://schemas.openxmlformats.org/officeDocument/2006/relationships/image" Target="../media/image98.svg"/><Relationship Id="rId7" Type="http://schemas.openxmlformats.org/officeDocument/2006/relationships/image" Target="../media/image103.png"/><Relationship Id="rId12" Type="http://schemas.openxmlformats.org/officeDocument/2006/relationships/image" Target="../media/image104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svg"/><Relationship Id="rId11" Type="http://schemas.openxmlformats.org/officeDocument/2006/relationships/image" Target="../media/image103.svg"/><Relationship Id="rId5" Type="http://schemas.openxmlformats.org/officeDocument/2006/relationships/image" Target="../media/image55.svg"/><Relationship Id="rId15" Type="http://schemas.openxmlformats.org/officeDocument/2006/relationships/image" Target="../media/image61.svg"/><Relationship Id="rId10" Type="http://schemas.openxmlformats.org/officeDocument/2006/relationships/image" Target="../media/image102.svg"/><Relationship Id="rId4" Type="http://schemas.openxmlformats.org/officeDocument/2006/relationships/image" Target="../media/image54.svg"/><Relationship Id="rId9" Type="http://schemas.openxmlformats.org/officeDocument/2006/relationships/image" Target="../media/image101.svg"/><Relationship Id="rId14" Type="http://schemas.openxmlformats.org/officeDocument/2006/relationships/image" Target="../media/image10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4.sv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3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2.png"/><Relationship Id="rId5" Type="http://schemas.openxmlformats.org/officeDocument/2006/relationships/image" Target="../media/image108.png"/><Relationship Id="rId10" Type="http://schemas.openxmlformats.org/officeDocument/2006/relationships/image" Target="../media/image55.svg"/><Relationship Id="rId4" Type="http://schemas.openxmlformats.org/officeDocument/2006/relationships/image" Target="../media/image107.png"/><Relationship Id="rId9" Type="http://schemas.openxmlformats.org/officeDocument/2006/relationships/image" Target="../media/image54.svg"/><Relationship Id="rId14" Type="http://schemas.openxmlformats.org/officeDocument/2006/relationships/image" Target="../media/image11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1.svg"/><Relationship Id="rId3" Type="http://schemas.openxmlformats.org/officeDocument/2006/relationships/image" Target="../media/image51.sv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6.png"/><Relationship Id="rId5" Type="http://schemas.openxmlformats.org/officeDocument/2006/relationships/image" Target="../media/image88.svg"/><Relationship Id="rId10" Type="http://schemas.openxmlformats.org/officeDocument/2006/relationships/image" Target="../media/image130.svg"/><Relationship Id="rId4" Type="http://schemas.openxmlformats.org/officeDocument/2006/relationships/image" Target="../media/image44.svg"/><Relationship Id="rId9" Type="http://schemas.openxmlformats.org/officeDocument/2006/relationships/image" Target="../media/image12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9.svg"/><Relationship Id="rId4" Type="http://schemas.openxmlformats.org/officeDocument/2006/relationships/image" Target="../media/image4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141.png"/><Relationship Id="rId7" Type="http://schemas.openxmlformats.org/officeDocument/2006/relationships/image" Target="../media/image55.sv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svg"/><Relationship Id="rId5" Type="http://schemas.openxmlformats.org/officeDocument/2006/relationships/image" Target="../media/image142.svg"/><Relationship Id="rId10" Type="http://schemas.openxmlformats.org/officeDocument/2006/relationships/image" Target="../media/image145.svg"/><Relationship Id="rId4" Type="http://schemas.openxmlformats.org/officeDocument/2006/relationships/image" Target="../media/image131.svg"/><Relationship Id="rId9" Type="http://schemas.openxmlformats.org/officeDocument/2006/relationships/image" Target="../media/image14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7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" y="457200"/>
            <a:ext cx="1143000" cy="5806440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27632" y="0"/>
            <a:ext cx="457200" cy="6446520"/>
          </a:xfrm>
          <a:prstGeom prst="rect">
            <a:avLst/>
          </a:prstGeom>
          <a:solidFill>
            <a:srgbClr val="4FA3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27632" y="457200"/>
            <a:ext cx="457200" cy="5806440"/>
          </a:xfrm>
          <a:prstGeom prst="rect">
            <a:avLst/>
          </a:prstGeom>
          <a:solidFill>
            <a:srgbClr val="3E8B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084832" y="457200"/>
            <a:ext cx="210312" cy="5806440"/>
          </a:xfrm>
          <a:prstGeom prst="rect">
            <a:avLst/>
          </a:prstGeom>
          <a:solidFill>
            <a:srgbClr val="C8DC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3017520" y="1737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8BB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RUPTURES CONVENTIONNELLES INDIVIDUELLES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3017520" y="224028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</a:t>
            </a:r>
            <a:r>
              <a:rPr lang="en-US" sz="340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coût</a:t>
            </a:r>
            <a:r>
              <a:rPr lang="en-US" sz="340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</a:t>
            </a:r>
            <a:r>
              <a:rPr lang="en-US" sz="340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l'assurance</a:t>
            </a:r>
            <a:r>
              <a:rPr lang="en-US" sz="340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0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chômage</a:t>
            </a:r>
            <a:endParaRPr lang="en-US" sz="3400"/>
          </a:p>
          <a:p>
            <a:pPr marL="0" indent="0">
              <a:buNone/>
            </a:pPr>
            <a:r>
              <a:rPr lang="en-US" sz="340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340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0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</a:t>
            </a:r>
            <a:r>
              <a:rPr lang="en-US" sz="340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0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transition </a:t>
            </a:r>
            <a:r>
              <a:rPr lang="en-US" sz="3400" b="1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professionnelle</a:t>
            </a:r>
            <a:r>
              <a:rPr lang="en-US" sz="340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00" b="1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efficace</a:t>
            </a:r>
            <a:r>
              <a:rPr lang="en-US" sz="340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?</a:t>
            </a:r>
            <a:endParaRPr lang="en-US" sz="3400"/>
          </a:p>
        </p:txBody>
      </p:sp>
      <p:sp>
        <p:nvSpPr>
          <p:cNvPr id="9" name="Shape 7"/>
          <p:cNvSpPr/>
          <p:nvPr/>
        </p:nvSpPr>
        <p:spPr>
          <a:xfrm>
            <a:off x="3017520" y="4526280"/>
            <a:ext cx="813816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017520" y="5029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Travaux de stage · </a:t>
            </a:r>
            <a:r>
              <a:rPr lang="en-US" sz="1200" b="1" dirty="0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juin</a:t>
            </a:r>
            <a:r>
              <a:rPr lang="en-US" sz="1200" b="1" dirty="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</a:t>
            </a:r>
            <a:r>
              <a:rPr lang="en-US" sz="1200" b="1" dirty="0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septembre</a:t>
            </a:r>
            <a:r>
              <a:rPr lang="en-US" sz="1200" b="1" dirty="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08077" y="45721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cap="all">
                <a:solidFill>
                  <a:srgbClr val="288494"/>
                </a:solidFill>
                <a:latin typeface="Montserrat" pitchFamily="2" charset="77"/>
              </a:rPr>
              <a:t>INTRODUCTION</a:t>
            </a:r>
            <a:r>
              <a:rPr lang="en-US" sz="950" b="1" u="sng" kern="0" spc="150">
                <a:solidFill>
                  <a:srgbClr val="6FA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u="sng" kern="0" cap="all" spc="150">
                <a:solidFill>
                  <a:srgbClr val="288494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 u="sng" cap="all">
                <a:solidFill>
                  <a:srgbClr val="288494"/>
                </a:solidFill>
                <a:latin typeface="Montserrat" pitchFamily="2" charset="77"/>
              </a:rPr>
              <a:t>LE CONTEXTE DE 2008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20397" y="347074"/>
            <a:ext cx="10771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</a:pPr>
            <a:r>
              <a:rPr lang="en-US" sz="1700" b="1" spc="-40">
                <a:solidFill>
                  <a:srgbClr val="94C43E"/>
                </a:solidFill>
                <a:latin typeface="Montserrat" pitchFamily="2" charset="77"/>
              </a:rPr>
              <a:t>UNE RÉFORME NÉE DE LA RIGIDITÉ DU LICENCIEMENT EN FRANCE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020397" y="717606"/>
            <a:ext cx="10771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fr-FR" sz="1200" noProof="0">
                <a:solidFill>
                  <a:schemeClr val="accent3"/>
                </a:solidFill>
                <a:latin typeface="Montserrat" pitchFamily="2" charset="77"/>
              </a:rPr>
              <a:t>La loi du 25 juin 2008 ouvre une voie de sortie négociée du CDI, sécurisée par l'homologation administrative et assortie du droit à l'assurance chômage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1234440" y="131673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chemeClr val="accent4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① UN DROIT DU LICENCIEMENT PARMI LES PLUS STRICTS</a:t>
            </a:r>
            <a:endParaRPr lang="en-US" sz="95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34440" y="15179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Prescription de trente ans pour contester un licenciement pour motif personnel, et interprétation stricte de la cause réelle et sérieuse par la Cour de cassation.</a:t>
            </a:r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89888" y="3639312"/>
            <a:ext cx="4672584" cy="0"/>
          </a:xfrm>
          <a:prstGeom prst="line">
            <a:avLst/>
          </a:prstGeom>
          <a:noFill/>
          <a:ln w="12700">
            <a:solidFill>
              <a:srgbClr val="B9C4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115568" y="355701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1389888" y="3289455"/>
            <a:ext cx="4672584" cy="0"/>
          </a:xfrm>
          <a:prstGeom prst="line">
            <a:avLst/>
          </a:prstGeom>
          <a:noFill/>
          <a:ln w="6350">
            <a:solidFill>
              <a:srgbClr val="E7E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1115568" y="3207159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389888" y="2939597"/>
            <a:ext cx="4672584" cy="0"/>
          </a:xfrm>
          <a:prstGeom prst="line">
            <a:avLst/>
          </a:prstGeom>
          <a:noFill/>
          <a:ln w="6350">
            <a:solidFill>
              <a:srgbClr val="E7E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1115568" y="2857301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389888" y="2589740"/>
            <a:ext cx="4672584" cy="0"/>
          </a:xfrm>
          <a:prstGeom prst="line">
            <a:avLst/>
          </a:prstGeom>
          <a:noFill/>
          <a:ln w="6350">
            <a:solidFill>
              <a:srgbClr val="E7E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1115568" y="25074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1389888" y="2239882"/>
            <a:ext cx="4672584" cy="0"/>
          </a:xfrm>
          <a:prstGeom prst="line">
            <a:avLst/>
          </a:prstGeom>
          <a:noFill/>
          <a:ln w="6350">
            <a:solidFill>
              <a:srgbClr val="E7E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1115568" y="215758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1508809" y="3607825"/>
            <a:ext cx="106691" cy="31487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670462" y="3429398"/>
            <a:ext cx="106691" cy="209914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832115" y="3254469"/>
            <a:ext cx="106691" cy="38484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993768" y="3201990"/>
            <a:ext cx="106691" cy="43732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155420" y="3160007"/>
            <a:ext cx="106691" cy="479305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317073" y="3132019"/>
            <a:ext cx="106691" cy="50729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478726" y="3125022"/>
            <a:ext cx="106691" cy="514290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640379" y="3107529"/>
            <a:ext cx="106691" cy="53178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802032" y="3034059"/>
            <a:ext cx="106691" cy="60525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963685" y="3002572"/>
            <a:ext cx="106691" cy="636740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125338" y="2932600"/>
            <a:ext cx="106691" cy="70671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86990" y="2880121"/>
            <a:ext cx="106691" cy="759191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448643" y="2845136"/>
            <a:ext cx="106691" cy="794176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610296" y="2824144"/>
            <a:ext cx="106691" cy="81516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771949" y="2824144"/>
            <a:ext cx="106691" cy="81516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933602" y="2824144"/>
            <a:ext cx="106691" cy="81516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095255" y="2813649"/>
            <a:ext cx="106691" cy="82566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256908" y="2810150"/>
            <a:ext cx="106691" cy="82916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418560" y="2785660"/>
            <a:ext cx="106691" cy="85365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580213" y="2775164"/>
            <a:ext cx="106691" cy="86414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741866" y="2687700"/>
            <a:ext cx="106691" cy="95161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 txBox="1"/>
          <p:nvPr/>
        </p:nvSpPr>
        <p:spPr>
          <a:xfrm>
            <a:off x="4238946" y="24499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4903519" y="2624726"/>
            <a:ext cx="106691" cy="1014586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5065172" y="2596737"/>
            <a:ext cx="106691" cy="1042575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5226825" y="2579244"/>
            <a:ext cx="106691" cy="106006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5388478" y="2540760"/>
            <a:ext cx="106691" cy="109855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5550130" y="2481284"/>
            <a:ext cx="106691" cy="115802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5711783" y="2449797"/>
            <a:ext cx="106691" cy="1189515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5873436" y="2092942"/>
            <a:ext cx="106691" cy="1546370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 txBox="1"/>
          <p:nvPr/>
        </p:nvSpPr>
        <p:spPr>
          <a:xfrm>
            <a:off x="1389888" y="36758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États-Unis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5221224" y="36758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Portugal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234440" y="38770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Rigueur de la réglementation des licenciements individuels, 28 pays de l'OCDE, 2007 (échelle de 0 à 6). La France se situe au 8e rang.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6656832" y="1316736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② L'ARBITRAGE ASSUMÉ PAR LE GOUVERNEMENT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7754112" y="15727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« Même si c'était le cas, l'accord serait bénéfique, car le passage à la rupture négociée produit un changement sans précédent des mentalités et des comportements. »</a:t>
            </a:r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7754112" y="2432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Xavier Bertrand, ministre du Travail, devant la commission des Affaires sociales de l'Assemblée nationale, 2 avril 2008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656832" y="2889504"/>
            <a:ext cx="4983480" cy="0"/>
          </a:xfrm>
          <a:prstGeom prst="line">
            <a:avLst/>
          </a:prstGeom>
          <a:noFill/>
          <a:ln w="12700">
            <a:solidFill>
              <a:srgbClr val="C9D4D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 txBox="1"/>
          <p:nvPr/>
        </p:nvSpPr>
        <p:spPr>
          <a:xfrm>
            <a:off x="6656832" y="2980944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Trois objectifs assignés à la réforme</a:t>
            </a:r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675120" y="3273552"/>
            <a:ext cx="274320" cy="274320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3346704"/>
            <a:ext cx="128016" cy="128016"/>
          </a:xfrm>
          <a:prstGeom prst="rect">
            <a:avLst/>
          </a:prstGeom>
        </p:spPr>
      </p:pic>
      <p:sp>
        <p:nvSpPr>
          <p:cNvPr id="58" name="Text 55"/>
          <p:cNvSpPr txBox="1"/>
          <p:nvPr/>
        </p:nvSpPr>
        <p:spPr>
          <a:xfrm>
            <a:off x="7040880" y="3236976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Réduire la segmentation</a:t>
            </a:r>
            <a:r>
              <a:rPr lang="en-US" sz="9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· rapprocher le CDI des contrats courts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6675120" y="3675888"/>
            <a:ext cx="274320" cy="274320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3749040"/>
            <a:ext cx="128016" cy="128016"/>
          </a:xfrm>
          <a:prstGeom prst="rect">
            <a:avLst/>
          </a:prstGeom>
        </p:spPr>
      </p:pic>
      <p:sp>
        <p:nvSpPr>
          <p:cNvPr id="61" name="Text 57"/>
          <p:cNvSpPr txBox="1"/>
          <p:nvPr/>
        </p:nvSpPr>
        <p:spPr>
          <a:xfrm>
            <a:off x="7040880" y="3639312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Désamorcer les séparations</a:t>
            </a:r>
            <a:r>
              <a:rPr lang="en-US" sz="9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· offrir une sortie sécurisée, hors du juge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Shape 58"/>
          <p:cNvSpPr/>
          <p:nvPr/>
        </p:nvSpPr>
        <p:spPr>
          <a:xfrm>
            <a:off x="6675120" y="4078224"/>
            <a:ext cx="274320" cy="274320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4151376"/>
            <a:ext cx="128016" cy="128016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7040880" y="4041648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Sécuriser les mobilités</a:t>
            </a:r>
            <a:r>
              <a:rPr lang="en-US" sz="9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· maintenir le droit à l'assurance chômage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 60"/>
          <p:cNvSpPr txBox="1"/>
          <p:nvPr/>
        </p:nvSpPr>
        <p:spPr>
          <a:xfrm>
            <a:off x="1234440" y="4590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6FAF3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③ UNE PROCÉDURE CONÇUE POUR SÉCURISER LES DEUX PARTIES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Shape 61"/>
          <p:cNvSpPr/>
          <p:nvPr/>
        </p:nvSpPr>
        <p:spPr>
          <a:xfrm>
            <a:off x="2487168" y="5266944"/>
            <a:ext cx="5462016" cy="0"/>
          </a:xfrm>
          <a:prstGeom prst="line">
            <a:avLst/>
          </a:prstGeom>
          <a:noFill/>
          <a:ln w="19050">
            <a:solidFill>
              <a:srgbClr val="9FB6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2"/>
          <p:cNvSpPr/>
          <p:nvPr/>
        </p:nvSpPr>
        <p:spPr>
          <a:xfrm>
            <a:off x="7949184" y="5266944"/>
            <a:ext cx="2228088" cy="0"/>
          </a:xfrm>
          <a:prstGeom prst="line">
            <a:avLst/>
          </a:prstGeom>
          <a:noFill/>
          <a:ln w="19050">
            <a:solidFill>
              <a:srgbClr val="9FB6B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3"/>
          <p:cNvSpPr/>
          <p:nvPr/>
        </p:nvSpPr>
        <p:spPr>
          <a:xfrm>
            <a:off x="10177272" y="5266944"/>
            <a:ext cx="274320" cy="0"/>
          </a:xfrm>
          <a:prstGeom prst="line">
            <a:avLst/>
          </a:prstGeom>
          <a:noFill/>
          <a:ln w="19050">
            <a:solidFill>
              <a:srgbClr val="9FB6B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4"/>
          <p:cNvSpPr/>
          <p:nvPr/>
        </p:nvSpPr>
        <p:spPr>
          <a:xfrm>
            <a:off x="2331720" y="5111496"/>
            <a:ext cx="310896" cy="310896"/>
          </a:xfrm>
          <a:prstGeom prst="ellipse">
            <a:avLst/>
          </a:prstGeom>
          <a:solidFill>
            <a:srgbClr val="6FAF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5193792"/>
            <a:ext cx="146304" cy="146304"/>
          </a:xfrm>
          <a:prstGeom prst="rect">
            <a:avLst/>
          </a:prstGeom>
        </p:spPr>
      </p:pic>
      <p:sp>
        <p:nvSpPr>
          <p:cNvPr id="71" name="Text 65"/>
          <p:cNvSpPr txBox="1"/>
          <p:nvPr/>
        </p:nvSpPr>
        <p:spPr>
          <a:xfrm>
            <a:off x="1207008" y="4864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Entretien(s)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Text 66"/>
          <p:cNvSpPr txBox="1"/>
          <p:nvPr/>
        </p:nvSpPr>
        <p:spPr>
          <a:xfrm>
            <a:off x="1207008" y="5422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L'employeur et le salarié conviennent de la date de rupture et du montant de l'indemnité ; chacun peut se faire assister.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Shape 67"/>
          <p:cNvSpPr/>
          <p:nvPr/>
        </p:nvSpPr>
        <p:spPr>
          <a:xfrm>
            <a:off x="4971288" y="5111496"/>
            <a:ext cx="310896" cy="310896"/>
          </a:xfrm>
          <a:prstGeom prst="ellipse">
            <a:avLst/>
          </a:prstGeom>
          <a:solidFill>
            <a:srgbClr val="6FAF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584" y="5193792"/>
            <a:ext cx="146304" cy="146304"/>
          </a:xfrm>
          <a:prstGeom prst="rect">
            <a:avLst/>
          </a:prstGeom>
        </p:spPr>
      </p:pic>
      <p:sp>
        <p:nvSpPr>
          <p:cNvPr id="75" name="Text 68"/>
          <p:cNvSpPr txBox="1"/>
          <p:nvPr/>
        </p:nvSpPr>
        <p:spPr>
          <a:xfrm>
            <a:off x="3846576" y="4864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Signature de la convention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Text 69"/>
          <p:cNvSpPr txBox="1"/>
          <p:nvPr/>
        </p:nvSpPr>
        <p:spPr>
          <a:xfrm>
            <a:off x="3846576" y="5422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Formulaire en ligne rempli par les deux parties, le cas échéant dès l'entretien.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Shape 70"/>
          <p:cNvSpPr/>
          <p:nvPr/>
        </p:nvSpPr>
        <p:spPr>
          <a:xfrm>
            <a:off x="7610856" y="5111496"/>
            <a:ext cx="310896" cy="310896"/>
          </a:xfrm>
          <a:prstGeom prst="ellipse">
            <a:avLst/>
          </a:prstGeom>
          <a:solidFill>
            <a:srgbClr val="6FAF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3152" y="5193792"/>
            <a:ext cx="146304" cy="146304"/>
          </a:xfrm>
          <a:prstGeom prst="rect">
            <a:avLst/>
          </a:prstGeom>
        </p:spPr>
      </p:pic>
      <p:sp>
        <p:nvSpPr>
          <p:cNvPr id="79" name="Text 71"/>
          <p:cNvSpPr txBox="1"/>
          <p:nvPr/>
        </p:nvSpPr>
        <p:spPr>
          <a:xfrm>
            <a:off x="6486144" y="4864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Demande d'homologation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Text 72"/>
          <p:cNvSpPr txBox="1"/>
          <p:nvPr/>
        </p:nvSpPr>
        <p:spPr>
          <a:xfrm>
            <a:off x="6486144" y="5422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La convention est transmise à l'administration du travail.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Shape 73"/>
          <p:cNvSpPr/>
          <p:nvPr/>
        </p:nvSpPr>
        <p:spPr>
          <a:xfrm>
            <a:off x="10250424" y="5111496"/>
            <a:ext cx="310896" cy="310896"/>
          </a:xfrm>
          <a:prstGeom prst="ellipse">
            <a:avLst/>
          </a:prstGeom>
          <a:solidFill>
            <a:srgbClr val="6FAF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2720" y="5193792"/>
            <a:ext cx="146304" cy="146304"/>
          </a:xfrm>
          <a:prstGeom prst="rect">
            <a:avLst/>
          </a:prstGeom>
        </p:spPr>
      </p:pic>
      <p:sp>
        <p:nvSpPr>
          <p:cNvPr id="83" name="Text 74"/>
          <p:cNvSpPr txBox="1"/>
          <p:nvPr/>
        </p:nvSpPr>
        <p:spPr>
          <a:xfrm>
            <a:off x="9125712" y="4864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Départ du salarié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 75"/>
          <p:cNvSpPr txBox="1"/>
          <p:nvPr/>
        </p:nvSpPr>
        <p:spPr>
          <a:xfrm>
            <a:off x="9125712" y="5422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Droit à l'assurance chômage, indemnité légale de rupture et supplément éventuellement négocié.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Text 76"/>
          <p:cNvSpPr txBox="1"/>
          <p:nvPr/>
        </p:nvSpPr>
        <p:spPr>
          <a:xfrm>
            <a:off x="1234440" y="5907024"/>
            <a:ext cx="10405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Entre la signature et le départ : quinze jours de rétractation, puis quinze jours d'instruction. Le contrat prend fin au plus tôt le lendemain de l'homologation.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 77"/>
          <p:cNvSpPr txBox="1"/>
          <p:nvPr/>
        </p:nvSpPr>
        <p:spPr>
          <a:xfrm>
            <a:off x="1051560" y="6254496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Sources : OCDE, indicateurs de protection de l'emploi, version 4 · code du travail, articles L.1237-11 à L.1237-16 · compte rendu de la commission des Affaires sociales de l'Assemblée nationale, 2 avril 2008.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Espace réservé du texte 2">
            <a:extLst>
              <a:ext uri="{FF2B5EF4-FFF2-40B4-BE49-F238E27FC236}">
                <a16:creationId xmlns:a16="http://schemas.microsoft.com/office/drawing/2014/main" id="{08B25242-A6DC-B559-1762-FF3DB3E118B6}"/>
              </a:ext>
            </a:extLst>
          </p:cNvPr>
          <p:cNvSpPr txBox="1">
            <a:spLocks/>
          </p:cNvSpPr>
          <p:nvPr/>
        </p:nvSpPr>
        <p:spPr>
          <a:xfrm>
            <a:off x="1115568" y="4511543"/>
            <a:ext cx="10676461" cy="1731053"/>
          </a:xfrm>
          <a:prstGeom prst="rect">
            <a:avLst/>
          </a:prstGeom>
          <a:solidFill>
            <a:srgbClr val="E8F2E0">
              <a:alpha val="30196"/>
            </a:srgb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93" name="Espace réservé du texte 2">
            <a:extLst>
              <a:ext uri="{FF2B5EF4-FFF2-40B4-BE49-F238E27FC236}">
                <a16:creationId xmlns:a16="http://schemas.microsoft.com/office/drawing/2014/main" id="{1729EDA3-E85A-4D65-CCD5-3D802263300A}"/>
              </a:ext>
            </a:extLst>
          </p:cNvPr>
          <p:cNvSpPr txBox="1">
            <a:spLocks/>
          </p:cNvSpPr>
          <p:nvPr/>
        </p:nvSpPr>
        <p:spPr>
          <a:xfrm>
            <a:off x="1069349" y="1207008"/>
            <a:ext cx="5360328" cy="3214039"/>
          </a:xfrm>
          <a:prstGeom prst="rect">
            <a:avLst/>
          </a:prstGeom>
          <a:solidFill>
            <a:srgbClr val="FFEACC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97" name="Espace réservé du texte 2">
            <a:extLst>
              <a:ext uri="{FF2B5EF4-FFF2-40B4-BE49-F238E27FC236}">
                <a16:creationId xmlns:a16="http://schemas.microsoft.com/office/drawing/2014/main" id="{820BFFCE-5602-9603-10C0-9CE85EFFDEA4}"/>
              </a:ext>
            </a:extLst>
          </p:cNvPr>
          <p:cNvSpPr txBox="1">
            <a:spLocks/>
          </p:cNvSpPr>
          <p:nvPr/>
        </p:nvSpPr>
        <p:spPr>
          <a:xfrm>
            <a:off x="6489954" y="1206611"/>
            <a:ext cx="5302075" cy="3252396"/>
          </a:xfrm>
          <a:prstGeom prst="rect">
            <a:avLst/>
          </a:prstGeom>
          <a:solidFill>
            <a:srgbClr val="E6F2F2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3AE18159-31B1-8EB6-87F2-11E649729E95}"/>
              </a:ext>
            </a:extLst>
          </p:cNvPr>
          <p:cNvSpPr/>
          <p:nvPr/>
        </p:nvSpPr>
        <p:spPr>
          <a:xfrm>
            <a:off x="6625899" y="1636776"/>
            <a:ext cx="914400" cy="914400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C825-B4CF-8BC0-4F8B-02E7632E5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4705CE1-57A7-69FE-D714-4490601B3C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43508" y="46721"/>
            <a:ext cx="8061749" cy="199465"/>
          </a:xfrm>
        </p:spPr>
        <p:txBody>
          <a:bodyPr/>
          <a:lstStyle/>
          <a:p>
            <a:r>
              <a:rPr lang="fr-FR" noProof="0"/>
              <a:t>Les ruptures conventionnelles INDIVIDUELLES : contexte d’AUJOURD’HUI</a:t>
            </a:r>
          </a:p>
          <a:p>
            <a:endParaRPr lang="fr-FR" noProof="0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F59D043A-F154-3394-01DE-20BD6AE7CE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8522" y="333842"/>
            <a:ext cx="10176000" cy="292870"/>
          </a:xfrm>
        </p:spPr>
        <p:txBody>
          <a:bodyPr/>
          <a:lstStyle/>
          <a:p>
            <a:r>
              <a:rPr lang="fr-FR" noProof="0"/>
              <a:t>LES RUPTURES CONVENTIONNELLES DANS LE DÉBAT PUBLIC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8362BA61-379D-9517-362A-BFD2C701CB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225" y="633952"/>
            <a:ext cx="10985372" cy="432000"/>
          </a:xfrm>
        </p:spPr>
        <p:txBody>
          <a:bodyPr/>
          <a:lstStyle/>
          <a:p>
            <a:r>
              <a:rPr lang="fr-FR" noProof="0">
                <a:solidFill>
                  <a:schemeClr val="accent3"/>
                </a:solidFill>
              </a:rPr>
              <a:t>« Un retour à l’emploi plus lent » :  un chiffre repris partout, une lecture à interroger</a:t>
            </a:r>
          </a:p>
          <a:p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9030DD-B2C9-98CF-64AD-0E06308A68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5" y="1161388"/>
            <a:ext cx="5145297" cy="5227802"/>
          </a:xfrm>
          <a:solidFill>
            <a:srgbClr val="E8F2E0">
              <a:alpha val="5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2435C784-37E1-DC18-FAD0-2326782F5B0F}"/>
              </a:ext>
            </a:extLst>
          </p:cNvPr>
          <p:cNvGrpSpPr/>
          <p:nvPr/>
        </p:nvGrpSpPr>
        <p:grpSpPr>
          <a:xfrm>
            <a:off x="1060591" y="1765140"/>
            <a:ext cx="4903395" cy="2962794"/>
            <a:chOff x="1175657" y="2124433"/>
            <a:chExt cx="4903395" cy="296279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1D7696-8C05-86EF-05E2-A2D8C358B1BD}"/>
                </a:ext>
              </a:extLst>
            </p:cNvPr>
            <p:cNvSpPr/>
            <p:nvPr/>
          </p:nvSpPr>
          <p:spPr>
            <a:xfrm>
              <a:off x="1175657" y="2124433"/>
              <a:ext cx="4771381" cy="2962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2AAC2E93-14DD-B385-8A61-53079078BE9E}"/>
                </a:ext>
              </a:extLst>
            </p:cNvPr>
            <p:cNvGrpSpPr/>
            <p:nvPr/>
          </p:nvGrpSpPr>
          <p:grpSpPr>
            <a:xfrm>
              <a:off x="1258822" y="2265384"/>
              <a:ext cx="4820230" cy="2152223"/>
              <a:chOff x="1251107" y="2125852"/>
              <a:chExt cx="4820230" cy="2152223"/>
            </a:xfrm>
          </p:grpSpPr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D6590371-49CA-B8EB-C23B-55B1283206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39056" y="3033868"/>
                <a:ext cx="3227807" cy="630942"/>
              </a:xfrm>
              <a:prstGeom prst="rect">
                <a:avLst/>
              </a:prstGeom>
            </p:spPr>
          </p:pic>
          <p:pic>
            <p:nvPicPr>
              <p:cNvPr id="6" name="Image 5">
                <a:extLst>
                  <a:ext uri="{FF2B5EF4-FFF2-40B4-BE49-F238E27FC236}">
                    <a16:creationId xmlns:a16="http://schemas.microsoft.com/office/drawing/2014/main" id="{A3BB6922-72C4-2A05-DA72-511D9E1AA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1107" y="3720862"/>
                <a:ext cx="3341330" cy="47871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7665F358-21FB-168E-61A0-E87A834044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57461" y="3820094"/>
                <a:ext cx="909402" cy="218044"/>
              </a:xfrm>
              <a:prstGeom prst="rect">
                <a:avLst/>
              </a:prstGeom>
            </p:spPr>
          </p:pic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734AE574-3C9D-4B7A-447F-45F45D4A73E8}"/>
                  </a:ext>
                </a:extLst>
              </p:cNvPr>
              <p:cNvSpPr txBox="1"/>
              <p:nvPr/>
            </p:nvSpPr>
            <p:spPr>
              <a:xfrm>
                <a:off x="4813498" y="4062631"/>
                <a:ext cx="125783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800" b="1" noProof="0">
                    <a:solidFill>
                      <a:schemeClr val="accent3"/>
                    </a:solidFill>
                    <a:latin typeface="+mj-lt"/>
                    <a:cs typeface="Segoe UI" panose="020B0502040204020203" pitchFamily="34" charset="0"/>
                  </a:rPr>
                  <a:t>LE 22/07/2025</a:t>
                </a:r>
              </a:p>
            </p:txBody>
          </p:sp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07481C60-8CE3-1F82-0F9C-CC86AD3CF7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7894" y="3151390"/>
                <a:ext cx="1022112" cy="268978"/>
              </a:xfrm>
              <a:prstGeom prst="rect">
                <a:avLst/>
              </a:prstGeom>
            </p:spPr>
          </p:pic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2547A34B-3095-AF9B-CD8B-3BFA91B43CE5}"/>
                  </a:ext>
                </a:extLst>
              </p:cNvPr>
              <p:cNvSpPr txBox="1"/>
              <p:nvPr/>
            </p:nvSpPr>
            <p:spPr>
              <a:xfrm>
                <a:off x="1317894" y="3421305"/>
                <a:ext cx="125783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800" b="1" noProof="0">
                    <a:solidFill>
                      <a:schemeClr val="accent3"/>
                    </a:solidFill>
                    <a:latin typeface="+mj-lt"/>
                    <a:cs typeface="Segoe UI" panose="020B0502040204020203" pitchFamily="34" charset="0"/>
                  </a:rPr>
                  <a:t>LE 16/07/2026</a:t>
                </a:r>
              </a:p>
            </p:txBody>
          </p:sp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D61C9E2E-3E24-0B67-3335-3789A1B14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1107" y="2125852"/>
                <a:ext cx="3227808" cy="725044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13B4229F-78D6-1AC2-95DA-F775C058C8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2437" y="2308436"/>
                <a:ext cx="1214528" cy="337143"/>
              </a:xfrm>
              <a:prstGeom prst="rect">
                <a:avLst/>
              </a:prstGeom>
            </p:spPr>
          </p:pic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3DBD61C4-A13D-8B7E-1E88-39903204B329}"/>
                  </a:ext>
                </a:extLst>
              </p:cNvPr>
              <p:cNvSpPr txBox="1"/>
              <p:nvPr/>
            </p:nvSpPr>
            <p:spPr>
              <a:xfrm>
                <a:off x="4779319" y="2701841"/>
                <a:ext cx="125783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800" b="1" noProof="0">
                    <a:solidFill>
                      <a:schemeClr val="accent3"/>
                    </a:solidFill>
                    <a:latin typeface="+mj-lt"/>
                    <a:cs typeface="Segoe UI" panose="020B0502040204020203" pitchFamily="34" charset="0"/>
                  </a:rPr>
                  <a:t>LE 07/11/2025</a:t>
                </a:r>
              </a:p>
            </p:txBody>
          </p:sp>
        </p:grp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48096EAA-FF74-FDEA-53E6-9FDA95A03B59}"/>
              </a:ext>
            </a:extLst>
          </p:cNvPr>
          <p:cNvSpPr txBox="1"/>
          <p:nvPr/>
        </p:nvSpPr>
        <p:spPr>
          <a:xfrm>
            <a:off x="811619" y="4765975"/>
            <a:ext cx="521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COUVERTURE PRESSE DES RUPTURES CONVENTIONNELLES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E028046E-4C45-70E9-E55E-561E7E764A45}"/>
              </a:ext>
            </a:extLst>
          </p:cNvPr>
          <p:cNvSpPr txBox="1">
            <a:spLocks/>
          </p:cNvSpPr>
          <p:nvPr/>
        </p:nvSpPr>
        <p:spPr>
          <a:xfrm>
            <a:off x="1143756" y="1281491"/>
            <a:ext cx="4552379" cy="3378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19F3BF-9A00-6F69-1903-C57A4B99A66C}"/>
              </a:ext>
            </a:extLst>
          </p:cNvPr>
          <p:cNvSpPr/>
          <p:nvPr/>
        </p:nvSpPr>
        <p:spPr>
          <a:xfrm>
            <a:off x="1060590" y="5147932"/>
            <a:ext cx="4771381" cy="902138"/>
          </a:xfrm>
          <a:prstGeom prst="rect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16B1210-6A32-793C-4C02-4721E04FB8B2}"/>
              </a:ext>
            </a:extLst>
          </p:cNvPr>
          <p:cNvSpPr txBox="1"/>
          <p:nvPr/>
        </p:nvSpPr>
        <p:spPr>
          <a:xfrm>
            <a:off x="1078717" y="5151662"/>
            <a:ext cx="4690231" cy="13388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noProof="0">
                <a:latin typeface="Segoe UI"/>
                <a:cs typeface="Segoe UI"/>
              </a:rPr>
              <a:t>Avec 515 000 signatures en 2024, les RCI représentent entre 8 et 21% des fins de CDI selon le secteur.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72% des RCI ont donné lieu à une ouverture de droits à l’ARE en 2024, représentant 26% des dépenses d’allocation (9,4 Md €) (Unédic, 2026).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Dispositif volontaire</a:t>
            </a:r>
            <a:r>
              <a:rPr lang="fr-FR" sz="900" b="1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</a:t>
            </a:r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 et dépenses en hausse : les allocataires indemnisés après une RCI sont </a:t>
            </a:r>
            <a:r>
              <a:rPr lang="fr-FR" sz="9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stigmatisés</a:t>
            </a:r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 dans le débat public.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900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900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9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Espace réservé du texte 2">
            <a:extLst>
              <a:ext uri="{FF2B5EF4-FFF2-40B4-BE49-F238E27FC236}">
                <a16:creationId xmlns:a16="http://schemas.microsoft.com/office/drawing/2014/main" id="{6DDEC6E4-DCA6-87CB-9F11-340CD7064EF6}"/>
              </a:ext>
            </a:extLst>
          </p:cNvPr>
          <p:cNvSpPr txBox="1">
            <a:spLocks/>
          </p:cNvSpPr>
          <p:nvPr/>
        </p:nvSpPr>
        <p:spPr>
          <a:xfrm>
            <a:off x="6377682" y="1162451"/>
            <a:ext cx="5145297" cy="2438945"/>
          </a:xfrm>
          <a:prstGeom prst="rect">
            <a:avLst/>
          </a:prstGeom>
          <a:solidFill>
            <a:srgbClr val="E6F2F2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1B974A22-ECA7-46D0-907A-63061DDBDA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9516" y="4174525"/>
            <a:ext cx="3661937" cy="350061"/>
          </a:xfrm>
          <a:prstGeom prst="rect">
            <a:avLst/>
          </a:prstGeom>
        </p:spPr>
      </p:pic>
      <p:pic>
        <p:nvPicPr>
          <p:cNvPr id="50" name="Image 49" descr="Le Monde, mode d'emploi - Identité visuelle - un projet réalisé avec  Nicolas Queffēlec, brand &amp; interactive designer">
            <a:extLst>
              <a:ext uri="{FF2B5EF4-FFF2-40B4-BE49-F238E27FC236}">
                <a16:creationId xmlns:a16="http://schemas.microsoft.com/office/drawing/2014/main" id="{C6DBAD50-A4B4-F345-C703-F7F4944FCA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3986" y="4020740"/>
            <a:ext cx="609190" cy="610203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174EACE2-A817-EBFC-5289-8DA330723BB3}"/>
              </a:ext>
            </a:extLst>
          </p:cNvPr>
          <p:cNvSpPr txBox="1"/>
          <p:nvPr/>
        </p:nvSpPr>
        <p:spPr>
          <a:xfrm>
            <a:off x="1206644" y="4476614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12/11/2025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3CB063A-11B4-1B3D-4D50-C7761A6D8447}"/>
              </a:ext>
            </a:extLst>
          </p:cNvPr>
          <p:cNvSpPr txBox="1"/>
          <p:nvPr/>
        </p:nvSpPr>
        <p:spPr>
          <a:xfrm>
            <a:off x="906734" y="6061980"/>
            <a:ext cx="5020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700" i="1" spc="-20" noProof="0">
                <a:latin typeface="Segoe UI" panose="020B0502040204020203" pitchFamily="34" charset="0"/>
                <a:cs typeface="Segoe UI" panose="020B0502040204020203" pitchFamily="34" charset="0"/>
              </a:rPr>
              <a:t>*Carry et.al (2025) examinent  le caractère contraint des RCI et montrent que 24% des RCI se seraient substituées à des licenciements pour motif personnel</a:t>
            </a:r>
          </a:p>
        </p:txBody>
      </p:sp>
      <p:sp>
        <p:nvSpPr>
          <p:cNvPr id="58" name="Espace réservé du texte 2">
            <a:extLst>
              <a:ext uri="{FF2B5EF4-FFF2-40B4-BE49-F238E27FC236}">
                <a16:creationId xmlns:a16="http://schemas.microsoft.com/office/drawing/2014/main" id="{03A01A14-DFA2-4E37-FF92-B7DCA1977868}"/>
              </a:ext>
            </a:extLst>
          </p:cNvPr>
          <p:cNvSpPr txBox="1">
            <a:spLocks/>
          </p:cNvSpPr>
          <p:nvPr/>
        </p:nvSpPr>
        <p:spPr>
          <a:xfrm>
            <a:off x="6402435" y="3896644"/>
            <a:ext cx="5110994" cy="2492541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3AC1822-B6D2-1DDF-32E4-9E1FFA36621B}"/>
              </a:ext>
            </a:extLst>
          </p:cNvPr>
          <p:cNvSpPr txBox="1"/>
          <p:nvPr/>
        </p:nvSpPr>
        <p:spPr>
          <a:xfrm>
            <a:off x="1060590" y="1265380"/>
            <a:ext cx="477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 DÉBAT PUBLIC ASSOCIE LA RCI À UN CHÔMAGE CHOISI FINANCÉ PAR L’ASSURANCE CHÔMAGE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150F4A09-6D78-83E3-DA7C-21242DF75CA9}"/>
              </a:ext>
            </a:extLst>
          </p:cNvPr>
          <p:cNvSpPr txBox="1">
            <a:spLocks/>
          </p:cNvSpPr>
          <p:nvPr/>
        </p:nvSpPr>
        <p:spPr>
          <a:xfrm>
            <a:off x="6559428" y="1281491"/>
            <a:ext cx="4771381" cy="3378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A3A7332-168B-257A-B22A-03C8AC69F398}"/>
              </a:ext>
            </a:extLst>
          </p:cNvPr>
          <p:cNvSpPr txBox="1"/>
          <p:nvPr/>
        </p:nvSpPr>
        <p:spPr>
          <a:xfrm>
            <a:off x="6566459" y="1262111"/>
            <a:ext cx="477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DANS UN CONTEXTE DE RECHERCHE D’ÉCONOMIE BUDGÉTAIRE, LES RCI SONT REGULIÈREMENT CIBLÉES PAR LE GOUVERNEMENT</a:t>
            </a:r>
          </a:p>
        </p:txBody>
      </p:sp>
      <p:sp>
        <p:nvSpPr>
          <p:cNvPr id="74" name="Espace réservé du texte 2">
            <a:extLst>
              <a:ext uri="{FF2B5EF4-FFF2-40B4-BE49-F238E27FC236}">
                <a16:creationId xmlns:a16="http://schemas.microsoft.com/office/drawing/2014/main" id="{C1094209-4392-B672-5599-B3929D59632C}"/>
              </a:ext>
            </a:extLst>
          </p:cNvPr>
          <p:cNvSpPr txBox="1">
            <a:spLocks/>
          </p:cNvSpPr>
          <p:nvPr/>
        </p:nvSpPr>
        <p:spPr>
          <a:xfrm>
            <a:off x="6648306" y="3987971"/>
            <a:ext cx="4771381" cy="3378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8D93BC2-C554-C6F9-AC05-6C7466203F07}"/>
              </a:ext>
            </a:extLst>
          </p:cNvPr>
          <p:cNvCxnSpPr>
            <a:cxnSpLocks/>
          </p:cNvCxnSpPr>
          <p:nvPr/>
        </p:nvCxnSpPr>
        <p:spPr>
          <a:xfrm>
            <a:off x="6176192" y="1161388"/>
            <a:ext cx="0" cy="522780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87BAF79F-48B6-0477-96CA-6BA3AF37842F}"/>
              </a:ext>
            </a:extLst>
          </p:cNvPr>
          <p:cNvCxnSpPr>
            <a:cxnSpLocks/>
          </p:cNvCxnSpPr>
          <p:nvPr/>
        </p:nvCxnSpPr>
        <p:spPr>
          <a:xfrm flipH="1">
            <a:off x="6402434" y="3749020"/>
            <a:ext cx="5120545" cy="0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8DD2CB15-BF0A-4D14-B461-5A3D14FF4699}"/>
              </a:ext>
            </a:extLst>
          </p:cNvPr>
          <p:cNvCxnSpPr>
            <a:cxnSpLocks/>
          </p:cNvCxnSpPr>
          <p:nvPr/>
        </p:nvCxnSpPr>
        <p:spPr>
          <a:xfrm flipH="1">
            <a:off x="6500493" y="2630012"/>
            <a:ext cx="4885635" cy="0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8" name="Ellipse 87">
            <a:extLst>
              <a:ext uri="{FF2B5EF4-FFF2-40B4-BE49-F238E27FC236}">
                <a16:creationId xmlns:a16="http://schemas.microsoft.com/office/drawing/2014/main" id="{2B8D6F3C-0410-69B8-9E60-E2E3C47EEB82}"/>
              </a:ext>
            </a:extLst>
          </p:cNvPr>
          <p:cNvSpPr/>
          <p:nvPr/>
        </p:nvSpPr>
        <p:spPr>
          <a:xfrm>
            <a:off x="6706880" y="2534672"/>
            <a:ext cx="168307" cy="16830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1AA4B554-6953-6C8F-76B8-F4AFC03A1AF0}"/>
              </a:ext>
            </a:extLst>
          </p:cNvPr>
          <p:cNvSpPr txBox="1"/>
          <p:nvPr/>
        </p:nvSpPr>
        <p:spPr>
          <a:xfrm>
            <a:off x="6414661" y="1925058"/>
            <a:ext cx="1374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600" i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« Quelqu’un qui est en RCI, c’est un choix contrairement au licenciement. Alors, il faut regarder les conditions d’indemnisation du dispositif à l’assurance-chômage »</a:t>
            </a:r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6F01E5C2-EA38-081F-C446-1F815D8524EA}"/>
              </a:ext>
            </a:extLst>
          </p:cNvPr>
          <p:cNvSpPr/>
          <p:nvPr/>
        </p:nvSpPr>
        <p:spPr>
          <a:xfrm>
            <a:off x="8213988" y="2535778"/>
            <a:ext cx="168307" cy="16830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911BCE5-413D-701B-33B4-4E731333F75A}"/>
              </a:ext>
            </a:extLst>
          </p:cNvPr>
          <p:cNvSpPr txBox="1"/>
          <p:nvPr/>
        </p:nvSpPr>
        <p:spPr>
          <a:xfrm>
            <a:off x="7426229" y="2940527"/>
            <a:ext cx="1607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6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Demandant 2 à 2,5 Md€ d’économies à l’AC, souhaitant </a:t>
            </a:r>
            <a:r>
              <a:rPr lang="fr-FR" sz="600" i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« durcir les règles concernant les chômeurs ayant conclu une RCI » et </a:t>
            </a:r>
            <a:r>
              <a:rPr lang="fr-FR" sz="600" i="1" noProof="0">
                <a:solidFill>
                  <a:schemeClr val="accent3"/>
                </a:solidFill>
                <a:cs typeface="Segoe UI" panose="020B0502040204020203" pitchFamily="34" charset="0"/>
              </a:rPr>
              <a:t>«</a:t>
            </a:r>
            <a:r>
              <a:rPr lang="fr-FR" sz="600" i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renforcer les incitations «»</a:t>
            </a:r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5C793EB4-DFC6-72C6-E8A4-000A75151FA9}"/>
              </a:ext>
            </a:extLst>
          </p:cNvPr>
          <p:cNvSpPr/>
          <p:nvPr/>
        </p:nvSpPr>
        <p:spPr>
          <a:xfrm>
            <a:off x="9655628" y="2538315"/>
            <a:ext cx="168307" cy="16830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9E609F00-90BE-16F4-24E8-E44C99528084}"/>
              </a:ext>
            </a:extLst>
          </p:cNvPr>
          <p:cNvSpPr txBox="1"/>
          <p:nvPr/>
        </p:nvSpPr>
        <p:spPr>
          <a:xfrm>
            <a:off x="8825470" y="1915492"/>
            <a:ext cx="1607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600" i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Adresse une nouvelle lettre de cadrage ciblée sur les  seules RCI  avec un objectif d’     «  au moins 400 millions d’euros d’économies par an »</a:t>
            </a:r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4BD0EE1B-1CC2-9B7A-ECCF-55C4AC7E9B7A}"/>
              </a:ext>
            </a:extLst>
          </p:cNvPr>
          <p:cNvSpPr/>
          <p:nvPr/>
        </p:nvSpPr>
        <p:spPr>
          <a:xfrm>
            <a:off x="10923998" y="2545858"/>
            <a:ext cx="168307" cy="16830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498516A-C16A-9F14-1312-4405C4817E99}"/>
              </a:ext>
            </a:extLst>
          </p:cNvPr>
          <p:cNvSpPr txBox="1"/>
          <p:nvPr/>
        </p:nvSpPr>
        <p:spPr>
          <a:xfrm>
            <a:off x="10292822" y="2892672"/>
            <a:ext cx="12578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6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Contribution patronale de 30% à 40% </a:t>
            </a:r>
            <a:endParaRPr lang="fr-FR" sz="600" i="1" noProof="0">
              <a:solidFill>
                <a:schemeClr val="accent3"/>
              </a:solidFill>
              <a:latin typeface="+mj-lt"/>
              <a:cs typeface="Segoe UI" panose="020B0502040204020203" pitchFamily="34" charset="0"/>
            </a:endParaRPr>
          </a:p>
          <a:p>
            <a:pPr algn="just"/>
            <a:r>
              <a:rPr lang="fr-FR" sz="6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pour les ruptures dont la date d’effet intervient à partir du 1</a:t>
            </a:r>
            <a:r>
              <a:rPr lang="fr-FR" sz="600" baseline="300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er</a:t>
            </a:r>
            <a:r>
              <a:rPr lang="fr-FR" sz="6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 janvier 2026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3C6EC4F2-B8B5-679A-FC75-78DF9A40E92D}"/>
              </a:ext>
            </a:extLst>
          </p:cNvPr>
          <p:cNvSpPr txBox="1"/>
          <p:nvPr/>
        </p:nvSpPr>
        <p:spPr>
          <a:xfrm>
            <a:off x="6614747" y="3956851"/>
            <a:ext cx="477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1" noProof="0">
                <a:solidFill>
                  <a:schemeClr val="accent4"/>
                </a:solidFill>
              </a:rPr>
              <a:t>EN CONSÉQUENCE, LES DROITS À L'ARE APRÈS UNE RCI SONT RÉDUITS POUR LA PREMIÈRE FOIS DEPUIS 2008</a:t>
            </a:r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BB0C046-19EC-7099-9CD8-09C7AE553C0A}"/>
              </a:ext>
            </a:extLst>
          </p:cNvPr>
          <p:cNvSpPr/>
          <p:nvPr/>
        </p:nvSpPr>
        <p:spPr>
          <a:xfrm>
            <a:off x="6658343" y="4430393"/>
            <a:ext cx="4771381" cy="408973"/>
          </a:xfrm>
          <a:prstGeom prst="rect">
            <a:avLst/>
          </a:prstGeom>
          <a:ln>
            <a:solidFill>
              <a:srgbClr val="FF9600"/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4EEA80B4-B3B7-9A24-BE65-A4455983F2D7}"/>
              </a:ext>
            </a:extLst>
          </p:cNvPr>
          <p:cNvSpPr txBox="1"/>
          <p:nvPr/>
        </p:nvSpPr>
        <p:spPr>
          <a:xfrm>
            <a:off x="6650351" y="4447117"/>
            <a:ext cx="47142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Les partenaires sociaux signent l’avenant n°3 au protocole du 10 novembre 2023 (signé par le patronat MEDEF, CPME, U2P et par la CFDT, CFTC; la CGT et CFE-CGG s’y opposent.</a:t>
            </a:r>
          </a:p>
          <a:p>
            <a:endParaRPr lang="fr-FR" sz="9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1E00CD5D-31AE-C8B1-817C-3D23DEB771AF}"/>
              </a:ext>
            </a:extLst>
          </p:cNvPr>
          <p:cNvSpPr txBox="1"/>
          <p:nvPr/>
        </p:nvSpPr>
        <p:spPr>
          <a:xfrm>
            <a:off x="8074383" y="5648681"/>
            <a:ext cx="19296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 noProof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rPr>
              <a:t>DEPUIS LE 1</a:t>
            </a:r>
            <a:r>
              <a:rPr lang="fr-FR" sz="600" b="1" baseline="30000" noProof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rPr>
              <a:t>ER</a:t>
            </a:r>
            <a:r>
              <a:rPr lang="fr-FR" sz="600" b="1" noProof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rPr>
              <a:t> SEPTEMBRE 2026</a:t>
            </a:r>
          </a:p>
        </p:txBody>
      </p:sp>
      <p:grpSp>
        <p:nvGrpSpPr>
          <p:cNvPr id="150" name="Groupe 149">
            <a:extLst>
              <a:ext uri="{FF2B5EF4-FFF2-40B4-BE49-F238E27FC236}">
                <a16:creationId xmlns:a16="http://schemas.microsoft.com/office/drawing/2014/main" id="{E6B51A8C-7C07-0FBB-8085-8F247B410AAE}"/>
              </a:ext>
            </a:extLst>
          </p:cNvPr>
          <p:cNvGrpSpPr/>
          <p:nvPr/>
        </p:nvGrpSpPr>
        <p:grpSpPr>
          <a:xfrm>
            <a:off x="5924356" y="4963563"/>
            <a:ext cx="2508554" cy="1354854"/>
            <a:chOff x="6082990" y="5043661"/>
            <a:chExt cx="2521232" cy="1361701"/>
          </a:xfrm>
        </p:grpSpPr>
        <p:pic>
          <p:nvPicPr>
            <p:cNvPr id="129" name="Graphique 128" descr="Calendrier journalier avec un remplissage uni">
              <a:extLst>
                <a:ext uri="{FF2B5EF4-FFF2-40B4-BE49-F238E27FC236}">
                  <a16:creationId xmlns:a16="http://schemas.microsoft.com/office/drawing/2014/main" id="{A8C21800-0590-F7F0-1387-6CB85638DC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875186" y="5043661"/>
              <a:ext cx="345262" cy="345262"/>
            </a:xfrm>
            <a:prstGeom prst="rect">
              <a:avLst/>
            </a:prstGeom>
          </p:spPr>
        </p:pic>
        <p:sp>
          <p:nvSpPr>
            <p:cNvPr id="131" name="ZoneTexte 130">
              <a:extLst>
                <a:ext uri="{FF2B5EF4-FFF2-40B4-BE49-F238E27FC236}">
                  <a16:creationId xmlns:a16="http://schemas.microsoft.com/office/drawing/2014/main" id="{38FE2B78-9B77-0503-B76C-B6DF26358ABF}"/>
                </a:ext>
              </a:extLst>
            </p:cNvPr>
            <p:cNvSpPr txBox="1"/>
            <p:nvPr/>
          </p:nvSpPr>
          <p:spPr>
            <a:xfrm>
              <a:off x="6082990" y="5470137"/>
              <a:ext cx="192965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18 mois</a:t>
              </a:r>
            </a:p>
          </p:txBody>
        </p:sp>
        <p:pic>
          <p:nvPicPr>
            <p:cNvPr id="133" name="Graphique 132" descr="Utilisateurs avec un remplissage uni">
              <a:extLst>
                <a:ext uri="{FF2B5EF4-FFF2-40B4-BE49-F238E27FC236}">
                  <a16:creationId xmlns:a16="http://schemas.microsoft.com/office/drawing/2014/main" id="{0EAEAB9A-3279-61A2-3D57-5E3322FB42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746485" y="5043661"/>
              <a:ext cx="345262" cy="345262"/>
            </a:xfrm>
            <a:prstGeom prst="rect">
              <a:avLst/>
            </a:prstGeom>
          </p:spPr>
        </p:pic>
        <p:sp>
          <p:nvSpPr>
            <p:cNvPr id="135" name="ZoneTexte 134">
              <a:extLst>
                <a:ext uri="{FF2B5EF4-FFF2-40B4-BE49-F238E27FC236}">
                  <a16:creationId xmlns:a16="http://schemas.microsoft.com/office/drawing/2014/main" id="{E45C8AFB-72D0-7A5E-A911-CEFE66396958}"/>
                </a:ext>
              </a:extLst>
            </p:cNvPr>
            <p:cNvSpPr txBox="1"/>
            <p:nvPr/>
          </p:nvSpPr>
          <p:spPr>
            <a:xfrm>
              <a:off x="7353455" y="5470137"/>
              <a:ext cx="113132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Moins de 55 ans</a:t>
              </a:r>
            </a:p>
          </p:txBody>
        </p:sp>
        <p:sp>
          <p:nvSpPr>
            <p:cNvPr id="137" name="ZoneTexte 136">
              <a:extLst>
                <a:ext uri="{FF2B5EF4-FFF2-40B4-BE49-F238E27FC236}">
                  <a16:creationId xmlns:a16="http://schemas.microsoft.com/office/drawing/2014/main" id="{2CD11764-EF3F-B901-44F4-3E6D23B6C405}"/>
                </a:ext>
              </a:extLst>
            </p:cNvPr>
            <p:cNvSpPr txBox="1"/>
            <p:nvPr/>
          </p:nvSpPr>
          <p:spPr>
            <a:xfrm>
              <a:off x="7353455" y="5673013"/>
              <a:ext cx="113132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De 55 à 56 ans</a:t>
              </a:r>
            </a:p>
          </p:txBody>
        </p:sp>
        <p:sp>
          <p:nvSpPr>
            <p:cNvPr id="139" name="ZoneTexte 138">
              <a:extLst>
                <a:ext uri="{FF2B5EF4-FFF2-40B4-BE49-F238E27FC236}">
                  <a16:creationId xmlns:a16="http://schemas.microsoft.com/office/drawing/2014/main" id="{364DEEE7-11B0-154E-FF58-B773D544270A}"/>
                </a:ext>
              </a:extLst>
            </p:cNvPr>
            <p:cNvSpPr txBox="1"/>
            <p:nvPr/>
          </p:nvSpPr>
          <p:spPr>
            <a:xfrm>
              <a:off x="6421254" y="5673013"/>
              <a:ext cx="12531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22,5 mois</a:t>
              </a:r>
            </a:p>
          </p:txBody>
        </p:sp>
        <p:sp>
          <p:nvSpPr>
            <p:cNvPr id="141" name="ZoneTexte 140">
              <a:extLst>
                <a:ext uri="{FF2B5EF4-FFF2-40B4-BE49-F238E27FC236}">
                  <a16:creationId xmlns:a16="http://schemas.microsoft.com/office/drawing/2014/main" id="{3715885F-07B5-CEE7-DF38-A977AC1DE50E}"/>
                </a:ext>
              </a:extLst>
            </p:cNvPr>
            <p:cNvSpPr txBox="1"/>
            <p:nvPr/>
          </p:nvSpPr>
          <p:spPr>
            <a:xfrm>
              <a:off x="6295082" y="5926529"/>
              <a:ext cx="15054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27 mois</a:t>
              </a:r>
            </a:p>
          </p:txBody>
        </p:sp>
        <p:sp>
          <p:nvSpPr>
            <p:cNvPr id="143" name="ZoneTexte 142">
              <a:extLst>
                <a:ext uri="{FF2B5EF4-FFF2-40B4-BE49-F238E27FC236}">
                  <a16:creationId xmlns:a16="http://schemas.microsoft.com/office/drawing/2014/main" id="{363CFC64-6698-0F40-63A9-3D23CADC0A95}"/>
                </a:ext>
              </a:extLst>
            </p:cNvPr>
            <p:cNvSpPr txBox="1"/>
            <p:nvPr/>
          </p:nvSpPr>
          <p:spPr>
            <a:xfrm>
              <a:off x="7234010" y="5926529"/>
              <a:ext cx="13702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 57 ans ET PLUS</a:t>
              </a:r>
            </a:p>
          </p:txBody>
        </p: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EC0DBA46-807A-2593-D4F1-B8756C2B0A68}"/>
                </a:ext>
              </a:extLst>
            </p:cNvPr>
            <p:cNvSpPr txBox="1"/>
            <p:nvPr/>
          </p:nvSpPr>
          <p:spPr>
            <a:xfrm>
              <a:off x="6536779" y="6205307"/>
              <a:ext cx="192965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AVANT</a:t>
              </a:r>
            </a:p>
          </p:txBody>
        </p:sp>
      </p:grpSp>
      <p:cxnSp>
        <p:nvCxnSpPr>
          <p:cNvPr id="149" name="Connecteur droit avec flèche 148">
            <a:extLst>
              <a:ext uri="{FF2B5EF4-FFF2-40B4-BE49-F238E27FC236}">
                <a16:creationId xmlns:a16="http://schemas.microsoft.com/office/drawing/2014/main" id="{C49EA7D4-8D9A-F08E-2844-3A44A558F163}"/>
              </a:ext>
            </a:extLst>
          </p:cNvPr>
          <p:cNvCxnSpPr>
            <a:cxnSpLocks/>
          </p:cNvCxnSpPr>
          <p:nvPr/>
        </p:nvCxnSpPr>
        <p:spPr>
          <a:xfrm>
            <a:off x="8676183" y="5542369"/>
            <a:ext cx="724375" cy="0"/>
          </a:xfrm>
          <a:prstGeom prst="straightConnector1">
            <a:avLst/>
          </a:prstGeom>
          <a:ln w="38100"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Groupe 150">
            <a:extLst>
              <a:ext uri="{FF2B5EF4-FFF2-40B4-BE49-F238E27FC236}">
                <a16:creationId xmlns:a16="http://schemas.microsoft.com/office/drawing/2014/main" id="{C1A6BAF7-6317-278B-31E2-37DADD5A376E}"/>
              </a:ext>
            </a:extLst>
          </p:cNvPr>
          <p:cNvGrpSpPr/>
          <p:nvPr/>
        </p:nvGrpSpPr>
        <p:grpSpPr>
          <a:xfrm>
            <a:off x="9091928" y="4939884"/>
            <a:ext cx="2401787" cy="829407"/>
            <a:chOff x="6082990" y="5043661"/>
            <a:chExt cx="2401787" cy="829407"/>
          </a:xfrm>
        </p:grpSpPr>
        <p:pic>
          <p:nvPicPr>
            <p:cNvPr id="152" name="Graphique 151" descr="Calendrier mensuel avec un remplissage uni">
              <a:extLst>
                <a:ext uri="{FF2B5EF4-FFF2-40B4-BE49-F238E27FC236}">
                  <a16:creationId xmlns:a16="http://schemas.microsoft.com/office/drawing/2014/main" id="{F4C95120-F24B-64F9-B493-DDE4D2EEDA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875186" y="5043661"/>
              <a:ext cx="345262" cy="345262"/>
            </a:xfrm>
            <a:prstGeom prst="rect">
              <a:avLst/>
            </a:prstGeom>
          </p:spPr>
        </p:pic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86E18AE5-0069-F407-29B9-BF459B05918B}"/>
                </a:ext>
              </a:extLst>
            </p:cNvPr>
            <p:cNvSpPr txBox="1"/>
            <p:nvPr/>
          </p:nvSpPr>
          <p:spPr>
            <a:xfrm>
              <a:off x="6082990" y="5470137"/>
              <a:ext cx="192965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15 mois</a:t>
              </a:r>
            </a:p>
          </p:txBody>
        </p:sp>
        <p:pic>
          <p:nvPicPr>
            <p:cNvPr id="154" name="Graphique 153" descr="Utilisateurs avec un remplissage uni">
              <a:extLst>
                <a:ext uri="{FF2B5EF4-FFF2-40B4-BE49-F238E27FC236}">
                  <a16:creationId xmlns:a16="http://schemas.microsoft.com/office/drawing/2014/main" id="{C50A6B91-EF00-23FB-221F-F16DB583E0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7746485" y="5043661"/>
              <a:ext cx="345262" cy="345262"/>
            </a:xfrm>
            <a:prstGeom prst="rect">
              <a:avLst/>
            </a:prstGeom>
          </p:spPr>
        </p:pic>
        <p:sp>
          <p:nvSpPr>
            <p:cNvPr id="155" name="ZoneTexte 154">
              <a:extLst>
                <a:ext uri="{FF2B5EF4-FFF2-40B4-BE49-F238E27FC236}">
                  <a16:creationId xmlns:a16="http://schemas.microsoft.com/office/drawing/2014/main" id="{BAE3188A-55C3-9EBA-DCB9-1BC29A10BB49}"/>
                </a:ext>
              </a:extLst>
            </p:cNvPr>
            <p:cNvSpPr txBox="1"/>
            <p:nvPr/>
          </p:nvSpPr>
          <p:spPr>
            <a:xfrm>
              <a:off x="7353455" y="5470137"/>
              <a:ext cx="113132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Moins de 55 ans</a:t>
              </a:r>
            </a:p>
          </p:txBody>
        </p:sp>
        <p:sp>
          <p:nvSpPr>
            <p:cNvPr id="156" name="ZoneTexte 155">
              <a:extLst>
                <a:ext uri="{FF2B5EF4-FFF2-40B4-BE49-F238E27FC236}">
                  <a16:creationId xmlns:a16="http://schemas.microsoft.com/office/drawing/2014/main" id="{E5E9E9E7-4E4B-C0CE-E3EF-1737846FCCD6}"/>
                </a:ext>
              </a:extLst>
            </p:cNvPr>
            <p:cNvSpPr txBox="1"/>
            <p:nvPr/>
          </p:nvSpPr>
          <p:spPr>
            <a:xfrm>
              <a:off x="7353455" y="5673013"/>
              <a:ext cx="113132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Plus de 55 ans </a:t>
              </a:r>
            </a:p>
          </p:txBody>
        </p:sp>
        <p:sp>
          <p:nvSpPr>
            <p:cNvPr id="157" name="ZoneTexte 156">
              <a:extLst>
                <a:ext uri="{FF2B5EF4-FFF2-40B4-BE49-F238E27FC236}">
                  <a16:creationId xmlns:a16="http://schemas.microsoft.com/office/drawing/2014/main" id="{AF6F1595-5DE4-D838-B1CF-E19D37B0E007}"/>
                </a:ext>
              </a:extLst>
            </p:cNvPr>
            <p:cNvSpPr txBox="1"/>
            <p:nvPr/>
          </p:nvSpPr>
          <p:spPr>
            <a:xfrm>
              <a:off x="6421254" y="5673013"/>
              <a:ext cx="12531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20,5 mois</a:t>
              </a:r>
            </a:p>
          </p:txBody>
        </p:sp>
      </p:grpSp>
      <p:sp>
        <p:nvSpPr>
          <p:cNvPr id="166" name="ZoneTexte 165">
            <a:extLst>
              <a:ext uri="{FF2B5EF4-FFF2-40B4-BE49-F238E27FC236}">
                <a16:creationId xmlns:a16="http://schemas.microsoft.com/office/drawing/2014/main" id="{32C8725A-94FF-AA2E-8003-0632B5CF24D7}"/>
              </a:ext>
            </a:extLst>
          </p:cNvPr>
          <p:cNvSpPr txBox="1"/>
          <p:nvPr/>
        </p:nvSpPr>
        <p:spPr>
          <a:xfrm>
            <a:off x="9756567" y="6088225"/>
            <a:ext cx="1929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rPr>
              <a:t>APRÈS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391C26-89CA-7280-B271-4C4297B48A44}"/>
              </a:ext>
            </a:extLst>
          </p:cNvPr>
          <p:cNvSpPr/>
          <p:nvPr/>
        </p:nvSpPr>
        <p:spPr>
          <a:xfrm>
            <a:off x="6500493" y="1798309"/>
            <a:ext cx="1289095" cy="134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CF05D39D-B90F-F37C-8989-43D83F04DB32}"/>
              </a:ext>
            </a:extLst>
          </p:cNvPr>
          <p:cNvSpPr txBox="1"/>
          <p:nvPr/>
        </p:nvSpPr>
        <p:spPr>
          <a:xfrm>
            <a:off x="6310804" y="1765140"/>
            <a:ext cx="16509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A. PANOSYAN-BOUVET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8318A-53EC-6E30-2091-96D822443014}"/>
              </a:ext>
            </a:extLst>
          </p:cNvPr>
          <p:cNvSpPr/>
          <p:nvPr/>
        </p:nvSpPr>
        <p:spPr>
          <a:xfrm>
            <a:off x="8924732" y="1798115"/>
            <a:ext cx="1547699" cy="140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B494BCE5-ACA2-59ED-B60D-4B195C777803}"/>
              </a:ext>
            </a:extLst>
          </p:cNvPr>
          <p:cNvSpPr txBox="1"/>
          <p:nvPr/>
        </p:nvSpPr>
        <p:spPr>
          <a:xfrm>
            <a:off x="8740401" y="1772604"/>
            <a:ext cx="1929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GOUVERNEMENT LECORNU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2608E8-4A4D-06EE-1572-4AA045D888AD}"/>
              </a:ext>
            </a:extLst>
          </p:cNvPr>
          <p:cNvSpPr/>
          <p:nvPr/>
        </p:nvSpPr>
        <p:spPr>
          <a:xfrm>
            <a:off x="10568069" y="2398233"/>
            <a:ext cx="769772" cy="1168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960BE6-3B02-BEE2-DB4A-79E080F2F5E7}"/>
              </a:ext>
            </a:extLst>
          </p:cNvPr>
          <p:cNvSpPr/>
          <p:nvPr/>
        </p:nvSpPr>
        <p:spPr>
          <a:xfrm>
            <a:off x="6495034" y="2726394"/>
            <a:ext cx="738490" cy="119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E354B8-DC0C-2EA6-04DE-993C2626874A}"/>
              </a:ext>
            </a:extLst>
          </p:cNvPr>
          <p:cNvSpPr/>
          <p:nvPr/>
        </p:nvSpPr>
        <p:spPr>
          <a:xfrm>
            <a:off x="7343631" y="2714299"/>
            <a:ext cx="1776008" cy="12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6F1F4E-DFA5-EB8C-8098-ED161D03D1B8}"/>
              </a:ext>
            </a:extLst>
          </p:cNvPr>
          <p:cNvSpPr/>
          <p:nvPr/>
        </p:nvSpPr>
        <p:spPr>
          <a:xfrm>
            <a:off x="9369492" y="2696077"/>
            <a:ext cx="774151" cy="151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7928CC-9659-B4EF-32DE-365961FD5450}"/>
              </a:ext>
            </a:extLst>
          </p:cNvPr>
          <p:cNvSpPr/>
          <p:nvPr/>
        </p:nvSpPr>
        <p:spPr>
          <a:xfrm>
            <a:off x="10683318" y="2743738"/>
            <a:ext cx="647492" cy="111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886184-A740-E866-2874-0EB7E49F297D}"/>
              </a:ext>
            </a:extLst>
          </p:cNvPr>
          <p:cNvSpPr/>
          <p:nvPr/>
        </p:nvSpPr>
        <p:spPr>
          <a:xfrm>
            <a:off x="7856466" y="2384688"/>
            <a:ext cx="883936" cy="121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5D69A3D-B08F-E440-8A34-BB53D7EA5D00}"/>
              </a:ext>
            </a:extLst>
          </p:cNvPr>
          <p:cNvSpPr txBox="1"/>
          <p:nvPr/>
        </p:nvSpPr>
        <p:spPr>
          <a:xfrm>
            <a:off x="7826567" y="2352961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08/08/2025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1CC35EF3-6F87-AAAB-F9DA-6698C2173A61}"/>
              </a:ext>
            </a:extLst>
          </p:cNvPr>
          <p:cNvSpPr txBox="1"/>
          <p:nvPr/>
        </p:nvSpPr>
        <p:spPr>
          <a:xfrm>
            <a:off x="10527527" y="2347695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16/12/2025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07F1DCC5-5CC8-2918-9C1F-4EE83889FFBB}"/>
              </a:ext>
            </a:extLst>
          </p:cNvPr>
          <p:cNvSpPr txBox="1"/>
          <p:nvPr/>
        </p:nvSpPr>
        <p:spPr>
          <a:xfrm>
            <a:off x="10043323" y="2704577"/>
            <a:ext cx="1929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LFSS 2026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361A62A5-C4A1-A670-7915-F84DBEC63E52}"/>
              </a:ext>
            </a:extLst>
          </p:cNvPr>
          <p:cNvSpPr txBox="1"/>
          <p:nvPr/>
        </p:nvSpPr>
        <p:spPr>
          <a:xfrm>
            <a:off x="9310229" y="2674316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29/11/2025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21781417-28C4-0153-1E4C-08248CBBC7F4}"/>
              </a:ext>
            </a:extLst>
          </p:cNvPr>
          <p:cNvSpPr txBox="1"/>
          <p:nvPr/>
        </p:nvSpPr>
        <p:spPr>
          <a:xfrm>
            <a:off x="7220449" y="2690138"/>
            <a:ext cx="1929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LETTRE DE CADRAGE DE F.BAYROU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5D69315A-5F35-CB62-0E13-4B01989C5887}"/>
              </a:ext>
            </a:extLst>
          </p:cNvPr>
          <p:cNvSpPr txBox="1"/>
          <p:nvPr/>
        </p:nvSpPr>
        <p:spPr>
          <a:xfrm>
            <a:off x="6384927" y="2688636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15/07/2025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D1FC48-3606-B880-A496-FFCF1736FEF0}"/>
              </a:ext>
            </a:extLst>
          </p:cNvPr>
          <p:cNvSpPr/>
          <p:nvPr/>
        </p:nvSpPr>
        <p:spPr>
          <a:xfrm>
            <a:off x="6593343" y="4926234"/>
            <a:ext cx="1631177" cy="1122365"/>
          </a:xfrm>
          <a:prstGeom prst="rect">
            <a:avLst/>
          </a:prstGeom>
          <a:noFill/>
          <a:ln w="9525"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90ACC7-5850-34B7-A1C2-1591DB039E78}"/>
              </a:ext>
            </a:extLst>
          </p:cNvPr>
          <p:cNvSpPr/>
          <p:nvPr/>
        </p:nvSpPr>
        <p:spPr>
          <a:xfrm>
            <a:off x="9731180" y="4926234"/>
            <a:ext cx="1631177" cy="1122365"/>
          </a:xfrm>
          <a:prstGeom prst="rect">
            <a:avLst/>
          </a:prstGeom>
          <a:noFill/>
          <a:ln w="9525"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0173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941829" y="68060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littérature économique a mesuré sur la rupture conventionnelle, objectif par objectif</a:t>
            </a:r>
            <a:endParaRPr lang="en-US" sz="105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313326"/>
              </p:ext>
            </p:extLst>
          </p:nvPr>
        </p:nvGraphicFramePr>
        <p:xfrm>
          <a:off x="1060089" y="2284797"/>
          <a:ext cx="10473774" cy="3169404"/>
        </p:xfrm>
        <a:graphic>
          <a:graphicData uri="http://schemas.openxmlformats.org/drawingml/2006/table">
            <a:tbl>
              <a:tblPr/>
              <a:tblGrid>
                <a:gridCol w="1720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Étude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Données et méthode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Résultat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 principal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Obj. 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Obj. 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Obj. 3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40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i="1">
                          <a:solidFill>
                            <a:srgbClr val="007C8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Évaluations causales ou quasi-causales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Batut et Maurin (2019)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Données d'établissements ; étude d'événements autour du premier usage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Les ruptures de CDI augmentent de 18 à 20 % ; environ 10 % des licenciements personnels remplacés ; pas d'effet sur l'emploi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FB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Signoretto (2016)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Données d'entreprises 2006-2009 ; double différence appariée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Plus de sorties et de destructions d'emplois dans les entreprises utilisatrices ; faible substitution aux licenciements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FB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Milin (2018)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Mouvements de main-d'œuvre 1993-2017 ; contrefactuel de tendance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Environ 75 % des ruptures remplacent des démissions ; pas de substitution significative aux licenciements personnels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Carry et Schoefer (2024)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Séries</a:t>
                      </a: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agrégées</a:t>
                      </a: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enquête</a:t>
                      </a: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 RH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Environ 12 % des licenciements personnels convertis ; les contentieux après licenciement ne diminuent pas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FB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40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i="1">
                          <a:solidFill>
                            <a:srgbClr val="007C8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Travaux descriptifs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Bourieau (2013)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Enquête auprès de 4 502 signataires, 2011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48 % déclarent une décision commune, 29 % se sont sentis contraints ; 69 % citent l'accès à l'indemnisation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9FB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Dares (2026)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Allocataires, cohorte 2022 ; régression logistique avec contrôles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Taux de présence en emploi salarié inférieur de 9 points la première année ; écart largement inexpliqué</a:t>
                      </a:r>
                      <a:endParaRPr lang="en-US" sz="10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8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941829" y="55904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objectif directement examiné   ·   ○ examiné indirectement   ·   – non examiné</a:t>
            </a:r>
            <a:endParaRPr lang="en-US" sz="850"/>
          </a:p>
        </p:txBody>
      </p:sp>
      <p:sp>
        <p:nvSpPr>
          <p:cNvPr id="19" name="Shape 16"/>
          <p:cNvSpPr/>
          <p:nvPr/>
        </p:nvSpPr>
        <p:spPr>
          <a:xfrm>
            <a:off x="941829" y="5773288"/>
            <a:ext cx="10779205" cy="544925"/>
          </a:xfrm>
          <a:prstGeom prst="roundRect">
            <a:avLst>
              <a:gd name="adj" fmla="val 7500"/>
            </a:avLst>
          </a:prstGeom>
          <a:solidFill>
            <a:srgbClr val="FFF3E5"/>
          </a:solidFill>
          <a:ln w="9525">
            <a:solidFill>
              <a:srgbClr val="FFF3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1060089" y="5764005"/>
            <a:ext cx="10473774" cy="59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: </a:t>
            </a:r>
            <a:r>
              <a:rPr lang="en-US" sz="125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l'objectif 3 du côté du salarié, en comparant les signataires à des sortants de CDI de profil comparable et en suivant leurs trajectoires six ans après la rupture.</a:t>
            </a:r>
            <a:endParaRPr lang="en-US" sz="125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0ECE9D4B-4A75-2CD4-4DDD-A07BD5110072}"/>
              </a:ext>
            </a:extLst>
          </p:cNvPr>
          <p:cNvSpPr/>
          <p:nvPr/>
        </p:nvSpPr>
        <p:spPr>
          <a:xfrm>
            <a:off x="941829" y="1093995"/>
            <a:ext cx="2998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121E76D4-0958-AE3D-9339-D2A90C418EF3}"/>
              </a:ext>
            </a:extLst>
          </p:cNvPr>
          <p:cNvSpPr/>
          <p:nvPr/>
        </p:nvSpPr>
        <p:spPr>
          <a:xfrm>
            <a:off x="4797576" y="1093995"/>
            <a:ext cx="2998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chemeClr val="bg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7D8A5B86-3026-90D9-7644-280EBC79B599}"/>
              </a:ext>
            </a:extLst>
          </p:cNvPr>
          <p:cNvSpPr/>
          <p:nvPr/>
        </p:nvSpPr>
        <p:spPr>
          <a:xfrm>
            <a:off x="8653323" y="1093995"/>
            <a:ext cx="2998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087755" y="11196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8C9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1</a:t>
            </a:r>
            <a:endParaRPr lang="en-US" sz="850"/>
          </a:p>
        </p:txBody>
      </p:sp>
      <p:sp>
        <p:nvSpPr>
          <p:cNvPr id="7" name="Text 5"/>
          <p:cNvSpPr txBox="1"/>
          <p:nvPr/>
        </p:nvSpPr>
        <p:spPr>
          <a:xfrm>
            <a:off x="1087755" y="128553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segmentation</a:t>
            </a:r>
            <a:endParaRPr lang="en-US" sz="1250"/>
          </a:p>
        </p:txBody>
      </p:sp>
      <p:sp>
        <p:nvSpPr>
          <p:cNvPr id="8" name="Text 6"/>
          <p:cNvSpPr txBox="1"/>
          <p:nvPr/>
        </p:nvSpPr>
        <p:spPr>
          <a:xfrm>
            <a:off x="1087755" y="1587225"/>
            <a:ext cx="27823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Jamais évalué directement : les travaux portent sur les flux de sorties de CDI, pas sur la dualité du marché</a:t>
            </a:r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902517" y="11196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8C9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2</a:t>
            </a:r>
            <a:endParaRPr lang="en-US" sz="850"/>
          </a:p>
        </p:txBody>
      </p:sp>
      <p:sp>
        <p:nvSpPr>
          <p:cNvPr id="15" name="Text 13"/>
          <p:cNvSpPr txBox="1"/>
          <p:nvPr/>
        </p:nvSpPr>
        <p:spPr>
          <a:xfrm>
            <a:off x="8743049" y="128553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les mobilités</a:t>
            </a:r>
            <a:endParaRPr lang="en-US" sz="1250"/>
          </a:p>
        </p:txBody>
      </p:sp>
      <p:sp>
        <p:nvSpPr>
          <p:cNvPr id="11" name="Text 9"/>
          <p:cNvSpPr txBox="1"/>
          <p:nvPr/>
        </p:nvSpPr>
        <p:spPr>
          <a:xfrm>
            <a:off x="4905564" y="1275441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Désamorcer les séparations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5037963" y="1596649"/>
            <a:ext cx="29108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 plus étudié, et les résultats vont contre : peu de licenciements remplacés, contentieux stables</a:t>
            </a:r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717280" y="11196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3</a:t>
            </a:r>
            <a:endParaRPr lang="en-US" sz="850"/>
          </a:p>
        </p:txBody>
      </p:sp>
      <p:sp>
        <p:nvSpPr>
          <p:cNvPr id="16" name="Text 14"/>
          <p:cNvSpPr txBox="1"/>
          <p:nvPr/>
        </p:nvSpPr>
        <p:spPr>
          <a:xfrm>
            <a:off x="8931808" y="1592102"/>
            <a:ext cx="24418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 moins documenté, et uniquement par des travaux descriptifs sur les seuls allocataires</a:t>
            </a:r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DA6DC3D2-27C5-E181-DB61-95678619D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591" y="-2463"/>
            <a:ext cx="6913463" cy="304826"/>
          </a:xfrm>
          <a:prstGeom prst="rect">
            <a:avLst/>
          </a:prstGeom>
        </p:spPr>
      </p:pic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197B5273-E679-A419-EDA8-5E3EAF74437F}"/>
              </a:ext>
            </a:extLst>
          </p:cNvPr>
          <p:cNvSpPr txBox="1">
            <a:spLocks/>
          </p:cNvSpPr>
          <p:nvPr/>
        </p:nvSpPr>
        <p:spPr>
          <a:xfrm>
            <a:off x="856296" y="250065"/>
            <a:ext cx="10990655" cy="2709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600" b="1">
                <a:solidFill>
                  <a:schemeClr val="accent5"/>
                </a:solidFill>
              </a:rPr>
              <a:t>TROIS OBJECTIFS ASSIGNÉS EN 2008, UN SEUL PRESQUE JAMAIS ÉVALUÉ</a:t>
            </a:r>
          </a:p>
          <a:p>
            <a:endParaRPr lang="fr-FR">
              <a:highlight>
                <a:srgbClr val="FFFF00"/>
              </a:highligh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7134B7-FD38-EF09-1E1A-77C934DAC36A}"/>
              </a:ext>
            </a:extLst>
          </p:cNvPr>
          <p:cNvSpPr/>
          <p:nvPr/>
        </p:nvSpPr>
        <p:spPr>
          <a:xfrm>
            <a:off x="856296" y="680600"/>
            <a:ext cx="5544504" cy="192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B8559BCA-FD20-A38F-FEC8-40FC76F0C4DA}"/>
              </a:ext>
            </a:extLst>
          </p:cNvPr>
          <p:cNvSpPr txBox="1">
            <a:spLocks/>
          </p:cNvSpPr>
          <p:nvPr/>
        </p:nvSpPr>
        <p:spPr>
          <a:xfrm>
            <a:off x="856296" y="523112"/>
            <a:ext cx="7885717" cy="3011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>
                <a:solidFill>
                  <a:schemeClr val="accent3"/>
                </a:solidFill>
                <a:latin typeface="Montserrat" pitchFamily="2" charset="77"/>
              </a:rPr>
              <a:t>Ce que la littérature économique a mesuré sur la rupture conventionnelle, objectif par objectif</a:t>
            </a:r>
          </a:p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56248" y="45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100" b="1" u="sng" cap="all">
                <a:solidFill>
                  <a:srgbClr val="288494"/>
                </a:solidFill>
                <a:latin typeface="Montserrat" pitchFamily="2" charset="77"/>
              </a:rPr>
              <a:t>DÉMARCHE DE L'ÉTUDE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51560" y="402336"/>
            <a:ext cx="1077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2000" b="1">
                <a:solidFill>
                  <a:srgbClr val="8BBF3F"/>
                </a:solidFill>
                <a:latin typeface="Montserrat" pitchFamily="34" charset="0"/>
              </a:rPr>
              <a:t>LA RCI  : SORTIE COÛTEUSE, OU TRANSTION PROFESSIONNELLE EFFICACE ?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051560" y="768482"/>
            <a:ext cx="10771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200">
                <a:solidFill>
                  <a:schemeClr val="accent3"/>
                </a:solidFill>
                <a:latin typeface="Montserrat" pitchFamily="2" charset="77"/>
              </a:rPr>
              <a:t>Deux analyses sur données administratives, complétées par les motifs déclarés · MiDAS, cohortes 2019 et 2022 suivies jusqu'en </a:t>
            </a:r>
            <a:r>
              <a:rPr lang="en-US" sz="1200" err="1">
                <a:solidFill>
                  <a:schemeClr val="accent3"/>
                </a:solidFill>
                <a:latin typeface="Montserrat" pitchFamily="2" charset="77"/>
              </a:rPr>
              <a:t>décembre</a:t>
            </a:r>
            <a:r>
              <a:rPr lang="en-US" sz="1200">
                <a:solidFill>
                  <a:schemeClr val="accent3"/>
                </a:solidFill>
                <a:latin typeface="Montserrat" pitchFamily="2" charset="77"/>
              </a:rPr>
              <a:t> 2025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1252728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QUESTION</a:t>
            </a:r>
            <a:endParaRPr lang="en-US" sz="850"/>
          </a:p>
        </p:txBody>
      </p:sp>
      <p:sp>
        <p:nvSpPr>
          <p:cNvPr id="6" name="Text 4"/>
          <p:cNvSpPr txBox="1"/>
          <p:nvPr/>
        </p:nvSpPr>
        <p:spPr>
          <a:xfrm>
            <a:off x="4169664" y="1207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NOUS FAISONS</a:t>
            </a:r>
            <a:endParaRPr lang="en-US" sz="850"/>
          </a:p>
        </p:txBody>
      </p:sp>
      <p:sp>
        <p:nvSpPr>
          <p:cNvPr id="7" name="Text 5"/>
          <p:cNvSpPr txBox="1"/>
          <p:nvPr/>
        </p:nvSpPr>
        <p:spPr>
          <a:xfrm>
            <a:off x="9107424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CELA PERMET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1252728" y="1609344"/>
            <a:ext cx="402336" cy="402336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252728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1252728" y="20848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profil comparable, la rupture conventionnelle change-t-elle les trajectoires ?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950208" y="1627632"/>
            <a:ext cx="0" cy="145389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169664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Comparaison appariée et étude d'événements</a:t>
            </a:r>
            <a:endParaRPr lang="en-US" sz="1200"/>
          </a:p>
        </p:txBody>
      </p:sp>
      <p:sp>
        <p:nvSpPr>
          <p:cNvPr id="13" name="Text 11"/>
          <p:cNvSpPr txBox="1"/>
          <p:nvPr/>
        </p:nvSpPr>
        <p:spPr>
          <a:xfrm>
            <a:off x="4169664" y="1920240"/>
            <a:ext cx="45720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aux seuls sortants de CDI, et non à l'ensemble des allocataires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Documenter les écarts d'âge, de diplôme et de salaire de référence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Apparier sur score de propension : 217 variables, dont 24 mois d'historique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Suivre les trajectoires de 24 mois avant à 36 mois après, et jusqu'à 72 mois pour 2019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8887968" y="1627632"/>
            <a:ext cx="0" cy="145389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107424" y="1609344"/>
            <a:ext cx="384048" cy="384048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1709928"/>
            <a:ext cx="173736" cy="1737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107424" y="208483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Isoler ce qui tient à la voie de sortie, et non au profil ni à la conjoncture</a:t>
            </a:r>
            <a:endParaRPr lang="en-US" sz="1050"/>
          </a:p>
        </p:txBody>
      </p:sp>
      <p:sp>
        <p:nvSpPr>
          <p:cNvPr id="18" name="Shape 15"/>
          <p:cNvSpPr/>
          <p:nvPr/>
        </p:nvSpPr>
        <p:spPr>
          <a:xfrm>
            <a:off x="1252728" y="3529584"/>
            <a:ext cx="402336" cy="402336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1252728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/>
          </a:p>
        </p:txBody>
      </p:sp>
      <p:sp>
        <p:nvSpPr>
          <p:cNvPr id="20" name="Text 17"/>
          <p:cNvSpPr txBox="1"/>
          <p:nvPr/>
        </p:nvSpPr>
        <p:spPr>
          <a:xfrm>
            <a:off x="1252728" y="40050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cache l'effet moyen ?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>
          <a:xfrm>
            <a:off x="3950208" y="3547872"/>
            <a:ext cx="0" cy="106070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4169664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de séquences</a:t>
            </a:r>
            <a:endParaRPr lang="en-US" sz="1200"/>
          </a:p>
        </p:txBody>
      </p:sp>
      <p:sp>
        <p:nvSpPr>
          <p:cNvPr id="23" name="Text 20"/>
          <p:cNvSpPr txBox="1"/>
          <p:nvPr/>
        </p:nvSpPr>
        <p:spPr>
          <a:xfrm>
            <a:off x="4169664" y="384048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Reconstituer les parcours mensuels sur six ans, emploi comme hors emploi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Classer les trajectoires en parcours types communs aux deux groupes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la répartition des signataires et de leurs témoins appariés</a:t>
            </a:r>
            <a:endParaRPr lang="en-US" sz="950"/>
          </a:p>
        </p:txBody>
      </p:sp>
      <p:sp>
        <p:nvSpPr>
          <p:cNvPr id="24" name="Shape 21"/>
          <p:cNvSpPr/>
          <p:nvPr/>
        </p:nvSpPr>
        <p:spPr>
          <a:xfrm>
            <a:off x="8887968" y="3547872"/>
            <a:ext cx="0" cy="106070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9107424" y="3529584"/>
            <a:ext cx="384048" cy="384048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630168"/>
            <a:ext cx="173736" cy="17373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07424" y="40050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Faire apparaître la diversité des parcours derrière la moyenne</a:t>
            </a:r>
            <a:endParaRPr lang="en-US" sz="1050"/>
          </a:p>
        </p:txBody>
      </p:sp>
      <p:sp>
        <p:nvSpPr>
          <p:cNvPr id="28" name="Shape 24"/>
          <p:cNvSpPr/>
          <p:nvPr/>
        </p:nvSpPr>
        <p:spPr>
          <a:xfrm>
            <a:off x="1051560" y="4937760"/>
            <a:ext cx="1077163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1197864" y="5084064"/>
            <a:ext cx="45720" cy="5669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1380744" y="5184648"/>
            <a:ext cx="365760" cy="36576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5285232"/>
            <a:ext cx="164592" cy="16459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892808" y="5047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COMPLÉMENT</a:t>
            </a:r>
            <a:endParaRPr lang="en-US" sz="850"/>
          </a:p>
        </p:txBody>
      </p:sp>
      <p:sp>
        <p:nvSpPr>
          <p:cNvPr id="33" name="Text 28"/>
          <p:cNvSpPr txBox="1"/>
          <p:nvPr/>
        </p:nvSpPr>
        <p:spPr>
          <a:xfrm>
            <a:off x="1892808" y="5248656"/>
            <a:ext cx="9674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motifs, dans les mots des salariés. </a:t>
            </a:r>
            <a:r>
              <a:rPr lang="en-US" sz="10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administratives enregistrent ce que font les signataires, pas pourquoi ils ont signé. Un modèle de sujets sur environ 1 700 messages de forums éclaire les motifs déclarés, sans prétention à la représentativité.</a:t>
            </a:r>
            <a:endParaRPr lang="en-US" sz="1000"/>
          </a:p>
        </p:txBody>
      </p:sp>
      <p:sp>
        <p:nvSpPr>
          <p:cNvPr id="34" name="Shape 29"/>
          <p:cNvSpPr/>
          <p:nvPr/>
        </p:nvSpPr>
        <p:spPr>
          <a:xfrm>
            <a:off x="1051560" y="5888737"/>
            <a:ext cx="10771632" cy="420623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728" y="6021106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581912" y="58338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MiDAS</a:t>
            </a:r>
            <a:r>
              <a:rPr lang="en-US" sz="10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appariement Dares, Cnaf et France Travail, 2017-2025</a:t>
            </a:r>
            <a:endParaRPr lang="en-US" sz="100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395" y="6007608"/>
            <a:ext cx="201168" cy="16459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965372" y="58475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2022</a:t>
            </a:r>
            <a:r>
              <a:rPr lang="en-US" sz="10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trois ans de recul</a:t>
            </a:r>
            <a:endParaRPr lang="en-US" sz="100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882" y="5991933"/>
            <a:ext cx="201168" cy="16459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531096" y="58338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2019</a:t>
            </a:r>
            <a:r>
              <a:rPr lang="en-US" sz="10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six ans de recul</a:t>
            </a:r>
            <a:endParaRPr lang="en-US" sz="1000"/>
          </a:p>
        </p:txBody>
      </p:sp>
      <p:sp>
        <p:nvSpPr>
          <p:cNvPr id="42" name="Espace réservé du texte 2">
            <a:extLst>
              <a:ext uri="{FF2B5EF4-FFF2-40B4-BE49-F238E27FC236}">
                <a16:creationId xmlns:a16="http://schemas.microsoft.com/office/drawing/2014/main" id="{6FF4239D-C6BE-95D5-8C24-DB23A622EEFF}"/>
              </a:ext>
            </a:extLst>
          </p:cNvPr>
          <p:cNvSpPr txBox="1">
            <a:spLocks/>
          </p:cNvSpPr>
          <p:nvPr/>
        </p:nvSpPr>
        <p:spPr>
          <a:xfrm>
            <a:off x="1089569" y="1403051"/>
            <a:ext cx="10733619" cy="1614469"/>
          </a:xfrm>
          <a:prstGeom prst="rect">
            <a:avLst/>
          </a:prstGeom>
          <a:solidFill>
            <a:srgbClr val="E6F2F2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44" name="Espace réservé du texte 2">
            <a:extLst>
              <a:ext uri="{FF2B5EF4-FFF2-40B4-BE49-F238E27FC236}">
                <a16:creationId xmlns:a16="http://schemas.microsoft.com/office/drawing/2014/main" id="{DFAF0343-EE0A-9DC3-A1A1-12E40D3DDE55}"/>
              </a:ext>
            </a:extLst>
          </p:cNvPr>
          <p:cNvSpPr txBox="1">
            <a:spLocks/>
          </p:cNvSpPr>
          <p:nvPr/>
        </p:nvSpPr>
        <p:spPr>
          <a:xfrm>
            <a:off x="1051560" y="3227832"/>
            <a:ext cx="10733619" cy="1563624"/>
          </a:xfrm>
          <a:prstGeom prst="rect">
            <a:avLst/>
          </a:prstGeom>
          <a:solidFill>
            <a:srgbClr val="E8F2E0">
              <a:alpha val="20000"/>
            </a:srgb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46" name="Espace réservé du texte 2">
            <a:extLst>
              <a:ext uri="{FF2B5EF4-FFF2-40B4-BE49-F238E27FC236}">
                <a16:creationId xmlns:a16="http://schemas.microsoft.com/office/drawing/2014/main" id="{D5B6AA24-29EC-60D5-3F76-A6ECE8749863}"/>
              </a:ext>
            </a:extLst>
          </p:cNvPr>
          <p:cNvSpPr txBox="1">
            <a:spLocks/>
          </p:cNvSpPr>
          <p:nvPr/>
        </p:nvSpPr>
        <p:spPr>
          <a:xfrm>
            <a:off x="833541" y="4928616"/>
            <a:ext cx="10951638" cy="850392"/>
          </a:xfrm>
          <a:prstGeom prst="rect">
            <a:avLst/>
          </a:prstGeom>
          <a:solidFill>
            <a:srgbClr val="FFEACC">
              <a:alpha val="1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e 105">
            <a:extLst>
              <a:ext uri="{FF2B5EF4-FFF2-40B4-BE49-F238E27FC236}">
                <a16:creationId xmlns:a16="http://schemas.microsoft.com/office/drawing/2014/main" id="{AC945F8A-01A2-CB1C-AC8D-6478FF79C649}"/>
              </a:ext>
            </a:extLst>
          </p:cNvPr>
          <p:cNvGrpSpPr/>
          <p:nvPr/>
        </p:nvGrpSpPr>
        <p:grpSpPr>
          <a:xfrm>
            <a:off x="930385" y="1017062"/>
            <a:ext cx="6400800" cy="2944368"/>
            <a:chOff x="548640" y="1298448"/>
            <a:chExt cx="6400800" cy="2944368"/>
          </a:xfrm>
        </p:grpSpPr>
        <p:sp>
          <p:nvSpPr>
            <p:cNvPr id="5" name="Text 3"/>
            <p:cNvSpPr txBox="1"/>
            <p:nvPr/>
          </p:nvSpPr>
          <p:spPr>
            <a:xfrm>
              <a:off x="548640" y="1298448"/>
              <a:ext cx="4572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50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① LES DONNÉES MOBILISÉES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548640" y="1517904"/>
              <a:ext cx="64008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Trois producteurs, cinq fichiers · pour chacun, ce que nous en tirons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548640" y="1773936"/>
              <a:ext cx="2011680" cy="256032"/>
            </a:xfrm>
            <a:prstGeom prst="roundRect">
              <a:avLst>
                <a:gd name="adj" fmla="val 21429"/>
              </a:avLst>
            </a:prstGeom>
            <a:solidFill>
              <a:srgbClr val="007C80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794657" y="1773936"/>
              <a:ext cx="147501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FRANCE TRAVAIL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2743200" y="1773936"/>
              <a:ext cx="2011680" cy="256032"/>
            </a:xfrm>
            <a:prstGeom prst="roundRect">
              <a:avLst>
                <a:gd name="adj" fmla="val 21429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3053442" y="1773936"/>
              <a:ext cx="1289957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CNAF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937760" y="1773936"/>
              <a:ext cx="2011680" cy="256032"/>
            </a:xfrm>
            <a:prstGeom prst="roundRect">
              <a:avLst>
                <a:gd name="adj" fmla="val 21429"/>
              </a:avLst>
            </a:prstGeom>
            <a:solidFill>
              <a:srgbClr val="E8820C"/>
            </a:solidFill>
            <a:ln w="9525">
              <a:solidFill>
                <a:srgbClr val="E8820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5287192" y="1773936"/>
              <a:ext cx="11318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DARES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48640" y="212140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40080" y="217627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FHS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640080" y="237744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Fichier historique statistique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40080" y="265176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007C80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1060704" y="2651760"/>
              <a:ext cx="811639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640080" y="287121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007C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Sexe, âge, diplôme, qualification et épisodes d'inscription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548640" y="321868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640080" y="327355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FNA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640080" y="347472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Fichier national des allocataires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640080" y="374904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007C80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969264" y="3749040"/>
              <a:ext cx="115889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PJC · ODD · DAL · CDT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640080" y="396849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007C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Ouvertures de droits, admissions, contrat générateur et jours indemnisés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2743200" y="212140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2834640" y="217627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6FAF3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ALLSTAT-FR6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2834640" y="237744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Bénéficiaires de prestations sociales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2834640" y="265176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3167742" y="2651760"/>
              <a:ext cx="107224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CNAF — individus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2834640" y="287121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Présence au RSA, à la prime d'activité ou à l'AAH, mois par mois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4937760" y="212140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E8820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5029200" y="217627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E8820C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MMO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5029200" y="237744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Mouvements de main-d'œuvre, issus de la DSN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029200" y="265176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E8820C"/>
            </a:solidFill>
            <a:ln w="9525">
              <a:solidFill>
                <a:srgbClr val="E8820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5377542" y="2651760"/>
              <a:ext cx="94096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2017 → 2025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5029200" y="287121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E882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Contrats de travail mois par mois : présence et qualité de l'emploi salarié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4937760" y="321868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5029200" y="327355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9AA5A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IMILO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5029200" y="347472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Jeunes suivis en Mission locale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5029200" y="374904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9AA5A4"/>
            </a:solidFill>
            <a:ln w="9525">
              <a:solidFill>
                <a:srgbClr val="9AA5A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5377542" y="3749040"/>
              <a:ext cx="117565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mobilisé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5029200" y="396849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9AA5A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Population hors champ de l'étude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Text 41"/>
          <p:cNvSpPr txBox="1"/>
          <p:nvPr/>
        </p:nvSpPr>
        <p:spPr>
          <a:xfrm>
            <a:off x="1000714" y="407462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Populations couvertes : inscrits à France Travail au moins un jour · foyers bénéficiaires de minima sociaux · jeunes suivis en Mission locale.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6" name="Espace réservé du texte 2">
            <a:extLst>
              <a:ext uri="{FF2B5EF4-FFF2-40B4-BE49-F238E27FC236}">
                <a16:creationId xmlns:a16="http://schemas.microsoft.com/office/drawing/2014/main" id="{08A0A4E3-9178-45F5-C92F-700643A02781}"/>
              </a:ext>
            </a:extLst>
          </p:cNvPr>
          <p:cNvSpPr txBox="1">
            <a:spLocks/>
          </p:cNvSpPr>
          <p:nvPr/>
        </p:nvSpPr>
        <p:spPr>
          <a:xfrm>
            <a:off x="799765" y="938558"/>
            <a:ext cx="6584016" cy="3724882"/>
          </a:xfrm>
          <a:prstGeom prst="rect">
            <a:avLst/>
          </a:prstGeom>
          <a:solidFill>
            <a:srgbClr val="E6F2F2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D17C0F07-8F60-7D8C-2DB9-22BD06F8CCCF}"/>
              </a:ext>
            </a:extLst>
          </p:cNvPr>
          <p:cNvGrpSpPr/>
          <p:nvPr/>
        </p:nvGrpSpPr>
        <p:grpSpPr>
          <a:xfrm>
            <a:off x="7569945" y="980486"/>
            <a:ext cx="4325112" cy="3666744"/>
            <a:chOff x="7360920" y="1298448"/>
            <a:chExt cx="4325112" cy="3666744"/>
          </a:xfrm>
        </p:grpSpPr>
        <p:sp>
          <p:nvSpPr>
            <p:cNvPr id="44" name="Text 42"/>
            <p:cNvSpPr txBox="1"/>
            <p:nvPr/>
          </p:nvSpPr>
          <p:spPr>
            <a:xfrm>
              <a:off x="7360920" y="1298448"/>
              <a:ext cx="42976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50">
                  <a:solidFill>
                    <a:srgbClr val="6FAF3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② LA CONSTRUCTION DU CHAMP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7360920" y="1517904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Des ouvertures de droits aux fins de contrat retenues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7360920" y="1792224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7461504" y="1947672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950"/>
            </a:p>
          </p:txBody>
        </p:sp>
        <p:sp>
          <p:nvSpPr>
            <p:cNvPr id="49" name="Text 47"/>
            <p:cNvSpPr txBox="1"/>
            <p:nvPr/>
          </p:nvSpPr>
          <p:spPr>
            <a:xfrm>
              <a:off x="7808976" y="1847088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Ouverture de droits à l'ARE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10680192" y="1865376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 49"/>
            <p:cNvSpPr txBox="1"/>
            <p:nvPr/>
          </p:nvSpPr>
          <p:spPr>
            <a:xfrm>
              <a:off x="10830560" y="1865376"/>
              <a:ext cx="665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PJC · ODD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7808976" y="205740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1er jour indemnisé ; codes ARE hors annexes 8 à 10, durée &gt; 0, une ouverture par droit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7360920" y="2441448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 53"/>
            <p:cNvSpPr txBox="1"/>
            <p:nvPr/>
          </p:nvSpPr>
          <p:spPr>
            <a:xfrm>
              <a:off x="7461504" y="259689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950"/>
            </a:p>
          </p:txBody>
        </p:sp>
        <p:sp>
          <p:nvSpPr>
            <p:cNvPr id="56" name="Text 54"/>
            <p:cNvSpPr txBox="1"/>
            <p:nvPr/>
          </p:nvSpPr>
          <p:spPr>
            <a:xfrm>
              <a:off x="7808976" y="2496312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Décision d'admission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10680192" y="2514600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10906760" y="2514600"/>
              <a:ext cx="518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DAL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Text 57"/>
            <p:cNvSpPr txBox="1"/>
            <p:nvPr/>
          </p:nvSpPr>
          <p:spPr>
            <a:xfrm>
              <a:off x="7808976" y="2706624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Seules les admissions sont conservées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7360920" y="3090672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Text 60"/>
            <p:cNvSpPr txBox="1"/>
            <p:nvPr/>
          </p:nvSpPr>
          <p:spPr>
            <a:xfrm>
              <a:off x="7461504" y="324612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950"/>
            </a:p>
          </p:txBody>
        </p:sp>
        <p:sp>
          <p:nvSpPr>
            <p:cNvPr id="63" name="Text 61"/>
            <p:cNvSpPr txBox="1"/>
            <p:nvPr/>
          </p:nvSpPr>
          <p:spPr>
            <a:xfrm>
              <a:off x="7808976" y="3145536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Contrat générateur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10680192" y="3163824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Text 63"/>
            <p:cNvSpPr txBox="1"/>
            <p:nvPr/>
          </p:nvSpPr>
          <p:spPr>
            <a:xfrm>
              <a:off x="10906760" y="3163824"/>
              <a:ext cx="518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CDT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Text 64"/>
            <p:cNvSpPr txBox="1"/>
            <p:nvPr/>
          </p:nvSpPr>
          <p:spPr>
            <a:xfrm>
              <a:off x="7808976" y="3355848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Double appariement : numéro de contrat et numéro de dossier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7360920" y="3739896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Text 67"/>
            <p:cNvSpPr txBox="1"/>
            <p:nvPr/>
          </p:nvSpPr>
          <p:spPr>
            <a:xfrm>
              <a:off x="7461504" y="3895344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950"/>
            </a:p>
          </p:txBody>
        </p:sp>
        <p:sp>
          <p:nvSpPr>
            <p:cNvPr id="70" name="Text 68"/>
            <p:cNvSpPr txBox="1"/>
            <p:nvPr/>
          </p:nvSpPr>
          <p:spPr>
            <a:xfrm>
              <a:off x="7808976" y="3794760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Caractéristiques individuelles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Shape 69"/>
            <p:cNvSpPr/>
            <p:nvPr/>
          </p:nvSpPr>
          <p:spPr>
            <a:xfrm>
              <a:off x="10680192" y="3813048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Text 70"/>
            <p:cNvSpPr txBox="1"/>
            <p:nvPr/>
          </p:nvSpPr>
          <p:spPr>
            <a:xfrm>
              <a:off x="10982960" y="3813048"/>
              <a:ext cx="441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Text 71"/>
            <p:cNvSpPr txBox="1"/>
            <p:nvPr/>
          </p:nvSpPr>
          <p:spPr>
            <a:xfrm>
              <a:off x="7808976" y="4005072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Inscription couvrant l'ouverture de droit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7360920" y="4389120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Text 74"/>
            <p:cNvSpPr txBox="1"/>
            <p:nvPr/>
          </p:nvSpPr>
          <p:spPr>
            <a:xfrm>
              <a:off x="7461504" y="4544568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950"/>
            </a:p>
          </p:txBody>
        </p:sp>
        <p:sp>
          <p:nvSpPr>
            <p:cNvPr id="77" name="Text 75"/>
            <p:cNvSpPr txBox="1"/>
            <p:nvPr/>
          </p:nvSpPr>
          <p:spPr>
            <a:xfrm>
              <a:off x="7808976" y="4443984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Fenêtre des fins de contrat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Shape 76"/>
            <p:cNvSpPr/>
            <p:nvPr/>
          </p:nvSpPr>
          <p:spPr>
            <a:xfrm>
              <a:off x="10680192" y="4462272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Text 77"/>
            <p:cNvSpPr txBox="1"/>
            <p:nvPr/>
          </p:nvSpPr>
          <p:spPr>
            <a:xfrm>
              <a:off x="10982960" y="4462272"/>
              <a:ext cx="513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CDT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Text 78"/>
            <p:cNvSpPr txBox="1"/>
            <p:nvPr/>
          </p:nvSpPr>
          <p:spPr>
            <a:xfrm>
              <a:off x="7808976" y="4654296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Fins de contrat de l'année retenue, en cohortes mensuelles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8BDBB2C4-44CF-B4FB-DE49-484BA6ABA013}"/>
              </a:ext>
            </a:extLst>
          </p:cNvPr>
          <p:cNvGrpSpPr/>
          <p:nvPr/>
        </p:nvGrpSpPr>
        <p:grpSpPr>
          <a:xfrm>
            <a:off x="1000714" y="4899660"/>
            <a:ext cx="4937760" cy="1152144"/>
            <a:chOff x="548640" y="5340096"/>
            <a:chExt cx="4937760" cy="1152144"/>
          </a:xfrm>
        </p:grpSpPr>
        <p:sp>
          <p:nvSpPr>
            <p:cNvPr id="81" name="Text 79"/>
            <p:cNvSpPr txBox="1"/>
            <p:nvPr/>
          </p:nvSpPr>
          <p:spPr>
            <a:xfrm>
              <a:off x="548640" y="5340096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kern="0" spc="50">
                  <a:solidFill>
                    <a:srgbClr val="E8820C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③ DEUX COHORTES DE FINS DE CONTRAT</a:t>
              </a:r>
              <a:endParaRPr lang="en-US" sz="9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2" name="Shape 80"/>
            <p:cNvSpPr/>
            <p:nvPr/>
          </p:nvSpPr>
          <p:spPr>
            <a:xfrm>
              <a:off x="548640" y="5559552"/>
              <a:ext cx="2423160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Shape 81"/>
            <p:cNvSpPr/>
            <p:nvPr/>
          </p:nvSpPr>
          <p:spPr>
            <a:xfrm>
              <a:off x="548640" y="5570030"/>
              <a:ext cx="292608" cy="292608"/>
            </a:xfrm>
            <a:prstGeom prst="ellipse">
              <a:avLst/>
            </a:prstGeom>
            <a:solidFill>
              <a:srgbClr val="007C80"/>
            </a:solidFill>
            <a:ln w="12700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8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600" y="5634038"/>
              <a:ext cx="164592" cy="164592"/>
            </a:xfrm>
            <a:prstGeom prst="rect">
              <a:avLst/>
            </a:prstGeom>
          </p:spPr>
        </p:pic>
        <p:sp>
          <p:nvSpPr>
            <p:cNvPr id="85" name="Text 82"/>
            <p:cNvSpPr txBox="1"/>
            <p:nvPr/>
          </p:nvSpPr>
          <p:spPr>
            <a:xfrm>
              <a:off x="1005840" y="5632704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Cohorte 2022</a:t>
              </a:r>
              <a:endParaRPr lang="en-US"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Text 83"/>
            <p:cNvSpPr txBox="1"/>
            <p:nvPr/>
          </p:nvSpPr>
          <p:spPr>
            <a:xfrm>
              <a:off x="640080" y="5888736"/>
              <a:ext cx="2240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Fins de contrat de janvier à décembre 2022, suivies jusqu'à décembre 2025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7" name="Text 84"/>
            <p:cNvSpPr txBox="1"/>
            <p:nvPr/>
          </p:nvSpPr>
          <p:spPr>
            <a:xfrm>
              <a:off x="640080" y="6199632"/>
              <a:ext cx="2240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3 ans de recul · réplication et court terme et hors période Covid-19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8" name="Shape 85"/>
            <p:cNvSpPr/>
            <p:nvPr/>
          </p:nvSpPr>
          <p:spPr>
            <a:xfrm>
              <a:off x="3063240" y="5559552"/>
              <a:ext cx="2423160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Shape 86"/>
            <p:cNvSpPr/>
            <p:nvPr/>
          </p:nvSpPr>
          <p:spPr>
            <a:xfrm>
              <a:off x="3083243" y="5570030"/>
              <a:ext cx="292608" cy="292608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90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7250" y="5634038"/>
              <a:ext cx="164592" cy="164592"/>
            </a:xfrm>
            <a:prstGeom prst="rect">
              <a:avLst/>
            </a:prstGeom>
          </p:spPr>
        </p:pic>
        <p:sp>
          <p:nvSpPr>
            <p:cNvPr id="91" name="Text 87"/>
            <p:cNvSpPr txBox="1"/>
            <p:nvPr/>
          </p:nvSpPr>
          <p:spPr>
            <a:xfrm>
              <a:off x="3520440" y="5632704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6FAF3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Cohorte 2019</a:t>
              </a:r>
              <a:endParaRPr lang="en-US"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Text 88"/>
            <p:cNvSpPr txBox="1"/>
            <p:nvPr/>
          </p:nvSpPr>
          <p:spPr>
            <a:xfrm>
              <a:off x="3154680" y="5888736"/>
              <a:ext cx="2240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Fins de contrat de janvier à décembre 2019, suivies jusqu'à décembre 2025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Text 89"/>
            <p:cNvSpPr txBox="1"/>
            <p:nvPr/>
          </p:nvSpPr>
          <p:spPr>
            <a:xfrm>
              <a:off x="3154680" y="6199632"/>
              <a:ext cx="2240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6 ans de recul · long terme et séquences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8D02458E-962C-CBEA-7481-222EC2864D05}"/>
              </a:ext>
            </a:extLst>
          </p:cNvPr>
          <p:cNvGrpSpPr/>
          <p:nvPr/>
        </p:nvGrpSpPr>
        <p:grpSpPr>
          <a:xfrm>
            <a:off x="6096000" y="4899660"/>
            <a:ext cx="5943600" cy="1152144"/>
            <a:chOff x="5760720" y="5340096"/>
            <a:chExt cx="5943600" cy="1152144"/>
          </a:xfrm>
        </p:grpSpPr>
        <p:sp>
          <p:nvSpPr>
            <p:cNvPr id="94" name="Text 90"/>
            <p:cNvSpPr txBox="1"/>
            <p:nvPr/>
          </p:nvSpPr>
          <p:spPr>
            <a:xfrm>
              <a:off x="5760720" y="5340096"/>
              <a:ext cx="5943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kern="0" spc="50">
                  <a:solidFill>
                    <a:srgbClr val="E8820C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④ TROIS GROUPES, SELON LE MOTIF DE RUPTURE DU CONTRAT GÉNÉRATEUR</a:t>
              </a:r>
              <a:endParaRPr lang="en-US" sz="9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Shape 91"/>
            <p:cNvSpPr/>
            <p:nvPr/>
          </p:nvSpPr>
          <p:spPr>
            <a:xfrm>
              <a:off x="5760720" y="5559552"/>
              <a:ext cx="1901952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E8820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Text 92"/>
            <p:cNvSpPr txBox="1"/>
            <p:nvPr/>
          </p:nvSpPr>
          <p:spPr>
            <a:xfrm>
              <a:off x="5870448" y="5614416"/>
              <a:ext cx="1682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E8820C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Traités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Text 93"/>
            <p:cNvSpPr txBox="1"/>
            <p:nvPr/>
          </p:nvSpPr>
          <p:spPr>
            <a:xfrm>
              <a:off x="5870448" y="5852160"/>
              <a:ext cx="168249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Ruptures conventionnelles individuelles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8" name="Shape 94"/>
            <p:cNvSpPr/>
            <p:nvPr/>
          </p:nvSpPr>
          <p:spPr>
            <a:xfrm>
              <a:off x="7772400" y="5559552"/>
              <a:ext cx="1901952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 95"/>
            <p:cNvSpPr txBox="1"/>
            <p:nvPr/>
          </p:nvSpPr>
          <p:spPr>
            <a:xfrm>
              <a:off x="7882128" y="5614416"/>
              <a:ext cx="1682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Témoins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Text 96"/>
            <p:cNvSpPr txBox="1"/>
            <p:nvPr/>
          </p:nvSpPr>
          <p:spPr>
            <a:xfrm>
              <a:off x="7882128" y="5852160"/>
              <a:ext cx="168249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Autres fins de CDI : licenciements, départs volontaires, fin de période d'essai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Shape 97"/>
            <p:cNvSpPr/>
            <p:nvPr/>
          </p:nvSpPr>
          <p:spPr>
            <a:xfrm>
              <a:off x="9784080" y="5559552"/>
              <a:ext cx="1901952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9AA5A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Text 98"/>
            <p:cNvSpPr txBox="1"/>
            <p:nvPr/>
          </p:nvSpPr>
          <p:spPr>
            <a:xfrm>
              <a:off x="9893808" y="5614416"/>
              <a:ext cx="1682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9AA5A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Exclus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ext 99"/>
            <p:cNvSpPr txBox="1"/>
            <p:nvPr/>
          </p:nvSpPr>
          <p:spPr>
            <a:xfrm>
              <a:off x="9893808" y="5852160"/>
              <a:ext cx="168249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RCC, fins de CDD, d'intérim, d'apprentissage, </a:t>
              </a:r>
              <a:r>
                <a:rPr lang="en-US" sz="800" err="1">
                  <a:solidFill>
                    <a:srgbClr val="2B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autres</a:t>
              </a:r>
              <a:r>
                <a:rPr lang="en-US" sz="800">
                  <a:solidFill>
                    <a:srgbClr val="2B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motifs</a:t>
              </a:r>
              <a:endParaRPr lang="en-US" sz="800"/>
            </a:p>
          </p:txBody>
        </p:sp>
      </p:grpSp>
      <p:sp>
        <p:nvSpPr>
          <p:cNvPr id="118" name="Espace réservé du texte 2">
            <a:extLst>
              <a:ext uri="{FF2B5EF4-FFF2-40B4-BE49-F238E27FC236}">
                <a16:creationId xmlns:a16="http://schemas.microsoft.com/office/drawing/2014/main" id="{E469D67B-04AB-648A-9C96-E465312721C1}"/>
              </a:ext>
            </a:extLst>
          </p:cNvPr>
          <p:cNvSpPr txBox="1">
            <a:spLocks/>
          </p:cNvSpPr>
          <p:nvPr/>
        </p:nvSpPr>
        <p:spPr>
          <a:xfrm>
            <a:off x="7511023" y="938558"/>
            <a:ext cx="4604777" cy="3724882"/>
          </a:xfrm>
          <a:prstGeom prst="rect">
            <a:avLst/>
          </a:prstGeom>
          <a:solidFill>
            <a:srgbClr val="E5F1DD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20" name="Espace réservé du texte 2">
            <a:extLst>
              <a:ext uri="{FF2B5EF4-FFF2-40B4-BE49-F238E27FC236}">
                <a16:creationId xmlns:a16="http://schemas.microsoft.com/office/drawing/2014/main" id="{62C78DA2-D93F-6648-33C8-B7CAE88EA1F6}"/>
              </a:ext>
            </a:extLst>
          </p:cNvPr>
          <p:cNvSpPr txBox="1">
            <a:spLocks/>
          </p:cNvSpPr>
          <p:nvPr/>
        </p:nvSpPr>
        <p:spPr>
          <a:xfrm>
            <a:off x="799765" y="4789914"/>
            <a:ext cx="11262695" cy="1438138"/>
          </a:xfrm>
          <a:prstGeom prst="rect">
            <a:avLst/>
          </a:prstGeom>
          <a:solidFill>
            <a:srgbClr val="FFEACC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25" name="Espace réservé du texte 6">
            <a:extLst>
              <a:ext uri="{FF2B5EF4-FFF2-40B4-BE49-F238E27FC236}">
                <a16:creationId xmlns:a16="http://schemas.microsoft.com/office/drawing/2014/main" id="{6F0B8858-2A12-0199-3E26-F771ED32F21E}"/>
              </a:ext>
            </a:extLst>
          </p:cNvPr>
          <p:cNvSpPr txBox="1">
            <a:spLocks/>
          </p:cNvSpPr>
          <p:nvPr/>
        </p:nvSpPr>
        <p:spPr>
          <a:xfrm>
            <a:off x="879993" y="349607"/>
            <a:ext cx="11444875" cy="280341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2pPr>
            <a:lvl3pPr marL="0" indent="-84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864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540000" indent="-198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648000" indent="-108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700" spc="-40"/>
              <a:t>CONSTRUIRE DEUX COHORTES DE SORTANTS DE CDI À PARTIR DE MIDAS</a:t>
            </a:r>
          </a:p>
        </p:txBody>
      </p:sp>
      <p:sp>
        <p:nvSpPr>
          <p:cNvPr id="127" name="Espace réservé du texte 4">
            <a:extLst>
              <a:ext uri="{FF2B5EF4-FFF2-40B4-BE49-F238E27FC236}">
                <a16:creationId xmlns:a16="http://schemas.microsoft.com/office/drawing/2014/main" id="{8ECEA5ED-71D4-BE5A-F764-DBE9A20D9541}"/>
              </a:ext>
            </a:extLst>
          </p:cNvPr>
          <p:cNvSpPr txBox="1">
            <a:spLocks/>
          </p:cNvSpPr>
          <p:nvPr/>
        </p:nvSpPr>
        <p:spPr>
          <a:xfrm>
            <a:off x="884643" y="676804"/>
            <a:ext cx="10174817" cy="311796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>
                <a:solidFill>
                  <a:schemeClr val="accent3"/>
                </a:solidFill>
              </a:rPr>
              <a:t>MiDAS : Minima sociaux, Droits d’assurance chômage et parcours Salariés – champ depuis 2017</a:t>
            </a:r>
          </a:p>
        </p:txBody>
      </p:sp>
      <p:pic>
        <p:nvPicPr>
          <p:cNvPr id="134" name="Image 133">
            <a:extLst>
              <a:ext uri="{FF2B5EF4-FFF2-40B4-BE49-F238E27FC236}">
                <a16:creationId xmlns:a16="http://schemas.microsoft.com/office/drawing/2014/main" id="{57158E46-17EA-256C-C9EB-758E74E81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402" y="0"/>
            <a:ext cx="8151058" cy="304826"/>
          </a:xfrm>
          <a:prstGeom prst="rect">
            <a:avLst/>
          </a:prstGeom>
        </p:spPr>
      </p:pic>
      <p:pic>
        <p:nvPicPr>
          <p:cNvPr id="136" name="Graphique 135" descr="Badge 1 avec un remplissage uni">
            <a:extLst>
              <a:ext uri="{FF2B5EF4-FFF2-40B4-BE49-F238E27FC236}">
                <a16:creationId xmlns:a16="http://schemas.microsoft.com/office/drawing/2014/main" id="{1F93ADCD-D609-E76B-3AD7-971C61A62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1651" y="1617994"/>
            <a:ext cx="335280" cy="335280"/>
          </a:xfrm>
          <a:prstGeom prst="rect">
            <a:avLst/>
          </a:prstGeom>
        </p:spPr>
      </p:pic>
      <p:pic>
        <p:nvPicPr>
          <p:cNvPr id="138" name="Graphique 137" descr="Badge avec un remplissage uni">
            <a:extLst>
              <a:ext uri="{FF2B5EF4-FFF2-40B4-BE49-F238E27FC236}">
                <a16:creationId xmlns:a16="http://schemas.microsoft.com/office/drawing/2014/main" id="{FF265AB9-C115-D79A-8544-54A469308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60442" y="2228850"/>
            <a:ext cx="335280" cy="335280"/>
          </a:xfrm>
          <a:prstGeom prst="rect">
            <a:avLst/>
          </a:prstGeom>
        </p:spPr>
      </p:pic>
      <p:pic>
        <p:nvPicPr>
          <p:cNvPr id="140" name="Graphique 139" descr="Badge 3 avec un remplissage uni">
            <a:extLst>
              <a:ext uri="{FF2B5EF4-FFF2-40B4-BE49-F238E27FC236}">
                <a16:creationId xmlns:a16="http://schemas.microsoft.com/office/drawing/2014/main" id="{FFE699F0-5D92-893E-6C14-65C334C00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61613" y="2872740"/>
            <a:ext cx="335280" cy="335280"/>
          </a:xfrm>
          <a:prstGeom prst="rect">
            <a:avLst/>
          </a:prstGeom>
        </p:spPr>
      </p:pic>
      <p:pic>
        <p:nvPicPr>
          <p:cNvPr id="142" name="Graphique 141" descr="Badge 4 avec un remplissage uni">
            <a:extLst>
              <a:ext uri="{FF2B5EF4-FFF2-40B4-BE49-F238E27FC236}">
                <a16:creationId xmlns:a16="http://schemas.microsoft.com/office/drawing/2014/main" id="{A8206F0D-E175-0F06-F3F9-1F6B37B43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660442" y="3502134"/>
            <a:ext cx="335280" cy="335280"/>
          </a:xfrm>
          <a:prstGeom prst="rect">
            <a:avLst/>
          </a:prstGeom>
        </p:spPr>
      </p:pic>
      <p:pic>
        <p:nvPicPr>
          <p:cNvPr id="144" name="Graphique 143" descr="Badge 5 avec un remplissage uni">
            <a:extLst>
              <a:ext uri="{FF2B5EF4-FFF2-40B4-BE49-F238E27FC236}">
                <a16:creationId xmlns:a16="http://schemas.microsoft.com/office/drawing/2014/main" id="{A146914F-65BA-7B28-2420-474037024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60442" y="4146024"/>
            <a:ext cx="335280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051560" y="402336"/>
            <a:ext cx="10771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profil comparable, la rupture conventionnelle change-t-elle les trajectoires ?</a:t>
            </a:r>
            <a:endParaRPr lang="en-US" sz="2000">
              <a:solidFill>
                <a:schemeClr val="accent5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52728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QUESTION</a:t>
            </a:r>
            <a:endParaRPr lang="en-US" sz="850"/>
          </a:p>
        </p:txBody>
      </p:sp>
      <p:sp>
        <p:nvSpPr>
          <p:cNvPr id="5" name="Text 3"/>
          <p:cNvSpPr txBox="1"/>
          <p:nvPr/>
        </p:nvSpPr>
        <p:spPr>
          <a:xfrm>
            <a:off x="4169664" y="1207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NOUS FAISONS</a:t>
            </a:r>
            <a:endParaRPr lang="en-US" sz="850"/>
          </a:p>
        </p:txBody>
      </p:sp>
      <p:sp>
        <p:nvSpPr>
          <p:cNvPr id="6" name="Text 4"/>
          <p:cNvSpPr txBox="1"/>
          <p:nvPr/>
        </p:nvSpPr>
        <p:spPr>
          <a:xfrm>
            <a:off x="9107424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CELA PERMET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1252728" y="1609344"/>
            <a:ext cx="402336" cy="402336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252728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1252728" y="20848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profil comparable, la rupture conventionnelle change-t-elle les </a:t>
            </a:r>
            <a:r>
              <a:rPr lang="en-US" sz="1150" b="1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trajectoires</a:t>
            </a:r>
            <a:r>
              <a:rPr lang="en-US" sz="11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? Et </a:t>
            </a:r>
            <a:r>
              <a:rPr lang="en-US" sz="1150" b="1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</a:t>
            </a:r>
            <a:r>
              <a:rPr lang="en-US" sz="11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b="1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effets</a:t>
            </a:r>
            <a:r>
              <a:rPr lang="en-US" sz="11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b="1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durent-ils</a:t>
            </a:r>
            <a:r>
              <a:rPr lang="en-US" sz="11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dans le temps ?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950208" y="1627632"/>
            <a:ext cx="0" cy="145389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169664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Comparaison appariée et étude d'événements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4169664" y="1920240"/>
            <a:ext cx="45720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aux seuls sortants de CDI, et non à l'ensemble des allocataires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Documenter les écarts d'âge, de diplôme et de salaire de référence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Apparier sur score de propension : 217 variables, dont 24 mois d'historique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Suivre les trajectoires de 24 mois avant à 36 mois après, et jusqu'à 72 mois pour 2019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8887968" y="1627632"/>
            <a:ext cx="0" cy="145389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1609344"/>
            <a:ext cx="384048" cy="384048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1709928"/>
            <a:ext cx="173736" cy="17373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07424" y="208483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Isoler ce qui tient à la voie de sortie, et non au profil ni à la conjoncture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1252728" y="3529584"/>
            <a:ext cx="402336" cy="402336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1252728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/>
          </a:p>
        </p:txBody>
      </p:sp>
      <p:sp>
        <p:nvSpPr>
          <p:cNvPr id="19" name="Text 16"/>
          <p:cNvSpPr txBox="1"/>
          <p:nvPr/>
        </p:nvSpPr>
        <p:spPr>
          <a:xfrm>
            <a:off x="1252728" y="40050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cache l'effet moyen ?</a:t>
            </a:r>
            <a:endParaRPr lang="en-US" sz="1150"/>
          </a:p>
        </p:txBody>
      </p:sp>
      <p:sp>
        <p:nvSpPr>
          <p:cNvPr id="20" name="Shape 17"/>
          <p:cNvSpPr/>
          <p:nvPr/>
        </p:nvSpPr>
        <p:spPr>
          <a:xfrm>
            <a:off x="3944642" y="3402363"/>
            <a:ext cx="0" cy="1060704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4178808" y="33878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</a:t>
            </a:r>
            <a:r>
              <a:rPr lang="en-US" sz="120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200" b="1" dirty="0" err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séquences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151376" y="3658395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Reconstituer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parcours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mensuels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sur six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emploi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hors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Classer les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trajectoires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parcours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types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aux deux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la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répartition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signataires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de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leurs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témoins</a:t>
            </a: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appariés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52982" y="3360221"/>
            <a:ext cx="0" cy="1060704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9025128" y="3462793"/>
            <a:ext cx="384048" cy="384048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4" y="3566160"/>
            <a:ext cx="173736" cy="17373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25128" y="39319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Faire </a:t>
            </a:r>
            <a:r>
              <a:rPr lang="en-US" sz="1050" b="1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apparaître</a:t>
            </a:r>
            <a:r>
              <a:rPr lang="en-US" sz="1050" b="1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</a:t>
            </a:r>
            <a:r>
              <a:rPr lang="en-US" sz="1050" b="1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diversité</a:t>
            </a:r>
            <a:r>
              <a:rPr lang="en-US" sz="1050" b="1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 </a:t>
            </a:r>
            <a:r>
              <a:rPr lang="en-US" sz="1050" b="1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parcours</a:t>
            </a:r>
            <a:r>
              <a:rPr lang="en-US" sz="1050" b="1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derrière la </a:t>
            </a:r>
            <a:r>
              <a:rPr lang="en-US" sz="1050" b="1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1078992" y="4818888"/>
            <a:ext cx="1077163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4"/>
          <p:cNvSpPr/>
          <p:nvPr/>
        </p:nvSpPr>
        <p:spPr>
          <a:xfrm>
            <a:off x="1207008" y="4965192"/>
            <a:ext cx="45720" cy="566928"/>
          </a:xfrm>
          <a:prstGeom prst="rect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1335422" y="5015484"/>
            <a:ext cx="365760" cy="365760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896" y="5113086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892808" y="488786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3BE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COMPLÉMENT</a:t>
            </a:r>
            <a:endParaRPr lang="en-US" sz="850" dirty="0"/>
          </a:p>
        </p:txBody>
      </p:sp>
      <p:sp>
        <p:nvSpPr>
          <p:cNvPr id="32" name="Text 27"/>
          <p:cNvSpPr txBox="1"/>
          <p:nvPr/>
        </p:nvSpPr>
        <p:spPr>
          <a:xfrm>
            <a:off x="1892808" y="5139724"/>
            <a:ext cx="9674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motifs, dans les mots des </a:t>
            </a:r>
            <a:r>
              <a:rPr lang="en-US" sz="1000" b="1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salariés</a:t>
            </a:r>
            <a:r>
              <a:rPr lang="en-US" sz="1000" b="1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enregistrent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font les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signataires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pas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ont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signé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Un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modèle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sujets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sur environ 1 700 messages de forums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éclaire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 motifs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déclarés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sans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prétention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la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représentativité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1069848" y="5799880"/>
            <a:ext cx="107716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366" y="5961888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618886" y="580644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MiDAS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appariement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Dares,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Cnaf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France Travail, 2017-2025</a:t>
            </a:r>
            <a:endParaRPr lang="en-US" sz="10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1158" y="5973616"/>
            <a:ext cx="201168" cy="16459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388078" y="57933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</a:t>
            </a:r>
            <a:r>
              <a:rPr lang="en-US" sz="100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2022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trois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recul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5590" y="5951949"/>
            <a:ext cx="201168" cy="16459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447541" y="58018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</a:t>
            </a:r>
            <a:r>
              <a:rPr lang="en-US" sz="100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2019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six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00" dirty="0" err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recul</a:t>
            </a:r>
            <a:endParaRPr lang="en-US" sz="1000" dirty="0"/>
          </a:p>
        </p:txBody>
      </p:sp>
      <p:sp>
        <p:nvSpPr>
          <p:cNvPr id="41" name="Espace réservé du texte 2">
            <a:extLst>
              <a:ext uri="{FF2B5EF4-FFF2-40B4-BE49-F238E27FC236}">
                <a16:creationId xmlns:a16="http://schemas.microsoft.com/office/drawing/2014/main" id="{C245A90B-F944-8C3D-B0BC-EE3B1F6D3221}"/>
              </a:ext>
            </a:extLst>
          </p:cNvPr>
          <p:cNvSpPr txBox="1">
            <a:spLocks/>
          </p:cNvSpPr>
          <p:nvPr/>
        </p:nvSpPr>
        <p:spPr>
          <a:xfrm>
            <a:off x="1089569" y="1403051"/>
            <a:ext cx="10733619" cy="1614469"/>
          </a:xfrm>
          <a:prstGeom prst="rect">
            <a:avLst/>
          </a:prstGeom>
          <a:solidFill>
            <a:srgbClr val="E6F2F2">
              <a:alpha val="25098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44" name="Espace réservé du texte 1">
            <a:extLst>
              <a:ext uri="{FF2B5EF4-FFF2-40B4-BE49-F238E27FC236}">
                <a16:creationId xmlns:a16="http://schemas.microsoft.com/office/drawing/2014/main" id="{FA4B60CE-8695-D81A-4029-F411226EFFFB}"/>
              </a:ext>
            </a:extLst>
          </p:cNvPr>
          <p:cNvSpPr txBox="1">
            <a:spLocks/>
          </p:cNvSpPr>
          <p:nvPr/>
        </p:nvSpPr>
        <p:spPr>
          <a:xfrm>
            <a:off x="3355339" y="18288"/>
            <a:ext cx="8836661" cy="1828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sz="1100" b="1" u="sng" cap="all">
                <a:solidFill>
                  <a:srgbClr val="288494"/>
                </a:solidFill>
                <a:latin typeface="Montserrat" pitchFamily="2" charset="77"/>
              </a:rPr>
              <a:t>PARTIE 1 : estimation DE l’effet des ruptures conventionnelles sur les trajectoires professionnelles</a:t>
            </a:r>
          </a:p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D7D40-F442-28B5-79D4-71B574C8A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262612-EDD6-309F-21BC-9851527673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3719" y="1441668"/>
            <a:ext cx="7718781" cy="4102153"/>
          </a:xfrm>
          <a:solidFill>
            <a:srgbClr val="F2F8F9">
              <a:alpha val="5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fr-FR" noProof="0">
              <a:solidFill>
                <a:srgbClr val="E8F2E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CF068DB-BCC6-DD5C-4ADE-C3E6F7069A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23933" y="44738"/>
            <a:ext cx="8061749" cy="199465"/>
          </a:xfrm>
        </p:spPr>
        <p:txBody>
          <a:bodyPr/>
          <a:lstStyle/>
          <a:p>
            <a:r>
              <a:rPr lang="fr-FR" noProof="0"/>
              <a:t>PARTIE 1 :</a:t>
            </a:r>
            <a:r>
              <a:rPr lang="fr-FR"/>
              <a:t> estimation causale à moyen terme - MOTIVATION</a:t>
            </a:r>
            <a:endParaRPr lang="fr-FR" noProof="0"/>
          </a:p>
          <a:p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2DFBAC-A37E-9A77-638F-F7A014981E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3719" y="524548"/>
            <a:ext cx="10967748" cy="266883"/>
          </a:xfrm>
        </p:spPr>
        <p:txBody>
          <a:bodyPr/>
          <a:lstStyle/>
          <a:p>
            <a:r>
              <a:rPr lang="fr-FR" sz="1600" spc="-40"/>
              <a:t>Après une RCI, un retour à l’emploi plus lent au départ, puis plus fréquent que pour les autres fins de CDI</a:t>
            </a:r>
            <a:endParaRPr lang="fr-FR" sz="1600" spc="-40" noProof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0CC439B-F0B3-C95B-0182-A247301682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719" y="765417"/>
            <a:ext cx="10967748" cy="432000"/>
          </a:xfrm>
        </p:spPr>
        <p:txBody>
          <a:bodyPr/>
          <a:lstStyle/>
          <a:p>
            <a:r>
              <a:rPr lang="fr-FR" sz="1200">
                <a:solidFill>
                  <a:schemeClr val="accent3"/>
                </a:solidFill>
              </a:rPr>
              <a:t>Les signataires de RCI dépassent les autres sortants de CDI indemnisés dès le 3ᵉ mois en emploi durable et dès le 8ᵉ mois en emploi salarié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2C440A9-C4E7-611B-1C7D-35DC645E004A}"/>
              </a:ext>
            </a:extLst>
          </p:cNvPr>
          <p:cNvSpPr txBox="1"/>
          <p:nvPr/>
        </p:nvSpPr>
        <p:spPr>
          <a:xfrm>
            <a:off x="-1001803" y="5171267"/>
            <a:ext cx="10700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</a:t>
            </a:r>
          </a:p>
          <a:p>
            <a:pPr algn="ctr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01584F3-4BF7-DDE5-3DD7-93FDC249E284}"/>
              </a:ext>
            </a:extLst>
          </p:cNvPr>
          <p:cNvSpPr txBox="1"/>
          <p:nvPr/>
        </p:nvSpPr>
        <p:spPr>
          <a:xfrm>
            <a:off x="637560" y="4902397"/>
            <a:ext cx="80280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TAUX DE PRÉSENCE EN EMPLOI SALARIÉ DES ALLOCATAIRES DE L'ASSURANCE CHÔMAGE À LA SUITE D'UNE FIN DE CONTRAT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97C5605-06E3-3321-10ED-DCF6A73EF0F0}"/>
              </a:ext>
            </a:extLst>
          </p:cNvPr>
          <p:cNvGrpSpPr/>
          <p:nvPr/>
        </p:nvGrpSpPr>
        <p:grpSpPr>
          <a:xfrm>
            <a:off x="961595" y="1531613"/>
            <a:ext cx="6903720" cy="182880"/>
            <a:chOff x="2921508" y="1481328"/>
            <a:chExt cx="6903720" cy="182880"/>
          </a:xfrm>
        </p:grpSpPr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12EB1331-0F7C-F079-6AD3-0E29C67E484A}"/>
                </a:ext>
              </a:extLst>
            </p:cNvPr>
            <p:cNvSpPr/>
            <p:nvPr/>
          </p:nvSpPr>
          <p:spPr>
            <a:xfrm>
              <a:off x="2921508" y="1527048"/>
              <a:ext cx="91440" cy="91440"/>
            </a:xfrm>
            <a:prstGeom prst="ellipse">
              <a:avLst/>
            </a:prstGeom>
            <a:solidFill>
              <a:srgbClr val="58585A"/>
            </a:solidFill>
            <a:ln w="12700">
              <a:solidFill>
                <a:srgbClr val="58585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D4DFAAF4-91C7-3A12-6737-FAE269E95744}"/>
                </a:ext>
              </a:extLst>
            </p:cNvPr>
            <p:cNvSpPr txBox="1"/>
            <p:nvPr/>
          </p:nvSpPr>
          <p:spPr>
            <a:xfrm>
              <a:off x="3195828" y="1481328"/>
              <a:ext cx="1920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Ensemble des allocataires (ARE)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ACD9E906-0AE4-9BDD-B683-F01316C66844}"/>
                </a:ext>
              </a:extLst>
            </p:cNvPr>
            <p:cNvSpPr/>
            <p:nvPr/>
          </p:nvSpPr>
          <p:spPr>
            <a:xfrm>
              <a:off x="5253228" y="1527048"/>
              <a:ext cx="91440" cy="91440"/>
            </a:xfrm>
            <a:prstGeom prst="ellipse">
              <a:avLst/>
            </a:prstGeom>
            <a:solidFill>
              <a:srgbClr val="007C80"/>
            </a:solidFill>
            <a:ln w="12700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A7A5DFA6-2FAC-E2CD-DDED-9993BFB2359C}"/>
                </a:ext>
              </a:extLst>
            </p:cNvPr>
            <p:cNvSpPr txBox="1"/>
            <p:nvPr/>
          </p:nvSpPr>
          <p:spPr>
            <a:xfrm>
              <a:off x="5527548" y="1481328"/>
              <a:ext cx="2194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 de CDI : Rupture </a:t>
              </a:r>
              <a:r>
                <a:rPr lang="fr-FR" sz="1000" b="1" noProof="0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conventionnelle</a:t>
              </a:r>
              <a:endParaRPr lang="en-US" sz="100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81F676F1-91EE-7EFB-27B9-CC786821C021}"/>
                </a:ext>
              </a:extLst>
            </p:cNvPr>
            <p:cNvSpPr/>
            <p:nvPr/>
          </p:nvSpPr>
          <p:spPr>
            <a:xfrm>
              <a:off x="7859268" y="1527048"/>
              <a:ext cx="91440" cy="91440"/>
            </a:xfrm>
            <a:prstGeom prst="ellipse">
              <a:avLst/>
            </a:prstGeom>
            <a:solidFill>
              <a:srgbClr val="94C43E"/>
            </a:solidFill>
            <a:ln w="12700">
              <a:solidFill>
                <a:srgbClr val="94C43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19DB1780-7F7D-FCBE-6337-E61053818321}"/>
                </a:ext>
              </a:extLst>
            </p:cNvPr>
            <p:cNvSpPr txBox="1"/>
            <p:nvPr/>
          </p:nvSpPr>
          <p:spPr>
            <a:xfrm>
              <a:off x="8133588" y="1481328"/>
              <a:ext cx="1691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 de CDI : Autres motifs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B9AFE07-F71B-5AC9-F26C-6D55AF06860D}"/>
              </a:ext>
            </a:extLst>
          </p:cNvPr>
          <p:cNvSpPr/>
          <p:nvPr/>
        </p:nvSpPr>
        <p:spPr>
          <a:xfrm>
            <a:off x="961595" y="1907596"/>
            <a:ext cx="3581794" cy="329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i="1" noProof="0">
              <a:solidFill>
                <a:schemeClr val="tx1"/>
              </a:solidFill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78FD068B-D407-FB40-1F55-A0B273A79E22}"/>
              </a:ext>
            </a:extLst>
          </p:cNvPr>
          <p:cNvSpPr txBox="1"/>
          <p:nvPr/>
        </p:nvSpPr>
        <p:spPr>
          <a:xfrm>
            <a:off x="218692" y="1907596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EN EMPLOI SALARIÉ</a:t>
            </a:r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66D991-29E0-23E6-AE2B-D11664A2FBF3}"/>
              </a:ext>
            </a:extLst>
          </p:cNvPr>
          <p:cNvSpPr/>
          <p:nvPr/>
        </p:nvSpPr>
        <p:spPr>
          <a:xfrm>
            <a:off x="4824101" y="1912113"/>
            <a:ext cx="3581794" cy="344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i="1" noProof="0">
              <a:solidFill>
                <a:schemeClr val="tx1"/>
              </a:solidFill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E036D5A1-5B9A-9D10-5A3D-E1F8B4D19E4F}"/>
              </a:ext>
            </a:extLst>
          </p:cNvPr>
          <p:cNvSpPr txBox="1"/>
          <p:nvPr/>
        </p:nvSpPr>
        <p:spPr>
          <a:xfrm>
            <a:off x="4153733" y="1909044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EN EMPLOI DURABLE</a:t>
            </a:r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FCF3451A-C6E3-169F-D192-D23EE264478A}"/>
              </a:ext>
            </a:extLst>
          </p:cNvPr>
          <p:cNvSpPr/>
          <p:nvPr/>
        </p:nvSpPr>
        <p:spPr>
          <a:xfrm>
            <a:off x="961629" y="2313488"/>
            <a:ext cx="3689978" cy="2512203"/>
          </a:xfrm>
          <a:prstGeom prst="rect">
            <a:avLst/>
          </a:prstGeom>
          <a:solidFill>
            <a:srgbClr val="F2F8F9"/>
          </a:solidFill>
          <a:ln w="12700">
            <a:solidFill>
              <a:srgbClr val="79BAB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EN EMPLOI SALARIÉ" descr="preencoded.png">
            <a:extLst>
              <a:ext uri="{FF2B5EF4-FFF2-40B4-BE49-F238E27FC236}">
                <a16:creationId xmlns:a16="http://schemas.microsoft.com/office/drawing/2014/main" id="{BF56C99D-9D6A-09C0-5E0D-E0052746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43" y="2655652"/>
            <a:ext cx="3700764" cy="1817340"/>
          </a:xfrm>
          <a:prstGeom prst="rect">
            <a:avLst/>
          </a:prstGeom>
        </p:spPr>
      </p:pic>
      <p:pic>
        <p:nvPicPr>
          <p:cNvPr id="54" name="Graphique 53" descr="Badge 1 avec un remplissage uni">
            <a:extLst>
              <a:ext uri="{FF2B5EF4-FFF2-40B4-BE49-F238E27FC236}">
                <a16:creationId xmlns:a16="http://schemas.microsoft.com/office/drawing/2014/main" id="{37E94615-1625-E60B-2816-997AFBF94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2097" y="1935076"/>
            <a:ext cx="285166" cy="285166"/>
          </a:xfrm>
          <a:prstGeom prst="rect">
            <a:avLst/>
          </a:prstGeom>
        </p:spPr>
      </p:pic>
      <p:pic>
        <p:nvPicPr>
          <p:cNvPr id="56" name="Graphique 55" descr="Badge avec un remplissage uni">
            <a:extLst>
              <a:ext uri="{FF2B5EF4-FFF2-40B4-BE49-F238E27FC236}">
                <a16:creationId xmlns:a16="http://schemas.microsoft.com/office/drawing/2014/main" id="{EA8D72C9-5EA6-609A-1A01-3F38FF613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826340" y="1941449"/>
            <a:ext cx="285166" cy="285166"/>
          </a:xfrm>
          <a:prstGeom prst="rect">
            <a:avLst/>
          </a:prstGeom>
        </p:spPr>
      </p:pic>
      <p:grpSp>
        <p:nvGrpSpPr>
          <p:cNvPr id="51" name="Groupe 50">
            <a:extLst>
              <a:ext uri="{FF2B5EF4-FFF2-40B4-BE49-F238E27FC236}">
                <a16:creationId xmlns:a16="http://schemas.microsoft.com/office/drawing/2014/main" id="{82A55A40-A675-59C3-F75D-303847BEE2CE}"/>
              </a:ext>
            </a:extLst>
          </p:cNvPr>
          <p:cNvGrpSpPr/>
          <p:nvPr/>
        </p:nvGrpSpPr>
        <p:grpSpPr>
          <a:xfrm>
            <a:off x="9042093" y="5663184"/>
            <a:ext cx="2808232" cy="576720"/>
            <a:chOff x="8999221" y="5757574"/>
            <a:chExt cx="2808232" cy="57672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A6C228C-5D54-92CD-63F4-5F14CA795000}"/>
                </a:ext>
              </a:extLst>
            </p:cNvPr>
            <p:cNvSpPr/>
            <p:nvPr/>
          </p:nvSpPr>
          <p:spPr>
            <a:xfrm>
              <a:off x="8999221" y="5757574"/>
              <a:ext cx="2808232" cy="557869"/>
            </a:xfrm>
            <a:prstGeom prst="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EDC28C2B-2741-6F52-76D1-D71A7F3F0ED4}"/>
                </a:ext>
              </a:extLst>
            </p:cNvPr>
            <p:cNvSpPr txBox="1"/>
            <p:nvPr/>
          </p:nvSpPr>
          <p:spPr>
            <a:xfrm>
              <a:off x="9161388" y="5780296"/>
              <a:ext cx="248389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 ÉCARTS QUI MÊLENT EFFETS DU MODE DE RUPTURE ET EFFETS DE COMPOSITION  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9A573C16-7295-ABBF-28E4-CE299D79D053}"/>
              </a:ext>
            </a:extLst>
          </p:cNvPr>
          <p:cNvGrpSpPr/>
          <p:nvPr/>
        </p:nvGrpSpPr>
        <p:grpSpPr>
          <a:xfrm>
            <a:off x="1348376" y="5663184"/>
            <a:ext cx="2808231" cy="573012"/>
            <a:chOff x="869456" y="5770186"/>
            <a:chExt cx="2808231" cy="57301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5332EA6-3DE5-31FF-AF0E-0264671AF06D}"/>
                </a:ext>
              </a:extLst>
            </p:cNvPr>
            <p:cNvSpPr/>
            <p:nvPr/>
          </p:nvSpPr>
          <p:spPr>
            <a:xfrm>
              <a:off x="869456" y="5770186"/>
              <a:ext cx="2808231" cy="557869"/>
            </a:xfrm>
            <a:prstGeom prst="rect">
              <a:avLst/>
            </a:prstGeom>
            <a:noFill/>
            <a:ln>
              <a:solidFill>
                <a:srgbClr val="007C8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9B971F21-8A8B-2AB7-6A5C-1068DE2F2082}"/>
                </a:ext>
              </a:extLst>
            </p:cNvPr>
            <p:cNvGrpSpPr/>
            <p:nvPr/>
          </p:nvGrpSpPr>
          <p:grpSpPr>
            <a:xfrm>
              <a:off x="992097" y="5770186"/>
              <a:ext cx="2483898" cy="573012"/>
              <a:chOff x="1051642" y="5773169"/>
              <a:chExt cx="2483898" cy="573012"/>
            </a:xfrm>
          </p:grpSpPr>
          <p:sp>
            <p:nvSpPr>
              <p:cNvPr id="68" name="ZoneTexte 67">
                <a:extLst>
                  <a:ext uri="{FF2B5EF4-FFF2-40B4-BE49-F238E27FC236}">
                    <a16:creationId xmlns:a16="http://schemas.microsoft.com/office/drawing/2014/main" id="{8E6CA169-EFFE-9140-25CC-B508F1289ED2}"/>
                  </a:ext>
                </a:extLst>
              </p:cNvPr>
              <p:cNvSpPr txBox="1"/>
              <p:nvPr/>
            </p:nvSpPr>
            <p:spPr>
              <a:xfrm>
                <a:off x="1051642" y="5773169"/>
                <a:ext cx="24838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00" b="1" spc="-30" noProof="0">
                    <a:solidFill>
                      <a:srgbClr val="007C8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UN DÉPART PLUS LENT</a:t>
                </a:r>
              </a:p>
            </p:txBody>
          </p:sp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30ADA0A3-75F2-FD73-89DB-D95358CC5E39}"/>
                  </a:ext>
                </a:extLst>
              </p:cNvPr>
              <p:cNvSpPr txBox="1"/>
              <p:nvPr/>
            </p:nvSpPr>
            <p:spPr>
              <a:xfrm>
                <a:off x="1051643" y="5946071"/>
                <a:ext cx="24838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fr-FR" sz="1000"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9,5% en emploi salarié le premier mois, contre </a:t>
                </a:r>
                <a:r>
                  <a:rPr lang="fr-FR" sz="1000">
                    <a:solidFill>
                      <a:schemeClr val="accent5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11,6% </a:t>
                </a:r>
                <a:r>
                  <a:rPr lang="fr-FR" sz="1000"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pour les autres motifs</a:t>
                </a:r>
              </a:p>
            </p:txBody>
          </p:sp>
        </p:grp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6EDAA529-23EC-0B68-8752-E5778C8160F4}"/>
              </a:ext>
            </a:extLst>
          </p:cNvPr>
          <p:cNvGrpSpPr/>
          <p:nvPr/>
        </p:nvGrpSpPr>
        <p:grpSpPr>
          <a:xfrm>
            <a:off x="5146778" y="5663184"/>
            <a:ext cx="2905144" cy="596548"/>
            <a:chOff x="5162426" y="5697057"/>
            <a:chExt cx="2905144" cy="596548"/>
          </a:xfrm>
        </p:grpSpPr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F6D6394A-FFE0-F85B-770E-F8E743E3FC60}"/>
                </a:ext>
              </a:extLst>
            </p:cNvPr>
            <p:cNvSpPr txBox="1"/>
            <p:nvPr/>
          </p:nvSpPr>
          <p:spPr>
            <a:xfrm>
              <a:off x="5330642" y="5697057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rgbClr val="007C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 RATTRAPAGE RAPIDE</a:t>
              </a:r>
            </a:p>
          </p:txBody>
        </p:sp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923781C7-F454-6229-69BD-7FAE148186CC}"/>
                </a:ext>
              </a:extLst>
            </p:cNvPr>
            <p:cNvGrpSpPr/>
            <p:nvPr/>
          </p:nvGrpSpPr>
          <p:grpSpPr>
            <a:xfrm>
              <a:off x="5162426" y="5719779"/>
              <a:ext cx="2905144" cy="573826"/>
              <a:chOff x="5162426" y="5719779"/>
              <a:chExt cx="2905144" cy="573826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486D58A8-AE89-6E46-3CB1-D3B5B6767849}"/>
                  </a:ext>
                </a:extLst>
              </p:cNvPr>
              <p:cNvSpPr/>
              <p:nvPr/>
            </p:nvSpPr>
            <p:spPr>
              <a:xfrm>
                <a:off x="5168475" y="5719779"/>
                <a:ext cx="2808232" cy="573826"/>
              </a:xfrm>
              <a:prstGeom prst="rect">
                <a:avLst/>
              </a:prstGeom>
              <a:noFill/>
              <a:ln>
                <a:solidFill>
                  <a:srgbClr val="007C8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9A27659B-D0EF-3E45-6A45-2F5EAB3CE567}"/>
                  </a:ext>
                </a:extLst>
              </p:cNvPr>
              <p:cNvSpPr txBox="1"/>
              <p:nvPr/>
            </p:nvSpPr>
            <p:spPr>
              <a:xfrm>
                <a:off x="5162426" y="5839428"/>
                <a:ext cx="2905144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fr-FR" sz="1050"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Devant les autres motifs dès le M3 en emploi durable et dès M8 en emploi salarié</a:t>
                </a:r>
              </a:p>
            </p:txBody>
          </p:sp>
        </p:grpSp>
      </p:grpSp>
      <p:sp>
        <p:nvSpPr>
          <p:cNvPr id="6" name="Shape 21">
            <a:extLst>
              <a:ext uri="{FF2B5EF4-FFF2-40B4-BE49-F238E27FC236}">
                <a16:creationId xmlns:a16="http://schemas.microsoft.com/office/drawing/2014/main" id="{868ABD47-D77A-9828-7ABA-D3A68C1902E0}"/>
              </a:ext>
            </a:extLst>
          </p:cNvPr>
          <p:cNvSpPr/>
          <p:nvPr/>
        </p:nvSpPr>
        <p:spPr>
          <a:xfrm>
            <a:off x="4824101" y="2313486"/>
            <a:ext cx="3581794" cy="2512203"/>
          </a:xfrm>
          <a:prstGeom prst="rect">
            <a:avLst/>
          </a:prstGeom>
          <a:solidFill>
            <a:srgbClr val="F2F8F9"/>
          </a:solidFill>
          <a:ln w="12700">
            <a:solidFill>
              <a:srgbClr val="79BAB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DC3E0621-6844-9EBC-8DA6-A87FAB9B5E22}"/>
              </a:ext>
            </a:extLst>
          </p:cNvPr>
          <p:cNvSpPr txBox="1">
            <a:spLocks/>
          </p:cNvSpPr>
          <p:nvPr/>
        </p:nvSpPr>
        <p:spPr>
          <a:xfrm>
            <a:off x="8679427" y="1455610"/>
            <a:ext cx="3350913" cy="4088211"/>
          </a:xfrm>
          <a:prstGeom prst="rect">
            <a:avLst/>
          </a:prstGeom>
          <a:solidFill>
            <a:srgbClr val="E5F1DD">
              <a:alpha val="49804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0"/>
              <a:t>​</a:t>
            </a:r>
            <a:br>
              <a:rPr lang="fr-FR"/>
            </a:br>
            <a:endParaRPr lang="fr-FR">
              <a:solidFill>
                <a:srgbClr val="E8F2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306A55-8636-81E5-CE61-4C2A20BF3896}"/>
              </a:ext>
            </a:extLst>
          </p:cNvPr>
          <p:cNvSpPr/>
          <p:nvPr/>
        </p:nvSpPr>
        <p:spPr>
          <a:xfrm>
            <a:off x="8665654" y="1577332"/>
            <a:ext cx="3365635" cy="316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pic>
        <p:nvPicPr>
          <p:cNvPr id="24" name="Graphique 23" descr="Badge 3 avec un remplissage uni">
            <a:extLst>
              <a:ext uri="{FF2B5EF4-FFF2-40B4-BE49-F238E27FC236}">
                <a16:creationId xmlns:a16="http://schemas.microsoft.com/office/drawing/2014/main" id="{89C24173-26FE-5DE7-3CD8-6E6BE5D80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64595" y="1592825"/>
            <a:ext cx="285166" cy="285166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7327AB50-5D74-74A8-C7DF-FCB04066CECE}"/>
              </a:ext>
            </a:extLst>
          </p:cNvPr>
          <p:cNvSpPr txBox="1"/>
          <p:nvPr/>
        </p:nvSpPr>
        <p:spPr>
          <a:xfrm>
            <a:off x="8048195" y="1566910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accent5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DES PROFILS DIFFÉRENTS AU DÉPART</a:t>
            </a:r>
            <a:endParaRPr lang="en-US" sz="110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9" name="EN EMPLOI SALARIÉ">
            <a:extLst>
              <a:ext uri="{FF2B5EF4-FFF2-40B4-BE49-F238E27FC236}">
                <a16:creationId xmlns:a16="http://schemas.microsoft.com/office/drawing/2014/main" id="{856EC846-E1FF-5D77-562B-5832405478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26340" y="2655652"/>
            <a:ext cx="3696285" cy="1817340"/>
          </a:xfrm>
          <a:prstGeom prst="rect">
            <a:avLst/>
          </a:prstGeom>
        </p:spPr>
      </p:pic>
      <p:grpSp>
        <p:nvGrpSpPr>
          <p:cNvPr id="33" name="Groupe 32">
            <a:extLst>
              <a:ext uri="{FF2B5EF4-FFF2-40B4-BE49-F238E27FC236}">
                <a16:creationId xmlns:a16="http://schemas.microsoft.com/office/drawing/2014/main" id="{E80E461E-9C14-1AB9-51A2-A07181D8D193}"/>
              </a:ext>
            </a:extLst>
          </p:cNvPr>
          <p:cNvGrpSpPr/>
          <p:nvPr/>
        </p:nvGrpSpPr>
        <p:grpSpPr>
          <a:xfrm>
            <a:off x="8788659" y="2002970"/>
            <a:ext cx="3246120" cy="182880"/>
            <a:chOff x="8485632" y="1810512"/>
            <a:chExt cx="3246120" cy="182880"/>
          </a:xfrm>
        </p:grpSpPr>
        <p:pic>
          <p:nvPicPr>
            <p:cNvPr id="35" name="Image 2" descr="preencoded.png">
              <a:extLst>
                <a:ext uri="{FF2B5EF4-FFF2-40B4-BE49-F238E27FC236}">
                  <a16:creationId xmlns:a16="http://schemas.microsoft.com/office/drawing/2014/main" id="{0156530B-991A-5507-9B39-5CD6F9FA4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85632" y="1810512"/>
              <a:ext cx="91440" cy="182880"/>
            </a:xfrm>
            <a:prstGeom prst="rect">
              <a:avLst/>
            </a:prstGeom>
          </p:spPr>
        </p:pic>
        <p:sp>
          <p:nvSpPr>
            <p:cNvPr id="36" name="Text 28">
              <a:extLst>
                <a:ext uri="{FF2B5EF4-FFF2-40B4-BE49-F238E27FC236}">
                  <a16:creationId xmlns:a16="http://schemas.microsoft.com/office/drawing/2014/main" id="{FFF34B80-DDE0-96D9-7E54-35C96EB80444}"/>
                </a:ext>
              </a:extLst>
            </p:cNvPr>
            <p:cNvSpPr txBox="1"/>
            <p:nvPr/>
          </p:nvSpPr>
          <p:spPr>
            <a:xfrm>
              <a:off x="8650224" y="1810512"/>
              <a:ext cx="30815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1F3B4D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Même part de femmes : </a:t>
              </a:r>
              <a:r>
                <a:rPr lang="en-US" sz="110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48 %</a:t>
              </a:r>
              <a:r>
                <a:rPr lang="en-US" sz="1100">
                  <a:solidFill>
                    <a:srgbClr val="1F3B4D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et </a:t>
              </a:r>
              <a:r>
                <a:rPr lang="en-US" sz="1100" b="1">
                  <a:solidFill>
                    <a:srgbClr val="6E9A2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48 %</a:t>
              </a:r>
              <a:endParaRPr lang="en-US" sz="11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38" name="Âge" descr="preencoded.png">
            <a:extLst>
              <a:ext uri="{FF2B5EF4-FFF2-40B4-BE49-F238E27FC236}">
                <a16:creationId xmlns:a16="http://schemas.microsoft.com/office/drawing/2014/main" id="{A7DBBA99-11AF-1DF4-56AF-6D99C2B141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1823" y="2618691"/>
            <a:ext cx="3246120" cy="1463040"/>
          </a:xfrm>
          <a:prstGeom prst="rect">
            <a:avLst/>
          </a:prstGeom>
        </p:spPr>
      </p:pic>
      <p:pic>
        <p:nvPicPr>
          <p:cNvPr id="41" name="Diplôme" descr="preencoded.png">
            <a:extLst>
              <a:ext uri="{FF2B5EF4-FFF2-40B4-BE49-F238E27FC236}">
                <a16:creationId xmlns:a16="http://schemas.microsoft.com/office/drawing/2014/main" id="{D97205FD-D172-B206-39D3-9E1D4D890E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4595" y="4162749"/>
            <a:ext cx="3246120" cy="1325880"/>
          </a:xfrm>
          <a:prstGeom prst="rect">
            <a:avLst/>
          </a:prstGeom>
        </p:spPr>
      </p:pic>
      <p:sp>
        <p:nvSpPr>
          <p:cNvPr id="43" name="Text 15">
            <a:extLst>
              <a:ext uri="{FF2B5EF4-FFF2-40B4-BE49-F238E27FC236}">
                <a16:creationId xmlns:a16="http://schemas.microsoft.com/office/drawing/2014/main" id="{99159851-BDCA-5D5F-8811-A73853050804}"/>
              </a:ext>
            </a:extLst>
          </p:cNvPr>
          <p:cNvSpPr txBox="1"/>
          <p:nvPr/>
        </p:nvSpPr>
        <p:spPr>
          <a:xfrm>
            <a:off x="7468625" y="2262416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accent5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MOINS DE JEUNES ET DE SENIORS</a:t>
            </a:r>
            <a:endParaRPr lang="en-US" sz="110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A889A41E-DA5F-6DFD-9260-B772057D8525}"/>
              </a:ext>
            </a:extLst>
          </p:cNvPr>
          <p:cNvSpPr txBox="1"/>
          <p:nvPr/>
        </p:nvSpPr>
        <p:spPr>
          <a:xfrm>
            <a:off x="7746854" y="3984009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accent5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DES PROFILS NETTEMENT PLUS DIPLÔMÉS</a:t>
            </a:r>
            <a:endParaRPr lang="en-US" sz="110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Ecart 9 points">
            <a:extLst>
              <a:ext uri="{FF2B5EF4-FFF2-40B4-BE49-F238E27FC236}">
                <a16:creationId xmlns:a16="http://schemas.microsoft.com/office/drawing/2014/main" id="{0F1F1BA8-77D3-0D58-6D31-70F032480B67}"/>
              </a:ext>
            </a:extLst>
          </p:cNvPr>
          <p:cNvSpPr/>
          <p:nvPr/>
        </p:nvSpPr>
        <p:spPr>
          <a:xfrm flipH="1">
            <a:off x="2139950" y="3124215"/>
            <a:ext cx="0" cy="225995"/>
          </a:xfrm>
          <a:prstGeom prst="line">
            <a:avLst/>
          </a:prstGeom>
          <a:noFill/>
          <a:ln w="25400">
            <a:solidFill>
              <a:srgbClr val="D1603D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991D1F7-E5FD-45DC-3A04-B7D3DBCC1642}"/>
              </a:ext>
            </a:extLst>
          </p:cNvPr>
          <p:cNvSpPr txBox="1"/>
          <p:nvPr/>
        </p:nvSpPr>
        <p:spPr>
          <a:xfrm>
            <a:off x="2045206" y="33001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D1603D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≈ 9 points</a:t>
            </a:r>
            <a:r>
              <a:rPr lang="en-US" sz="700">
                <a:solidFill>
                  <a:srgbClr val="1E276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à 12 </a:t>
            </a:r>
            <a:r>
              <a:rPr lang="en-US" sz="700" err="1">
                <a:solidFill>
                  <a:srgbClr val="1E276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mois</a:t>
            </a:r>
            <a:r>
              <a:rPr lang="en-US" sz="700">
                <a:solidFill>
                  <a:srgbClr val="1E276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034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5B1B7-087B-E988-7704-7698FCA8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111A661-CBBF-8647-6DCE-084A451BAE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06251" y="340535"/>
            <a:ext cx="8061749" cy="199465"/>
          </a:xfrm>
        </p:spPr>
        <p:txBody>
          <a:bodyPr/>
          <a:lstStyle/>
          <a:p>
            <a:r>
              <a:rPr lang="fr-FR"/>
              <a:t>ESTIMATION CAUSALE À MOYEN TERME – MÉTHODOLOGIE</a:t>
            </a:r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A633EB-4EE7-523F-D257-05C5D07DB1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4520" y="1482429"/>
            <a:ext cx="3521609" cy="4886840"/>
          </a:xfrm>
          <a:solidFill>
            <a:srgbClr val="E8F2E0">
              <a:alpha val="60000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fr-FR" b="0" i="1" noProof="0">
                <a:highlight>
                  <a:srgbClr val="FFFF00"/>
                </a:highlight>
              </a:rPr>
              <a:t>​</a:t>
            </a: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FC7F50-0D97-231D-C5B5-3B0D03CDC2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8" y="638086"/>
            <a:ext cx="11135794" cy="350857"/>
          </a:xfrm>
        </p:spPr>
        <p:txBody>
          <a:bodyPr/>
          <a:lstStyle/>
          <a:p>
            <a:r>
              <a:rPr lang="fr-FR" sz="1600"/>
              <a:t>UNE ÉTUDE D'ÉVÉNEMENT EMPILÉE SUR PAIRES APPARIÉES POUR ISOLER L'EFFET DE LA RCI</a:t>
            </a:r>
            <a:endParaRPr lang="fr-FR" sz="1600" spc="-40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660DE8E7-DD29-CB18-0B89-3BF82F46F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2799299-9FF6-168E-C47F-5765D4D044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468" y="876360"/>
            <a:ext cx="10753532" cy="432000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Chaque RCI est comparé à un sortant de CDI de même profil, suivi aux mêmes dates</a:t>
            </a:r>
          </a:p>
        </p:txBody>
      </p:sp>
      <p:pic>
        <p:nvPicPr>
          <p:cNvPr id="10" name="Graphique 9" descr="Badge 1 avec un remplissage uni">
            <a:extLst>
              <a:ext uri="{FF2B5EF4-FFF2-40B4-BE49-F238E27FC236}">
                <a16:creationId xmlns:a16="http://schemas.microsoft.com/office/drawing/2014/main" id="{3E8449F0-62DD-C7AD-DAA8-3650C4BB5E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036" y="1339845"/>
            <a:ext cx="285166" cy="28516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771D6A7-5C66-B304-652A-79025B179B0F}"/>
              </a:ext>
            </a:extLst>
          </p:cNvPr>
          <p:cNvSpPr txBox="1"/>
          <p:nvPr/>
        </p:nvSpPr>
        <p:spPr>
          <a:xfrm>
            <a:off x="1380980" y="1482428"/>
            <a:ext cx="289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APPARIEMENT SUR SCORE DE PROPENSION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E92FC1B3-6928-26FC-E0F2-7D4D74B68E27}"/>
              </a:ext>
            </a:extLst>
          </p:cNvPr>
          <p:cNvSpPr txBox="1">
            <a:spLocks/>
          </p:cNvSpPr>
          <p:nvPr/>
        </p:nvSpPr>
        <p:spPr>
          <a:xfrm>
            <a:off x="4773821" y="4278591"/>
            <a:ext cx="7002544" cy="2072276"/>
          </a:xfrm>
          <a:prstGeom prst="rect">
            <a:avLst/>
          </a:prstGeom>
          <a:solidFill>
            <a:srgbClr val="F2F8F9">
              <a:alpha val="6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</p:txBody>
      </p: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97C95338-E02F-2D0A-2F30-B47D2385231F}"/>
              </a:ext>
            </a:extLst>
          </p:cNvPr>
          <p:cNvGrpSpPr/>
          <p:nvPr/>
        </p:nvGrpSpPr>
        <p:grpSpPr>
          <a:xfrm>
            <a:off x="1271653" y="1943389"/>
            <a:ext cx="3126838" cy="350053"/>
            <a:chOff x="1281202" y="2002623"/>
            <a:chExt cx="3126838" cy="350053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C14FD793-553D-3D42-3C32-92468C60744F}"/>
                </a:ext>
              </a:extLst>
            </p:cNvPr>
            <p:cNvSpPr/>
            <p:nvPr/>
          </p:nvSpPr>
          <p:spPr>
            <a:xfrm>
              <a:off x="1281202" y="2002623"/>
              <a:ext cx="3126838" cy="3378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noProof="0">
                <a:solidFill>
                  <a:schemeClr val="tx1"/>
                </a:solidFill>
              </a:endParaRPr>
            </a:p>
          </p:txBody>
        </p: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B854F3C7-D571-B7B3-B6B5-19BE6B15CCFF}"/>
                </a:ext>
              </a:extLst>
            </p:cNvPr>
            <p:cNvGrpSpPr/>
            <p:nvPr/>
          </p:nvGrpSpPr>
          <p:grpSpPr>
            <a:xfrm>
              <a:off x="1380980" y="2049243"/>
              <a:ext cx="251206" cy="244585"/>
              <a:chOff x="2327336" y="-533713"/>
              <a:chExt cx="370487" cy="360722"/>
            </a:xfrm>
          </p:grpSpPr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DBED752C-5470-45DC-B12F-5FFD337C5F5C}"/>
                  </a:ext>
                </a:extLst>
              </p:cNvPr>
              <p:cNvSpPr/>
              <p:nvPr/>
            </p:nvSpPr>
            <p:spPr>
              <a:xfrm>
                <a:off x="2327336" y="-533713"/>
                <a:ext cx="370487" cy="3607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25" name="Graphique 24" descr="Porte-documents avec un remplissage uni">
                <a:extLst>
                  <a:ext uri="{FF2B5EF4-FFF2-40B4-BE49-F238E27FC236}">
                    <a16:creationId xmlns:a16="http://schemas.microsoft.com/office/drawing/2014/main" id="{85C8E1A3-33DC-585A-0944-6CA3CD7998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2391568" y="-454627"/>
                <a:ext cx="242022" cy="242022"/>
              </a:xfrm>
              <a:prstGeom prst="rect">
                <a:avLst/>
              </a:prstGeom>
            </p:spPr>
          </p:pic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D8DA0877-8FD5-41D2-2F01-27580ED516BD}"/>
                </a:ext>
              </a:extLst>
            </p:cNvPr>
            <p:cNvSpPr txBox="1"/>
            <p:nvPr/>
          </p:nvSpPr>
          <p:spPr>
            <a:xfrm>
              <a:off x="1623794" y="2044899"/>
              <a:ext cx="27697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800" b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CARACTÉRISTIQUES SUR LE MARCHÉ DU TRAVAIL </a:t>
              </a:r>
              <a:r>
                <a:rPr lang="fr-FR" sz="6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(nombre de jours travaillés par mois en CDI, CDD, secteur, etc.)</a:t>
              </a:r>
            </a:p>
          </p:txBody>
        </p:sp>
      </p:grp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7B960E33-F326-A1CF-6919-1214A704261B}"/>
              </a:ext>
            </a:extLst>
          </p:cNvPr>
          <p:cNvGrpSpPr/>
          <p:nvPr/>
        </p:nvGrpSpPr>
        <p:grpSpPr>
          <a:xfrm>
            <a:off x="1269248" y="2408655"/>
            <a:ext cx="3170390" cy="337826"/>
            <a:chOff x="1266665" y="2522817"/>
            <a:chExt cx="3170390" cy="337826"/>
          </a:xfrm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808B65A6-DF62-989C-132C-CA9991561F1C}"/>
                </a:ext>
              </a:extLst>
            </p:cNvPr>
            <p:cNvSpPr/>
            <p:nvPr/>
          </p:nvSpPr>
          <p:spPr>
            <a:xfrm>
              <a:off x="1266665" y="2522817"/>
              <a:ext cx="3126838" cy="3378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0E7433E5-58C6-C4FE-31B2-AA166F382EB4}"/>
                </a:ext>
              </a:extLst>
            </p:cNvPr>
            <p:cNvGrpSpPr/>
            <p:nvPr/>
          </p:nvGrpSpPr>
          <p:grpSpPr>
            <a:xfrm>
              <a:off x="1380980" y="2569437"/>
              <a:ext cx="251206" cy="244585"/>
              <a:chOff x="2327336" y="-533713"/>
              <a:chExt cx="370487" cy="360722"/>
            </a:xfrm>
          </p:grpSpPr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C14E4F-DA2E-BF03-E296-BD865FC2B084}"/>
                  </a:ext>
                </a:extLst>
              </p:cNvPr>
              <p:cNvSpPr/>
              <p:nvPr/>
            </p:nvSpPr>
            <p:spPr>
              <a:xfrm>
                <a:off x="2327336" y="-533713"/>
                <a:ext cx="370487" cy="3607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28" name="Graphique 27" descr="Euro avec un remplissage uni">
                <a:extLst>
                  <a:ext uri="{FF2B5EF4-FFF2-40B4-BE49-F238E27FC236}">
                    <a16:creationId xmlns:a16="http://schemas.microsoft.com/office/drawing/2014/main" id="{2FE0B8D4-A40C-215D-B2B8-AC306054B8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391568" y="-454627"/>
                <a:ext cx="242022" cy="242022"/>
              </a:xfrm>
              <a:prstGeom prst="rect">
                <a:avLst/>
              </a:prstGeom>
            </p:spPr>
          </p:pic>
        </p:grp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784ED6B0-19A5-965D-B6F8-FEFB3F9CDA76}"/>
                </a:ext>
              </a:extLst>
            </p:cNvPr>
            <p:cNvSpPr txBox="1"/>
            <p:nvPr/>
          </p:nvSpPr>
          <p:spPr>
            <a:xfrm>
              <a:off x="1667346" y="2535834"/>
              <a:ext cx="27697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800" b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CARACTÉRISTIQUES DE L’INDEMNISATION PASSÉE </a:t>
              </a:r>
              <a:r>
                <a:rPr lang="fr-FR" sz="6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(nombre de jours indemnisés par mois, salaire journalier de référence)</a:t>
              </a:r>
            </a:p>
          </p:txBody>
        </p:sp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C74234D6-1B0D-37BA-259E-05F5A76EFF35}"/>
              </a:ext>
            </a:extLst>
          </p:cNvPr>
          <p:cNvGrpSpPr/>
          <p:nvPr/>
        </p:nvGrpSpPr>
        <p:grpSpPr>
          <a:xfrm>
            <a:off x="1269248" y="2876847"/>
            <a:ext cx="3159454" cy="357275"/>
            <a:chOff x="1281202" y="3020997"/>
            <a:chExt cx="3159454" cy="357275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64B688A8-E50E-5FE4-B6AB-8C427166E641}"/>
                </a:ext>
              </a:extLst>
            </p:cNvPr>
            <p:cNvSpPr/>
            <p:nvPr/>
          </p:nvSpPr>
          <p:spPr>
            <a:xfrm>
              <a:off x="1281202" y="3040446"/>
              <a:ext cx="3126838" cy="3378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BB67D0C9-F1AF-94F0-228D-84373A14E993}"/>
                </a:ext>
              </a:extLst>
            </p:cNvPr>
            <p:cNvGrpSpPr/>
            <p:nvPr/>
          </p:nvGrpSpPr>
          <p:grpSpPr>
            <a:xfrm>
              <a:off x="1380980" y="3084691"/>
              <a:ext cx="251206" cy="244585"/>
              <a:chOff x="2327336" y="-533713"/>
              <a:chExt cx="370487" cy="360722"/>
            </a:xfrm>
          </p:grpSpPr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D3D4BA26-EE16-D1E3-406F-42764EC882D1}"/>
                  </a:ext>
                </a:extLst>
              </p:cNvPr>
              <p:cNvSpPr/>
              <p:nvPr/>
            </p:nvSpPr>
            <p:spPr>
              <a:xfrm>
                <a:off x="2327336" y="-533713"/>
                <a:ext cx="370487" cy="3607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31" name="Graphique 30" descr="Distance sociale avec un remplissage uni">
                <a:extLst>
                  <a:ext uri="{FF2B5EF4-FFF2-40B4-BE49-F238E27FC236}">
                    <a16:creationId xmlns:a16="http://schemas.microsoft.com/office/drawing/2014/main" id="{F00EF1C6-7696-57FD-2D99-7AA279439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2391568" y="-454627"/>
                <a:ext cx="242022" cy="242022"/>
              </a:xfrm>
              <a:prstGeom prst="rect">
                <a:avLst/>
              </a:prstGeom>
            </p:spPr>
          </p:pic>
        </p:grp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D942AD0E-714B-C0BC-E3BF-D380709651E3}"/>
                </a:ext>
              </a:extLst>
            </p:cNvPr>
            <p:cNvSpPr txBox="1"/>
            <p:nvPr/>
          </p:nvSpPr>
          <p:spPr>
            <a:xfrm>
              <a:off x="1670947" y="3020997"/>
              <a:ext cx="27697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800" b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CARACTÉRISTIQUES SOCIO-DÉMOGRAPHIQUES </a:t>
              </a:r>
              <a:r>
                <a:rPr lang="fr-FR" sz="6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(sexe, âge, diplôme, catégorie socio-professionnelle.)</a:t>
              </a:r>
            </a:p>
          </p:txBody>
        </p:sp>
      </p:grpSp>
      <p:sp>
        <p:nvSpPr>
          <p:cNvPr id="40" name="ZoneTexte 39">
            <a:extLst>
              <a:ext uri="{FF2B5EF4-FFF2-40B4-BE49-F238E27FC236}">
                <a16:creationId xmlns:a16="http://schemas.microsoft.com/office/drawing/2014/main" id="{436F0450-D4E4-470D-C7ED-14FB9E0A6145}"/>
              </a:ext>
            </a:extLst>
          </p:cNvPr>
          <p:cNvSpPr txBox="1"/>
          <p:nvPr/>
        </p:nvSpPr>
        <p:spPr>
          <a:xfrm rot="10800000" flipV="1">
            <a:off x="1127868" y="1689910"/>
            <a:ext cx="3265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Variables d’appariement sur </a:t>
            </a:r>
            <a:r>
              <a:rPr lang="fr-FR" sz="800" i="1" dirty="0">
                <a:latin typeface="Segoe UI" panose="020B0502040204020203" pitchFamily="34" charset="0"/>
                <a:cs typeface="Segoe UI" panose="020B0502040204020203" pitchFamily="34" charset="0"/>
              </a:rPr>
              <a:t>deux</a:t>
            </a:r>
            <a:r>
              <a:rPr lang="fr-FR" sz="8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 années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A8959AF-944C-2BF0-A092-AD04CB6E2ECD}"/>
              </a:ext>
            </a:extLst>
          </p:cNvPr>
          <p:cNvSpPr txBox="1"/>
          <p:nvPr/>
        </p:nvSpPr>
        <p:spPr>
          <a:xfrm>
            <a:off x="3841126" y="4254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noProof="0"/>
          </a:p>
        </p:txBody>
      </p:sp>
      <p:grpSp>
        <p:nvGrpSpPr>
          <p:cNvPr id="122" name="Groupe 121">
            <a:extLst>
              <a:ext uri="{FF2B5EF4-FFF2-40B4-BE49-F238E27FC236}">
                <a16:creationId xmlns:a16="http://schemas.microsoft.com/office/drawing/2014/main" id="{B6EED56F-8C06-A3D4-096E-40EC77529F9C}"/>
              </a:ext>
            </a:extLst>
          </p:cNvPr>
          <p:cNvGrpSpPr/>
          <p:nvPr/>
        </p:nvGrpSpPr>
        <p:grpSpPr>
          <a:xfrm>
            <a:off x="1271653" y="3409892"/>
            <a:ext cx="3126837" cy="588700"/>
            <a:chOff x="1296681" y="3641011"/>
            <a:chExt cx="3126837" cy="588700"/>
          </a:xfrm>
        </p:grpSpPr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7B2A0632-567D-F498-751B-5FB9D632E535}"/>
                </a:ext>
              </a:extLst>
            </p:cNvPr>
            <p:cNvSpPr/>
            <p:nvPr/>
          </p:nvSpPr>
          <p:spPr>
            <a:xfrm>
              <a:off x="1296681" y="3641011"/>
              <a:ext cx="3126837" cy="5887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 sz="1000" noProof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FAF7AD9B-30BD-ED73-B968-13D4E723A08C}"/>
                </a:ext>
              </a:extLst>
            </p:cNvPr>
            <p:cNvSpPr txBox="1"/>
            <p:nvPr/>
          </p:nvSpPr>
          <p:spPr>
            <a:xfrm>
              <a:off x="2069793" y="3688634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RÉGRESSION LOGISTIQUE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61A4CFAF-4C7B-F285-6BBB-CA51B97158CF}"/>
                </a:ext>
              </a:extLst>
            </p:cNvPr>
            <p:cNvSpPr txBox="1"/>
            <p:nvPr/>
          </p:nvSpPr>
          <p:spPr>
            <a:xfrm>
              <a:off x="1465285" y="3857782"/>
              <a:ext cx="2958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noProof="0">
                  <a:latin typeface="Segoe UI" panose="020B0502040204020203" pitchFamily="34" charset="0"/>
                  <a:cs typeface="Segoe UI" panose="020B0502040204020203" pitchFamily="34" charset="0"/>
                </a:rPr>
                <a:t>Pr(Traité = 1| X)                               score de propension z</a:t>
              </a:r>
            </a:p>
          </p:txBody>
        </p: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5FEEE3F9-DA09-3A19-F5AD-86861E58CBC9}"/>
                </a:ext>
              </a:extLst>
            </p:cNvPr>
            <p:cNvCxnSpPr>
              <a:cxnSpLocks/>
            </p:cNvCxnSpPr>
            <p:nvPr/>
          </p:nvCxnSpPr>
          <p:spPr>
            <a:xfrm>
              <a:off x="2617964" y="3965504"/>
              <a:ext cx="311150" cy="0"/>
            </a:xfrm>
            <a:prstGeom prst="straightConnector1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117A3F5A-984E-6850-2CA3-0DAA6AAE7CF5}"/>
              </a:ext>
            </a:extLst>
          </p:cNvPr>
          <p:cNvGrpSpPr/>
          <p:nvPr/>
        </p:nvGrpSpPr>
        <p:grpSpPr>
          <a:xfrm>
            <a:off x="1109556" y="4086584"/>
            <a:ext cx="3897142" cy="1259800"/>
            <a:chOff x="1119162" y="4140255"/>
            <a:chExt cx="3897142" cy="1259800"/>
          </a:xfrm>
        </p:grpSpPr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6A5A4408-0DA7-826F-91F4-40AA71FF1110}"/>
                </a:ext>
              </a:extLst>
            </p:cNvPr>
            <p:cNvSpPr txBox="1"/>
            <p:nvPr/>
          </p:nvSpPr>
          <p:spPr>
            <a:xfrm rot="10800000" flipV="1">
              <a:off x="1119162" y="4161282"/>
              <a:ext cx="15912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b="1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PROCHE VOISIN SUR Z</a:t>
              </a: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4122F405-FAD8-9150-968A-2616875376F7}"/>
                </a:ext>
              </a:extLst>
            </p:cNvPr>
            <p:cNvSpPr txBox="1"/>
            <p:nvPr/>
          </p:nvSpPr>
          <p:spPr>
            <a:xfrm rot="10800000" flipV="1">
              <a:off x="3169062" y="4140255"/>
              <a:ext cx="1847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MATCH EXACT SUR LE SEXE</a:t>
              </a:r>
            </a:p>
          </p:txBody>
        </p:sp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A9D846C6-748D-FB13-4EA1-7ADB5662A6FB}"/>
                </a:ext>
              </a:extLst>
            </p:cNvPr>
            <p:cNvGrpSpPr/>
            <p:nvPr/>
          </p:nvGrpSpPr>
          <p:grpSpPr>
            <a:xfrm>
              <a:off x="1156495" y="4301830"/>
              <a:ext cx="3310339" cy="511463"/>
              <a:chOff x="897226" y="5015248"/>
              <a:chExt cx="3310339" cy="511463"/>
            </a:xfrm>
          </p:grpSpPr>
          <p:cxnSp>
            <p:nvCxnSpPr>
              <p:cNvPr id="57" name="Connecteur droit 56">
                <a:extLst>
                  <a:ext uri="{FF2B5EF4-FFF2-40B4-BE49-F238E27FC236}">
                    <a16:creationId xmlns:a16="http://schemas.microsoft.com/office/drawing/2014/main" id="{A31EE287-AD2C-EE2A-B53D-DF0701F7D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9287" y="5294437"/>
                <a:ext cx="2458278" cy="7196"/>
              </a:xfrm>
              <a:prstGeom prst="line">
                <a:avLst/>
              </a:prstGeom>
              <a:ln w="12700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pic>
            <p:nvPicPr>
              <p:cNvPr id="9" name="Graphique 8" descr="Utilisateur avec un remplissage uni">
                <a:extLst>
                  <a:ext uri="{FF2B5EF4-FFF2-40B4-BE49-F238E27FC236}">
                    <a16:creationId xmlns:a16="http://schemas.microsoft.com/office/drawing/2014/main" id="{38024905-8F30-535D-D50D-EDE2293ADC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275930" y="5021749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38" name="Graphique 37" descr="Utilisateur avec un remplissage uni">
                <a:extLst>
                  <a:ext uri="{FF2B5EF4-FFF2-40B4-BE49-F238E27FC236}">
                    <a16:creationId xmlns:a16="http://schemas.microsoft.com/office/drawing/2014/main" id="{E42056F5-4065-F355-0573-2DD022202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097462" y="5015248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48" name="Graphique 47" descr="Utilisateur avec un remplissage uni">
                <a:extLst>
                  <a:ext uri="{FF2B5EF4-FFF2-40B4-BE49-F238E27FC236}">
                    <a16:creationId xmlns:a16="http://schemas.microsoft.com/office/drawing/2014/main" id="{8021639B-1906-D70A-F2DE-BA4D789CA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019949" y="5294437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51" name="Graphique 50" descr="Utilisateur avec un remplissage uni">
                <a:extLst>
                  <a:ext uri="{FF2B5EF4-FFF2-40B4-BE49-F238E27FC236}">
                    <a16:creationId xmlns:a16="http://schemas.microsoft.com/office/drawing/2014/main" id="{30528CE3-816F-135A-F4CF-FD2E73D90F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558372" y="5294437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63" name="Graphique 62" descr="Utilisateur avec un remplissage uni">
                <a:extLst>
                  <a:ext uri="{FF2B5EF4-FFF2-40B4-BE49-F238E27FC236}">
                    <a16:creationId xmlns:a16="http://schemas.microsoft.com/office/drawing/2014/main" id="{F9189E86-E366-ACAE-1DC7-4903C256FF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329736" y="5289944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65" name="Graphique 64" descr="Utilisateur avec un remplissage uni">
                <a:extLst>
                  <a:ext uri="{FF2B5EF4-FFF2-40B4-BE49-F238E27FC236}">
                    <a16:creationId xmlns:a16="http://schemas.microsoft.com/office/drawing/2014/main" id="{FC581EB9-1EBC-02C4-D6E4-2D0431FA0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776991" y="5294437"/>
                <a:ext cx="232274" cy="232274"/>
              </a:xfrm>
              <a:prstGeom prst="rect">
                <a:avLst/>
              </a:prstGeom>
            </p:spPr>
          </p:pic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A672F15E-6356-E8B0-CAF0-309EE47B315F}"/>
                  </a:ext>
                </a:extLst>
              </p:cNvPr>
              <p:cNvSpPr txBox="1"/>
              <p:nvPr/>
            </p:nvSpPr>
            <p:spPr>
              <a:xfrm rot="10800000" flipV="1">
                <a:off x="897226" y="5161523"/>
                <a:ext cx="64588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Femmes</a:t>
                </a:r>
              </a:p>
            </p:txBody>
          </p:sp>
          <p:cxnSp>
            <p:nvCxnSpPr>
              <p:cNvPr id="76" name="Connecteur droit 75">
                <a:extLst>
                  <a:ext uri="{FF2B5EF4-FFF2-40B4-BE49-F238E27FC236}">
                    <a16:creationId xmlns:a16="http://schemas.microsoft.com/office/drawing/2014/main" id="{71FD6B35-CC31-CBC4-ADAA-414C8AA866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16493" y="5272330"/>
                <a:ext cx="118875" cy="113350"/>
              </a:xfrm>
              <a:prstGeom prst="line">
                <a:avLst/>
              </a:prstGeom>
              <a:ln w="12700">
                <a:solidFill>
                  <a:srgbClr val="007C8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necteur droit 96">
                <a:extLst>
                  <a:ext uri="{FF2B5EF4-FFF2-40B4-BE49-F238E27FC236}">
                    <a16:creationId xmlns:a16="http://schemas.microsoft.com/office/drawing/2014/main" id="{C243A4B1-8DFF-D6EF-0735-1CB0A0889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6988" y="5249616"/>
                <a:ext cx="92415" cy="113350"/>
              </a:xfrm>
              <a:prstGeom prst="line">
                <a:avLst/>
              </a:prstGeom>
              <a:ln w="12700">
                <a:solidFill>
                  <a:srgbClr val="007C8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e 102">
              <a:extLst>
                <a:ext uri="{FF2B5EF4-FFF2-40B4-BE49-F238E27FC236}">
                  <a16:creationId xmlns:a16="http://schemas.microsoft.com/office/drawing/2014/main" id="{35A1E15F-0F61-7017-665D-AE2442AEAC8D}"/>
                </a:ext>
              </a:extLst>
            </p:cNvPr>
            <p:cNvGrpSpPr/>
            <p:nvPr/>
          </p:nvGrpSpPr>
          <p:grpSpPr>
            <a:xfrm>
              <a:off x="1156495" y="4912924"/>
              <a:ext cx="3331781" cy="487131"/>
              <a:chOff x="875784" y="5630423"/>
              <a:chExt cx="3331781" cy="487131"/>
            </a:xfrm>
          </p:grpSpPr>
          <p:cxnSp>
            <p:nvCxnSpPr>
              <p:cNvPr id="58" name="Connecteur droit 57">
                <a:extLst>
                  <a:ext uri="{FF2B5EF4-FFF2-40B4-BE49-F238E27FC236}">
                    <a16:creationId xmlns:a16="http://schemas.microsoft.com/office/drawing/2014/main" id="{016FEC0F-8829-45A2-F3FF-ABCD5AD3C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9287" y="5884793"/>
                <a:ext cx="2458278" cy="0"/>
              </a:xfrm>
              <a:prstGeom prst="line">
                <a:avLst/>
              </a:prstGeom>
              <a:ln w="12700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CF52A4EE-74F8-E12C-F085-DE40A3B14EB1}"/>
                  </a:ext>
                </a:extLst>
              </p:cNvPr>
              <p:cNvSpPr txBox="1"/>
              <p:nvPr/>
            </p:nvSpPr>
            <p:spPr>
              <a:xfrm rot="10800000" flipV="1">
                <a:off x="875784" y="5754861"/>
                <a:ext cx="66353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Hommes</a:t>
                </a:r>
              </a:p>
            </p:txBody>
          </p:sp>
          <p:cxnSp>
            <p:nvCxnSpPr>
              <p:cNvPr id="83" name="Connecteur droit 82">
                <a:extLst>
                  <a:ext uri="{FF2B5EF4-FFF2-40B4-BE49-F238E27FC236}">
                    <a16:creationId xmlns:a16="http://schemas.microsoft.com/office/drawing/2014/main" id="{07A6C7D5-B22A-8677-3498-4F15CF529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6761" y="5855501"/>
                <a:ext cx="92415" cy="113350"/>
              </a:xfrm>
              <a:prstGeom prst="line">
                <a:avLst/>
              </a:prstGeom>
              <a:ln w="12700">
                <a:solidFill>
                  <a:srgbClr val="007C8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6" name="Graphique 85" descr="Utilisateur avec un remplissage uni">
                <a:extLst>
                  <a:ext uri="{FF2B5EF4-FFF2-40B4-BE49-F238E27FC236}">
                    <a16:creationId xmlns:a16="http://schemas.microsoft.com/office/drawing/2014/main" id="{57D266DD-C995-D316-27B2-550EFCADA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455654" y="5630423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90" name="Graphique 89" descr="Utilisateur avec un remplissage uni">
                <a:extLst>
                  <a:ext uri="{FF2B5EF4-FFF2-40B4-BE49-F238E27FC236}">
                    <a16:creationId xmlns:a16="http://schemas.microsoft.com/office/drawing/2014/main" id="{C31B925A-983B-7567-9EE1-C73C7829E4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570091" y="5632502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92" name="Graphique 91" descr="Utilisateur avec un remplissage uni">
                <a:extLst>
                  <a:ext uri="{FF2B5EF4-FFF2-40B4-BE49-F238E27FC236}">
                    <a16:creationId xmlns:a16="http://schemas.microsoft.com/office/drawing/2014/main" id="{6D2DD77F-50AF-B914-A1F2-202E0D9ADA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938277" y="5884793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94" name="Graphique 93" descr="Utilisateur avec un remplissage uni">
                <a:extLst>
                  <a:ext uri="{FF2B5EF4-FFF2-40B4-BE49-F238E27FC236}">
                    <a16:creationId xmlns:a16="http://schemas.microsoft.com/office/drawing/2014/main" id="{AB7C3A60-4555-D2A3-5F82-0FF2FA7B8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693408" y="5885280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96" name="Graphique 95" descr="Utilisateur avec un remplissage uni">
                <a:extLst>
                  <a:ext uri="{FF2B5EF4-FFF2-40B4-BE49-F238E27FC236}">
                    <a16:creationId xmlns:a16="http://schemas.microsoft.com/office/drawing/2014/main" id="{2712324F-1050-FF3B-14EC-AFD4611DE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326400" y="5885280"/>
                <a:ext cx="232274" cy="232274"/>
              </a:xfrm>
              <a:prstGeom prst="rect">
                <a:avLst/>
              </a:prstGeom>
            </p:spPr>
          </p:pic>
          <p:cxnSp>
            <p:nvCxnSpPr>
              <p:cNvPr id="98" name="Connecteur droit 97">
                <a:extLst>
                  <a:ext uri="{FF2B5EF4-FFF2-40B4-BE49-F238E27FC236}">
                    <a16:creationId xmlns:a16="http://schemas.microsoft.com/office/drawing/2014/main" id="{EA9A454F-FF15-7361-7E88-2E65446809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95799" y="5868255"/>
                <a:ext cx="118875" cy="113350"/>
              </a:xfrm>
              <a:prstGeom prst="line">
                <a:avLst/>
              </a:prstGeom>
              <a:ln w="12700">
                <a:solidFill>
                  <a:srgbClr val="007C8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0" name="Graphique 99" descr="Utilisateur avec un remplissage uni">
                <a:extLst>
                  <a:ext uri="{FF2B5EF4-FFF2-40B4-BE49-F238E27FC236}">
                    <a16:creationId xmlns:a16="http://schemas.microsoft.com/office/drawing/2014/main" id="{75898738-3C26-ABFE-B557-513AA8C12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783702" y="5884793"/>
                <a:ext cx="232274" cy="232274"/>
              </a:xfrm>
              <a:prstGeom prst="rect">
                <a:avLst/>
              </a:prstGeom>
            </p:spPr>
          </p:pic>
        </p:grpSp>
      </p:grpSp>
      <p:grpSp>
        <p:nvGrpSpPr>
          <p:cNvPr id="243" name="Groupe 242">
            <a:extLst>
              <a:ext uri="{FF2B5EF4-FFF2-40B4-BE49-F238E27FC236}">
                <a16:creationId xmlns:a16="http://schemas.microsoft.com/office/drawing/2014/main" id="{0B702D06-2C9F-2941-AC27-F2455D7AA2F5}"/>
              </a:ext>
            </a:extLst>
          </p:cNvPr>
          <p:cNvGrpSpPr/>
          <p:nvPr/>
        </p:nvGrpSpPr>
        <p:grpSpPr>
          <a:xfrm>
            <a:off x="1183086" y="5344033"/>
            <a:ext cx="3600060" cy="487329"/>
            <a:chOff x="1165065" y="5506548"/>
            <a:chExt cx="3600060" cy="487329"/>
          </a:xfrm>
        </p:grpSpPr>
        <p:grpSp>
          <p:nvGrpSpPr>
            <p:cNvPr id="242" name="Groupe 241">
              <a:extLst>
                <a:ext uri="{FF2B5EF4-FFF2-40B4-BE49-F238E27FC236}">
                  <a16:creationId xmlns:a16="http://schemas.microsoft.com/office/drawing/2014/main" id="{04244344-4DCB-5E93-8592-91D7D9BFA819}"/>
                </a:ext>
              </a:extLst>
            </p:cNvPr>
            <p:cNvGrpSpPr/>
            <p:nvPr/>
          </p:nvGrpSpPr>
          <p:grpSpPr>
            <a:xfrm>
              <a:off x="1165065" y="5506548"/>
              <a:ext cx="3600060" cy="487329"/>
              <a:chOff x="1165065" y="5506548"/>
              <a:chExt cx="3600060" cy="487329"/>
            </a:xfrm>
          </p:grpSpPr>
          <p:pic>
            <p:nvPicPr>
              <p:cNvPr id="107" name="Graphique 106" descr="Utilisateur avec un remplissage uni">
                <a:extLst>
                  <a:ext uri="{FF2B5EF4-FFF2-40B4-BE49-F238E27FC236}">
                    <a16:creationId xmlns:a16="http://schemas.microsoft.com/office/drawing/2014/main" id="{20D64892-76D9-1AA4-4D4C-79FAF9A2B8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65065" y="5530059"/>
                <a:ext cx="150611" cy="150611"/>
              </a:xfrm>
              <a:prstGeom prst="rect">
                <a:avLst/>
              </a:prstGeom>
            </p:spPr>
          </p:pic>
          <p:grpSp>
            <p:nvGrpSpPr>
              <p:cNvPr id="241" name="Groupe 240">
                <a:extLst>
                  <a:ext uri="{FF2B5EF4-FFF2-40B4-BE49-F238E27FC236}">
                    <a16:creationId xmlns:a16="http://schemas.microsoft.com/office/drawing/2014/main" id="{AD73A137-E10B-9ADD-C237-3CDD34551E7F}"/>
                  </a:ext>
                </a:extLst>
              </p:cNvPr>
              <p:cNvGrpSpPr/>
              <p:nvPr/>
            </p:nvGrpSpPr>
            <p:grpSpPr>
              <a:xfrm>
                <a:off x="1263181" y="5506548"/>
                <a:ext cx="3501944" cy="487329"/>
                <a:chOff x="1263181" y="5506548"/>
                <a:chExt cx="3501944" cy="487329"/>
              </a:xfrm>
            </p:grpSpPr>
            <p:sp>
              <p:nvSpPr>
                <p:cNvPr id="111" name="ZoneTexte 110">
                  <a:extLst>
                    <a:ext uri="{FF2B5EF4-FFF2-40B4-BE49-F238E27FC236}">
                      <a16:creationId xmlns:a16="http://schemas.microsoft.com/office/drawing/2014/main" id="{E27CD172-38E3-888B-333E-A1B59407E825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263181" y="5506548"/>
                  <a:ext cx="3501944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Traité (signature d’une rupture conventionnelle individuelle)</a:t>
                  </a:r>
                </a:p>
              </p:txBody>
            </p:sp>
            <p:sp>
              <p:nvSpPr>
                <p:cNvPr id="115" name="ZoneTexte 114">
                  <a:extLst>
                    <a:ext uri="{FF2B5EF4-FFF2-40B4-BE49-F238E27FC236}">
                      <a16:creationId xmlns:a16="http://schemas.microsoft.com/office/drawing/2014/main" id="{C172751C-DD21-11BC-CF27-D6E221F4B42C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271410" y="5793822"/>
                  <a:ext cx="762138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Non apparié</a:t>
                  </a:r>
                </a:p>
              </p:txBody>
            </p:sp>
          </p:grpSp>
        </p:grpSp>
        <p:sp>
          <p:nvSpPr>
            <p:cNvPr id="119" name="ZoneTexte 118">
              <a:extLst>
                <a:ext uri="{FF2B5EF4-FFF2-40B4-BE49-F238E27FC236}">
                  <a16:creationId xmlns:a16="http://schemas.microsoft.com/office/drawing/2014/main" id="{949FBD9B-E2E9-1453-4C2C-C67FF98B78AE}"/>
                </a:ext>
              </a:extLst>
            </p:cNvPr>
            <p:cNvSpPr txBox="1"/>
            <p:nvPr/>
          </p:nvSpPr>
          <p:spPr>
            <a:xfrm rot="10800000" flipV="1">
              <a:off x="1253632" y="5657720"/>
              <a:ext cx="219181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Témoin : sortie de CDI pour un motif hors RCI</a:t>
              </a:r>
            </a:p>
          </p:txBody>
        </p:sp>
      </p:grpSp>
      <p:sp>
        <p:nvSpPr>
          <p:cNvPr id="125" name="Flèche : bas 124">
            <a:extLst>
              <a:ext uri="{FF2B5EF4-FFF2-40B4-BE49-F238E27FC236}">
                <a16:creationId xmlns:a16="http://schemas.microsoft.com/office/drawing/2014/main" id="{27E86154-13AA-199B-F347-3FE39C46C071}"/>
              </a:ext>
            </a:extLst>
          </p:cNvPr>
          <p:cNvSpPr/>
          <p:nvPr/>
        </p:nvSpPr>
        <p:spPr>
          <a:xfrm>
            <a:off x="2712019" y="3834533"/>
            <a:ext cx="286977" cy="35242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9" name="Flèche : bas 128">
            <a:extLst>
              <a:ext uri="{FF2B5EF4-FFF2-40B4-BE49-F238E27FC236}">
                <a16:creationId xmlns:a16="http://schemas.microsoft.com/office/drawing/2014/main" id="{CF164078-5ACE-A6F5-0532-74E3204F1474}"/>
              </a:ext>
            </a:extLst>
          </p:cNvPr>
          <p:cNvSpPr/>
          <p:nvPr/>
        </p:nvSpPr>
        <p:spPr>
          <a:xfrm>
            <a:off x="2727832" y="3132068"/>
            <a:ext cx="286977" cy="273179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870A09C4-F1B1-2E65-00A3-9B70D18BA853}"/>
              </a:ext>
            </a:extLst>
          </p:cNvPr>
          <p:cNvCxnSpPr>
            <a:cxnSpLocks/>
          </p:cNvCxnSpPr>
          <p:nvPr/>
        </p:nvCxnSpPr>
        <p:spPr>
          <a:xfrm flipH="1">
            <a:off x="8191160" y="1964316"/>
            <a:ext cx="2398" cy="190220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Groupe 180">
            <a:extLst>
              <a:ext uri="{FF2B5EF4-FFF2-40B4-BE49-F238E27FC236}">
                <a16:creationId xmlns:a16="http://schemas.microsoft.com/office/drawing/2014/main" id="{5A1744CA-FA3A-17E1-81F2-BB6FC4E89B34}"/>
              </a:ext>
            </a:extLst>
          </p:cNvPr>
          <p:cNvGrpSpPr/>
          <p:nvPr/>
        </p:nvGrpSpPr>
        <p:grpSpPr>
          <a:xfrm>
            <a:off x="4679299" y="1351417"/>
            <a:ext cx="3621129" cy="2739534"/>
            <a:chOff x="4788711" y="1357648"/>
            <a:chExt cx="3621129" cy="2739534"/>
          </a:xfrm>
        </p:grpSpPr>
        <p:sp>
          <p:nvSpPr>
            <p:cNvPr id="13" name="Espace réservé du texte 2">
              <a:extLst>
                <a:ext uri="{FF2B5EF4-FFF2-40B4-BE49-F238E27FC236}">
                  <a16:creationId xmlns:a16="http://schemas.microsoft.com/office/drawing/2014/main" id="{628AD843-1A83-21A1-DBA2-DE2BBD92243A}"/>
                </a:ext>
              </a:extLst>
            </p:cNvPr>
            <p:cNvSpPr txBox="1">
              <a:spLocks/>
            </p:cNvSpPr>
            <p:nvPr/>
          </p:nvSpPr>
          <p:spPr>
            <a:xfrm>
              <a:off x="4931294" y="1482429"/>
              <a:ext cx="3382929" cy="2566156"/>
            </a:xfrm>
            <a:prstGeom prst="rect">
              <a:avLst/>
            </a:prstGeom>
            <a:solidFill>
              <a:srgbClr val="F2F8F9">
                <a:alpha val="60000"/>
              </a:srgbClr>
            </a:solidFill>
            <a:ln>
              <a:noFill/>
            </a:ln>
          </p:spPr>
          <p:txBody>
            <a:bodyPr lIns="0" tIns="0" rIns="0" bIns="0" numCol="1"/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>
                  <a:srgbClr val="288494"/>
                </a:buClr>
                <a:buFont typeface="Wingdings" pitchFamily="2" charset="2"/>
                <a:buNone/>
                <a:tabLst/>
                <a:defRPr sz="1200" b="1" i="0" kern="1200">
                  <a:solidFill>
                    <a:schemeClr val="tx1"/>
                  </a:solidFill>
                  <a:latin typeface="Montserrat" pitchFamily="2" charset="77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88494"/>
                </a:buClr>
                <a:buFont typeface="Wingdings" panose="05000000000000000000" pitchFamily="2" charset="2"/>
                <a:buChar char="§"/>
                <a:tabLst/>
                <a:defRPr sz="1200" b="0" i="0" kern="1200">
                  <a:solidFill>
                    <a:schemeClr val="tx1"/>
                  </a:solidFill>
                  <a:latin typeface="Montserrat" pitchFamily="2" charset="77"/>
                  <a:ea typeface="+mn-ea"/>
                  <a:cs typeface="+mn-cs"/>
                </a:defRPr>
              </a:lvl2pPr>
              <a:lvl3pPr marL="490787" indent="-17145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>
                  <a:srgbClr val="288494"/>
                </a:buClr>
                <a:buFont typeface="Courier New" panose="02070309020205020404" pitchFamily="49" charset="0"/>
                <a:buChar char="o"/>
                <a:tabLst/>
                <a:defRPr sz="1200" b="0" i="0" u="none" kern="1200">
                  <a:solidFill>
                    <a:schemeClr val="tx1"/>
                  </a:solidFill>
                  <a:latin typeface="Montserrat" pitchFamily="2" charset="77"/>
                  <a:ea typeface="+mn-ea"/>
                  <a:cs typeface="+mn-cs"/>
                </a:defRPr>
              </a:lvl3pPr>
              <a:lvl4pPr marL="581025" indent="141288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 typeface="Cambria Math" panose="02040503050406030204" pitchFamily="18" charset="0"/>
                <a:buChar char="⎯"/>
                <a:tabLst/>
                <a:defRPr sz="1200" b="0" i="0" kern="1200">
                  <a:solidFill>
                    <a:schemeClr val="tx1"/>
                  </a:solidFill>
                  <a:effectLst/>
                  <a:latin typeface="Montserrat" pitchFamily="2" charset="77"/>
                  <a:ea typeface="+mn-ea"/>
                  <a:cs typeface="+mn-cs"/>
                </a:defRPr>
              </a:lvl4pPr>
              <a:lvl5pPr marL="799200" indent="-90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tabLst/>
                <a:defRPr sz="1200" b="0" i="0" strike="noStrike" kern="1200">
                  <a:solidFill>
                    <a:schemeClr val="tx1"/>
                  </a:solidFill>
                  <a:latin typeface="Montserra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b="0" noProof="0">
                  <a:highlight>
                    <a:srgbClr val="FFFF00"/>
                  </a:highlight>
                </a:rPr>
                <a:t>​</a:t>
              </a: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</p:txBody>
        </p:sp>
        <p:pic>
          <p:nvPicPr>
            <p:cNvPr id="131" name="Graphique 130" descr="Badge avec un remplissage uni">
              <a:extLst>
                <a:ext uri="{FF2B5EF4-FFF2-40B4-BE49-F238E27FC236}">
                  <a16:creationId xmlns:a16="http://schemas.microsoft.com/office/drawing/2014/main" id="{96A775BB-78E5-8DD2-17FD-CF9C6ECA86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788711" y="1357648"/>
              <a:ext cx="285166" cy="285166"/>
            </a:xfrm>
            <a:prstGeom prst="rect">
              <a:avLst/>
            </a:prstGeom>
          </p:spPr>
        </p:pic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0C68E7D1-D1B9-EE79-4197-E65A245160E7}"/>
                </a:ext>
              </a:extLst>
            </p:cNvPr>
            <p:cNvSpPr txBox="1"/>
            <p:nvPr/>
          </p:nvSpPr>
          <p:spPr>
            <a:xfrm>
              <a:off x="5295349" y="1497786"/>
              <a:ext cx="28982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TEMPS CALENDAIRE</a:t>
              </a:r>
            </a:p>
          </p:txBody>
        </p:sp>
        <p:sp>
          <p:nvSpPr>
            <p:cNvPr id="136" name="ZoneTexte 135">
              <a:extLst>
                <a:ext uri="{FF2B5EF4-FFF2-40B4-BE49-F238E27FC236}">
                  <a16:creationId xmlns:a16="http://schemas.microsoft.com/office/drawing/2014/main" id="{C0EF3C91-C218-0462-C787-7B02E3F5FF5B}"/>
                </a:ext>
              </a:extLst>
            </p:cNvPr>
            <p:cNvSpPr txBox="1"/>
            <p:nvPr/>
          </p:nvSpPr>
          <p:spPr>
            <a:xfrm rot="10800000" flipV="1">
              <a:off x="4931294" y="1642118"/>
              <a:ext cx="32656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8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Cohortes mensuelles de 2022, suivies mois par mois jusqu’à déc.2025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53B06E9D-B6C8-EBA4-F64B-2E40D277DB4E}"/>
                </a:ext>
              </a:extLst>
            </p:cNvPr>
            <p:cNvSpPr/>
            <p:nvPr/>
          </p:nvSpPr>
          <p:spPr>
            <a:xfrm>
              <a:off x="5840133" y="1964315"/>
              <a:ext cx="264578" cy="1785669"/>
            </a:xfrm>
            <a:prstGeom prst="rect">
              <a:avLst/>
            </a:prstGeom>
            <a:solidFill>
              <a:srgbClr val="D1E5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1D396C4-AF7E-3286-55CF-0D218D1AB825}"/>
                </a:ext>
              </a:extLst>
            </p:cNvPr>
            <p:cNvSpPr/>
            <p:nvPr/>
          </p:nvSpPr>
          <p:spPr>
            <a:xfrm>
              <a:off x="6983374" y="1964316"/>
              <a:ext cx="264578" cy="1806596"/>
            </a:xfrm>
            <a:prstGeom prst="rect">
              <a:avLst/>
            </a:prstGeom>
            <a:solidFill>
              <a:srgbClr val="A6C6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noProof="0"/>
                <a:t> </a:t>
              </a:r>
            </a:p>
          </p:txBody>
        </p:sp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45BC108E-8901-D4D2-E5DC-128ACD229CDC}"/>
                </a:ext>
              </a:extLst>
            </p:cNvPr>
            <p:cNvGrpSpPr/>
            <p:nvPr/>
          </p:nvGrpSpPr>
          <p:grpSpPr>
            <a:xfrm>
              <a:off x="4911907" y="1918550"/>
              <a:ext cx="3281651" cy="504586"/>
              <a:chOff x="4911907" y="1918550"/>
              <a:chExt cx="3281651" cy="504586"/>
            </a:xfrm>
          </p:grpSpPr>
          <p:pic>
            <p:nvPicPr>
              <p:cNvPr id="6" name="Graphique 5" descr="Utilisateur avec un remplissage uni">
                <a:extLst>
                  <a:ext uri="{FF2B5EF4-FFF2-40B4-BE49-F238E27FC236}">
                    <a16:creationId xmlns:a16="http://schemas.microsoft.com/office/drawing/2014/main" id="{48AAB8B0-F739-57BF-A6D1-A9DB3C7282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17574" y="191855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11" name="Graphique 10" descr="Utilisateur avec un remplissage uni">
                <a:extLst>
                  <a:ext uri="{FF2B5EF4-FFF2-40B4-BE49-F238E27FC236}">
                    <a16:creationId xmlns:a16="http://schemas.microsoft.com/office/drawing/2014/main" id="{263D888D-F633-F004-C9F0-E53BEAAA0F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317574" y="2165798"/>
                <a:ext cx="230833" cy="230833"/>
              </a:xfrm>
              <a:prstGeom prst="rect">
                <a:avLst/>
              </a:prstGeom>
            </p:spPr>
          </p:pic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EF5EB72F-FB23-1A8A-F5E6-D9E5279E0311}"/>
                  </a:ext>
                </a:extLst>
              </p:cNvPr>
              <p:cNvSpPr txBox="1"/>
              <p:nvPr/>
            </p:nvSpPr>
            <p:spPr>
              <a:xfrm rot="10800000" flipV="1">
                <a:off x="4911907" y="1964552"/>
                <a:ext cx="49439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Paire 1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30D262F5-17DE-55A7-10ED-C78EA6A2DE11}"/>
                  </a:ext>
                </a:extLst>
              </p:cNvPr>
              <p:cNvSpPr txBox="1"/>
              <p:nvPr/>
            </p:nvSpPr>
            <p:spPr>
              <a:xfrm rot="10800000" flipV="1">
                <a:off x="4911907" y="2146137"/>
                <a:ext cx="494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Janv. 2022</a:t>
                </a:r>
              </a:p>
            </p:txBody>
          </p:sp>
          <p:cxnSp>
            <p:nvCxnSpPr>
              <p:cNvPr id="69" name="Connecteur droit 68">
                <a:extLst>
                  <a:ext uri="{FF2B5EF4-FFF2-40B4-BE49-F238E27FC236}">
                    <a16:creationId xmlns:a16="http://schemas.microsoft.com/office/drawing/2014/main" id="{5342940E-105A-C02D-6529-C0A919AF20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5712" y="2051026"/>
                <a:ext cx="2562244" cy="11108"/>
              </a:xfrm>
              <a:prstGeom prst="line">
                <a:avLst/>
              </a:prstGeom>
              <a:ln w="28575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0" name="Connecteur droit 69">
                <a:extLst>
                  <a:ext uri="{FF2B5EF4-FFF2-40B4-BE49-F238E27FC236}">
                    <a16:creationId xmlns:a16="http://schemas.microsoft.com/office/drawing/2014/main" id="{3843167E-8E5E-EE28-4C36-BD98FC587D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3150" y="2277616"/>
                <a:ext cx="2570408" cy="3598"/>
              </a:xfrm>
              <a:prstGeom prst="line">
                <a:avLst/>
              </a:prstGeom>
              <a:ln w="28575">
                <a:solidFill>
                  <a:srgbClr val="1A898D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2D967602-D49B-82D7-C2D3-6F0B8F298E03}"/>
                </a:ext>
              </a:extLst>
            </p:cNvPr>
            <p:cNvGrpSpPr/>
            <p:nvPr/>
          </p:nvGrpSpPr>
          <p:grpSpPr>
            <a:xfrm>
              <a:off x="4911907" y="2590949"/>
              <a:ext cx="3275195" cy="478081"/>
              <a:chOff x="4911907" y="1918550"/>
              <a:chExt cx="3275195" cy="478081"/>
            </a:xfrm>
          </p:grpSpPr>
          <p:pic>
            <p:nvPicPr>
              <p:cNvPr id="78" name="Graphique 77" descr="Utilisateur avec un remplissage uni">
                <a:extLst>
                  <a:ext uri="{FF2B5EF4-FFF2-40B4-BE49-F238E27FC236}">
                    <a16:creationId xmlns:a16="http://schemas.microsoft.com/office/drawing/2014/main" id="{5FE93EE1-7329-70E5-A5C0-83E38A48C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17574" y="191855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79" name="Graphique 78" descr="Utilisateur avec un remplissage uni">
                <a:extLst>
                  <a:ext uri="{FF2B5EF4-FFF2-40B4-BE49-F238E27FC236}">
                    <a16:creationId xmlns:a16="http://schemas.microsoft.com/office/drawing/2014/main" id="{CF473A26-751A-59A9-70FC-36145A057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317574" y="2165798"/>
                <a:ext cx="230833" cy="230833"/>
              </a:xfrm>
              <a:prstGeom prst="rect">
                <a:avLst/>
              </a:prstGeom>
            </p:spPr>
          </p:pic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36717E92-3A2A-742A-B0AC-4CBE47433980}"/>
                  </a:ext>
                </a:extLst>
              </p:cNvPr>
              <p:cNvSpPr txBox="1"/>
              <p:nvPr/>
            </p:nvSpPr>
            <p:spPr>
              <a:xfrm rot="10800000" flipV="1">
                <a:off x="4911907" y="1964552"/>
                <a:ext cx="49439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Paire 1</a:t>
                </a:r>
              </a:p>
            </p:txBody>
          </p:sp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BCE8F8AA-56D8-3CEE-0B18-44A5EAAC32FE}"/>
                  </a:ext>
                </a:extLst>
              </p:cNvPr>
              <p:cNvSpPr txBox="1"/>
              <p:nvPr/>
            </p:nvSpPr>
            <p:spPr>
              <a:xfrm rot="10800000" flipV="1">
                <a:off x="4911907" y="2192303"/>
                <a:ext cx="49439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juin 2022</a:t>
                </a:r>
              </a:p>
            </p:txBody>
          </p:sp>
          <p:cxnSp>
            <p:nvCxnSpPr>
              <p:cNvPr id="82" name="Connecteur droit 81">
                <a:extLst>
                  <a:ext uri="{FF2B5EF4-FFF2-40B4-BE49-F238E27FC236}">
                    <a16:creationId xmlns:a16="http://schemas.microsoft.com/office/drawing/2014/main" id="{3FFB04EB-8620-02A7-4164-C71E50E96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858" y="2051026"/>
                <a:ext cx="2562244" cy="13554"/>
              </a:xfrm>
              <a:prstGeom prst="line">
                <a:avLst/>
              </a:prstGeom>
              <a:ln w="28575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4" name="Connecteur droit 83">
                <a:extLst>
                  <a:ext uri="{FF2B5EF4-FFF2-40B4-BE49-F238E27FC236}">
                    <a16:creationId xmlns:a16="http://schemas.microsoft.com/office/drawing/2014/main" id="{10F91711-896D-CBF8-97C4-F409D6D81E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004" y="2277616"/>
                <a:ext cx="2562244" cy="3598"/>
              </a:xfrm>
              <a:prstGeom prst="line">
                <a:avLst/>
              </a:prstGeom>
              <a:ln w="28575">
                <a:solidFill>
                  <a:srgbClr val="1A898D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85" name="Groupe 84">
              <a:extLst>
                <a:ext uri="{FF2B5EF4-FFF2-40B4-BE49-F238E27FC236}">
                  <a16:creationId xmlns:a16="http://schemas.microsoft.com/office/drawing/2014/main" id="{B67ACDE9-BCB3-3630-4322-3B2686C7DBF0}"/>
                </a:ext>
              </a:extLst>
            </p:cNvPr>
            <p:cNvGrpSpPr/>
            <p:nvPr/>
          </p:nvGrpSpPr>
          <p:grpSpPr>
            <a:xfrm>
              <a:off x="4911907" y="3243236"/>
              <a:ext cx="3281651" cy="504586"/>
              <a:chOff x="4911907" y="1918550"/>
              <a:chExt cx="3281651" cy="504586"/>
            </a:xfrm>
          </p:grpSpPr>
          <p:pic>
            <p:nvPicPr>
              <p:cNvPr id="87" name="Graphique 86" descr="Utilisateur avec un remplissage uni">
                <a:extLst>
                  <a:ext uri="{FF2B5EF4-FFF2-40B4-BE49-F238E27FC236}">
                    <a16:creationId xmlns:a16="http://schemas.microsoft.com/office/drawing/2014/main" id="{506C7710-8C15-6D77-B199-FAE91CCBF1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17574" y="191855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88" name="Graphique 87" descr="Utilisateur avec un remplissage uni">
                <a:extLst>
                  <a:ext uri="{FF2B5EF4-FFF2-40B4-BE49-F238E27FC236}">
                    <a16:creationId xmlns:a16="http://schemas.microsoft.com/office/drawing/2014/main" id="{5D4D4D09-B717-BD98-D59C-9A5F15747F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317574" y="2165798"/>
                <a:ext cx="230833" cy="230833"/>
              </a:xfrm>
              <a:prstGeom prst="rect">
                <a:avLst/>
              </a:prstGeom>
            </p:spPr>
          </p:pic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0B3ABDC2-F6E1-B194-20E0-79ACF94EA563}"/>
                  </a:ext>
                </a:extLst>
              </p:cNvPr>
              <p:cNvSpPr txBox="1"/>
              <p:nvPr/>
            </p:nvSpPr>
            <p:spPr>
              <a:xfrm rot="10800000" flipV="1">
                <a:off x="4911907" y="1964552"/>
                <a:ext cx="49439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Paire 1</a:t>
                </a:r>
              </a:p>
            </p:txBody>
          </p:sp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3B4D775B-8BE6-BFD8-0FD8-9CB7CF65537B}"/>
                  </a:ext>
                </a:extLst>
              </p:cNvPr>
              <p:cNvSpPr txBox="1"/>
              <p:nvPr/>
            </p:nvSpPr>
            <p:spPr>
              <a:xfrm rot="10800000" flipV="1">
                <a:off x="4911907" y="2146137"/>
                <a:ext cx="494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Nov. 2022</a:t>
                </a:r>
              </a:p>
            </p:txBody>
          </p:sp>
          <p:cxnSp>
            <p:nvCxnSpPr>
              <p:cNvPr id="93" name="Connecteur droit 92">
                <a:extLst>
                  <a:ext uri="{FF2B5EF4-FFF2-40B4-BE49-F238E27FC236}">
                    <a16:creationId xmlns:a16="http://schemas.microsoft.com/office/drawing/2014/main" id="{AC842B0A-961D-D02F-BCE8-31E66A25F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4204" y="2051026"/>
                <a:ext cx="2559354" cy="0"/>
              </a:xfrm>
              <a:prstGeom prst="line">
                <a:avLst/>
              </a:prstGeom>
              <a:ln w="28575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95" name="Connecteur droit 94">
                <a:extLst>
                  <a:ext uri="{FF2B5EF4-FFF2-40B4-BE49-F238E27FC236}">
                    <a16:creationId xmlns:a16="http://schemas.microsoft.com/office/drawing/2014/main" id="{B783594C-DD3C-5F2D-7423-E5F9DF7FE5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0460" y="2277616"/>
                <a:ext cx="2558350" cy="0"/>
              </a:xfrm>
              <a:prstGeom prst="line">
                <a:avLst/>
              </a:prstGeom>
              <a:ln w="28575">
                <a:solidFill>
                  <a:srgbClr val="1A898D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8004AAD8-3BE7-5225-2C30-488F0C0F9995}"/>
                </a:ext>
              </a:extLst>
            </p:cNvPr>
            <p:cNvGrpSpPr/>
            <p:nvPr/>
          </p:nvGrpSpPr>
          <p:grpSpPr>
            <a:xfrm>
              <a:off x="5159104" y="3775206"/>
              <a:ext cx="3119681" cy="156485"/>
              <a:chOff x="5159104" y="3834531"/>
              <a:chExt cx="3119681" cy="156485"/>
            </a:xfrm>
          </p:grpSpPr>
          <p:cxnSp>
            <p:nvCxnSpPr>
              <p:cNvPr id="102" name="Connecteur droit 101">
                <a:extLst>
                  <a:ext uri="{FF2B5EF4-FFF2-40B4-BE49-F238E27FC236}">
                    <a16:creationId xmlns:a16="http://schemas.microsoft.com/office/drawing/2014/main" id="{25DAEEAC-F55D-D797-1AA3-302CB1CEDAF4}"/>
                  </a:ext>
                </a:extLst>
              </p:cNvPr>
              <p:cNvCxnSpPr/>
              <p:nvPr/>
            </p:nvCxnSpPr>
            <p:spPr>
              <a:xfrm>
                <a:off x="5159104" y="3925849"/>
                <a:ext cx="311968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Connecteur droit 104">
                <a:extLst>
                  <a:ext uri="{FF2B5EF4-FFF2-40B4-BE49-F238E27FC236}">
                    <a16:creationId xmlns:a16="http://schemas.microsoft.com/office/drawing/2014/main" id="{885AA3A1-742B-7449-3505-C705B7679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349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Connecteur droit 115">
                <a:extLst>
                  <a:ext uri="{FF2B5EF4-FFF2-40B4-BE49-F238E27FC236}">
                    <a16:creationId xmlns:a16="http://schemas.microsoft.com/office/drawing/2014/main" id="{C450F959-F4D6-F4FE-FCBB-B7BB6E2A02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0956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Connecteur droit 117">
                <a:extLst>
                  <a:ext uri="{FF2B5EF4-FFF2-40B4-BE49-F238E27FC236}">
                    <a16:creationId xmlns:a16="http://schemas.microsoft.com/office/drawing/2014/main" id="{3B3E2A07-524F-2E11-B8B5-32A540694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46564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Connecteur droit 123">
                <a:extLst>
                  <a:ext uri="{FF2B5EF4-FFF2-40B4-BE49-F238E27FC236}">
                    <a16:creationId xmlns:a16="http://schemas.microsoft.com/office/drawing/2014/main" id="{48704AF0-2484-E8F5-1BFA-D149C8BD54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172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Connecteur droit 125">
                <a:extLst>
                  <a:ext uri="{FF2B5EF4-FFF2-40B4-BE49-F238E27FC236}">
                    <a16:creationId xmlns:a16="http://schemas.microsoft.com/office/drawing/2014/main" id="{32FAD40D-6D0D-445A-897B-CBBC592F9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7779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oupe 143">
              <a:extLst>
                <a:ext uri="{FF2B5EF4-FFF2-40B4-BE49-F238E27FC236}">
                  <a16:creationId xmlns:a16="http://schemas.microsoft.com/office/drawing/2014/main" id="{0AFF7CB2-4752-9147-D95B-502747001587}"/>
                </a:ext>
              </a:extLst>
            </p:cNvPr>
            <p:cNvGrpSpPr/>
            <p:nvPr/>
          </p:nvGrpSpPr>
          <p:grpSpPr>
            <a:xfrm>
              <a:off x="5140245" y="3912516"/>
              <a:ext cx="3138540" cy="184666"/>
              <a:chOff x="5106299" y="3871903"/>
              <a:chExt cx="3138540" cy="184666"/>
            </a:xfrm>
          </p:grpSpPr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D4F0670E-342F-B508-F941-62D1FB611595}"/>
                  </a:ext>
                </a:extLst>
              </p:cNvPr>
              <p:cNvSpPr txBox="1"/>
              <p:nvPr/>
            </p:nvSpPr>
            <p:spPr>
              <a:xfrm rot="10800000" flipV="1">
                <a:off x="5106299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2021</a:t>
                </a:r>
              </a:p>
            </p:txBody>
          </p:sp>
          <p:sp>
            <p:nvSpPr>
              <p:cNvPr id="135" name="ZoneTexte 134">
                <a:extLst>
                  <a:ext uri="{FF2B5EF4-FFF2-40B4-BE49-F238E27FC236}">
                    <a16:creationId xmlns:a16="http://schemas.microsoft.com/office/drawing/2014/main" id="{88BBC304-D0E6-F6A1-489F-5FF2D24F9A3A}"/>
                  </a:ext>
                </a:extLst>
              </p:cNvPr>
              <p:cNvSpPr txBox="1"/>
              <p:nvPr/>
            </p:nvSpPr>
            <p:spPr>
              <a:xfrm rot="10800000" flipV="1">
                <a:off x="5774714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2022</a:t>
                </a:r>
              </a:p>
            </p:txBody>
          </p:sp>
          <p:sp>
            <p:nvSpPr>
              <p:cNvPr id="139" name="ZoneTexte 138">
                <a:extLst>
                  <a:ext uri="{FF2B5EF4-FFF2-40B4-BE49-F238E27FC236}">
                    <a16:creationId xmlns:a16="http://schemas.microsoft.com/office/drawing/2014/main" id="{0ABA08E6-448C-E4A2-0709-C10A8B27A70E}"/>
                  </a:ext>
                </a:extLst>
              </p:cNvPr>
              <p:cNvSpPr txBox="1"/>
              <p:nvPr/>
            </p:nvSpPr>
            <p:spPr>
              <a:xfrm rot="10800000" flipV="1">
                <a:off x="6452817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2023</a:t>
                </a:r>
              </a:p>
            </p:txBody>
          </p:sp>
          <p:sp>
            <p:nvSpPr>
              <p:cNvPr id="141" name="ZoneTexte 140">
                <a:extLst>
                  <a:ext uri="{FF2B5EF4-FFF2-40B4-BE49-F238E27FC236}">
                    <a16:creationId xmlns:a16="http://schemas.microsoft.com/office/drawing/2014/main" id="{5E4B6A09-D99D-9F65-437C-E780BE963595}"/>
                  </a:ext>
                </a:extLst>
              </p:cNvPr>
              <p:cNvSpPr txBox="1"/>
              <p:nvPr/>
            </p:nvSpPr>
            <p:spPr>
              <a:xfrm rot="10800000" flipV="1">
                <a:off x="7114576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2024</a:t>
                </a:r>
              </a:p>
            </p:txBody>
          </p:sp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8553E559-DE94-C7C1-821A-B734ABDE2F58}"/>
                  </a:ext>
                </a:extLst>
              </p:cNvPr>
              <p:cNvSpPr txBox="1"/>
              <p:nvPr/>
            </p:nvSpPr>
            <p:spPr>
              <a:xfrm rot="10800000" flipV="1">
                <a:off x="7822290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2025</a:t>
                </a:r>
              </a:p>
            </p:txBody>
          </p:sp>
        </p:grp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A12F486D-0A13-9372-A4CF-F7D27ECDED3E}"/>
                </a:ext>
              </a:extLst>
            </p:cNvPr>
            <p:cNvSpPr txBox="1"/>
            <p:nvPr/>
          </p:nvSpPr>
          <p:spPr>
            <a:xfrm rot="10800000" flipV="1">
              <a:off x="5601393" y="1792613"/>
              <a:ext cx="8370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Signatures de RCI</a:t>
              </a:r>
            </a:p>
          </p:txBody>
        </p:sp>
        <p:sp>
          <p:nvSpPr>
            <p:cNvPr id="158" name="ZoneTexte 157">
              <a:extLst>
                <a:ext uri="{FF2B5EF4-FFF2-40B4-BE49-F238E27FC236}">
                  <a16:creationId xmlns:a16="http://schemas.microsoft.com/office/drawing/2014/main" id="{5DDD1770-DDD4-4899-D85D-99D262878CEF}"/>
                </a:ext>
              </a:extLst>
            </p:cNvPr>
            <p:cNvSpPr txBox="1"/>
            <p:nvPr/>
          </p:nvSpPr>
          <p:spPr>
            <a:xfrm rot="10800000" flipV="1">
              <a:off x="6838849" y="1792612"/>
              <a:ext cx="8370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Choc </a:t>
              </a:r>
            </a:p>
          </p:txBody>
        </p:sp>
        <p:sp>
          <p:nvSpPr>
            <p:cNvPr id="161" name="ZoneTexte 160">
              <a:extLst>
                <a:ext uri="{FF2B5EF4-FFF2-40B4-BE49-F238E27FC236}">
                  <a16:creationId xmlns:a16="http://schemas.microsoft.com/office/drawing/2014/main" id="{97F289AE-8FB9-14C4-9378-E31C903A69D4}"/>
                </a:ext>
              </a:extLst>
            </p:cNvPr>
            <p:cNvSpPr txBox="1"/>
            <p:nvPr/>
          </p:nvSpPr>
          <p:spPr>
            <a:xfrm rot="10800000" flipV="1">
              <a:off x="7820455" y="1792612"/>
              <a:ext cx="5893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Fin de suivi </a:t>
              </a:r>
            </a:p>
          </p:txBody>
        </p:sp>
        <p:cxnSp>
          <p:nvCxnSpPr>
            <p:cNvPr id="164" name="Connecteur droit 163">
              <a:extLst>
                <a:ext uri="{FF2B5EF4-FFF2-40B4-BE49-F238E27FC236}">
                  <a16:creationId xmlns:a16="http://schemas.microsoft.com/office/drawing/2014/main" id="{2D201E4E-AD1D-898C-C732-527669588CD7}"/>
                </a:ext>
              </a:extLst>
            </p:cNvPr>
            <p:cNvCxnSpPr>
              <a:cxnSpLocks/>
            </p:cNvCxnSpPr>
            <p:nvPr/>
          </p:nvCxnSpPr>
          <p:spPr>
            <a:xfrm>
              <a:off x="5845252" y="2057435"/>
              <a:ext cx="0" cy="242338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eur droit 166">
              <a:extLst>
                <a:ext uri="{FF2B5EF4-FFF2-40B4-BE49-F238E27FC236}">
                  <a16:creationId xmlns:a16="http://schemas.microsoft.com/office/drawing/2014/main" id="{00F7809C-C3D8-2B74-6A18-22534C366031}"/>
                </a:ext>
              </a:extLst>
            </p:cNvPr>
            <p:cNvCxnSpPr>
              <a:cxnSpLocks/>
            </p:cNvCxnSpPr>
            <p:nvPr/>
          </p:nvCxnSpPr>
          <p:spPr>
            <a:xfrm>
              <a:off x="5972428" y="2716920"/>
              <a:ext cx="0" cy="250670"/>
            </a:xfrm>
            <a:prstGeom prst="line">
              <a:avLst/>
            </a:prstGeom>
            <a:ln w="12700">
              <a:solidFill>
                <a:srgbClr val="007C8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eur droit 169">
              <a:extLst>
                <a:ext uri="{FF2B5EF4-FFF2-40B4-BE49-F238E27FC236}">
                  <a16:creationId xmlns:a16="http://schemas.microsoft.com/office/drawing/2014/main" id="{6EE6452A-442A-6C0E-14F9-B4E45E7CEEF0}"/>
                </a:ext>
              </a:extLst>
            </p:cNvPr>
            <p:cNvCxnSpPr>
              <a:cxnSpLocks/>
            </p:cNvCxnSpPr>
            <p:nvPr/>
          </p:nvCxnSpPr>
          <p:spPr>
            <a:xfrm>
              <a:off x="6028223" y="3366693"/>
              <a:ext cx="0" cy="259970"/>
            </a:xfrm>
            <a:prstGeom prst="line">
              <a:avLst/>
            </a:prstGeom>
            <a:ln w="12700">
              <a:solidFill>
                <a:srgbClr val="007C8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4" name="Connecteur droit 243">
            <a:extLst>
              <a:ext uri="{FF2B5EF4-FFF2-40B4-BE49-F238E27FC236}">
                <a16:creationId xmlns:a16="http://schemas.microsoft.com/office/drawing/2014/main" id="{49029509-00F7-8962-0DC8-E43BC510662F}"/>
              </a:ext>
            </a:extLst>
          </p:cNvPr>
          <p:cNvCxnSpPr>
            <a:cxnSpLocks/>
          </p:cNvCxnSpPr>
          <p:nvPr/>
        </p:nvCxnSpPr>
        <p:spPr>
          <a:xfrm>
            <a:off x="9347900" y="1786028"/>
            <a:ext cx="0" cy="2012944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raphique 51" descr="Badge 4 avec un remplissage uni">
            <a:extLst>
              <a:ext uri="{FF2B5EF4-FFF2-40B4-BE49-F238E27FC236}">
                <a16:creationId xmlns:a16="http://schemas.microsoft.com/office/drawing/2014/main" id="{187146D7-EB5A-98D2-55BE-E5BEAB065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721532" y="4154000"/>
            <a:ext cx="285166" cy="285166"/>
          </a:xfrm>
          <a:prstGeom prst="rect">
            <a:avLst/>
          </a:prstGeom>
        </p:spPr>
      </p:pic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AFC3CC24-A5BE-3514-57A7-8DE6664AEE67}"/>
              </a:ext>
            </a:extLst>
          </p:cNvPr>
          <p:cNvGrpSpPr/>
          <p:nvPr/>
        </p:nvGrpSpPr>
        <p:grpSpPr>
          <a:xfrm>
            <a:off x="4906580" y="4509077"/>
            <a:ext cx="6713376" cy="463378"/>
            <a:chOff x="4885756" y="4559661"/>
            <a:chExt cx="6713376" cy="463378"/>
          </a:xfrm>
        </p:grpSpPr>
        <p:sp>
          <p:nvSpPr>
            <p:cNvPr id="62" name="Rectangle : coins arrondis 61">
              <a:extLst>
                <a:ext uri="{FF2B5EF4-FFF2-40B4-BE49-F238E27FC236}">
                  <a16:creationId xmlns:a16="http://schemas.microsoft.com/office/drawing/2014/main" id="{80B2ADAF-11BA-6FB4-A4BA-249FA90A3E0A}"/>
                </a:ext>
              </a:extLst>
            </p:cNvPr>
            <p:cNvSpPr/>
            <p:nvPr/>
          </p:nvSpPr>
          <p:spPr>
            <a:xfrm>
              <a:off x="5591192" y="4559661"/>
              <a:ext cx="5302504" cy="46337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noProof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8D21E460-E09C-ACFB-FEC9-556DE2FBCC8B}"/>
                    </a:ext>
                  </a:extLst>
                </p:cNvPr>
                <p:cNvSpPr txBox="1"/>
                <p:nvPr/>
              </p:nvSpPr>
              <p:spPr>
                <a:xfrm>
                  <a:off x="4885756" y="4599976"/>
                  <a:ext cx="6713376" cy="4066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ict</m:t>
                            </m:r>
                          </m:sub>
                        </m:sSub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fr-FR" sz="9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=−24, </m:t>
                            </m:r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≠−1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=36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ict</m:t>
                            </m:r>
                          </m:sub>
                        </m:sSub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=−24, </m:t>
                            </m:r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≠−1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=36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9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ict</m:t>
                            </m:r>
                          </m:sub>
                        </m:sSub>
                        <m:r>
                          <a:rPr lang="fr-FR" sz="9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+ </m:t>
                        </m:r>
                        <m:sSub>
                          <m:sSubPr>
                            <m:ctrl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ict</m:t>
                            </m:r>
                          </m:sub>
                        </m:sSub>
                      </m:oMath>
                    </m:oMathPara>
                  </a14:m>
                  <a:endParaRPr lang="fr-FR" sz="900" noProof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8D21E460-E09C-ACFB-FEC9-556DE2FBC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5756" y="4599976"/>
                  <a:ext cx="6713376" cy="406650"/>
                </a:xfrm>
                <a:prstGeom prst="rect">
                  <a:avLst/>
                </a:prstGeom>
                <a:blipFill>
                  <a:blip r:embed="rId15"/>
                  <a:stretch>
                    <a:fillRect t="-113433" b="-1746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ZoneTexte 55">
            <a:extLst>
              <a:ext uri="{FF2B5EF4-FFF2-40B4-BE49-F238E27FC236}">
                <a16:creationId xmlns:a16="http://schemas.microsoft.com/office/drawing/2014/main" id="{ACA83AA1-8E48-CAF3-10FA-92080243F3F3}"/>
              </a:ext>
            </a:extLst>
          </p:cNvPr>
          <p:cNvSpPr txBox="1"/>
          <p:nvPr/>
        </p:nvSpPr>
        <p:spPr>
          <a:xfrm>
            <a:off x="4818918" y="4272582"/>
            <a:ext cx="6888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ESTIMATION : RÉGRESSION EMPILÉE EN ÉTUDE D’ÉVÈNEMENT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9" name="Tableau 198">
                <a:extLst>
                  <a:ext uri="{FF2B5EF4-FFF2-40B4-BE49-F238E27FC236}">
                    <a16:creationId xmlns:a16="http://schemas.microsoft.com/office/drawing/2014/main" id="{1B7DCBE5-987F-0EC8-5D3A-0C0DE5CE7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373628"/>
                  </p:ext>
                </p:extLst>
              </p:nvPr>
            </p:nvGraphicFramePr>
            <p:xfrm>
              <a:off x="5905769" y="5024614"/>
              <a:ext cx="4738649" cy="1243164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588000">
                      <a:extLst>
                        <a:ext uri="{9D8B030D-6E8A-4147-A177-3AD203B41FA5}">
                          <a16:colId xmlns:a16="http://schemas.microsoft.com/office/drawing/2014/main" val="1001558730"/>
                        </a:ext>
                      </a:extLst>
                    </a:gridCol>
                    <a:gridCol w="4150649">
                      <a:extLst>
                        <a:ext uri="{9D8B030D-6E8A-4147-A177-3AD203B41FA5}">
                          <a16:colId xmlns:a16="http://schemas.microsoft.com/office/drawing/2014/main" val="19495639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fr-FR" sz="600" noProof="0"/>
                            <a:t>Terme</a:t>
                          </a:r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600" noProof="0"/>
                            <a:t>Signification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333751726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ict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7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Variable d’intérêt pour l’individu i appartenant à la cohorte c au mois t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167938134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Effets fixes de cohorte  c correspondant au mois de la fin de contrat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4151913421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Effets fixes individuels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2654498976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k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Capturent les évolutions temporelles communes à tous les individus à chaque distance de l’évènement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117397419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ict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Indicatrice égale à 1 lorsque l’individu est observé à k mois de la fin de contrat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3295481728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k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Capture l’effet de la signature d’une RCI k mois avant ou après la signature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68795089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kumimoji="0" lang="fr-FR" sz="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𝑅</m:t>
                                </m:r>
                                <m:sSub>
                                  <m:sSubPr>
                                    <m:ctrlPr>
                                      <a:rPr kumimoji="0" lang="fr-FR" sz="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sz="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0" lang="fr-FR" sz="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kumimoji="0" lang="fr-FR" sz="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Indique si l’individu appartient au groupe des signataires de RCI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781126749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fr-FR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fr-FR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ict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Terme d’erreur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888211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9" name="Tableau 198">
                <a:extLst>
                  <a:ext uri="{FF2B5EF4-FFF2-40B4-BE49-F238E27FC236}">
                    <a16:creationId xmlns:a16="http://schemas.microsoft.com/office/drawing/2014/main" id="{1B7DCBE5-987F-0EC8-5D3A-0C0DE5CE7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373628"/>
                  </p:ext>
                </p:extLst>
              </p:nvPr>
            </p:nvGraphicFramePr>
            <p:xfrm>
              <a:off x="5905769" y="5024614"/>
              <a:ext cx="4738649" cy="1243164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588000">
                      <a:extLst>
                        <a:ext uri="{9D8B030D-6E8A-4147-A177-3AD203B41FA5}">
                          <a16:colId xmlns:a16="http://schemas.microsoft.com/office/drawing/2014/main" val="1001558730"/>
                        </a:ext>
                      </a:extLst>
                    </a:gridCol>
                    <a:gridCol w="4150649">
                      <a:extLst>
                        <a:ext uri="{9D8B030D-6E8A-4147-A177-3AD203B41FA5}">
                          <a16:colId xmlns:a16="http://schemas.microsoft.com/office/drawing/2014/main" val="1949563943"/>
                        </a:ext>
                      </a:extLst>
                    </a:gridCol>
                  </a:tblGrid>
                  <a:tr h="121196">
                    <a:tc>
                      <a:txBody>
                        <a:bodyPr/>
                        <a:lstStyle/>
                        <a:p>
                          <a:r>
                            <a:rPr lang="fr-FR" sz="600" noProof="0"/>
                            <a:t>Terme</a:t>
                          </a:r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600" noProof="0"/>
                            <a:t>Signification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333751726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104545" r="-704124" b="-7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7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Variable d’intérêt pour l’individu i appartenant à la cohorte c au mois t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167938134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195652" r="-704124" b="-62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Effets fixes de cohorte  c correspondant au mois de la fin de contrat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4151913421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309091" r="-704124" b="-5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Effets fixes individuels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2654498976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391304" r="-704124" b="-430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Capturent les évolutions temporelles communes à tous les individus à chaque distance de l’évènement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117397419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513636" r="-704124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Indicatrice égale à 1 lorsque l’individu est observé à k mois de la fin de contrat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3295481728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586957" r="-704124" b="-23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Capture l’effet de la signature d’une RCI k mois avant ou après la signature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68795089"/>
                      </a:ext>
                    </a:extLst>
                  </a:tr>
                  <a:tr h="151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632000" r="-704124" b="-1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Indique si l’individu appartient au groupe des signataires de RCI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781126749"/>
                      </a:ext>
                    </a:extLst>
                  </a:tr>
                  <a:tr h="151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732000" r="-704124" b="-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Terme d’erreur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8882113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4" name="ZoneTexte 233">
            <a:extLst>
              <a:ext uri="{FF2B5EF4-FFF2-40B4-BE49-F238E27FC236}">
                <a16:creationId xmlns:a16="http://schemas.microsoft.com/office/drawing/2014/main" id="{F974492C-4432-F7A7-C87A-E9A093B0D6AB}"/>
              </a:ext>
            </a:extLst>
          </p:cNvPr>
          <p:cNvSpPr txBox="1"/>
          <p:nvPr/>
        </p:nvSpPr>
        <p:spPr>
          <a:xfrm rot="10800000" flipV="1">
            <a:off x="1810661" y="4471056"/>
            <a:ext cx="6458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z=0</a:t>
            </a:r>
          </a:p>
        </p:txBody>
      </p:sp>
      <p:sp>
        <p:nvSpPr>
          <p:cNvPr id="236" name="ZoneTexte 235">
            <a:extLst>
              <a:ext uri="{FF2B5EF4-FFF2-40B4-BE49-F238E27FC236}">
                <a16:creationId xmlns:a16="http://schemas.microsoft.com/office/drawing/2014/main" id="{0A178291-A6B9-52B7-05C5-ED5A81658113}"/>
              </a:ext>
            </a:extLst>
          </p:cNvPr>
          <p:cNvSpPr txBox="1"/>
          <p:nvPr/>
        </p:nvSpPr>
        <p:spPr>
          <a:xfrm rot="10800000" flipV="1">
            <a:off x="4255740" y="4471056"/>
            <a:ext cx="6458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z=1</a:t>
            </a:r>
          </a:p>
        </p:txBody>
      </p:sp>
      <p:sp>
        <p:nvSpPr>
          <p:cNvPr id="238" name="ZoneTexte 237">
            <a:extLst>
              <a:ext uri="{FF2B5EF4-FFF2-40B4-BE49-F238E27FC236}">
                <a16:creationId xmlns:a16="http://schemas.microsoft.com/office/drawing/2014/main" id="{70393129-5BA8-9EBE-C26A-E2C6E6DB643C}"/>
              </a:ext>
            </a:extLst>
          </p:cNvPr>
          <p:cNvSpPr txBox="1"/>
          <p:nvPr/>
        </p:nvSpPr>
        <p:spPr>
          <a:xfrm rot="10800000" flipV="1">
            <a:off x="1810661" y="5056976"/>
            <a:ext cx="6458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z=0</a:t>
            </a: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332FD6DB-89F8-FDFB-34F7-251BBF52CB68}"/>
              </a:ext>
            </a:extLst>
          </p:cNvPr>
          <p:cNvSpPr txBox="1"/>
          <p:nvPr/>
        </p:nvSpPr>
        <p:spPr>
          <a:xfrm rot="10800000" flipV="1">
            <a:off x="4255740" y="5068062"/>
            <a:ext cx="6458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z=1</a:t>
            </a:r>
          </a:p>
        </p:txBody>
      </p:sp>
      <p:pic>
        <p:nvPicPr>
          <p:cNvPr id="246" name="Graphique 245" descr="Utilisateur avec un remplissage uni">
            <a:extLst>
              <a:ext uri="{FF2B5EF4-FFF2-40B4-BE49-F238E27FC236}">
                <a16:creationId xmlns:a16="http://schemas.microsoft.com/office/drawing/2014/main" id="{52B9F553-0813-BF97-23EC-A61BA04DFC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87683" y="5518155"/>
            <a:ext cx="150611" cy="150611"/>
          </a:xfrm>
          <a:prstGeom prst="rect">
            <a:avLst/>
          </a:prstGeom>
        </p:spPr>
      </p:pic>
      <p:pic>
        <p:nvPicPr>
          <p:cNvPr id="248" name="Graphique 247" descr="Utilisateur avec un remplissage uni">
            <a:extLst>
              <a:ext uri="{FF2B5EF4-FFF2-40B4-BE49-F238E27FC236}">
                <a16:creationId xmlns:a16="http://schemas.microsoft.com/office/drawing/2014/main" id="{FE24BFBE-7479-574B-FB63-380A47B0F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87682" y="5669057"/>
            <a:ext cx="150611" cy="150611"/>
          </a:xfrm>
          <a:prstGeom prst="rect">
            <a:avLst/>
          </a:prstGeom>
        </p:spPr>
      </p:pic>
      <p:sp>
        <p:nvSpPr>
          <p:cNvPr id="250" name="Rectangle 249">
            <a:extLst>
              <a:ext uri="{FF2B5EF4-FFF2-40B4-BE49-F238E27FC236}">
                <a16:creationId xmlns:a16="http://schemas.microsoft.com/office/drawing/2014/main" id="{2BA9EFE2-0C47-DAD2-53ED-72517E04D5BD}"/>
              </a:ext>
            </a:extLst>
          </p:cNvPr>
          <p:cNvSpPr/>
          <p:nvPr/>
        </p:nvSpPr>
        <p:spPr>
          <a:xfrm>
            <a:off x="1094702" y="5824989"/>
            <a:ext cx="3551427" cy="321804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000" noProof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6" name="ZoneTexte 255">
            <a:extLst>
              <a:ext uri="{FF2B5EF4-FFF2-40B4-BE49-F238E27FC236}">
                <a16:creationId xmlns:a16="http://schemas.microsoft.com/office/drawing/2014/main" id="{C611D265-70B1-EF3C-6087-0CB0DEDD9512}"/>
              </a:ext>
            </a:extLst>
          </p:cNvPr>
          <p:cNvSpPr txBox="1"/>
          <p:nvPr/>
        </p:nvSpPr>
        <p:spPr>
          <a:xfrm>
            <a:off x="1065540" y="5824988"/>
            <a:ext cx="1662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92,5% </a:t>
            </a:r>
          </a:p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TRAITÉS APPARIÉS</a:t>
            </a:r>
          </a:p>
        </p:txBody>
      </p:sp>
      <p:sp>
        <p:nvSpPr>
          <p:cNvPr id="258" name="ZoneTexte 257">
            <a:extLst>
              <a:ext uri="{FF2B5EF4-FFF2-40B4-BE49-F238E27FC236}">
                <a16:creationId xmlns:a16="http://schemas.microsoft.com/office/drawing/2014/main" id="{4204C2C0-CC42-7E36-6DB3-5F8FD8C946C4}"/>
              </a:ext>
            </a:extLst>
          </p:cNvPr>
          <p:cNvSpPr txBox="1"/>
          <p:nvPr/>
        </p:nvSpPr>
        <p:spPr>
          <a:xfrm>
            <a:off x="2989148" y="5824988"/>
            <a:ext cx="1662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271246 TRAITÉS</a:t>
            </a:r>
          </a:p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SUIVIS</a:t>
            </a:r>
          </a:p>
        </p:txBody>
      </p:sp>
      <p:sp>
        <p:nvSpPr>
          <p:cNvPr id="269" name="ZoneTexte 268">
            <a:extLst>
              <a:ext uri="{FF2B5EF4-FFF2-40B4-BE49-F238E27FC236}">
                <a16:creationId xmlns:a16="http://schemas.microsoft.com/office/drawing/2014/main" id="{59EE2722-EB1D-A9DD-C14C-0C9C2B465E92}"/>
              </a:ext>
            </a:extLst>
          </p:cNvPr>
          <p:cNvSpPr txBox="1"/>
          <p:nvPr/>
        </p:nvSpPr>
        <p:spPr>
          <a:xfrm rot="10800000" flipV="1">
            <a:off x="8743732" y="1758905"/>
            <a:ext cx="55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AVANT</a:t>
            </a:r>
          </a:p>
        </p:txBody>
      </p:sp>
      <p:sp>
        <p:nvSpPr>
          <p:cNvPr id="273" name="ZoneTexte 272">
            <a:extLst>
              <a:ext uri="{FF2B5EF4-FFF2-40B4-BE49-F238E27FC236}">
                <a16:creationId xmlns:a16="http://schemas.microsoft.com/office/drawing/2014/main" id="{37071559-F002-75F0-20A0-BB0F77C060DC}"/>
              </a:ext>
            </a:extLst>
          </p:cNvPr>
          <p:cNvSpPr txBox="1"/>
          <p:nvPr/>
        </p:nvSpPr>
        <p:spPr>
          <a:xfrm rot="10800000" flipV="1">
            <a:off x="10097985" y="1745168"/>
            <a:ext cx="55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APRÈS</a:t>
            </a:r>
          </a:p>
        </p:txBody>
      </p:sp>
      <p:grpSp>
        <p:nvGrpSpPr>
          <p:cNvPr id="286" name="Groupe 285">
            <a:extLst>
              <a:ext uri="{FF2B5EF4-FFF2-40B4-BE49-F238E27FC236}">
                <a16:creationId xmlns:a16="http://schemas.microsoft.com/office/drawing/2014/main" id="{DA8AD247-0843-469A-A005-F8B431C136B3}"/>
              </a:ext>
            </a:extLst>
          </p:cNvPr>
          <p:cNvGrpSpPr/>
          <p:nvPr/>
        </p:nvGrpSpPr>
        <p:grpSpPr>
          <a:xfrm>
            <a:off x="8226729" y="1359682"/>
            <a:ext cx="3525512" cy="2739534"/>
            <a:chOff x="8165432" y="1359682"/>
            <a:chExt cx="3525512" cy="2739534"/>
          </a:xfrm>
        </p:grpSpPr>
        <p:grpSp>
          <p:nvGrpSpPr>
            <p:cNvPr id="184" name="Groupe 183">
              <a:extLst>
                <a:ext uri="{FF2B5EF4-FFF2-40B4-BE49-F238E27FC236}">
                  <a16:creationId xmlns:a16="http://schemas.microsoft.com/office/drawing/2014/main" id="{7E1BD790-E01C-6DB0-EBF6-9DD3AD0FFC17}"/>
                </a:ext>
              </a:extLst>
            </p:cNvPr>
            <p:cNvGrpSpPr/>
            <p:nvPr/>
          </p:nvGrpSpPr>
          <p:grpSpPr>
            <a:xfrm>
              <a:off x="8165432" y="1359682"/>
              <a:ext cx="3525512" cy="2739534"/>
              <a:chOff x="4788711" y="1357648"/>
              <a:chExt cx="3525512" cy="2739534"/>
            </a:xfrm>
          </p:grpSpPr>
          <p:sp>
            <p:nvSpPr>
              <p:cNvPr id="185" name="Espace réservé du texte 2">
                <a:extLst>
                  <a:ext uri="{FF2B5EF4-FFF2-40B4-BE49-F238E27FC236}">
                    <a16:creationId xmlns:a16="http://schemas.microsoft.com/office/drawing/2014/main" id="{B2DE8349-F753-F796-039D-0EA73535C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1294" y="1482429"/>
                <a:ext cx="3382929" cy="2566156"/>
              </a:xfrm>
              <a:prstGeom prst="rect">
                <a:avLst/>
              </a:prstGeom>
              <a:solidFill>
                <a:srgbClr val="E8F2E0">
                  <a:alpha val="60000"/>
                </a:srgbClr>
              </a:solidFill>
              <a:ln>
                <a:noFill/>
              </a:ln>
            </p:spPr>
            <p:txBody>
              <a:bodyPr lIns="0" tIns="0" rIns="0" bIns="0" numCol="1"/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288494"/>
                  </a:buClr>
                  <a:buFont typeface="Wingdings" pitchFamily="2" charset="2"/>
                  <a:buNone/>
                  <a:tabLst/>
                  <a:defRPr sz="1200" b="1" i="0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+mn-cs"/>
                  </a:defRPr>
                </a:lvl1pPr>
                <a:lvl2pPr marL="171450" indent="-17145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288494"/>
                  </a:buClr>
                  <a:buFont typeface="Wingdings" panose="05000000000000000000" pitchFamily="2" charset="2"/>
                  <a:buChar char="§"/>
                  <a:tabLst/>
                  <a:defRPr sz="1200" b="0" i="0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+mn-cs"/>
                  </a:defRPr>
                </a:lvl2pPr>
                <a:lvl3pPr marL="490787" indent="-17145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288494"/>
                  </a:buClr>
                  <a:buFont typeface="Courier New" panose="02070309020205020404" pitchFamily="49" charset="0"/>
                  <a:buChar char="o"/>
                  <a:tabLst/>
                  <a:defRPr sz="1200" b="0" i="0" u="none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+mn-cs"/>
                  </a:defRPr>
                </a:lvl3pPr>
                <a:lvl4pPr marL="581025" indent="141288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Cambria Math" panose="02040503050406030204" pitchFamily="18" charset="0"/>
                  <a:buChar char="⎯"/>
                  <a:tabLst/>
                  <a:defRPr sz="1200" b="0" i="0" kern="1200">
                    <a:solidFill>
                      <a:schemeClr val="tx1"/>
                    </a:solidFill>
                    <a:effectLst/>
                    <a:latin typeface="Montserrat" pitchFamily="2" charset="77"/>
                    <a:ea typeface="+mn-ea"/>
                    <a:cs typeface="+mn-cs"/>
                  </a:defRPr>
                </a:lvl4pPr>
                <a:lvl5pPr marL="799200" indent="-9000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tabLst/>
                  <a:defRPr sz="1200" b="0" i="0" strike="noStrike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b="0" noProof="0">
                    <a:highlight>
                      <a:srgbClr val="FFFF00"/>
                    </a:highlight>
                  </a:rPr>
                  <a:t>​</a:t>
                </a: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</p:txBody>
          </p:sp>
          <p:pic>
            <p:nvPicPr>
              <p:cNvPr id="186" name="Graphique 185" descr="Badge 3 avec un remplissage uni">
                <a:extLst>
                  <a:ext uri="{FF2B5EF4-FFF2-40B4-BE49-F238E27FC236}">
                    <a16:creationId xmlns:a16="http://schemas.microsoft.com/office/drawing/2014/main" id="{DB757D5C-80E5-7836-4B53-7383C92B7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4788711" y="1357648"/>
                <a:ext cx="285166" cy="285166"/>
              </a:xfrm>
              <a:prstGeom prst="rect">
                <a:avLst/>
              </a:prstGeom>
            </p:spPr>
          </p:pic>
          <p:sp>
            <p:nvSpPr>
              <p:cNvPr id="187" name="ZoneTexte 186">
                <a:extLst>
                  <a:ext uri="{FF2B5EF4-FFF2-40B4-BE49-F238E27FC236}">
                    <a16:creationId xmlns:a16="http://schemas.microsoft.com/office/drawing/2014/main" id="{D978C83D-1F2A-D306-58E8-D243DB5A15F9}"/>
                  </a:ext>
                </a:extLst>
              </p:cNvPr>
              <p:cNvSpPr txBox="1"/>
              <p:nvPr/>
            </p:nvSpPr>
            <p:spPr>
              <a:xfrm>
                <a:off x="5295349" y="1497786"/>
                <a:ext cx="289820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00" b="1" spc="-30" noProof="0">
                    <a:solidFill>
                      <a:schemeClr val="accent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TEMPS RELATIF  L’ÉVÈNEMENT</a:t>
                </a:r>
              </a:p>
            </p:txBody>
          </p:sp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44E55F89-72DD-95F7-F34A-91BA7D487513}"/>
                  </a:ext>
                </a:extLst>
              </p:cNvPr>
              <p:cNvSpPr txBox="1"/>
              <p:nvPr/>
            </p:nvSpPr>
            <p:spPr>
              <a:xfrm rot="10800000" flipV="1">
                <a:off x="4927925" y="1613088"/>
                <a:ext cx="32656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8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Mêmes chocs à différents k mais en même temps pour chaque paire</a:t>
                </a:r>
              </a:p>
            </p:txBody>
          </p:sp>
          <p:grpSp>
            <p:nvGrpSpPr>
              <p:cNvPr id="189" name="Groupe 188">
                <a:extLst>
                  <a:ext uri="{FF2B5EF4-FFF2-40B4-BE49-F238E27FC236}">
                    <a16:creationId xmlns:a16="http://schemas.microsoft.com/office/drawing/2014/main" id="{08F2E77A-F493-FF93-EE71-6413E5DED598}"/>
                  </a:ext>
                </a:extLst>
              </p:cNvPr>
              <p:cNvGrpSpPr/>
              <p:nvPr/>
            </p:nvGrpSpPr>
            <p:grpSpPr>
              <a:xfrm>
                <a:off x="4911907" y="1918550"/>
                <a:ext cx="3090011" cy="504586"/>
                <a:chOff x="4911907" y="1918550"/>
                <a:chExt cx="3090011" cy="504586"/>
              </a:xfrm>
            </p:grpSpPr>
            <p:pic>
              <p:nvPicPr>
                <p:cNvPr id="225" name="Graphique 224" descr="Utilisateur avec un remplissage uni">
                  <a:extLst>
                    <a:ext uri="{FF2B5EF4-FFF2-40B4-BE49-F238E27FC236}">
                      <a16:creationId xmlns:a16="http://schemas.microsoft.com/office/drawing/2014/main" id="{4236F7A0-05EB-16C1-5BE9-D8A12AE0D3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1918550"/>
                  <a:ext cx="230833" cy="230833"/>
                </a:xfrm>
                <a:prstGeom prst="rect">
                  <a:avLst/>
                </a:prstGeom>
              </p:spPr>
            </p:pic>
            <p:pic>
              <p:nvPicPr>
                <p:cNvPr id="226" name="Graphique 225" descr="Utilisateur avec un remplissage uni">
                  <a:extLst>
                    <a:ext uri="{FF2B5EF4-FFF2-40B4-BE49-F238E27FC236}">
                      <a16:creationId xmlns:a16="http://schemas.microsoft.com/office/drawing/2014/main" id="{8103153E-44FA-E4D5-01E5-5660302267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2165798"/>
                  <a:ext cx="230833" cy="230833"/>
                </a:xfrm>
                <a:prstGeom prst="rect">
                  <a:avLst/>
                </a:prstGeom>
              </p:spPr>
            </p:pic>
            <p:sp>
              <p:nvSpPr>
                <p:cNvPr id="227" name="ZoneTexte 226">
                  <a:extLst>
                    <a:ext uri="{FF2B5EF4-FFF2-40B4-BE49-F238E27FC236}">
                      <a16:creationId xmlns:a16="http://schemas.microsoft.com/office/drawing/2014/main" id="{D1A9CC2F-3843-5EA1-BF3D-24A3898A07EF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1964552"/>
                  <a:ext cx="494395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Paire 1</a:t>
                  </a:r>
                </a:p>
              </p:txBody>
            </p:sp>
            <p:sp>
              <p:nvSpPr>
                <p:cNvPr id="228" name="ZoneTexte 227">
                  <a:extLst>
                    <a:ext uri="{FF2B5EF4-FFF2-40B4-BE49-F238E27FC236}">
                      <a16:creationId xmlns:a16="http://schemas.microsoft.com/office/drawing/2014/main" id="{064F9A7F-B5C2-5F5E-562E-74B575584DAB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2146137"/>
                  <a:ext cx="49439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Janv. 2022</a:t>
                  </a:r>
                </a:p>
              </p:txBody>
            </p:sp>
            <p:cxnSp>
              <p:nvCxnSpPr>
                <p:cNvPr id="229" name="Connecteur droit 228">
                  <a:extLst>
                    <a:ext uri="{FF2B5EF4-FFF2-40B4-BE49-F238E27FC236}">
                      <a16:creationId xmlns:a16="http://schemas.microsoft.com/office/drawing/2014/main" id="{12D08E9F-9B54-6C82-7BB5-90DEECD81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3150" y="2051026"/>
                  <a:ext cx="2378768" cy="640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Connecteur droit 229">
                  <a:extLst>
                    <a:ext uri="{FF2B5EF4-FFF2-40B4-BE49-F238E27FC236}">
                      <a16:creationId xmlns:a16="http://schemas.microsoft.com/office/drawing/2014/main" id="{2EF3DFB6-803C-2D17-C8D6-3E5806B637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3150" y="2277616"/>
                  <a:ext cx="2378768" cy="9830"/>
                </a:xfrm>
                <a:prstGeom prst="line">
                  <a:avLst/>
                </a:prstGeom>
                <a:ln w="28575">
                  <a:solidFill>
                    <a:srgbClr val="1A898D"/>
                  </a:solidFill>
                </a:ln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e 189">
                <a:extLst>
                  <a:ext uri="{FF2B5EF4-FFF2-40B4-BE49-F238E27FC236}">
                    <a16:creationId xmlns:a16="http://schemas.microsoft.com/office/drawing/2014/main" id="{F59E740F-384F-DEEC-D197-067E17C9BD7E}"/>
                  </a:ext>
                </a:extLst>
              </p:cNvPr>
              <p:cNvGrpSpPr/>
              <p:nvPr/>
            </p:nvGrpSpPr>
            <p:grpSpPr>
              <a:xfrm>
                <a:off x="4911907" y="2590949"/>
                <a:ext cx="3090011" cy="478081"/>
                <a:chOff x="4911907" y="1918550"/>
                <a:chExt cx="3090011" cy="478081"/>
              </a:xfrm>
            </p:grpSpPr>
            <p:pic>
              <p:nvPicPr>
                <p:cNvPr id="219" name="Graphique 218" descr="Utilisateur avec un remplissage uni">
                  <a:extLst>
                    <a:ext uri="{FF2B5EF4-FFF2-40B4-BE49-F238E27FC236}">
                      <a16:creationId xmlns:a16="http://schemas.microsoft.com/office/drawing/2014/main" id="{305AB6B5-78A1-90AE-2897-B4D0E538DA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1918550"/>
                  <a:ext cx="230833" cy="230833"/>
                </a:xfrm>
                <a:prstGeom prst="rect">
                  <a:avLst/>
                </a:prstGeom>
              </p:spPr>
            </p:pic>
            <p:pic>
              <p:nvPicPr>
                <p:cNvPr id="220" name="Graphique 219" descr="Utilisateur avec un remplissage uni">
                  <a:extLst>
                    <a:ext uri="{FF2B5EF4-FFF2-40B4-BE49-F238E27FC236}">
                      <a16:creationId xmlns:a16="http://schemas.microsoft.com/office/drawing/2014/main" id="{1D572A4F-86D6-3C44-CFD8-D0A636270A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2165798"/>
                  <a:ext cx="230833" cy="230833"/>
                </a:xfrm>
                <a:prstGeom prst="rect">
                  <a:avLst/>
                </a:prstGeom>
              </p:spPr>
            </p:pic>
            <p:sp>
              <p:nvSpPr>
                <p:cNvPr id="221" name="ZoneTexte 220">
                  <a:extLst>
                    <a:ext uri="{FF2B5EF4-FFF2-40B4-BE49-F238E27FC236}">
                      <a16:creationId xmlns:a16="http://schemas.microsoft.com/office/drawing/2014/main" id="{FB69535B-CFFE-A66D-E756-77B56193C2CC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1964552"/>
                  <a:ext cx="494395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Paire 1</a:t>
                  </a:r>
                </a:p>
              </p:txBody>
            </p:sp>
            <p:sp>
              <p:nvSpPr>
                <p:cNvPr id="222" name="ZoneTexte 221">
                  <a:extLst>
                    <a:ext uri="{FF2B5EF4-FFF2-40B4-BE49-F238E27FC236}">
                      <a16:creationId xmlns:a16="http://schemas.microsoft.com/office/drawing/2014/main" id="{143444C1-D469-0FA7-BBAA-44CF5B2476E9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2192303"/>
                  <a:ext cx="49439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juin 2022</a:t>
                  </a:r>
                </a:p>
              </p:txBody>
            </p:sp>
            <p:cxnSp>
              <p:nvCxnSpPr>
                <p:cNvPr id="223" name="Connecteur droit 222">
                  <a:extLst>
                    <a:ext uri="{FF2B5EF4-FFF2-40B4-BE49-F238E27FC236}">
                      <a16:creationId xmlns:a16="http://schemas.microsoft.com/office/drawing/2014/main" id="{023F2F70-C5F3-B9D6-A37D-B0E80B26C1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23150" y="2044521"/>
                  <a:ext cx="2378768" cy="650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Connecteur droit 223">
                  <a:extLst>
                    <a:ext uri="{FF2B5EF4-FFF2-40B4-BE49-F238E27FC236}">
                      <a16:creationId xmlns:a16="http://schemas.microsoft.com/office/drawing/2014/main" id="{7637237C-C48B-CB62-4B68-B243479E29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3150" y="2277616"/>
                  <a:ext cx="2378768" cy="9000"/>
                </a:xfrm>
                <a:prstGeom prst="line">
                  <a:avLst/>
                </a:prstGeom>
                <a:ln w="28575">
                  <a:solidFill>
                    <a:srgbClr val="1A898D"/>
                  </a:solidFill>
                </a:ln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e 190">
                <a:extLst>
                  <a:ext uri="{FF2B5EF4-FFF2-40B4-BE49-F238E27FC236}">
                    <a16:creationId xmlns:a16="http://schemas.microsoft.com/office/drawing/2014/main" id="{605B3223-E7A0-A525-D13B-4A4B54F2665D}"/>
                  </a:ext>
                </a:extLst>
              </p:cNvPr>
              <p:cNvGrpSpPr/>
              <p:nvPr/>
            </p:nvGrpSpPr>
            <p:grpSpPr>
              <a:xfrm>
                <a:off x="4911907" y="3243236"/>
                <a:ext cx="3090011" cy="504586"/>
                <a:chOff x="4911907" y="1918550"/>
                <a:chExt cx="3090011" cy="504586"/>
              </a:xfrm>
            </p:grpSpPr>
            <p:pic>
              <p:nvPicPr>
                <p:cNvPr id="213" name="Graphique 212" descr="Utilisateur avec un remplissage uni">
                  <a:extLst>
                    <a:ext uri="{FF2B5EF4-FFF2-40B4-BE49-F238E27FC236}">
                      <a16:creationId xmlns:a16="http://schemas.microsoft.com/office/drawing/2014/main" id="{378CE79B-2767-AC2A-0277-AB183FAE2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1918550"/>
                  <a:ext cx="230833" cy="230833"/>
                </a:xfrm>
                <a:prstGeom prst="rect">
                  <a:avLst/>
                </a:prstGeom>
              </p:spPr>
            </p:pic>
            <p:pic>
              <p:nvPicPr>
                <p:cNvPr id="214" name="Graphique 213" descr="Utilisateur avec un remplissage uni">
                  <a:extLst>
                    <a:ext uri="{FF2B5EF4-FFF2-40B4-BE49-F238E27FC236}">
                      <a16:creationId xmlns:a16="http://schemas.microsoft.com/office/drawing/2014/main" id="{C74F800A-D6FA-2FFB-FC1A-4E9BDCF8F4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2165798"/>
                  <a:ext cx="230833" cy="230833"/>
                </a:xfrm>
                <a:prstGeom prst="rect">
                  <a:avLst/>
                </a:prstGeom>
              </p:spPr>
            </p:pic>
            <p:sp>
              <p:nvSpPr>
                <p:cNvPr id="215" name="ZoneTexte 214">
                  <a:extLst>
                    <a:ext uri="{FF2B5EF4-FFF2-40B4-BE49-F238E27FC236}">
                      <a16:creationId xmlns:a16="http://schemas.microsoft.com/office/drawing/2014/main" id="{0758A2C6-D47B-0777-278F-B029A843057C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1964552"/>
                  <a:ext cx="494395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Paire 1</a:t>
                  </a:r>
                </a:p>
              </p:txBody>
            </p:sp>
            <p:sp>
              <p:nvSpPr>
                <p:cNvPr id="216" name="ZoneTexte 215">
                  <a:extLst>
                    <a:ext uri="{FF2B5EF4-FFF2-40B4-BE49-F238E27FC236}">
                      <a16:creationId xmlns:a16="http://schemas.microsoft.com/office/drawing/2014/main" id="{09DE094E-6436-179A-AA77-C9A88912B2F2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2146137"/>
                  <a:ext cx="49439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Nov. 2022</a:t>
                  </a:r>
                </a:p>
              </p:txBody>
            </p:sp>
            <p:cxnSp>
              <p:nvCxnSpPr>
                <p:cNvPr id="217" name="Connecteur droit 216">
                  <a:extLst>
                    <a:ext uri="{FF2B5EF4-FFF2-40B4-BE49-F238E27FC236}">
                      <a16:creationId xmlns:a16="http://schemas.microsoft.com/office/drawing/2014/main" id="{53019474-C7F5-05FE-2E3D-A4DEE95EA9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23150" y="2042007"/>
                  <a:ext cx="2378768" cy="901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Connecteur droit 217">
                  <a:extLst>
                    <a:ext uri="{FF2B5EF4-FFF2-40B4-BE49-F238E27FC236}">
                      <a16:creationId xmlns:a16="http://schemas.microsoft.com/office/drawing/2014/main" id="{F4E4B417-A330-2DAC-C496-8F8B9FB0E8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3150" y="2277616"/>
                  <a:ext cx="2378768" cy="0"/>
                </a:xfrm>
                <a:prstGeom prst="line">
                  <a:avLst/>
                </a:prstGeom>
                <a:ln w="28575">
                  <a:solidFill>
                    <a:srgbClr val="1A898D"/>
                  </a:solidFill>
                </a:ln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e 192">
                <a:extLst>
                  <a:ext uri="{FF2B5EF4-FFF2-40B4-BE49-F238E27FC236}">
                    <a16:creationId xmlns:a16="http://schemas.microsoft.com/office/drawing/2014/main" id="{347655A9-DE9A-D594-6BEE-95D9CFDFF77E}"/>
                  </a:ext>
                </a:extLst>
              </p:cNvPr>
              <p:cNvGrpSpPr/>
              <p:nvPr/>
            </p:nvGrpSpPr>
            <p:grpSpPr>
              <a:xfrm>
                <a:off x="5159104" y="3775206"/>
                <a:ext cx="3119681" cy="156485"/>
                <a:chOff x="5159104" y="3834531"/>
                <a:chExt cx="3119681" cy="156485"/>
              </a:xfrm>
            </p:grpSpPr>
            <p:cxnSp>
              <p:nvCxnSpPr>
                <p:cNvPr id="207" name="Connecteur droit 206">
                  <a:extLst>
                    <a:ext uri="{FF2B5EF4-FFF2-40B4-BE49-F238E27FC236}">
                      <a16:creationId xmlns:a16="http://schemas.microsoft.com/office/drawing/2014/main" id="{1D592B14-259A-B4E3-2AB5-4BA6CE8D3776}"/>
                    </a:ext>
                  </a:extLst>
                </p:cNvPr>
                <p:cNvCxnSpPr/>
                <p:nvPr/>
              </p:nvCxnSpPr>
              <p:spPr>
                <a:xfrm>
                  <a:off x="5159104" y="3925849"/>
                  <a:ext cx="311968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Connecteur droit 207">
                  <a:extLst>
                    <a:ext uri="{FF2B5EF4-FFF2-40B4-BE49-F238E27FC236}">
                      <a16:creationId xmlns:a16="http://schemas.microsoft.com/office/drawing/2014/main" id="{E8B17910-1475-C82C-4808-57C9FF93BB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5349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Connecteur droit 208">
                  <a:extLst>
                    <a:ext uri="{FF2B5EF4-FFF2-40B4-BE49-F238E27FC236}">
                      <a16:creationId xmlns:a16="http://schemas.microsoft.com/office/drawing/2014/main" id="{00C21017-BEF1-C5D8-A440-83CD0E76EA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0956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Connecteur droit 209">
                  <a:extLst>
                    <a:ext uri="{FF2B5EF4-FFF2-40B4-BE49-F238E27FC236}">
                      <a16:creationId xmlns:a16="http://schemas.microsoft.com/office/drawing/2014/main" id="{D7F86E27-4FAC-C852-8CFE-D4259E12E4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46564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Connecteur droit 210">
                  <a:extLst>
                    <a:ext uri="{FF2B5EF4-FFF2-40B4-BE49-F238E27FC236}">
                      <a16:creationId xmlns:a16="http://schemas.microsoft.com/office/drawing/2014/main" id="{A909C03E-9A68-1133-52C2-8799A5262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2172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Connecteur droit 211">
                  <a:extLst>
                    <a:ext uri="{FF2B5EF4-FFF2-40B4-BE49-F238E27FC236}">
                      <a16:creationId xmlns:a16="http://schemas.microsoft.com/office/drawing/2014/main" id="{9CC44416-2E24-9177-B5FA-12149A46CF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7779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e 193">
                <a:extLst>
                  <a:ext uri="{FF2B5EF4-FFF2-40B4-BE49-F238E27FC236}">
                    <a16:creationId xmlns:a16="http://schemas.microsoft.com/office/drawing/2014/main" id="{630C5769-DA59-6B56-A70D-C4A1B9FCBDCB}"/>
                  </a:ext>
                </a:extLst>
              </p:cNvPr>
              <p:cNvGrpSpPr/>
              <p:nvPr/>
            </p:nvGrpSpPr>
            <p:grpSpPr>
              <a:xfrm>
                <a:off x="5140245" y="3912515"/>
                <a:ext cx="3138540" cy="184667"/>
                <a:chOff x="5106299" y="3871902"/>
                <a:chExt cx="3138540" cy="184667"/>
              </a:xfrm>
            </p:grpSpPr>
            <p:sp>
              <p:nvSpPr>
                <p:cNvPr id="202" name="ZoneTexte 201">
                  <a:extLst>
                    <a:ext uri="{FF2B5EF4-FFF2-40B4-BE49-F238E27FC236}">
                      <a16:creationId xmlns:a16="http://schemas.microsoft.com/office/drawing/2014/main" id="{0FFE057F-98B6-686F-D378-2D559522B13E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5106299" y="3871902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k-12</a:t>
                  </a:r>
                </a:p>
              </p:txBody>
            </p:sp>
            <p:sp>
              <p:nvSpPr>
                <p:cNvPr id="203" name="ZoneTexte 202">
                  <a:extLst>
                    <a:ext uri="{FF2B5EF4-FFF2-40B4-BE49-F238E27FC236}">
                      <a16:creationId xmlns:a16="http://schemas.microsoft.com/office/drawing/2014/main" id="{8AB10002-F8EA-3D58-236D-062698A05AB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5774714" y="3871902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k=0</a:t>
                  </a:r>
                </a:p>
              </p:txBody>
            </p:sp>
            <p:sp>
              <p:nvSpPr>
                <p:cNvPr id="204" name="ZoneTexte 203">
                  <a:extLst>
                    <a:ext uri="{FF2B5EF4-FFF2-40B4-BE49-F238E27FC236}">
                      <a16:creationId xmlns:a16="http://schemas.microsoft.com/office/drawing/2014/main" id="{9AF8736D-BC24-63A5-97C7-5708B66CBF20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6452817" y="3871903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k+12</a:t>
                  </a:r>
                </a:p>
              </p:txBody>
            </p:sp>
            <p:sp>
              <p:nvSpPr>
                <p:cNvPr id="205" name="ZoneTexte 204">
                  <a:extLst>
                    <a:ext uri="{FF2B5EF4-FFF2-40B4-BE49-F238E27FC236}">
                      <a16:creationId xmlns:a16="http://schemas.microsoft.com/office/drawing/2014/main" id="{2547F147-6378-4271-851C-1162E99A0888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7114576" y="3871903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k+24</a:t>
                  </a:r>
                </a:p>
              </p:txBody>
            </p:sp>
            <p:sp>
              <p:nvSpPr>
                <p:cNvPr id="206" name="ZoneTexte 205">
                  <a:extLst>
                    <a:ext uri="{FF2B5EF4-FFF2-40B4-BE49-F238E27FC236}">
                      <a16:creationId xmlns:a16="http://schemas.microsoft.com/office/drawing/2014/main" id="{B1CC35A2-9856-8D38-7A7A-50548C2BDAB1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7822290" y="3871903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k+36</a:t>
                  </a:r>
                </a:p>
              </p:txBody>
            </p:sp>
          </p:grpSp>
        </p:grp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3EF0E7D-AEF6-6D54-26CF-C493AEA66A13}"/>
                </a:ext>
              </a:extLst>
            </p:cNvPr>
            <p:cNvSpPr/>
            <p:nvPr/>
          </p:nvSpPr>
          <p:spPr>
            <a:xfrm flipH="1">
              <a:off x="8681095" y="1786381"/>
              <a:ext cx="666364" cy="2015879"/>
            </a:xfrm>
            <a:prstGeom prst="rect">
              <a:avLst/>
            </a:prstGeom>
            <a:solidFill>
              <a:srgbClr val="A6C6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BEC6037A-D57B-2710-1659-678CE423DA67}"/>
                </a:ext>
              </a:extLst>
            </p:cNvPr>
            <p:cNvSpPr/>
            <p:nvPr/>
          </p:nvSpPr>
          <p:spPr>
            <a:xfrm flipH="1">
              <a:off x="9347458" y="1786028"/>
              <a:ext cx="2040208" cy="2015879"/>
            </a:xfrm>
            <a:prstGeom prst="rect">
              <a:avLst/>
            </a:prstGeom>
            <a:solidFill>
              <a:srgbClr val="7BBB5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03360229-151F-FB41-8711-355C05DA9A92}"/>
                </a:ext>
              </a:extLst>
            </p:cNvPr>
            <p:cNvSpPr/>
            <p:nvPr/>
          </p:nvSpPr>
          <p:spPr>
            <a:xfrm>
              <a:off x="10247723" y="1960613"/>
              <a:ext cx="153081" cy="386317"/>
            </a:xfrm>
            <a:prstGeom prst="rect">
              <a:avLst/>
            </a:prstGeom>
            <a:solidFill>
              <a:srgbClr val="FF96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16D0F18D-6C42-DF0E-9CF9-988A2558379B}"/>
                </a:ext>
              </a:extLst>
            </p:cNvPr>
            <p:cNvSpPr/>
            <p:nvPr/>
          </p:nvSpPr>
          <p:spPr>
            <a:xfrm>
              <a:off x="9860921" y="2657759"/>
              <a:ext cx="153081" cy="386317"/>
            </a:xfrm>
            <a:prstGeom prst="rect">
              <a:avLst/>
            </a:prstGeom>
            <a:solidFill>
              <a:srgbClr val="FF96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70F8F8D8-7A13-98E7-9CD0-5C16F929207C}"/>
                </a:ext>
              </a:extLst>
            </p:cNvPr>
            <p:cNvSpPr/>
            <p:nvPr/>
          </p:nvSpPr>
          <p:spPr>
            <a:xfrm>
              <a:off x="10642186" y="3317925"/>
              <a:ext cx="153081" cy="386317"/>
            </a:xfrm>
            <a:prstGeom prst="rect">
              <a:avLst/>
            </a:prstGeom>
            <a:solidFill>
              <a:srgbClr val="FF96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217232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3755-9E7F-6DD0-2511-8F6338DF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0B32F70-519D-8E0A-6EFA-5EFC842212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06250" y="31904"/>
            <a:ext cx="8061749" cy="199465"/>
          </a:xfrm>
        </p:spPr>
        <p:txBody>
          <a:bodyPr/>
          <a:lstStyle/>
          <a:p>
            <a:r>
              <a:rPr lang="fr-FR" noProof="0">
                <a:solidFill>
                  <a:schemeClr val="accent3"/>
                </a:solidFill>
              </a:rPr>
              <a:t>Partie 2 : ESTIMATION CAUSALE A MOYEN-TERME – QUALITé de l'appariement</a:t>
            </a:r>
            <a:r>
              <a:rPr lang="fr-FR">
                <a:solidFill>
                  <a:schemeClr val="accent3"/>
                </a:solidFill>
              </a:rPr>
              <a:t> STATISTIQUE</a:t>
            </a:r>
            <a:r>
              <a:rPr lang="fr-FR" noProof="0">
                <a:solidFill>
                  <a:schemeClr val="accent3"/>
                </a:solidFill>
              </a:rPr>
              <a:t> </a:t>
            </a:r>
          </a:p>
          <a:p>
            <a:endParaRPr lang="fr-FR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212AC5DF-48FD-E578-FD2F-1BA113B47A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14DED4DD-39F5-D6FB-605B-A9488DEAA5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1410" y="415048"/>
            <a:ext cx="11377532" cy="350857"/>
          </a:xfrm>
        </p:spPr>
        <p:txBody>
          <a:bodyPr/>
          <a:lstStyle/>
          <a:p>
            <a:r>
              <a:rPr lang="fr-FR" sz="1600" noProof="0"/>
              <a:t>APRÈS APPARIEMENT, TRAITÉS ET TÉMOINS SONT ÉQUILIBRÉS SUR LES 217 VARIABLES</a:t>
            </a:r>
            <a:endParaRPr lang="fr-FR" sz="1600" spc="-40" noProof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90CFDDE-B184-DDCF-CD69-2B7A19376C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7697" y="669872"/>
            <a:ext cx="10886871" cy="432000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L’écart standardisé maximal passe de 0,88 à 0,04 : toutes les variables respectent le seuil de 0,1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E86BBAB4-73D5-5B20-C205-7AC90FF10B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1410" y="2152918"/>
            <a:ext cx="3590051" cy="4207933"/>
          </a:xfrm>
          <a:solidFill>
            <a:srgbClr val="FFEACC">
              <a:alpha val="3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br>
              <a:rPr lang="fr-FR" noProof="0">
                <a:highlight>
                  <a:srgbClr val="FFFF00"/>
                </a:highlight>
              </a:rPr>
            </a:br>
            <a:endParaRPr lang="fr-FR" noProof="0">
              <a:solidFill>
                <a:srgbClr val="E8F2E0"/>
              </a:solidFill>
              <a:highlight>
                <a:srgbClr val="FFFF00"/>
              </a:highlight>
            </a:endParaRP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FA8BB126-0092-4BC0-EBC6-406D10AAA0FE}"/>
              </a:ext>
            </a:extLst>
          </p:cNvPr>
          <p:cNvSpPr txBox="1">
            <a:spLocks/>
          </p:cNvSpPr>
          <p:nvPr/>
        </p:nvSpPr>
        <p:spPr>
          <a:xfrm>
            <a:off x="4537871" y="2152918"/>
            <a:ext cx="3590051" cy="4207933"/>
          </a:xfrm>
          <a:prstGeom prst="rect">
            <a:avLst/>
          </a:prstGeom>
          <a:solidFill>
            <a:srgbClr val="E8F2E0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br>
              <a:rPr lang="fr-FR" noProof="0">
                <a:highlight>
                  <a:srgbClr val="FFFF00"/>
                </a:highlight>
              </a:rPr>
            </a:br>
            <a:endParaRPr lang="fr-FR" noProof="0">
              <a:solidFill>
                <a:srgbClr val="E8F2E0"/>
              </a:solidFill>
              <a:highlight>
                <a:srgbClr val="FFFF00"/>
              </a:highlight>
            </a:endParaRP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2220274E-58DF-D425-7308-C7F60422904A}"/>
              </a:ext>
            </a:extLst>
          </p:cNvPr>
          <p:cNvSpPr txBox="1">
            <a:spLocks/>
          </p:cNvSpPr>
          <p:nvPr/>
        </p:nvSpPr>
        <p:spPr>
          <a:xfrm>
            <a:off x="8328597" y="2152918"/>
            <a:ext cx="3590051" cy="4207933"/>
          </a:xfrm>
          <a:prstGeom prst="rect">
            <a:avLst/>
          </a:prstGeom>
          <a:solidFill>
            <a:srgbClr val="F2F8F9">
              <a:alpha val="4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br>
              <a:rPr lang="fr-FR" noProof="0">
                <a:highlight>
                  <a:srgbClr val="FFFF00"/>
                </a:highlight>
              </a:rPr>
            </a:br>
            <a:endParaRPr lang="fr-FR" noProof="0">
              <a:solidFill>
                <a:srgbClr val="E8F2E0"/>
              </a:solidFill>
              <a:highlight>
                <a:srgbClr val="FFFF00"/>
              </a:highlight>
            </a:endParaRPr>
          </a:p>
        </p:txBody>
      </p:sp>
      <p:pic>
        <p:nvPicPr>
          <p:cNvPr id="17" name="Graphique 16" descr="Badge 1 contour">
            <a:extLst>
              <a:ext uri="{FF2B5EF4-FFF2-40B4-BE49-F238E27FC236}">
                <a16:creationId xmlns:a16="http://schemas.microsoft.com/office/drawing/2014/main" id="{ED423FC2-3047-6BDC-A6B0-6C91B42CB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826" y="2152918"/>
            <a:ext cx="432000" cy="43200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A6795517-FC24-73F1-B05E-F753D87DCBB7}"/>
              </a:ext>
            </a:extLst>
          </p:cNvPr>
          <p:cNvSpPr txBox="1"/>
          <p:nvPr/>
        </p:nvSpPr>
        <p:spPr>
          <a:xfrm>
            <a:off x="1137331" y="2241555"/>
            <a:ext cx="289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 SCORES QUI SE SUPEROPOSENT 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0E5FDE2-75B8-0328-015B-3A75B9B89A5B}"/>
              </a:ext>
            </a:extLst>
          </p:cNvPr>
          <p:cNvSpPr txBox="1"/>
          <p:nvPr/>
        </p:nvSpPr>
        <p:spPr>
          <a:xfrm rot="10800000" flipV="1">
            <a:off x="944694" y="2569084"/>
            <a:ext cx="32656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Densité du score de propension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6030EF5-4DCC-C21E-CDE1-A97B572D60FD}"/>
              </a:ext>
            </a:extLst>
          </p:cNvPr>
          <p:cNvSpPr txBox="1"/>
          <p:nvPr/>
        </p:nvSpPr>
        <p:spPr>
          <a:xfrm>
            <a:off x="4888488" y="2241555"/>
            <a:ext cx="289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 DÉSÉQUILIBRES INITIAUX CORRIGÉS</a:t>
            </a:r>
            <a:endParaRPr lang="fr-FR" sz="1000" b="1" spc="-30" noProof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AE7781B-42F1-5286-98E7-7AD13978DB60}"/>
              </a:ext>
            </a:extLst>
          </p:cNvPr>
          <p:cNvSpPr txBox="1"/>
          <p:nvPr/>
        </p:nvSpPr>
        <p:spPr>
          <a:xfrm>
            <a:off x="8639645" y="2241555"/>
            <a:ext cx="289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PRINCIPAUX ÉCARTS AVANT/APRÈS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7808EAD-073C-616C-26DB-5FBEC47B3CAC}"/>
              </a:ext>
            </a:extLst>
          </p:cNvPr>
          <p:cNvSpPr txBox="1"/>
          <p:nvPr/>
        </p:nvSpPr>
        <p:spPr>
          <a:xfrm rot="10800000" flipV="1">
            <a:off x="4588809" y="2577223"/>
            <a:ext cx="348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Les 15 variables les plus déséquilibrées avant appariement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E38525E-4877-2B56-EBAD-09F009AF33EC}"/>
              </a:ext>
            </a:extLst>
          </p:cNvPr>
          <p:cNvSpPr txBox="1"/>
          <p:nvPr/>
        </p:nvSpPr>
        <p:spPr>
          <a:xfrm rot="10800000" flipV="1">
            <a:off x="8344662" y="2576413"/>
            <a:ext cx="348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Moyenne des traités et des témoins, et SMD</a:t>
            </a:r>
          </a:p>
        </p:txBody>
      </p:sp>
      <p:pic>
        <p:nvPicPr>
          <p:cNvPr id="38" name="Image 37" descr="Badge 3 contour">
            <a:extLst>
              <a:ext uri="{FF2B5EF4-FFF2-40B4-BE49-F238E27FC236}">
                <a16:creationId xmlns:a16="http://schemas.microsoft.com/office/drawing/2014/main" id="{EB8504C4-747B-80E3-ADDC-305F1E8CB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96052" y="2172704"/>
            <a:ext cx="432854" cy="432854"/>
          </a:xfrm>
          <a:prstGeom prst="rect">
            <a:avLst/>
          </a:prstGeom>
        </p:spPr>
      </p:pic>
      <p:pic>
        <p:nvPicPr>
          <p:cNvPr id="40" name="Image 39" descr="Badge contour">
            <a:extLst>
              <a:ext uri="{FF2B5EF4-FFF2-40B4-BE49-F238E27FC236}">
                <a16:creationId xmlns:a16="http://schemas.microsoft.com/office/drawing/2014/main" id="{305FA58D-3FB0-9324-BFFF-C020020F9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60791" y="2172704"/>
            <a:ext cx="432854" cy="432854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9B7441D5-7862-2F37-1F12-3FB3E7849CE3}"/>
              </a:ext>
            </a:extLst>
          </p:cNvPr>
          <p:cNvGrpSpPr/>
          <p:nvPr/>
        </p:nvGrpSpPr>
        <p:grpSpPr>
          <a:xfrm>
            <a:off x="826173" y="1064530"/>
            <a:ext cx="10972800" cy="868680"/>
            <a:chOff x="960120" y="1280160"/>
            <a:chExt cx="10972800" cy="868680"/>
          </a:xfrm>
        </p:grpSpPr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3739B192-18E6-4F7B-6F1B-616FDDBD354A}"/>
                </a:ext>
              </a:extLst>
            </p:cNvPr>
            <p:cNvSpPr/>
            <p:nvPr/>
          </p:nvSpPr>
          <p:spPr>
            <a:xfrm>
              <a:off x="960120" y="1280160"/>
              <a:ext cx="260604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12700">
              <a:solidFill>
                <a:srgbClr val="A0A6A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50A00115-3396-9C1C-39E4-097E9192E09D}"/>
                </a:ext>
              </a:extLst>
            </p:cNvPr>
            <p:cNvSpPr txBox="1"/>
            <p:nvPr/>
          </p:nvSpPr>
          <p:spPr>
            <a:xfrm>
              <a:off x="960120" y="1325880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VARIABLES D'APPARIEMENT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94EAD564-FF00-D369-9DA8-B9DDE91CC74B}"/>
                </a:ext>
              </a:extLst>
            </p:cNvPr>
            <p:cNvSpPr txBox="1"/>
            <p:nvPr/>
          </p:nvSpPr>
          <p:spPr>
            <a:xfrm>
              <a:off x="960120" y="1554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87A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217</a:t>
              </a:r>
              <a:endParaRPr lang="en-US" sz="2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F35723A5-BDC8-72D6-EE9D-722D7DACA033}"/>
                </a:ext>
              </a:extLst>
            </p:cNvPr>
            <p:cNvSpPr txBox="1"/>
            <p:nvPr/>
          </p:nvSpPr>
          <p:spPr>
            <a:xfrm>
              <a:off x="960120" y="190195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sur 24 mois d'historique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8554D199-EA96-BFAA-84E6-072828FFE840}"/>
                </a:ext>
              </a:extLst>
            </p:cNvPr>
            <p:cNvSpPr/>
            <p:nvPr/>
          </p:nvSpPr>
          <p:spPr>
            <a:xfrm>
              <a:off x="3749040" y="1280160"/>
              <a:ext cx="260604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12700">
              <a:solidFill>
                <a:srgbClr val="A0A6A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EF589B76-2E97-F6E7-4F37-CB0DECB6E28A}"/>
                </a:ext>
              </a:extLst>
            </p:cNvPr>
            <p:cNvSpPr txBox="1"/>
            <p:nvPr/>
          </p:nvSpPr>
          <p:spPr>
            <a:xfrm>
              <a:off x="3749040" y="1325880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|SMD| &lt; 0,1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9D68E320-2F2C-E9CF-0A59-D53DEA93EB3F}"/>
                </a:ext>
              </a:extLst>
            </p:cNvPr>
            <p:cNvSpPr txBox="1"/>
            <p:nvPr/>
          </p:nvSpPr>
          <p:spPr>
            <a:xfrm>
              <a:off x="3749040" y="1554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87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100 %</a:t>
              </a:r>
              <a:endParaRPr lang="en-US" sz="220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0761A2DF-C571-6E90-268B-B0333E0DBD5C}"/>
                </a:ext>
              </a:extLst>
            </p:cNvPr>
            <p:cNvSpPr txBox="1"/>
            <p:nvPr/>
          </p:nvSpPr>
          <p:spPr>
            <a:xfrm>
              <a:off x="3749040" y="190195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contre 71 % avant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54B1D2D1-9396-2D6B-7A08-2AE53423572E}"/>
                </a:ext>
              </a:extLst>
            </p:cNvPr>
            <p:cNvSpPr/>
            <p:nvPr/>
          </p:nvSpPr>
          <p:spPr>
            <a:xfrm>
              <a:off x="6537960" y="1280160"/>
              <a:ext cx="260604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12700">
              <a:solidFill>
                <a:srgbClr val="A0A6A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1EECE06A-D514-7BDA-4395-A5D8E13BA8A7}"/>
                </a:ext>
              </a:extLst>
            </p:cNvPr>
            <p:cNvSpPr txBox="1"/>
            <p:nvPr/>
          </p:nvSpPr>
          <p:spPr>
            <a:xfrm>
              <a:off x="6537960" y="1325880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|SMD| MAXIMAL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771AEE0F-C415-ADCE-2700-CA53D4F49D1E}"/>
                </a:ext>
              </a:extLst>
            </p:cNvPr>
            <p:cNvSpPr txBox="1"/>
            <p:nvPr/>
          </p:nvSpPr>
          <p:spPr>
            <a:xfrm>
              <a:off x="6537960" y="1554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87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0,04</a:t>
              </a:r>
              <a:endParaRPr lang="en-US" sz="2200"/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543EFDBB-AB02-B0D1-EACD-CF8731B13A85}"/>
                </a:ext>
              </a:extLst>
            </p:cNvPr>
            <p:cNvSpPr txBox="1"/>
            <p:nvPr/>
          </p:nvSpPr>
          <p:spPr>
            <a:xfrm>
              <a:off x="6537960" y="190195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contre 0,88 avant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F8C9070C-1C86-CF63-F1EA-B8B8E13E33B1}"/>
                </a:ext>
              </a:extLst>
            </p:cNvPr>
            <p:cNvSpPr/>
            <p:nvPr/>
          </p:nvSpPr>
          <p:spPr>
            <a:xfrm>
              <a:off x="9326880" y="1280160"/>
              <a:ext cx="260604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12700">
              <a:solidFill>
                <a:srgbClr val="A0A6A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2994A764-88AA-FA0E-CD5C-134D9D1D7B71}"/>
                </a:ext>
              </a:extLst>
            </p:cNvPr>
            <p:cNvSpPr txBox="1"/>
            <p:nvPr/>
          </p:nvSpPr>
          <p:spPr>
            <a:xfrm>
              <a:off x="9326880" y="1325880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RATIO DE VARIANCE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65171A66-1945-90D2-5737-1F1F17F4D282}"/>
                </a:ext>
              </a:extLst>
            </p:cNvPr>
            <p:cNvSpPr txBox="1"/>
            <p:nvPr/>
          </p:nvSpPr>
          <p:spPr>
            <a:xfrm>
              <a:off x="9326880" y="1554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87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1,01</a:t>
              </a:r>
              <a:endParaRPr lang="en-US" sz="2200"/>
            </a:p>
          </p:txBody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AFD122D9-8CCC-C4EA-8097-8141A3EE674A}"/>
                </a:ext>
              </a:extLst>
            </p:cNvPr>
            <p:cNvSpPr txBox="1"/>
            <p:nvPr/>
          </p:nvSpPr>
          <p:spPr>
            <a:xfrm>
              <a:off x="9326880" y="190195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médiane, idéal = 1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35" name="Image 0" descr="densite_pscore_corrige.png">
            <a:extLst>
              <a:ext uri="{FF2B5EF4-FFF2-40B4-BE49-F238E27FC236}">
                <a16:creationId xmlns:a16="http://schemas.microsoft.com/office/drawing/2014/main" id="{885E3A2F-D1AD-78DF-B9C4-4BDE77F94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255" y="2850346"/>
            <a:ext cx="2880360" cy="2807208"/>
          </a:xfrm>
          <a:prstGeom prst="rect">
            <a:avLst/>
          </a:prstGeom>
        </p:spPr>
      </p:pic>
      <p:pic>
        <p:nvPicPr>
          <p:cNvPr id="39" name="Image 1" descr="love_plot_corrige.png">
            <a:extLst>
              <a:ext uri="{FF2B5EF4-FFF2-40B4-BE49-F238E27FC236}">
                <a16:creationId xmlns:a16="http://schemas.microsoft.com/office/drawing/2014/main" id="{857B7C2F-FEC2-91EE-B535-A1D8CF956C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270" y="2862012"/>
            <a:ext cx="3141253" cy="2705667"/>
          </a:xfrm>
          <a:prstGeom prst="rect">
            <a:avLst/>
          </a:prstGeom>
        </p:spPr>
      </p:pic>
      <p:graphicFrame>
        <p:nvGraphicFramePr>
          <p:cNvPr id="42" name="Table 0">
            <a:extLst>
              <a:ext uri="{FF2B5EF4-FFF2-40B4-BE49-F238E27FC236}">
                <a16:creationId xmlns:a16="http://schemas.microsoft.com/office/drawing/2014/main" id="{4EE4D032-E096-BEFB-F00A-DD12086C2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446592"/>
              </p:ext>
            </p:extLst>
          </p:nvPr>
        </p:nvGraphicFramePr>
        <p:xfrm>
          <a:off x="8340542" y="2958513"/>
          <a:ext cx="3566160" cy="216255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Variable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RCI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Témoins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avant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SMD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avant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Témoins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après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SMD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après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Jours en CDI (m-1)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29,1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23,8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0,88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28,8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0,03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Secteur inconnu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1,6 %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8,4 %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−0,54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2,3 %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−0,04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Diplôme &gt; bac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42,2 %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27,8 %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0,29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37,4 %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Diplôme &lt; bac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38,3 %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52,1 %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−0,29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42,2 %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0,00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Intérim (m-3)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0,05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0,34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−0,24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0,07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−0,01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Cadre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23,3 %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14,4 %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0,21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20,3 %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Âge (années)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39,1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39,9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−0,06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39,5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−0,01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Text 37">
            <a:extLst>
              <a:ext uri="{FF2B5EF4-FFF2-40B4-BE49-F238E27FC236}">
                <a16:creationId xmlns:a16="http://schemas.microsoft.com/office/drawing/2014/main" id="{8F4B4D42-8E2F-8823-EB13-D395DFC5126C}"/>
              </a:ext>
            </a:extLst>
          </p:cNvPr>
          <p:cNvSpPr txBox="1"/>
          <p:nvPr/>
        </p:nvSpPr>
        <p:spPr>
          <a:xfrm>
            <a:off x="8385033" y="5064759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traités appariés (92,5 % des RCI) sont un peu moins diplômés que l'ensemble des RCI : l'effet est estimé sur le support commun.</a:t>
            </a:r>
            <a:endParaRPr lang="en-US" sz="850"/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73E472E4-A5F3-A369-703A-A3237898DE9D}"/>
              </a:ext>
            </a:extLst>
          </p:cNvPr>
          <p:cNvSpPr/>
          <p:nvPr/>
        </p:nvSpPr>
        <p:spPr>
          <a:xfrm>
            <a:off x="1150500" y="2850346"/>
            <a:ext cx="2871869" cy="2807208"/>
          </a:xfrm>
          <a:prstGeom prst="rect">
            <a:avLst/>
          </a:prstGeom>
          <a:noFill/>
          <a:ln w="12700">
            <a:solidFill>
              <a:srgbClr val="FFE8C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59A57B18-32DF-0FE1-E866-81802D04DFDE}"/>
              </a:ext>
            </a:extLst>
          </p:cNvPr>
          <p:cNvSpPr/>
          <p:nvPr/>
        </p:nvSpPr>
        <p:spPr>
          <a:xfrm>
            <a:off x="4762270" y="2850346"/>
            <a:ext cx="3141253" cy="2717333"/>
          </a:xfrm>
          <a:prstGeom prst="rect">
            <a:avLst/>
          </a:prstGeom>
          <a:noFill/>
          <a:ln w="12700">
            <a:solidFill>
              <a:srgbClr val="E5F1DD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942135D-3726-6E5A-6769-15446762E7D2}"/>
              </a:ext>
            </a:extLst>
          </p:cNvPr>
          <p:cNvSpPr/>
          <p:nvPr/>
        </p:nvSpPr>
        <p:spPr>
          <a:xfrm>
            <a:off x="791410" y="5747750"/>
            <a:ext cx="3590051" cy="498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AC5BD4FA-64B3-68CF-5FCF-8642A5D4FEA3}"/>
              </a:ext>
            </a:extLst>
          </p:cNvPr>
          <p:cNvSpPr txBox="1"/>
          <p:nvPr/>
        </p:nvSpPr>
        <p:spPr>
          <a:xfrm>
            <a:off x="848679" y="5812288"/>
            <a:ext cx="347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Pour chaque signataire de RCI, il existe un sortant de cdi qui avait les mêmes chances de signer une rupture conventionnelle.</a:t>
            </a:r>
            <a:endParaRPr lang="fr-FR" sz="900" b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2C9537C-F92F-994C-CA54-0FD5EB2B3507}"/>
              </a:ext>
            </a:extLst>
          </p:cNvPr>
          <p:cNvSpPr/>
          <p:nvPr/>
        </p:nvSpPr>
        <p:spPr>
          <a:xfrm>
            <a:off x="4522642" y="5747750"/>
            <a:ext cx="3605280" cy="498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CDD25B5-EA98-A1BE-D200-0602CCB3B595}"/>
              </a:ext>
            </a:extLst>
          </p:cNvPr>
          <p:cNvSpPr txBox="1"/>
          <p:nvPr/>
        </p:nvSpPr>
        <p:spPr>
          <a:xfrm>
            <a:off x="4595139" y="5747750"/>
            <a:ext cx="34755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>
                <a:solidFill>
                  <a:schemeClr val="accent5"/>
                </a:solidFill>
              </a:rPr>
              <a:t>Le SMD mesure l'écart entre RCI et témoins sur une variable, en tenant compte de sa dispersion : sous 0,1, la différence est trop faible pour fausser la comparaison.</a:t>
            </a:r>
            <a:endParaRPr lang="fr-FR" sz="900" b="1" spc="-30" noProof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5EE0104-C454-6490-BF93-53EB1433AEE6}"/>
              </a:ext>
            </a:extLst>
          </p:cNvPr>
          <p:cNvSpPr/>
          <p:nvPr/>
        </p:nvSpPr>
        <p:spPr>
          <a:xfrm>
            <a:off x="8316651" y="5747749"/>
            <a:ext cx="3590051" cy="498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4131004-0A45-A431-4DA5-92BEB2C6E409}"/>
              </a:ext>
            </a:extLst>
          </p:cNvPr>
          <p:cNvSpPr txBox="1"/>
          <p:nvPr/>
        </p:nvSpPr>
        <p:spPr>
          <a:xfrm>
            <a:off x="8385865" y="5753285"/>
            <a:ext cx="34755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>
                <a:solidFill>
                  <a:schemeClr val="accent3"/>
                </a:solidFill>
              </a:rPr>
              <a:t>Avant appariement, les RCI diffèrent nettement des autres sortants de CDI ; après, leurs témoins leur ressemblent sur l'historique d'emploi, le diplôme et la qualification.</a:t>
            </a:r>
            <a:endParaRPr lang="fr-FR" sz="900" b="1" spc="-30" noProof="0">
              <a:solidFill>
                <a:schemeClr val="accent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621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333D6-8055-B182-48A8-44F37280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49BB094-2BE2-D8AD-02B0-244DD93D41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99945" y="133613"/>
            <a:ext cx="8061749" cy="199465"/>
          </a:xfrm>
        </p:spPr>
        <p:txBody>
          <a:bodyPr/>
          <a:lstStyle/>
          <a:p>
            <a:r>
              <a:rPr lang="fr-FR"/>
              <a:t>ESTIMATION CAUSALE À MOYEN TERME – EMPLOI SALARIÉ</a:t>
            </a:r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F847BA-43F7-ACF0-DA4E-E3057AF7E1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4467" y="1455046"/>
            <a:ext cx="7416949" cy="3878954"/>
          </a:xfrm>
          <a:solidFill>
            <a:srgbClr val="E6F2F2">
              <a:alpha val="5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  <a:p>
            <a:r>
              <a:rPr lang="fr-FR" b="0" noProof="0">
                <a:solidFill>
                  <a:srgbClr val="E8F2E0"/>
                </a:solidFill>
              </a:rPr>
              <a:t>S   FFF</a:t>
            </a:r>
            <a:endParaRPr lang="fr-FR" b="0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3EEB87A2-3E95-70A5-230E-4D3E82C9B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6B88813-B090-D9CC-D9F2-28514F40AD9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7783" y="591269"/>
            <a:ext cx="11110569" cy="432000"/>
          </a:xfrm>
        </p:spPr>
        <p:txBody>
          <a:bodyPr/>
          <a:lstStyle/>
          <a:p>
            <a:r>
              <a:rPr lang="fr-FR" sz="1600" spc="-40"/>
              <a:t>À PROFILS COMPARABLES, UN ÉCART D'EMPLOI SALARIÉ LIMITÉ, QUI SE RÉSORBE EN DEUX ANS ET DEMI</a:t>
            </a:r>
            <a:endParaRPr lang="fr-FR" sz="1600" spc="-40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38A2B85-204D-655A-A70C-8F12EA016E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225" y="828168"/>
            <a:ext cx="10967748" cy="196512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−1,8 point en moyenne la première année, puis plus d'écart significatif avec les témoins appariés dès 30 mois</a:t>
            </a:r>
          </a:p>
        </p:txBody>
      </p:sp>
      <p:pic>
        <p:nvPicPr>
          <p:cNvPr id="5" name="Graphique 4" descr="Badge 1 avec un remplissage uni">
            <a:extLst>
              <a:ext uri="{FF2B5EF4-FFF2-40B4-BE49-F238E27FC236}">
                <a16:creationId xmlns:a16="http://schemas.microsoft.com/office/drawing/2014/main" id="{3F6BEB0F-3217-55DD-2ADF-83CE6824D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3719" y="1455046"/>
            <a:ext cx="285166" cy="28516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69E1F82-66A4-8277-349E-A1F68D8355B5}"/>
              </a:ext>
            </a:extLst>
          </p:cNvPr>
          <p:cNvSpPr txBox="1"/>
          <p:nvPr/>
        </p:nvSpPr>
        <p:spPr>
          <a:xfrm>
            <a:off x="1479175" y="1474518"/>
            <a:ext cx="60875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ÉTUDE D’ÉVÈNEMENTS : EFFET MOIS PAR MOIS DE LA RCI SUR LA PRÉSENCE EN EMPLOI SALARIÉ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5DF558A1-419D-7299-2995-8F4BB4A1F560}"/>
              </a:ext>
            </a:extLst>
          </p:cNvPr>
          <p:cNvSpPr txBox="1">
            <a:spLocks/>
          </p:cNvSpPr>
          <p:nvPr/>
        </p:nvSpPr>
        <p:spPr>
          <a:xfrm>
            <a:off x="8347905" y="1455046"/>
            <a:ext cx="3793471" cy="3878954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grpSp>
        <p:nvGrpSpPr>
          <p:cNvPr id="141" name="Groupe 140">
            <a:extLst>
              <a:ext uri="{FF2B5EF4-FFF2-40B4-BE49-F238E27FC236}">
                <a16:creationId xmlns:a16="http://schemas.microsoft.com/office/drawing/2014/main" id="{F7372C61-348F-6CB7-1B33-2B5AF2D4FFA6}"/>
              </a:ext>
            </a:extLst>
          </p:cNvPr>
          <p:cNvGrpSpPr/>
          <p:nvPr/>
        </p:nvGrpSpPr>
        <p:grpSpPr>
          <a:xfrm>
            <a:off x="1254028" y="1747441"/>
            <a:ext cx="6537826" cy="3167142"/>
            <a:chOff x="1589392" y="1863322"/>
            <a:chExt cx="6537826" cy="3167142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097C5B14-F5C2-9B42-8CE3-37BCF25FE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9392" y="1863322"/>
              <a:ext cx="5933017" cy="316714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D9F8EE-7271-55B7-CCA0-0E0FE64CB787}"/>
                </a:ext>
              </a:extLst>
            </p:cNvPr>
            <p:cNvSpPr/>
            <p:nvPr/>
          </p:nvSpPr>
          <p:spPr>
            <a:xfrm>
              <a:off x="4258734" y="1962100"/>
              <a:ext cx="1007534" cy="2737555"/>
            </a:xfrm>
            <a:prstGeom prst="rect">
              <a:avLst/>
            </a:prstGeom>
            <a:solidFill>
              <a:srgbClr val="FF96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CBBDA7D0-E6FB-068C-B4E5-9E88654B41FB}"/>
                </a:ext>
              </a:extLst>
            </p:cNvPr>
            <p:cNvCxnSpPr>
              <a:cxnSpLocks/>
            </p:cNvCxnSpPr>
            <p:nvPr/>
          </p:nvCxnSpPr>
          <p:spPr>
            <a:xfrm>
              <a:off x="3987799" y="4056755"/>
              <a:ext cx="410411" cy="3374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BFD09B45-5F3F-9D9D-C072-CB5704536A01}"/>
                </a:ext>
              </a:extLst>
            </p:cNvPr>
            <p:cNvSpPr/>
            <p:nvPr/>
          </p:nvSpPr>
          <p:spPr>
            <a:xfrm>
              <a:off x="2743200" y="3856506"/>
              <a:ext cx="1244599" cy="388884"/>
            </a:xfrm>
            <a:prstGeom prst="roundRect">
              <a:avLst/>
            </a:prstGeom>
            <a:noFill/>
            <a:ln>
              <a:solidFill>
                <a:srgbClr val="FF9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EC82E10E-DCCD-8235-7274-67D76B09F9E7}"/>
                </a:ext>
              </a:extLst>
            </p:cNvPr>
            <p:cNvSpPr txBox="1"/>
            <p:nvPr/>
          </p:nvSpPr>
          <p:spPr>
            <a:xfrm>
              <a:off x="1932403" y="3860679"/>
              <a:ext cx="28661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b="1" spc="-3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CREUX : -2,4  points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96FA640-3BE6-FC72-4B6C-C9981A3D600A}"/>
                </a:ext>
              </a:extLst>
            </p:cNvPr>
            <p:cNvSpPr txBox="1"/>
            <p:nvPr/>
          </p:nvSpPr>
          <p:spPr>
            <a:xfrm>
              <a:off x="2424644" y="4010045"/>
              <a:ext cx="183409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spc="-30" noProof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 MOIS APRÈS LA RUPTURE</a:t>
              </a: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4413A6CB-0931-87EE-C22F-F375BA70F718}"/>
                </a:ext>
              </a:extLst>
            </p:cNvPr>
            <p:cNvSpPr txBox="1"/>
            <p:nvPr/>
          </p:nvSpPr>
          <p:spPr>
            <a:xfrm>
              <a:off x="2039685" y="2824872"/>
              <a:ext cx="60875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RATTRAPAGE DÈS 5 MOIS</a:t>
              </a:r>
            </a:p>
          </p:txBody>
        </p: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4E471F11-67DA-9C9E-D703-D34B9BDAA7EA}"/>
                </a:ext>
              </a:extLst>
            </p:cNvPr>
            <p:cNvCxnSpPr/>
            <p:nvPr/>
          </p:nvCxnSpPr>
          <p:spPr>
            <a:xfrm>
              <a:off x="6697133" y="2472267"/>
              <a:ext cx="0" cy="1578681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18459E78-4E46-3482-C980-E989D4DAFBD8}"/>
                </a:ext>
              </a:extLst>
            </p:cNvPr>
            <p:cNvSpPr/>
            <p:nvPr/>
          </p:nvSpPr>
          <p:spPr>
            <a:xfrm>
              <a:off x="6074833" y="4079806"/>
              <a:ext cx="1244599" cy="388884"/>
            </a:xfrm>
            <a:prstGeom prst="roundRect">
              <a:avLst/>
            </a:prstGeom>
            <a:noFill/>
            <a:ln>
              <a:solidFill>
                <a:srgbClr val="7BBB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6E6E25D8-7A80-33FC-03DC-CFB03808728E}"/>
                </a:ext>
              </a:extLst>
            </p:cNvPr>
            <p:cNvSpPr txBox="1"/>
            <p:nvPr/>
          </p:nvSpPr>
          <p:spPr>
            <a:xfrm>
              <a:off x="5261027" y="4059810"/>
              <a:ext cx="28661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ÉCART SE RÉSORBE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0E0E9078-1828-4F4B-EF5D-807332CE700C}"/>
                </a:ext>
              </a:extLst>
            </p:cNvPr>
            <p:cNvSpPr txBox="1"/>
            <p:nvPr/>
          </p:nvSpPr>
          <p:spPr>
            <a:xfrm>
              <a:off x="5773377" y="4224113"/>
              <a:ext cx="183409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spc="-30" noProof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À PARTIR DE 30 MOIS</a:t>
              </a:r>
            </a:p>
          </p:txBody>
        </p:sp>
      </p:grpSp>
      <p:pic>
        <p:nvPicPr>
          <p:cNvPr id="41" name="Graphique 40" descr="Badge avec un remplissage uni">
            <a:extLst>
              <a:ext uri="{FF2B5EF4-FFF2-40B4-BE49-F238E27FC236}">
                <a16:creationId xmlns:a16="http://schemas.microsoft.com/office/drawing/2014/main" id="{5ADABEF0-EB47-ECB1-7C82-EC7189982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86300" y="1474518"/>
            <a:ext cx="285166" cy="285166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F9C1F7CA-7008-DFA0-0779-D686BB315A25}"/>
              </a:ext>
            </a:extLst>
          </p:cNvPr>
          <p:cNvSpPr txBox="1"/>
          <p:nvPr/>
        </p:nvSpPr>
        <p:spPr>
          <a:xfrm>
            <a:off x="9028818" y="1474518"/>
            <a:ext cx="24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ÉCART EN 1</a:t>
            </a:r>
            <a:r>
              <a:rPr lang="fr-FR" sz="1000" b="1" spc="-3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ÈRE</a:t>
            </a:r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ANNÉE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F90D54BA-D4EB-FB10-D723-3721A05E6025}"/>
              </a:ext>
            </a:extLst>
          </p:cNvPr>
          <p:cNvSpPr txBox="1"/>
          <p:nvPr/>
        </p:nvSpPr>
        <p:spPr>
          <a:xfrm rot="10800000" flipV="1">
            <a:off x="8555834" y="1779156"/>
            <a:ext cx="32656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Personnes de moins en emploi salarié, pour 100</a:t>
            </a:r>
          </a:p>
        </p:txBody>
      </p: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E42818B7-6DA3-6A5B-8A40-31BADCA3D193}"/>
              </a:ext>
            </a:extLst>
          </p:cNvPr>
          <p:cNvGrpSpPr/>
          <p:nvPr/>
        </p:nvGrpSpPr>
        <p:grpSpPr>
          <a:xfrm>
            <a:off x="8364579" y="2055209"/>
            <a:ext cx="4166682" cy="659858"/>
            <a:chOff x="8394842" y="2038325"/>
            <a:chExt cx="4166682" cy="659858"/>
          </a:xfrm>
        </p:grpSpPr>
        <p:grpSp>
          <p:nvGrpSpPr>
            <p:cNvPr id="67" name="Groupe 66">
              <a:extLst>
                <a:ext uri="{FF2B5EF4-FFF2-40B4-BE49-F238E27FC236}">
                  <a16:creationId xmlns:a16="http://schemas.microsoft.com/office/drawing/2014/main" id="{F7A6F020-BEAF-9C5C-F873-60BBFDD652DE}"/>
                </a:ext>
              </a:extLst>
            </p:cNvPr>
            <p:cNvGrpSpPr/>
            <p:nvPr/>
          </p:nvGrpSpPr>
          <p:grpSpPr>
            <a:xfrm>
              <a:off x="8897348" y="2461426"/>
              <a:ext cx="2480185" cy="236757"/>
              <a:chOff x="9028818" y="2130009"/>
              <a:chExt cx="2480185" cy="236757"/>
            </a:xfrm>
          </p:grpSpPr>
          <p:pic>
            <p:nvPicPr>
              <p:cNvPr id="47" name="Graphique 46" descr="Utilisateur avec un remplissage uni">
                <a:extLst>
                  <a:ext uri="{FF2B5EF4-FFF2-40B4-BE49-F238E27FC236}">
                    <a16:creationId xmlns:a16="http://schemas.microsoft.com/office/drawing/2014/main" id="{7E33D127-21A1-427A-FF81-B999D8AE0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028818" y="213593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49" name="Graphique 48" descr="Utilisateur avec un remplissage uni">
                <a:extLst>
                  <a:ext uri="{FF2B5EF4-FFF2-40B4-BE49-F238E27FC236}">
                    <a16:creationId xmlns:a16="http://schemas.microsoft.com/office/drawing/2014/main" id="{2818FB3D-C6F0-3955-E56A-CD4AB8A57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09987" y="2135932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1" name="Graphique 50" descr="Utilisateur avec un remplissage uni">
                <a:extLst>
                  <a:ext uri="{FF2B5EF4-FFF2-40B4-BE49-F238E27FC236}">
                    <a16:creationId xmlns:a16="http://schemas.microsoft.com/office/drawing/2014/main" id="{F465791B-37C0-14A0-0087-13F4B5A653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591156" y="2135932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3" name="Graphique 52" descr="Utilisateur avec un remplissage uni">
                <a:extLst>
                  <a:ext uri="{FF2B5EF4-FFF2-40B4-BE49-F238E27FC236}">
                    <a16:creationId xmlns:a16="http://schemas.microsoft.com/office/drawing/2014/main" id="{153FE322-F466-E5BC-971E-856DDDD9A3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72325" y="2135931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5" name="Graphique 54" descr="Utilisateur avec un remplissage uni">
                <a:extLst>
                  <a:ext uri="{FF2B5EF4-FFF2-40B4-BE49-F238E27FC236}">
                    <a16:creationId xmlns:a16="http://schemas.microsoft.com/office/drawing/2014/main" id="{2EE7AD4C-B040-E611-551E-5EF1FD2C9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153494" y="213593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7" name="Graphique 56" descr="Utilisateur avec un remplissage uni">
                <a:extLst>
                  <a:ext uri="{FF2B5EF4-FFF2-40B4-BE49-F238E27FC236}">
                    <a16:creationId xmlns:a16="http://schemas.microsoft.com/office/drawing/2014/main" id="{EC59A91B-F99E-D944-450F-6293052C3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434663" y="213001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9" name="Graphique 58" descr="Utilisateur avec un remplissage uni">
                <a:extLst>
                  <a:ext uri="{FF2B5EF4-FFF2-40B4-BE49-F238E27FC236}">
                    <a16:creationId xmlns:a16="http://schemas.microsoft.com/office/drawing/2014/main" id="{6C7FA651-BDC6-6C00-6B72-A900D0A34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715832" y="213001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1" name="Graphique 60" descr="Utilisateur avec un remplissage uni">
                <a:extLst>
                  <a:ext uri="{FF2B5EF4-FFF2-40B4-BE49-F238E27FC236}">
                    <a16:creationId xmlns:a16="http://schemas.microsoft.com/office/drawing/2014/main" id="{9737246C-C379-7C38-A886-CE1E8BC1A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997001" y="2131169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3" name="Graphique 62" descr="Utilisateur avec un remplissage uni">
                <a:extLst>
                  <a:ext uri="{FF2B5EF4-FFF2-40B4-BE49-F238E27FC236}">
                    <a16:creationId xmlns:a16="http://schemas.microsoft.com/office/drawing/2014/main" id="{2550D960-6E85-F0D8-1DB7-EC9F36387C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278170" y="2130009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1188BDF7-693C-18A3-E12C-EA9F3DE4B71C}"/>
                </a:ext>
              </a:extLst>
            </p:cNvPr>
            <p:cNvSpPr txBox="1"/>
            <p:nvPr/>
          </p:nvSpPr>
          <p:spPr>
            <a:xfrm>
              <a:off x="8670165" y="2112597"/>
              <a:ext cx="124753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LITTÉRATURE</a:t>
              </a:r>
            </a:p>
          </p:txBody>
        </p:sp>
        <p:pic>
          <p:nvPicPr>
            <p:cNvPr id="73" name="Graphique 72" descr="Livre ouvert contour">
              <a:extLst>
                <a:ext uri="{FF2B5EF4-FFF2-40B4-BE49-F238E27FC236}">
                  <a16:creationId xmlns:a16="http://schemas.microsoft.com/office/drawing/2014/main" id="{A468ADF2-17B8-7B1A-D3B7-1D1B94510F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94842" y="2083794"/>
              <a:ext cx="363229" cy="363229"/>
            </a:xfrm>
            <a:prstGeom prst="rect">
              <a:avLst/>
            </a:prstGeom>
          </p:spPr>
        </p:pic>
        <p:sp>
          <p:nvSpPr>
            <p:cNvPr id="87" name="ZoneTexte 86">
              <a:extLst>
                <a:ext uri="{FF2B5EF4-FFF2-40B4-BE49-F238E27FC236}">
                  <a16:creationId xmlns:a16="http://schemas.microsoft.com/office/drawing/2014/main" id="{E320F180-28B8-47C1-3F6A-0F92B51B2E6C}"/>
                </a:ext>
              </a:extLst>
            </p:cNvPr>
            <p:cNvSpPr txBox="1"/>
            <p:nvPr/>
          </p:nvSpPr>
          <p:spPr>
            <a:xfrm rot="10800000" flipV="1">
              <a:off x="8817648" y="2265408"/>
              <a:ext cx="32656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9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vs l’ensemble des allocataires ARE</a:t>
              </a: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185010D8-A296-0854-4BB6-6C935066C35F}"/>
                </a:ext>
              </a:extLst>
            </p:cNvPr>
            <p:cNvSpPr txBox="1"/>
            <p:nvPr/>
          </p:nvSpPr>
          <p:spPr>
            <a:xfrm>
              <a:off x="11479795" y="2038325"/>
              <a:ext cx="108172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9 pts</a:t>
              </a:r>
              <a:endParaRPr lang="fr-FR" sz="1400" noProof="0">
                <a:solidFill>
                  <a:schemeClr val="bg2"/>
                </a:solidFill>
              </a:endParaRPr>
            </a:p>
          </p:txBody>
        </p:sp>
      </p:grp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B59316D9-5E04-C8FB-13A6-69BEF67AFB21}"/>
              </a:ext>
            </a:extLst>
          </p:cNvPr>
          <p:cNvGrpSpPr/>
          <p:nvPr/>
        </p:nvGrpSpPr>
        <p:grpSpPr>
          <a:xfrm>
            <a:off x="8364579" y="2958997"/>
            <a:ext cx="4081814" cy="576931"/>
            <a:chOff x="8394842" y="2852069"/>
            <a:chExt cx="4081814" cy="576931"/>
          </a:xfrm>
        </p:grpSpPr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62CF1E1C-1000-F0BF-5B88-29C695C643C9}"/>
                </a:ext>
              </a:extLst>
            </p:cNvPr>
            <p:cNvSpPr txBox="1"/>
            <p:nvPr/>
          </p:nvSpPr>
          <p:spPr>
            <a:xfrm>
              <a:off x="8776660" y="2852069"/>
              <a:ext cx="14679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NOS ESTIMATIONS</a:t>
              </a:r>
            </a:p>
          </p:txBody>
        </p:sp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12587501-F819-F0B1-BB8C-419214AF1978}"/>
                </a:ext>
              </a:extLst>
            </p:cNvPr>
            <p:cNvGrpSpPr/>
            <p:nvPr/>
          </p:nvGrpSpPr>
          <p:grpSpPr>
            <a:xfrm>
              <a:off x="8925631" y="3198166"/>
              <a:ext cx="512002" cy="230834"/>
              <a:chOff x="9028818" y="2135932"/>
              <a:chExt cx="512002" cy="230834"/>
            </a:xfrm>
          </p:grpSpPr>
          <p:pic>
            <p:nvPicPr>
              <p:cNvPr id="77" name="Graphique 76" descr="Utilisateur avec un remplissage uni">
                <a:extLst>
                  <a:ext uri="{FF2B5EF4-FFF2-40B4-BE49-F238E27FC236}">
                    <a16:creationId xmlns:a16="http://schemas.microsoft.com/office/drawing/2014/main" id="{86E5CCC5-5DC1-C519-917D-FC2C06376A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028818" y="213593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78" name="Graphique 77" descr="Utilisateur avec un remplissage uni">
                <a:extLst>
                  <a:ext uri="{FF2B5EF4-FFF2-40B4-BE49-F238E27FC236}">
                    <a16:creationId xmlns:a16="http://schemas.microsoft.com/office/drawing/2014/main" id="{02A706D4-E842-7E2B-F79E-B61E16411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309987" y="2135932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982BDDB1-69F7-C505-6639-41351EC701C8}"/>
                </a:ext>
              </a:extLst>
            </p:cNvPr>
            <p:cNvSpPr txBox="1"/>
            <p:nvPr/>
          </p:nvSpPr>
          <p:spPr>
            <a:xfrm rot="10800000" flipV="1">
              <a:off x="8870526" y="3012428"/>
              <a:ext cx="32656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9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vs témoins appariés</a:t>
              </a:r>
            </a:p>
          </p:txBody>
        </p:sp>
        <p:pic>
          <p:nvPicPr>
            <p:cNvPr id="91" name="Graphique 90" descr="Graphique à barres avec tendance à la hausse contour">
              <a:extLst>
                <a:ext uri="{FF2B5EF4-FFF2-40B4-BE49-F238E27FC236}">
                  <a16:creationId xmlns:a16="http://schemas.microsoft.com/office/drawing/2014/main" id="{7AFB4486-8CE4-2AA6-2036-A6B9E7B6FA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94842" y="2852069"/>
              <a:ext cx="363229" cy="36322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08EF1B1E-794F-5AD4-DA91-285F062D68DD}"/>
                    </a:ext>
                  </a:extLst>
                </p:cNvPr>
                <p:cNvSpPr txBox="1"/>
                <p:nvPr/>
              </p:nvSpPr>
              <p:spPr>
                <a:xfrm>
                  <a:off x="11394927" y="2879794"/>
                  <a:ext cx="108172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0" lang="fr-FR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~</m:t>
                      </m:r>
                    </m:oMath>
                  </a14:m>
                  <a:r>
                    <a:rPr kumimoji="0" lang="fr-FR" sz="1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accent4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cs typeface="Segoe UI" panose="020B0502040204020203" pitchFamily="34" charset="0"/>
                    </a:rPr>
                    <a:t>2 pts</a:t>
                  </a:r>
                  <a:endParaRPr lang="fr-FR" sz="1400" noProof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08EF1B1E-794F-5AD4-DA91-285F062D6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4927" y="2879794"/>
                  <a:ext cx="1081729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Groupe 98">
            <a:extLst>
              <a:ext uri="{FF2B5EF4-FFF2-40B4-BE49-F238E27FC236}">
                <a16:creationId xmlns:a16="http://schemas.microsoft.com/office/drawing/2014/main" id="{A64D98F6-473E-2601-0314-41F346421686}"/>
              </a:ext>
            </a:extLst>
          </p:cNvPr>
          <p:cNvGrpSpPr/>
          <p:nvPr/>
        </p:nvGrpSpPr>
        <p:grpSpPr>
          <a:xfrm>
            <a:off x="8459567" y="3759447"/>
            <a:ext cx="3600060" cy="215444"/>
            <a:chOff x="1165065" y="5498854"/>
            <a:chExt cx="3600060" cy="215444"/>
          </a:xfrm>
        </p:grpSpPr>
        <p:pic>
          <p:nvPicPr>
            <p:cNvPr id="101" name="Graphique 100" descr="Utilisateur avec un remplissage uni">
              <a:extLst>
                <a:ext uri="{FF2B5EF4-FFF2-40B4-BE49-F238E27FC236}">
                  <a16:creationId xmlns:a16="http://schemas.microsoft.com/office/drawing/2014/main" id="{883AF796-2649-2D94-9D4C-7369533140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65065" y="5530059"/>
              <a:ext cx="150611" cy="150611"/>
            </a:xfrm>
            <a:prstGeom prst="rect">
              <a:avLst/>
            </a:prstGeom>
          </p:spPr>
        </p:pic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13F6A50F-E61C-66C6-A97D-61C59EAF021F}"/>
                </a:ext>
              </a:extLst>
            </p:cNvPr>
            <p:cNvSpPr txBox="1"/>
            <p:nvPr/>
          </p:nvSpPr>
          <p:spPr>
            <a:xfrm rot="10800000" flipV="1">
              <a:off x="1263181" y="5498854"/>
              <a:ext cx="3501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b="1" i="1" noProof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= 1 personne sur 100, (1 point de taux de présence en emploi salarié)</a:t>
              </a: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FC3499B-B0EB-3940-060E-AEA6F13B76D4}"/>
              </a:ext>
            </a:extLst>
          </p:cNvPr>
          <p:cNvSpPr/>
          <p:nvPr/>
        </p:nvSpPr>
        <p:spPr>
          <a:xfrm>
            <a:off x="8357661" y="4213465"/>
            <a:ext cx="3793470" cy="77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7EB179A6-1890-0350-6618-D4CEEA578B8F}"/>
              </a:ext>
            </a:extLst>
          </p:cNvPr>
          <p:cNvSpPr txBox="1"/>
          <p:nvPr/>
        </p:nvSpPr>
        <p:spPr>
          <a:xfrm>
            <a:off x="8817648" y="4233737"/>
            <a:ext cx="2968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FOIS MOINS PAR RAPPORT À LA LITTÉRATURE 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8B1243E2-A9BE-85FD-4A1A-556CCB1803F9}"/>
              </a:ext>
            </a:extLst>
          </p:cNvPr>
          <p:cNvSpPr txBox="1"/>
          <p:nvPr/>
        </p:nvSpPr>
        <p:spPr>
          <a:xfrm rot="10800000" flipV="1">
            <a:off x="8368606" y="4467048"/>
            <a:ext cx="377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L’essentiel de l’écart trouvé par la littérature s’explique par les différences de profil entre les RCI et la population comparée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CBD16811-6E62-1BB1-32B7-4FE35A62EA6E}"/>
              </a:ext>
            </a:extLst>
          </p:cNvPr>
          <p:cNvSpPr/>
          <p:nvPr/>
        </p:nvSpPr>
        <p:spPr>
          <a:xfrm>
            <a:off x="893408" y="5557518"/>
            <a:ext cx="2998614" cy="701788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13F6D3B6-4469-67AD-961A-F2C2D80760C1}"/>
              </a:ext>
            </a:extLst>
          </p:cNvPr>
          <p:cNvSpPr/>
          <p:nvPr/>
        </p:nvSpPr>
        <p:spPr>
          <a:xfrm>
            <a:off x="5020831" y="5557518"/>
            <a:ext cx="2998614" cy="701788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43D899E7-58E0-8B7B-795C-D94EFFA46EC2}"/>
              </a:ext>
            </a:extLst>
          </p:cNvPr>
          <p:cNvSpPr/>
          <p:nvPr/>
        </p:nvSpPr>
        <p:spPr>
          <a:xfrm>
            <a:off x="9148254" y="5557518"/>
            <a:ext cx="2998614" cy="701788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4E71BA0B-CD3D-73CF-14AB-A2EF5A71ABD8}"/>
              </a:ext>
            </a:extLst>
          </p:cNvPr>
          <p:cNvGrpSpPr/>
          <p:nvPr/>
        </p:nvGrpSpPr>
        <p:grpSpPr>
          <a:xfrm>
            <a:off x="945253" y="5590818"/>
            <a:ext cx="387263" cy="387263"/>
            <a:chOff x="1265826" y="-914400"/>
            <a:chExt cx="647641" cy="647641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F1256C01-4442-A307-23FA-BC533B81E1C6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22" name="Graphique 121" descr="Balance de la justice avec un remplissage uni">
              <a:extLst>
                <a:ext uri="{FF2B5EF4-FFF2-40B4-BE49-F238E27FC236}">
                  <a16:creationId xmlns:a16="http://schemas.microsoft.com/office/drawing/2014/main" id="{8BD1328C-BF2D-6045-6E95-0D6E4637AE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1357179" y="-843087"/>
              <a:ext cx="464934" cy="464934"/>
            </a:xfrm>
            <a:prstGeom prst="rect">
              <a:avLst/>
            </a:prstGeom>
          </p:spPr>
        </p:pic>
      </p:grpSp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7F1FA2A6-DA6A-2B3E-7E8A-1171FEF44794}"/>
              </a:ext>
            </a:extLst>
          </p:cNvPr>
          <p:cNvGrpSpPr/>
          <p:nvPr/>
        </p:nvGrpSpPr>
        <p:grpSpPr>
          <a:xfrm>
            <a:off x="5083451" y="5578834"/>
            <a:ext cx="387263" cy="387263"/>
            <a:chOff x="1265826" y="-914400"/>
            <a:chExt cx="647641" cy="647641"/>
          </a:xfrm>
        </p:grpSpPr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84E88191-7EBA-DE33-A8C2-E8F8A2F94BC0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25" name="Graphique 124" descr="Graphique à barres avec tendance à la hausse avec un remplissage uni">
              <a:extLst>
                <a:ext uri="{FF2B5EF4-FFF2-40B4-BE49-F238E27FC236}">
                  <a16:creationId xmlns:a16="http://schemas.microsoft.com/office/drawing/2014/main" id="{FFCB5AD7-BFA9-3074-CDCB-5852AB3439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357178" y="-843087"/>
              <a:ext cx="464935" cy="464935"/>
            </a:xfrm>
            <a:prstGeom prst="rect">
              <a:avLst/>
            </a:prstGeom>
          </p:spPr>
        </p:pic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3EFC42F2-40B3-F219-4B71-CC002726287F}"/>
              </a:ext>
            </a:extLst>
          </p:cNvPr>
          <p:cNvSpPr txBox="1"/>
          <p:nvPr/>
        </p:nvSpPr>
        <p:spPr>
          <a:xfrm>
            <a:off x="1138884" y="5590333"/>
            <a:ext cx="24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ÉCART BIEN PLUS FAIBLE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F26009D2-A882-67F9-5BC8-2D74306FEE59}"/>
              </a:ext>
            </a:extLst>
          </p:cNvPr>
          <p:cNvSpPr txBox="1"/>
          <p:nvPr/>
        </p:nvSpPr>
        <p:spPr>
          <a:xfrm>
            <a:off x="5278189" y="5575361"/>
            <a:ext cx="24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RATTRAPAGE RAPIDE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46BB4E91-2549-4CE7-A269-A1B0584A6E22}"/>
              </a:ext>
            </a:extLst>
          </p:cNvPr>
          <p:cNvSpPr txBox="1"/>
          <p:nvPr/>
        </p:nvSpPr>
        <p:spPr>
          <a:xfrm>
            <a:off x="9569120" y="5575361"/>
            <a:ext cx="24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CONVERGENCE À MOYEN-TERME</a:t>
            </a:r>
          </a:p>
        </p:txBody>
      </p: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81D4519B-82DD-70AF-B62D-F356741D5EB0}"/>
              </a:ext>
            </a:extLst>
          </p:cNvPr>
          <p:cNvGrpSpPr/>
          <p:nvPr/>
        </p:nvGrpSpPr>
        <p:grpSpPr>
          <a:xfrm>
            <a:off x="9185455" y="5586241"/>
            <a:ext cx="387263" cy="387263"/>
            <a:chOff x="1265826" y="-914400"/>
            <a:chExt cx="647641" cy="647641"/>
          </a:xfrm>
        </p:grpSpPr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23FC44BD-03E0-4003-1F3C-C1225C113890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34" name="Graphique 133" descr="Coche avec un remplissage uni">
              <a:extLst>
                <a:ext uri="{FF2B5EF4-FFF2-40B4-BE49-F238E27FC236}">
                  <a16:creationId xmlns:a16="http://schemas.microsoft.com/office/drawing/2014/main" id="{23D30786-05D2-59B6-0AD8-BBCFF6D30A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357178" y="-843087"/>
              <a:ext cx="464935" cy="46493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ZoneTexte 135">
                <a:extLst>
                  <a:ext uri="{FF2B5EF4-FFF2-40B4-BE49-F238E27FC236}">
                    <a16:creationId xmlns:a16="http://schemas.microsoft.com/office/drawing/2014/main" id="{D9AF924B-C48A-3431-B637-2D5B68D50789}"/>
                  </a:ext>
                </a:extLst>
              </p:cNvPr>
              <p:cNvSpPr txBox="1"/>
              <p:nvPr/>
            </p:nvSpPr>
            <p:spPr>
              <a:xfrm rot="10800000" flipV="1">
                <a:off x="1395135" y="5732629"/>
                <a:ext cx="2421277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kumimoji="0" lang="fr-FR" sz="9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</m:t>
                    </m:r>
                  </m:oMath>
                </a14:m>
                <a:r>
                  <a:rPr lang="fr-FR" sz="900" i="1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1,8 points d′écart la première année, contre 9 pts face à l′ensemble des allocataires </a:t>
                </a:r>
                <a:endParaRPr kumimoji="0" lang="fr-FR" sz="9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36" name="ZoneTexte 135">
                <a:extLst>
                  <a:ext uri="{FF2B5EF4-FFF2-40B4-BE49-F238E27FC236}">
                    <a16:creationId xmlns:a16="http://schemas.microsoft.com/office/drawing/2014/main" id="{D9AF924B-C48A-3431-B637-2D5B68D50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395135" y="5732629"/>
                <a:ext cx="2421277" cy="507831"/>
              </a:xfrm>
              <a:prstGeom prst="rect">
                <a:avLst/>
              </a:prstGeom>
              <a:blipFill>
                <a:blip r:embed="rId1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ZoneTexte 137">
                <a:extLst>
                  <a:ext uri="{FF2B5EF4-FFF2-40B4-BE49-F238E27FC236}">
                    <a16:creationId xmlns:a16="http://schemas.microsoft.com/office/drawing/2014/main" id="{520A8F77-71C6-3506-AD56-B8B9DEAE684C}"/>
                  </a:ext>
                </a:extLst>
              </p:cNvPr>
              <p:cNvSpPr txBox="1"/>
              <p:nvPr/>
            </p:nvSpPr>
            <p:spPr>
              <a:xfrm rot="10800000" flipV="1">
                <a:off x="5453289" y="5732629"/>
                <a:ext cx="2421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kumimoji="0" lang="fr-FR" sz="9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</m:t>
                    </m:r>
                  </m:oMath>
                </a14:m>
                <a:r>
                  <a:rPr lang="fr-FR" sz="900" i="1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l’écart se réduit dès le 5</a:t>
                </a:r>
                <a:r>
                  <a:rPr lang="fr-FR" sz="900" i="1" baseline="30000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</a:t>
                </a:r>
                <a:r>
                  <a:rPr lang="fr-FR" sz="900" i="1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mois et se réduit de près de la moitié en un an </a:t>
                </a:r>
                <a:endParaRPr kumimoji="0" lang="fr-FR" sz="9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38" name="ZoneTexte 137">
                <a:extLst>
                  <a:ext uri="{FF2B5EF4-FFF2-40B4-BE49-F238E27FC236}">
                    <a16:creationId xmlns:a16="http://schemas.microsoft.com/office/drawing/2014/main" id="{520A8F77-71C6-3506-AD56-B8B9DEAE6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453289" y="5732629"/>
                <a:ext cx="2421277" cy="369332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9D07031D-F922-8A2C-BD47-07AEFB07D45C}"/>
                  </a:ext>
                </a:extLst>
              </p:cNvPr>
              <p:cNvSpPr txBox="1"/>
              <p:nvPr/>
            </p:nvSpPr>
            <p:spPr>
              <a:xfrm rot="10800000" flipV="1">
                <a:off x="9569120" y="5732629"/>
                <a:ext cx="2421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kumimoji="0" lang="fr-FR" sz="9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</m:t>
                    </m:r>
                  </m:oMath>
                </a14:m>
                <a:r>
                  <a:rPr lang="fr-FR" sz="900" i="1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Plus d’écart significatif avec les témoins à partir d’environ 30 mois</a:t>
                </a:r>
                <a:endParaRPr kumimoji="0" lang="fr-FR" sz="9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9D07031D-F922-8A2C-BD47-07AEFB07D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9569120" y="5732629"/>
                <a:ext cx="2421277" cy="369332"/>
              </a:xfrm>
              <a:prstGeom prst="rect">
                <a:avLst/>
              </a:prstGeom>
              <a:blipFill>
                <a:blip r:embed="rId1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ZoneTexte 142">
            <a:extLst>
              <a:ext uri="{FF2B5EF4-FFF2-40B4-BE49-F238E27FC236}">
                <a16:creationId xmlns:a16="http://schemas.microsoft.com/office/drawing/2014/main" id="{A444046A-4B93-6B0F-3251-29D01B8264BD}"/>
              </a:ext>
            </a:extLst>
          </p:cNvPr>
          <p:cNvSpPr txBox="1"/>
          <p:nvPr/>
        </p:nvSpPr>
        <p:spPr>
          <a:xfrm>
            <a:off x="1912166" y="4882887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4B17076C-F561-7A2B-5555-CC7C133B5B8F}"/>
              </a:ext>
            </a:extLst>
          </p:cNvPr>
          <p:cNvCxnSpPr>
            <a:cxnSpLocks/>
          </p:cNvCxnSpPr>
          <p:nvPr/>
        </p:nvCxnSpPr>
        <p:spPr>
          <a:xfrm flipV="1">
            <a:off x="4051356" y="3020498"/>
            <a:ext cx="400384" cy="975132"/>
          </a:xfrm>
          <a:prstGeom prst="straightConnector1">
            <a:avLst/>
          </a:prstGeom>
          <a:ln w="28575">
            <a:solidFill>
              <a:srgbClr val="007C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0C225541-F3D0-E31E-9AB8-3354F11AAA8C}"/>
              </a:ext>
            </a:extLst>
          </p:cNvPr>
          <p:cNvSpPr txBox="1"/>
          <p:nvPr/>
        </p:nvSpPr>
        <p:spPr>
          <a:xfrm>
            <a:off x="3961358" y="1863853"/>
            <a:ext cx="93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fr-FR" sz="1000" b="1" spc="-3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ère</a:t>
            </a:r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année</a:t>
            </a:r>
          </a:p>
        </p:txBody>
      </p:sp>
    </p:spTree>
    <p:extLst>
      <p:ext uri="{BB962C8B-B14F-4D97-AF65-F5344CB8AC3E}">
        <p14:creationId xmlns:p14="http://schemas.microsoft.com/office/powerpoint/2010/main" val="2479771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7653" y="378379"/>
            <a:ext cx="111760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</a:pPr>
            <a:r>
              <a:rPr lang="en-US" b="1" spc="-50">
                <a:solidFill>
                  <a:srgbClr val="94C43E"/>
                </a:solidFill>
                <a:latin typeface="Montserrat" pitchFamily="2" charset="77"/>
              </a:rPr>
              <a:t>FORMATION, EMPLOI DURABLE, INDÉPENDANCE : CE QUE RECOUVRE L'ÉCART DE PRÉSENCE EN EMPLOI SALARIÉ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1188720" y="149961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FA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① EN EMPLOI DURABLE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4846320" y="149961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② EN FORMATION (AREF)</a:t>
            </a:r>
            <a:endParaRPr lang="en-US" sz="1100"/>
          </a:p>
        </p:txBody>
      </p:sp>
      <p:sp>
        <p:nvSpPr>
          <p:cNvPr id="7" name="Text 5"/>
          <p:cNvSpPr txBox="1"/>
          <p:nvPr/>
        </p:nvSpPr>
        <p:spPr>
          <a:xfrm>
            <a:off x="8367522" y="1467993"/>
            <a:ext cx="3486741" cy="23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-30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③ CRÉATION D’ENTERPRISE PENDANT LE DROIT</a:t>
            </a:r>
            <a:endParaRPr lang="en-US" sz="1100" spc="-30"/>
          </a:p>
        </p:txBody>
      </p:sp>
      <p:pic>
        <p:nvPicPr>
          <p:cNvPr id="8" name="Emploi durab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1919180"/>
            <a:ext cx="3182112" cy="159105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33795" y="1992660"/>
            <a:ext cx="485311" cy="416442"/>
          </a:xfrm>
          <a:prstGeom prst="rect">
            <a:avLst/>
          </a:prstGeom>
          <a:solidFill>
            <a:srgbClr val="6FAF3F">
              <a:alpha val="14000"/>
            </a:srgbClr>
          </a:solidFill>
          <a:ln w="6350">
            <a:solidFill>
              <a:srgbClr val="6FAF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2889504" y="19019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+0,5 pt dès 27 mois</a:t>
            </a:r>
            <a:endParaRPr lang="en-US" sz="800"/>
          </a:p>
        </p:txBody>
      </p:sp>
      <p:sp>
        <p:nvSpPr>
          <p:cNvPr id="11" name="Shape 8"/>
          <p:cNvSpPr/>
          <p:nvPr/>
        </p:nvSpPr>
        <p:spPr>
          <a:xfrm>
            <a:off x="2889504" y="3132917"/>
            <a:ext cx="148132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2962656" y="3132917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−1,8 pt</a:t>
            </a:r>
            <a:r>
              <a:rPr lang="en-US" sz="9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 3e mois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 flipH="1" flipV="1">
            <a:off x="2705819" y="3202324"/>
            <a:ext cx="183685" cy="76897"/>
          </a:xfrm>
          <a:prstGeom prst="line">
            <a:avLst/>
          </a:prstGeom>
          <a:noFill/>
          <a:ln w="15875">
            <a:solidFill>
              <a:srgbClr val="6FAF3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1216152" y="367376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retenir : </a:t>
            </a: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déficit de départ est plus faible qu'en emploi salarié, et il s'inverse : à trois ans, les signataires sont un peu plus souvent en emploi stable que leurs témoins.</a:t>
            </a:r>
            <a:endParaRPr lang="en-US" sz="950"/>
          </a:p>
        </p:txBody>
      </p:sp>
      <p:pic>
        <p:nvPicPr>
          <p:cNvPr id="15" name="Formation AREF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65376"/>
            <a:ext cx="3182112" cy="169687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52725" y="1954837"/>
            <a:ext cx="465581" cy="1030242"/>
          </a:xfrm>
          <a:prstGeom prst="rect">
            <a:avLst/>
          </a:prstGeom>
          <a:solidFill>
            <a:srgbClr val="007C80">
              <a:alpha val="12000"/>
            </a:srgbClr>
          </a:solidFill>
          <a:ln w="6350">
            <a:solidFill>
              <a:srgbClr val="007C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455664" y="2237648"/>
            <a:ext cx="157276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 txBox="1"/>
          <p:nvPr/>
        </p:nvSpPr>
        <p:spPr>
          <a:xfrm>
            <a:off x="6528816" y="22376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+0,5 pt</a:t>
            </a:r>
            <a:r>
              <a:rPr lang="en-US" sz="9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1re année</a:t>
            </a:r>
            <a:endParaRPr lang="en-US" sz="900"/>
          </a:p>
        </p:txBody>
      </p:sp>
      <p:sp>
        <p:nvSpPr>
          <p:cNvPr id="19" name="Shape 15"/>
          <p:cNvSpPr/>
          <p:nvPr/>
        </p:nvSpPr>
        <p:spPr>
          <a:xfrm flipV="1">
            <a:off x="6455664" y="2379054"/>
            <a:ext cx="108689" cy="4898"/>
          </a:xfrm>
          <a:prstGeom prst="line">
            <a:avLst/>
          </a:prstGeom>
          <a:noFill/>
          <a:ln w="15875">
            <a:solidFill>
              <a:srgbClr val="007C8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 txBox="1"/>
          <p:nvPr/>
        </p:nvSpPr>
        <p:spPr>
          <a:xfrm>
            <a:off x="4937760" y="19110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 à +0,9 pt</a:t>
            </a:r>
            <a:endParaRPr lang="en-US" sz="800"/>
          </a:p>
        </p:txBody>
      </p:sp>
      <p:sp>
        <p:nvSpPr>
          <p:cNvPr id="21" name="Text 17"/>
          <p:cNvSpPr txBox="1"/>
          <p:nvPr/>
        </p:nvSpPr>
        <p:spPr>
          <a:xfrm>
            <a:off x="4873752" y="3671974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retenir : </a:t>
            </a: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pendant la première année, les signataires sont plus souvent en formation indemnisée, ce qui les retire mécaniquement de l'emploi salarié. L'écart disparaît dès le 12e mois.</a:t>
            </a:r>
            <a:endParaRPr lang="en-US" sz="950"/>
          </a:p>
        </p:txBody>
      </p:sp>
      <p:pic>
        <p:nvPicPr>
          <p:cNvPr id="22" name="Activité non salarié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03920" y="1919180"/>
            <a:ext cx="3182112" cy="159105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0776978" y="1916105"/>
            <a:ext cx="750025" cy="215215"/>
          </a:xfrm>
          <a:prstGeom prst="rect">
            <a:avLst/>
          </a:prstGeom>
          <a:solidFill>
            <a:srgbClr val="E8820C">
              <a:alpha val="14000"/>
            </a:srgbClr>
          </a:solidFill>
          <a:ln w="6350">
            <a:solidFill>
              <a:srgbClr val="E8820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 txBox="1"/>
          <p:nvPr/>
        </p:nvSpPr>
        <p:spPr>
          <a:xfrm>
            <a:off x="10534323" y="2217407"/>
            <a:ext cx="9970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+5,8 pts</a:t>
            </a:r>
            <a:endParaRPr lang="en-US" sz="850"/>
          </a:p>
        </p:txBody>
      </p:sp>
      <p:sp>
        <p:nvSpPr>
          <p:cNvPr id="25" name="Shape 20"/>
          <p:cNvSpPr/>
          <p:nvPr/>
        </p:nvSpPr>
        <p:spPr>
          <a:xfrm>
            <a:off x="10058400" y="295990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 txBox="1"/>
          <p:nvPr/>
        </p:nvSpPr>
        <p:spPr>
          <a:xfrm>
            <a:off x="10131552" y="29599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 pts</a:t>
            </a:r>
            <a:r>
              <a:rPr lang="en-US" sz="9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dès le 1er mois</a:t>
            </a:r>
            <a:endParaRPr lang="en-US" sz="900"/>
          </a:p>
        </p:txBody>
      </p:sp>
      <p:sp>
        <p:nvSpPr>
          <p:cNvPr id="27" name="Shape 22"/>
          <p:cNvSpPr/>
          <p:nvPr/>
        </p:nvSpPr>
        <p:spPr>
          <a:xfrm flipH="1" flipV="1">
            <a:off x="10004893" y="2820010"/>
            <a:ext cx="53507" cy="286194"/>
          </a:xfrm>
          <a:prstGeom prst="line">
            <a:avLst/>
          </a:prstGeom>
          <a:noFill/>
          <a:ln w="15875">
            <a:solidFill>
              <a:srgbClr val="E8820C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 txBox="1"/>
          <p:nvPr/>
        </p:nvSpPr>
        <p:spPr>
          <a:xfrm>
            <a:off x="8531352" y="367376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retenir : </a:t>
            </a: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partie des signataires quitte le salariat pour s'installer à son compte, et cet écart ne se referme pas. Mesure en borne haute.</a:t>
            </a:r>
            <a:endParaRPr lang="en-US" sz="950"/>
          </a:p>
        </p:txBody>
      </p:sp>
      <p:sp>
        <p:nvSpPr>
          <p:cNvPr id="29" name="Text 24"/>
          <p:cNvSpPr txBox="1"/>
          <p:nvPr/>
        </p:nvSpPr>
        <p:spPr>
          <a:xfrm>
            <a:off x="10515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TROIS ANS, POUR 100 PERSONNES, PAR RAPPORT AUX TÉMOINS</a:t>
            </a:r>
            <a:endParaRPr lang="en-US" sz="900"/>
          </a:p>
        </p:txBody>
      </p:sp>
      <p:sp>
        <p:nvSpPr>
          <p:cNvPr id="30" name="Shape 25"/>
          <p:cNvSpPr/>
          <p:nvPr/>
        </p:nvSpPr>
        <p:spPr>
          <a:xfrm>
            <a:off x="1051560" y="5065776"/>
            <a:ext cx="25557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1179576" y="5193792"/>
            <a:ext cx="347472" cy="347472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016" y="5285232"/>
            <a:ext cx="164592" cy="16459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600200" y="5193792"/>
            <a:ext cx="1879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Emploi salarié</a:t>
            </a:r>
            <a:endParaRPr lang="en-US" sz="1050"/>
          </a:p>
        </p:txBody>
      </p:sp>
      <p:sp>
        <p:nvSpPr>
          <p:cNvPr id="34" name="Text 28"/>
          <p:cNvSpPr txBox="1"/>
          <p:nvPr/>
        </p:nvSpPr>
        <p:spPr>
          <a:xfrm>
            <a:off x="1179576" y="5486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0</a:t>
            </a:r>
            <a:endParaRPr lang="en-US" sz="1400"/>
          </a:p>
        </p:txBody>
      </p:sp>
      <p:sp>
        <p:nvSpPr>
          <p:cNvPr id="35" name="Text 29"/>
          <p:cNvSpPr txBox="1"/>
          <p:nvPr/>
        </p:nvSpPr>
        <p:spPr>
          <a:xfrm>
            <a:off x="2624328" y="5468112"/>
            <a:ext cx="854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écart résorbé vers 30 mois</a:t>
            </a:r>
            <a:endParaRPr lang="en-US" sz="850"/>
          </a:p>
        </p:txBody>
      </p:sp>
      <p:sp>
        <p:nvSpPr>
          <p:cNvPr id="36" name="Shape 30"/>
          <p:cNvSpPr/>
          <p:nvPr/>
        </p:nvSpPr>
        <p:spPr>
          <a:xfrm>
            <a:off x="3790188" y="5065776"/>
            <a:ext cx="25557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1"/>
          <p:cNvSpPr/>
          <p:nvPr/>
        </p:nvSpPr>
        <p:spPr>
          <a:xfrm>
            <a:off x="3918204" y="5193792"/>
            <a:ext cx="347472" cy="347472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9644" y="5285232"/>
            <a:ext cx="164592" cy="16459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4338828" y="5193792"/>
            <a:ext cx="1879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Emploi durable</a:t>
            </a:r>
            <a:endParaRPr lang="en-US" sz="1050"/>
          </a:p>
        </p:txBody>
      </p:sp>
      <p:sp>
        <p:nvSpPr>
          <p:cNvPr id="40" name="Text 33"/>
          <p:cNvSpPr txBox="1"/>
          <p:nvPr/>
        </p:nvSpPr>
        <p:spPr>
          <a:xfrm>
            <a:off x="3918204" y="5486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FA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+0,5 pt</a:t>
            </a:r>
            <a:endParaRPr lang="en-US" sz="1400"/>
          </a:p>
        </p:txBody>
      </p:sp>
      <p:sp>
        <p:nvSpPr>
          <p:cNvPr id="41" name="Text 34"/>
          <p:cNvSpPr txBox="1"/>
          <p:nvPr/>
        </p:nvSpPr>
        <p:spPr>
          <a:xfrm>
            <a:off x="5362956" y="5468112"/>
            <a:ext cx="854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peu plus souvent en emploi stable</a:t>
            </a:r>
            <a:endParaRPr lang="en-US" sz="850"/>
          </a:p>
        </p:txBody>
      </p:sp>
      <p:sp>
        <p:nvSpPr>
          <p:cNvPr id="42" name="Shape 35"/>
          <p:cNvSpPr/>
          <p:nvPr/>
        </p:nvSpPr>
        <p:spPr>
          <a:xfrm>
            <a:off x="6528816" y="5065776"/>
            <a:ext cx="25557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36"/>
          <p:cNvSpPr/>
          <p:nvPr/>
        </p:nvSpPr>
        <p:spPr>
          <a:xfrm>
            <a:off x="6656832" y="5193792"/>
            <a:ext cx="347472" cy="347472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2" y="5285232"/>
            <a:ext cx="164592" cy="164592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7077456" y="5193792"/>
            <a:ext cx="1879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</a:t>
            </a:r>
            <a:endParaRPr lang="en-US" sz="1050"/>
          </a:p>
        </p:txBody>
      </p:sp>
      <p:sp>
        <p:nvSpPr>
          <p:cNvPr id="46" name="Text 38"/>
          <p:cNvSpPr txBox="1"/>
          <p:nvPr/>
        </p:nvSpPr>
        <p:spPr>
          <a:xfrm>
            <a:off x="6656832" y="5486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0</a:t>
            </a:r>
            <a:endParaRPr lang="en-US" sz="1400"/>
          </a:p>
        </p:txBody>
      </p:sp>
      <p:sp>
        <p:nvSpPr>
          <p:cNvPr id="47" name="Text 39"/>
          <p:cNvSpPr txBox="1"/>
          <p:nvPr/>
        </p:nvSpPr>
        <p:spPr>
          <a:xfrm>
            <a:off x="8101584" y="5468112"/>
            <a:ext cx="854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l'effet est concentré sur la première année</a:t>
            </a:r>
            <a:endParaRPr lang="en-US" sz="850"/>
          </a:p>
        </p:txBody>
      </p:sp>
      <p:sp>
        <p:nvSpPr>
          <p:cNvPr id="48" name="Shape 40"/>
          <p:cNvSpPr/>
          <p:nvPr/>
        </p:nvSpPr>
        <p:spPr>
          <a:xfrm>
            <a:off x="9267444" y="5065776"/>
            <a:ext cx="25557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1"/>
          <p:cNvSpPr/>
          <p:nvPr/>
        </p:nvSpPr>
        <p:spPr>
          <a:xfrm>
            <a:off x="9395460" y="5193792"/>
            <a:ext cx="347472" cy="34747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6900" y="5285232"/>
            <a:ext cx="164592" cy="164592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9816084" y="5193792"/>
            <a:ext cx="1879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Activité non salariée</a:t>
            </a:r>
            <a:endParaRPr lang="en-US" sz="1050"/>
          </a:p>
        </p:txBody>
      </p:sp>
      <p:sp>
        <p:nvSpPr>
          <p:cNvPr id="52" name="Text 43"/>
          <p:cNvSpPr txBox="1"/>
          <p:nvPr/>
        </p:nvSpPr>
        <p:spPr>
          <a:xfrm>
            <a:off x="9395460" y="5486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+5,8 pts</a:t>
            </a:r>
            <a:endParaRPr lang="en-US" sz="1400"/>
          </a:p>
        </p:txBody>
      </p:sp>
      <p:sp>
        <p:nvSpPr>
          <p:cNvPr id="53" name="Text 44"/>
          <p:cNvSpPr txBox="1"/>
          <p:nvPr/>
        </p:nvSpPr>
        <p:spPr>
          <a:xfrm>
            <a:off x="10840212" y="5468112"/>
            <a:ext cx="854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  <p:sp>
        <p:nvSpPr>
          <p:cNvPr id="54" name="Text 45"/>
          <p:cNvSpPr txBox="1"/>
          <p:nvPr/>
        </p:nvSpPr>
        <p:spPr>
          <a:xfrm>
            <a:off x="1051560" y="618134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Champ : personnes indemnisables à l'ARE hors annexes VIII et X, fin de CDI en 2022 suivie d'une ouverture de droit initiale · Source : MiDAS vague 8, traitement Unédic.</a:t>
            </a:r>
            <a:endParaRPr lang="en-US" sz="850"/>
          </a:p>
        </p:txBody>
      </p:sp>
      <p:sp>
        <p:nvSpPr>
          <p:cNvPr id="55" name="Espace réservé du texte 1">
            <a:extLst>
              <a:ext uri="{FF2B5EF4-FFF2-40B4-BE49-F238E27FC236}">
                <a16:creationId xmlns:a16="http://schemas.microsoft.com/office/drawing/2014/main" id="{06F2E2DA-2BD0-EB06-D8F1-CC238397726F}"/>
              </a:ext>
            </a:extLst>
          </p:cNvPr>
          <p:cNvSpPr txBox="1">
            <a:spLocks/>
          </p:cNvSpPr>
          <p:nvPr/>
        </p:nvSpPr>
        <p:spPr>
          <a:xfrm>
            <a:off x="4189574" y="42387"/>
            <a:ext cx="8061749" cy="1994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sz="1100" b="1" u="sng" cap="all">
                <a:solidFill>
                  <a:srgbClr val="288494"/>
                </a:solidFill>
                <a:latin typeface="Montserrat" pitchFamily="2" charset="77"/>
              </a:rPr>
              <a:t>ESTIMATION CAUSALE À MOYEN TERME – EMPLOI DURABLE, EMPLOI NON SALARIÉ ET FORMATION</a:t>
            </a:r>
          </a:p>
        </p:txBody>
      </p:sp>
      <p:sp>
        <p:nvSpPr>
          <p:cNvPr id="56" name="Espace réservé du texte 8">
            <a:extLst>
              <a:ext uri="{FF2B5EF4-FFF2-40B4-BE49-F238E27FC236}">
                <a16:creationId xmlns:a16="http://schemas.microsoft.com/office/drawing/2014/main" id="{D5F58C06-4F66-7557-0A4D-07617442C8B1}"/>
              </a:ext>
            </a:extLst>
          </p:cNvPr>
          <p:cNvSpPr txBox="1">
            <a:spLocks/>
          </p:cNvSpPr>
          <p:nvPr/>
        </p:nvSpPr>
        <p:spPr>
          <a:xfrm>
            <a:off x="734046" y="810900"/>
            <a:ext cx="11457954" cy="2308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spc="-30">
                <a:solidFill>
                  <a:schemeClr val="accent3"/>
                </a:solidFill>
                <a:latin typeface="Montserrat" pitchFamily="2" charset="77"/>
              </a:rPr>
              <a:t>Plus souvent en formation la première année, au-dessus des témoins en emploi durable et jusqu’à 6 points de plus en emploi non salarié</a:t>
            </a:r>
          </a:p>
        </p:txBody>
      </p:sp>
      <p:sp>
        <p:nvSpPr>
          <p:cNvPr id="58" name="Espace réservé du texte 2">
            <a:extLst>
              <a:ext uri="{FF2B5EF4-FFF2-40B4-BE49-F238E27FC236}">
                <a16:creationId xmlns:a16="http://schemas.microsoft.com/office/drawing/2014/main" id="{23C6FFC9-3F26-BD3E-7F95-D4CE85DFA575}"/>
              </a:ext>
            </a:extLst>
          </p:cNvPr>
          <p:cNvSpPr txBox="1">
            <a:spLocks/>
          </p:cNvSpPr>
          <p:nvPr/>
        </p:nvSpPr>
        <p:spPr>
          <a:xfrm>
            <a:off x="937012" y="3494931"/>
            <a:ext cx="3590051" cy="1000003"/>
          </a:xfrm>
          <a:prstGeom prst="rect">
            <a:avLst/>
          </a:prstGeom>
          <a:solidFill>
            <a:srgbClr val="E8F2E0">
              <a:alpha val="1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br>
              <a:rPr lang="fr-FR" noProof="0">
                <a:highlight>
                  <a:srgbClr val="FFFF00"/>
                </a:highlight>
              </a:rPr>
            </a:br>
            <a:endParaRPr lang="fr-FR" noProof="0">
              <a:solidFill>
                <a:srgbClr val="E8F2E0"/>
              </a:solidFill>
              <a:highlight>
                <a:srgbClr val="FFFF00"/>
              </a:highlight>
            </a:endParaRPr>
          </a:p>
        </p:txBody>
      </p:sp>
      <p:sp>
        <p:nvSpPr>
          <p:cNvPr id="60" name="Espace réservé du texte 2">
            <a:extLst>
              <a:ext uri="{FF2B5EF4-FFF2-40B4-BE49-F238E27FC236}">
                <a16:creationId xmlns:a16="http://schemas.microsoft.com/office/drawing/2014/main" id="{F5D84363-612D-BE16-FC24-EE692C57015C}"/>
              </a:ext>
            </a:extLst>
          </p:cNvPr>
          <p:cNvSpPr txBox="1">
            <a:spLocks/>
          </p:cNvSpPr>
          <p:nvPr/>
        </p:nvSpPr>
        <p:spPr>
          <a:xfrm>
            <a:off x="4736654" y="1341940"/>
            <a:ext cx="3486741" cy="3152995"/>
          </a:xfrm>
          <a:prstGeom prst="rect">
            <a:avLst/>
          </a:prstGeom>
          <a:solidFill>
            <a:srgbClr val="E6F2F2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endParaRPr lang="fr-FR" b="0" noProof="0">
              <a:solidFill>
                <a:srgbClr val="E8F2E0"/>
              </a:solidFill>
            </a:endParaRP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62" name="Espace réservé du texte 2">
            <a:extLst>
              <a:ext uri="{FF2B5EF4-FFF2-40B4-BE49-F238E27FC236}">
                <a16:creationId xmlns:a16="http://schemas.microsoft.com/office/drawing/2014/main" id="{4F2584F1-C4E1-3563-400F-915CDB384CBD}"/>
              </a:ext>
            </a:extLst>
          </p:cNvPr>
          <p:cNvSpPr txBox="1">
            <a:spLocks/>
          </p:cNvSpPr>
          <p:nvPr/>
        </p:nvSpPr>
        <p:spPr>
          <a:xfrm>
            <a:off x="8278229" y="1755648"/>
            <a:ext cx="3647071" cy="2727984"/>
          </a:xfrm>
          <a:prstGeom prst="rect">
            <a:avLst/>
          </a:prstGeom>
          <a:solidFill>
            <a:srgbClr val="FFEACC">
              <a:alpha val="1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endParaRPr lang="fr-FR" b="0" noProof="0">
              <a:solidFill>
                <a:srgbClr val="E8F2E0"/>
              </a:solidFill>
            </a:endParaRP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DA753D81-319E-0F04-8EEC-E8767BEFF671}"/>
              </a:ext>
            </a:extLst>
          </p:cNvPr>
          <p:cNvSpPr txBox="1">
            <a:spLocks/>
          </p:cNvSpPr>
          <p:nvPr/>
        </p:nvSpPr>
        <p:spPr>
          <a:xfrm>
            <a:off x="1040322" y="1368051"/>
            <a:ext cx="3486741" cy="3152995"/>
          </a:xfrm>
          <a:prstGeom prst="rect">
            <a:avLst/>
          </a:prstGeom>
          <a:solidFill>
            <a:srgbClr val="E5F1DD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endParaRPr lang="fr-FR" b="0" noProof="0">
              <a:solidFill>
                <a:srgbClr val="E8F2E0"/>
              </a:solidFill>
            </a:endParaRPr>
          </a:p>
          <a:p>
            <a:endParaRPr lang="fr-FR" b="0" noProof="0">
              <a:solidFill>
                <a:srgbClr val="E8F2E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9152A-5E21-9749-6E30-E0BFE3E0A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 : coins arrondis 180">
            <a:extLst>
              <a:ext uri="{FF2B5EF4-FFF2-40B4-BE49-F238E27FC236}">
                <a16:creationId xmlns:a16="http://schemas.microsoft.com/office/drawing/2014/main" id="{46E956C9-862D-D048-28B6-B2B41F09B22A}"/>
              </a:ext>
            </a:extLst>
          </p:cNvPr>
          <p:cNvSpPr/>
          <p:nvPr/>
        </p:nvSpPr>
        <p:spPr>
          <a:xfrm>
            <a:off x="8826273" y="5760058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0BB3E5EE-ABF1-6077-0A08-909D04E0AC4A}"/>
              </a:ext>
            </a:extLst>
          </p:cNvPr>
          <p:cNvSpPr txBox="1">
            <a:spLocks/>
          </p:cNvSpPr>
          <p:nvPr/>
        </p:nvSpPr>
        <p:spPr>
          <a:xfrm>
            <a:off x="6622759" y="1446123"/>
            <a:ext cx="5438989" cy="4099413"/>
          </a:xfrm>
          <a:prstGeom prst="rect">
            <a:avLst/>
          </a:prstGeom>
          <a:solidFill>
            <a:srgbClr val="F2F8F9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endParaRPr lang="fr-FR" b="0" noProof="0">
              <a:solidFill>
                <a:srgbClr val="E8F2E0"/>
              </a:solidFill>
            </a:endParaRP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E96B15C-959A-5688-11FE-6C1A3EE862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36908" y="38220"/>
            <a:ext cx="8061749" cy="199465"/>
          </a:xfrm>
        </p:spPr>
        <p:txBody>
          <a:bodyPr/>
          <a:lstStyle/>
          <a:p>
            <a:r>
              <a:rPr lang="fr-FR"/>
              <a:t>ESTIMATION CAUSALE À LONG TERME – EMPLOI SALARIé</a:t>
            </a:r>
          </a:p>
          <a:p>
            <a:endParaRPr lang="fr-FR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49587657-A25A-CE82-413D-F31DF0381E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B67111B-E188-9C9C-E0AA-93A4159785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7735" y="555542"/>
            <a:ext cx="11594749" cy="432000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-60" normalizeH="0" noProof="0">
                <a:ln>
                  <a:noFill/>
                </a:ln>
                <a:solidFill>
                  <a:srgbClr val="94C43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SUR 6 ANS, UN CHOC D’UN POINT ET DEMI QUI S’EFFACE EN UN AN, PUIS UN ÉCART RÉSIDUEL QUI SE STABILISE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25B2EEB-CCC5-038A-805B-A811C421D9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735" y="827069"/>
            <a:ext cx="10975573" cy="4571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7C8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Cohorte de 2019 suivie sur 72 mois, effet de la RCI en écarts aux témoins appariés, en points de taux de présence en emploi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696CFF03-21A0-0B42-6DB8-A78FBF9F634E}"/>
              </a:ext>
            </a:extLst>
          </p:cNvPr>
          <p:cNvSpPr/>
          <p:nvPr/>
        </p:nvSpPr>
        <p:spPr>
          <a:xfrm>
            <a:off x="938294" y="5801909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30801E6C-80B9-1FB1-49B6-2BFE64BAACD0}"/>
              </a:ext>
            </a:extLst>
          </p:cNvPr>
          <p:cNvGrpSpPr/>
          <p:nvPr/>
        </p:nvGrpSpPr>
        <p:grpSpPr>
          <a:xfrm>
            <a:off x="863916" y="5729777"/>
            <a:ext cx="301154" cy="301154"/>
            <a:chOff x="1265826" y="-914400"/>
            <a:chExt cx="647641" cy="647641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31FF1903-CC7D-3996-D608-0E81A89ADBA6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22" name="Graphique 121" descr="Balance de la justice avec un remplissage uni">
              <a:extLst>
                <a:ext uri="{FF2B5EF4-FFF2-40B4-BE49-F238E27FC236}">
                  <a16:creationId xmlns:a16="http://schemas.microsoft.com/office/drawing/2014/main" id="{EA6B2969-3DFD-1AAA-CFF7-BCD07E5B0D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091C99E0-471E-612B-B234-24918EC0A03E}"/>
              </a:ext>
            </a:extLst>
          </p:cNvPr>
          <p:cNvSpPr txBox="1"/>
          <p:nvPr/>
        </p:nvSpPr>
        <p:spPr>
          <a:xfrm>
            <a:off x="1192382" y="5760893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CHOC INITIAL CONTENU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9846B0C9-EE4F-7EE1-91C8-154E966A28F8}"/>
              </a:ext>
            </a:extLst>
          </p:cNvPr>
          <p:cNvSpPr txBox="1"/>
          <p:nvPr/>
        </p:nvSpPr>
        <p:spPr>
          <a:xfrm>
            <a:off x="8955490" y="5712202"/>
            <a:ext cx="2869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ÉCART RÉSIDUEL FAIBLE ET STABLE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04CFF5D6-B96C-5112-F913-C3F7A7633946}"/>
              </a:ext>
            </a:extLst>
          </p:cNvPr>
          <p:cNvSpPr txBox="1"/>
          <p:nvPr/>
        </p:nvSpPr>
        <p:spPr>
          <a:xfrm rot="10800000" flipV="1">
            <a:off x="1053971" y="5994532"/>
            <a:ext cx="262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-1,55 pts en emploi salarié, -1,30 en emploi durable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CBC5B43-5F0D-C1AB-CC03-E22D499719C3}"/>
              </a:ext>
            </a:extLst>
          </p:cNvPr>
          <p:cNvSpPr txBox="1"/>
          <p:nvPr/>
        </p:nvSpPr>
        <p:spPr>
          <a:xfrm>
            <a:off x="7889071" y="1423227"/>
            <a:ext cx="2906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EMPLOI DURABLE 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8" name="Graphique 37" descr="Badge avec un remplissage uni">
            <a:extLst>
              <a:ext uri="{FF2B5EF4-FFF2-40B4-BE49-F238E27FC236}">
                <a16:creationId xmlns:a16="http://schemas.microsoft.com/office/drawing/2014/main" id="{6C467B34-9B69-936B-97CC-8D96139E3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37351" y="1334972"/>
            <a:ext cx="285166" cy="285166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D78CB840-0A71-B303-6007-27F4B2C9F216}"/>
              </a:ext>
            </a:extLst>
          </p:cNvPr>
          <p:cNvSpPr txBox="1">
            <a:spLocks/>
          </p:cNvSpPr>
          <p:nvPr/>
        </p:nvSpPr>
        <p:spPr>
          <a:xfrm>
            <a:off x="945253" y="1446123"/>
            <a:ext cx="5438989" cy="4099413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pic>
        <p:nvPicPr>
          <p:cNvPr id="26" name="Graphique 25" descr="Badge 1 avec un remplissage uni">
            <a:extLst>
              <a:ext uri="{FF2B5EF4-FFF2-40B4-BE49-F238E27FC236}">
                <a16:creationId xmlns:a16="http://schemas.microsoft.com/office/drawing/2014/main" id="{F10E82B7-94C2-0EDA-D1DB-52E78B796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3916" y="1350953"/>
            <a:ext cx="285166" cy="28516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EA30B9D6-B402-505F-A830-04CAEC478DB0}"/>
              </a:ext>
            </a:extLst>
          </p:cNvPr>
          <p:cNvSpPr txBox="1"/>
          <p:nvPr/>
        </p:nvSpPr>
        <p:spPr>
          <a:xfrm>
            <a:off x="2422798" y="1412851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EMPLOI SALARIÉ 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62063C6-17B7-C0BC-6B72-BE521C5C7517}"/>
              </a:ext>
            </a:extLst>
          </p:cNvPr>
          <p:cNvSpPr/>
          <p:nvPr/>
        </p:nvSpPr>
        <p:spPr>
          <a:xfrm>
            <a:off x="946910" y="4863067"/>
            <a:ext cx="5438989" cy="531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5" name="ZoneTexte 174">
            <a:extLst>
              <a:ext uri="{FF2B5EF4-FFF2-40B4-BE49-F238E27FC236}">
                <a16:creationId xmlns:a16="http://schemas.microsoft.com/office/drawing/2014/main" id="{002DF52A-B373-CBFC-13E4-F8338E3D8E1F}"/>
              </a:ext>
            </a:extLst>
          </p:cNvPr>
          <p:cNvSpPr txBox="1"/>
          <p:nvPr/>
        </p:nvSpPr>
        <p:spPr>
          <a:xfrm>
            <a:off x="939284" y="4948079"/>
            <a:ext cx="547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PASSÉ  2 ANS, L’ÉCART SE STABILISE À 0,5 MOIS; SOIT UNE PERSONNE SUR 200 EN MOINS EN EMPLOI SALARIÉ</a:t>
            </a:r>
            <a:endParaRPr lang="fr-FR" sz="900" i="1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9" name="Rectangle : coins arrondis 178">
            <a:extLst>
              <a:ext uri="{FF2B5EF4-FFF2-40B4-BE49-F238E27FC236}">
                <a16:creationId xmlns:a16="http://schemas.microsoft.com/office/drawing/2014/main" id="{B19DFF9E-4E3A-C229-B5FA-8C04714C0399}"/>
              </a:ext>
            </a:extLst>
          </p:cNvPr>
          <p:cNvSpPr/>
          <p:nvPr/>
        </p:nvSpPr>
        <p:spPr>
          <a:xfrm>
            <a:off x="4882284" y="5765640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C1D5DF20-6297-F4FB-31CF-8BE737E2E308}"/>
              </a:ext>
            </a:extLst>
          </p:cNvPr>
          <p:cNvSpPr txBox="1"/>
          <p:nvPr/>
        </p:nvSpPr>
        <p:spPr>
          <a:xfrm>
            <a:off x="5030875" y="5727283"/>
            <a:ext cx="284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5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FENÊTRE DE CONVERGENCE VERS 2 À 3 ANS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AF092E0B-0226-50A8-0984-C1C896BB7938}"/>
              </a:ext>
            </a:extLst>
          </p:cNvPr>
          <p:cNvSpPr txBox="1"/>
          <p:nvPr/>
        </p:nvSpPr>
        <p:spPr>
          <a:xfrm rot="10800000" flipV="1">
            <a:off x="4969295" y="6037892"/>
            <a:ext cx="284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Écart nul pour l'emploi salariés et avantage significatif  pour l’emploi durable de 27 à 33 mois</a:t>
            </a:r>
          </a:p>
        </p:txBody>
      </p: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A34FD945-CB33-DE27-A30E-6D142CDC82BE}"/>
              </a:ext>
            </a:extLst>
          </p:cNvPr>
          <p:cNvGrpSpPr/>
          <p:nvPr/>
        </p:nvGrpSpPr>
        <p:grpSpPr>
          <a:xfrm>
            <a:off x="4772201" y="5696342"/>
            <a:ext cx="301154" cy="301154"/>
            <a:chOff x="1265826" y="-914400"/>
            <a:chExt cx="647641" cy="647641"/>
          </a:xfrm>
        </p:grpSpPr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891003B8-EEEE-8415-A71E-A6489FE4FAE5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84" name="Graphique 183" descr="Graphique à barres avec tendance à la hausse avec un remplissage uni">
              <a:extLst>
                <a:ext uri="{FF2B5EF4-FFF2-40B4-BE49-F238E27FC236}">
                  <a16:creationId xmlns:a16="http://schemas.microsoft.com/office/drawing/2014/main" id="{25CBCAC9-6768-37EA-41F6-EA32D728F4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grpSp>
        <p:nvGrpSpPr>
          <p:cNvPr id="185" name="Groupe 184">
            <a:extLst>
              <a:ext uri="{FF2B5EF4-FFF2-40B4-BE49-F238E27FC236}">
                <a16:creationId xmlns:a16="http://schemas.microsoft.com/office/drawing/2014/main" id="{BF188D3A-AAB0-2FAE-50DD-15AA6D632136}"/>
              </a:ext>
            </a:extLst>
          </p:cNvPr>
          <p:cNvGrpSpPr/>
          <p:nvPr/>
        </p:nvGrpSpPr>
        <p:grpSpPr>
          <a:xfrm>
            <a:off x="8739997" y="5684655"/>
            <a:ext cx="301154" cy="301154"/>
            <a:chOff x="1265826" y="-914400"/>
            <a:chExt cx="647641" cy="647641"/>
          </a:xfrm>
        </p:grpSpPr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6A9BCC6B-C66B-D74D-0E16-4A5FBD29F615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87" name="Graphique 186" descr="Sablier 60% avec un remplissage uni">
              <a:extLst>
                <a:ext uri="{FF2B5EF4-FFF2-40B4-BE49-F238E27FC236}">
                  <a16:creationId xmlns:a16="http://schemas.microsoft.com/office/drawing/2014/main" id="{2B3799F0-4EAA-9335-F466-2BB38352D7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sp>
        <p:nvSpPr>
          <p:cNvPr id="209" name="ZoneTexte 208">
            <a:extLst>
              <a:ext uri="{FF2B5EF4-FFF2-40B4-BE49-F238E27FC236}">
                <a16:creationId xmlns:a16="http://schemas.microsoft.com/office/drawing/2014/main" id="{53C1ACA5-B0CC-ED93-4F50-DC0B5E68328D}"/>
              </a:ext>
            </a:extLst>
          </p:cNvPr>
          <p:cNvSpPr txBox="1"/>
          <p:nvPr/>
        </p:nvSpPr>
        <p:spPr>
          <a:xfrm>
            <a:off x="1053972" y="4370482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2019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2" name="ZoneTexte 211">
            <a:extLst>
              <a:ext uri="{FF2B5EF4-FFF2-40B4-BE49-F238E27FC236}">
                <a16:creationId xmlns:a16="http://schemas.microsoft.com/office/drawing/2014/main" id="{B33FF20E-8D99-839B-28AA-669E572D52DC}"/>
              </a:ext>
            </a:extLst>
          </p:cNvPr>
          <p:cNvSpPr txBox="1"/>
          <p:nvPr/>
        </p:nvSpPr>
        <p:spPr>
          <a:xfrm>
            <a:off x="6731478" y="4400147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2019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B875762-F1A2-04F9-0825-392AFA4863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395" y="1720816"/>
            <a:ext cx="4934704" cy="26314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6A48F6-8D1C-C5AE-DD7E-E937581D81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3910" y="1718447"/>
            <a:ext cx="4916687" cy="26218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6201FE-9A3E-FADC-F663-AA3AF8F89046}"/>
              </a:ext>
            </a:extLst>
          </p:cNvPr>
          <p:cNvSpPr/>
          <p:nvPr/>
        </p:nvSpPr>
        <p:spPr>
          <a:xfrm>
            <a:off x="6622759" y="4863066"/>
            <a:ext cx="5438989" cy="531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510A84-3ECB-A028-FDCC-C96F1BF4903F}"/>
              </a:ext>
            </a:extLst>
          </p:cNvPr>
          <p:cNvSpPr/>
          <p:nvPr/>
        </p:nvSpPr>
        <p:spPr>
          <a:xfrm>
            <a:off x="3676280" y="1723122"/>
            <a:ext cx="726451" cy="2373307"/>
          </a:xfrm>
          <a:prstGeom prst="rect">
            <a:avLst/>
          </a:prstGeom>
          <a:solidFill>
            <a:srgbClr val="7BBB5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9A558662-1CC8-47EE-90BA-7802E310B0B9}"/>
              </a:ext>
            </a:extLst>
          </p:cNvPr>
          <p:cNvSpPr/>
          <p:nvPr/>
        </p:nvSpPr>
        <p:spPr>
          <a:xfrm>
            <a:off x="4479519" y="3427319"/>
            <a:ext cx="1531372" cy="505625"/>
          </a:xfrm>
          <a:prstGeom prst="roundRect">
            <a:avLst/>
          </a:prstGeom>
          <a:solidFill>
            <a:schemeClr val="bg1"/>
          </a:solidFill>
          <a:ln>
            <a:solidFill>
              <a:srgbClr val="00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7F1C1AC9-003B-9D88-BB6D-7D3FB5DD0659}"/>
              </a:ext>
            </a:extLst>
          </p:cNvPr>
          <p:cNvSpPr txBox="1"/>
          <p:nvPr/>
        </p:nvSpPr>
        <p:spPr>
          <a:xfrm>
            <a:off x="3619562" y="3380674"/>
            <a:ext cx="8491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Quasi-fermeture de l’écart</a:t>
            </a:r>
          </a:p>
        </p:txBody>
      </p:sp>
      <p:sp>
        <p:nvSpPr>
          <p:cNvPr id="98" name="Rectangle : coins arrondis 97">
            <a:extLst>
              <a:ext uri="{FF2B5EF4-FFF2-40B4-BE49-F238E27FC236}">
                <a16:creationId xmlns:a16="http://schemas.microsoft.com/office/drawing/2014/main" id="{3F2DDFAB-B634-AE82-B7AA-68DBD4B40D85}"/>
              </a:ext>
            </a:extLst>
          </p:cNvPr>
          <p:cNvSpPr/>
          <p:nvPr/>
        </p:nvSpPr>
        <p:spPr>
          <a:xfrm>
            <a:off x="10259405" y="3462512"/>
            <a:ext cx="1410081" cy="505625"/>
          </a:xfrm>
          <a:prstGeom prst="roundRect">
            <a:avLst/>
          </a:prstGeom>
          <a:solidFill>
            <a:schemeClr val="bg1"/>
          </a:solidFill>
          <a:ln>
            <a:solidFill>
              <a:srgbClr val="00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2" name="Rectangle : coins arrondis 91">
            <a:extLst>
              <a:ext uri="{FF2B5EF4-FFF2-40B4-BE49-F238E27FC236}">
                <a16:creationId xmlns:a16="http://schemas.microsoft.com/office/drawing/2014/main" id="{267144CE-ADA6-A590-A9DA-8FF98C681516}"/>
              </a:ext>
            </a:extLst>
          </p:cNvPr>
          <p:cNvSpPr/>
          <p:nvPr/>
        </p:nvSpPr>
        <p:spPr>
          <a:xfrm>
            <a:off x="1746959" y="3607151"/>
            <a:ext cx="857810" cy="440742"/>
          </a:xfrm>
          <a:prstGeom prst="roundRect">
            <a:avLst/>
          </a:prstGeom>
          <a:solidFill>
            <a:schemeClr val="bg1"/>
          </a:solidFill>
          <a:ln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8E4DFC9B-7511-346C-8BEE-C4AF3F976279}"/>
              </a:ext>
            </a:extLst>
          </p:cNvPr>
          <p:cNvCxnSpPr>
            <a:cxnSpLocks/>
          </p:cNvCxnSpPr>
          <p:nvPr/>
        </p:nvCxnSpPr>
        <p:spPr>
          <a:xfrm flipH="1">
            <a:off x="2604769" y="3797147"/>
            <a:ext cx="329034" cy="96368"/>
          </a:xfrm>
          <a:prstGeom prst="straightConnector1">
            <a:avLst/>
          </a:prstGeom>
          <a:ln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ZoneTexte 87">
            <a:extLst>
              <a:ext uri="{FF2B5EF4-FFF2-40B4-BE49-F238E27FC236}">
                <a16:creationId xmlns:a16="http://schemas.microsoft.com/office/drawing/2014/main" id="{8A93FA9E-E08A-13DA-462F-AC08F69890AB}"/>
              </a:ext>
            </a:extLst>
          </p:cNvPr>
          <p:cNvSpPr txBox="1"/>
          <p:nvPr/>
        </p:nvSpPr>
        <p:spPr>
          <a:xfrm>
            <a:off x="1764014" y="3648458"/>
            <a:ext cx="849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-1,5 pt au 3</a:t>
            </a:r>
            <a:r>
              <a:rPr lang="fr-FR" sz="1000" b="1" spc="-5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00" b="1" spc="-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mois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197488D-04DB-BDB6-8202-A04FF974D2DB}"/>
              </a:ext>
            </a:extLst>
          </p:cNvPr>
          <p:cNvSpPr txBox="1"/>
          <p:nvPr/>
        </p:nvSpPr>
        <p:spPr>
          <a:xfrm>
            <a:off x="4402731" y="3427319"/>
            <a:ext cx="16619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5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la 4</a:t>
            </a:r>
            <a:r>
              <a:rPr lang="fr-FR" sz="1000" b="1" spc="-50" baseline="3000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00" b="1" spc="-5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à la 6</a:t>
            </a:r>
            <a:r>
              <a:rPr lang="fr-FR" sz="1000" b="1" spc="-50" baseline="3000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00" b="1" spc="-5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année, un écart stable autour de 0,5 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DCD486-239D-8C0F-CBC0-1FC12994F057}"/>
              </a:ext>
            </a:extLst>
          </p:cNvPr>
          <p:cNvSpPr/>
          <p:nvPr/>
        </p:nvSpPr>
        <p:spPr>
          <a:xfrm>
            <a:off x="9471629" y="1727773"/>
            <a:ext cx="726451" cy="2381130"/>
          </a:xfrm>
          <a:prstGeom prst="rect">
            <a:avLst/>
          </a:prstGeom>
          <a:solidFill>
            <a:srgbClr val="7BBB5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2E2A21C-491A-7AA7-496F-1A9D4C6904E0}"/>
              </a:ext>
            </a:extLst>
          </p:cNvPr>
          <p:cNvSpPr txBox="1"/>
          <p:nvPr/>
        </p:nvSpPr>
        <p:spPr>
          <a:xfrm>
            <a:off x="9410303" y="3386951"/>
            <a:ext cx="849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Avantage</a:t>
            </a:r>
          </a:p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significatif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14D6C72-A5BD-52DB-FC60-2D12EFBC9E2F}"/>
              </a:ext>
            </a:extLst>
          </p:cNvPr>
          <p:cNvSpPr/>
          <p:nvPr/>
        </p:nvSpPr>
        <p:spPr>
          <a:xfrm>
            <a:off x="7451993" y="3527395"/>
            <a:ext cx="857810" cy="440742"/>
          </a:xfrm>
          <a:prstGeom prst="roundRect">
            <a:avLst/>
          </a:prstGeom>
          <a:solidFill>
            <a:schemeClr val="bg1"/>
          </a:solidFill>
          <a:ln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2EB8060-A351-AB12-F0C0-7D6BAED92B09}"/>
              </a:ext>
            </a:extLst>
          </p:cNvPr>
          <p:cNvSpPr txBox="1"/>
          <p:nvPr/>
        </p:nvSpPr>
        <p:spPr>
          <a:xfrm>
            <a:off x="7455753" y="3558859"/>
            <a:ext cx="849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-1,3 pt au 3</a:t>
            </a:r>
            <a:r>
              <a:rPr lang="fr-FR" sz="1000" b="1" spc="-5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00" b="1" spc="-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mois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6808E736-62EE-B7B7-AF63-2E8E8C67B564}"/>
              </a:ext>
            </a:extLst>
          </p:cNvPr>
          <p:cNvCxnSpPr>
            <a:cxnSpLocks/>
          </p:cNvCxnSpPr>
          <p:nvPr/>
        </p:nvCxnSpPr>
        <p:spPr>
          <a:xfrm flipV="1">
            <a:off x="8314102" y="3787061"/>
            <a:ext cx="284508" cy="23395"/>
          </a:xfrm>
          <a:prstGeom prst="straightConnector1">
            <a:avLst/>
          </a:prstGeom>
          <a:ln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FA2AD08B-01E0-FC44-A7E7-8334A6516BCC}"/>
              </a:ext>
            </a:extLst>
          </p:cNvPr>
          <p:cNvSpPr txBox="1"/>
          <p:nvPr/>
        </p:nvSpPr>
        <p:spPr>
          <a:xfrm>
            <a:off x="10323188" y="3514783"/>
            <a:ext cx="1238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5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Écart stable de 0,35 pts jusqu’à 6 ans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18980E4-6CB1-387F-A9F3-439D284B2C12}"/>
              </a:ext>
            </a:extLst>
          </p:cNvPr>
          <p:cNvSpPr txBox="1"/>
          <p:nvPr/>
        </p:nvSpPr>
        <p:spPr>
          <a:xfrm>
            <a:off x="6709561" y="4941675"/>
            <a:ext cx="502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 2 À 3 ANS, LES RCI SONT BEAUCOUP PLUS EN EMPLOI DURABLE QUE LEURS TÉMOINS APPARIÉS, UN LÉGER DÉFICIT APPARAÎT PAR LA SUITE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B377A69-2337-3BC3-EC04-169FA0BF1433}"/>
              </a:ext>
            </a:extLst>
          </p:cNvPr>
          <p:cNvSpPr txBox="1"/>
          <p:nvPr/>
        </p:nvSpPr>
        <p:spPr>
          <a:xfrm rot="10800000" flipV="1">
            <a:off x="8892829" y="5974825"/>
            <a:ext cx="2907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0,45 points en emploi salarié et 0,5 points en emploi durable à 6 ans</a:t>
            </a:r>
          </a:p>
        </p:txBody>
      </p:sp>
    </p:spTree>
    <p:extLst>
      <p:ext uri="{BB962C8B-B14F-4D97-AF65-F5344CB8AC3E}">
        <p14:creationId xmlns:p14="http://schemas.microsoft.com/office/powerpoint/2010/main" val="4283139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CA345-89E6-73F4-4E68-686933CE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551E202-420B-8C3A-81F8-7D2D80795B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6310" y="39960"/>
            <a:ext cx="8061749" cy="199465"/>
          </a:xfrm>
        </p:spPr>
        <p:txBody>
          <a:bodyPr/>
          <a:lstStyle/>
          <a:p>
            <a:r>
              <a:rPr lang="fr-FR"/>
              <a:t>ESTIMATION CAUSALE À LONG TERME – EMPLOI NON SALARIé</a:t>
            </a:r>
          </a:p>
          <a:p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0E7153-1396-516B-E4D8-1E7958136B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50972" y="1455045"/>
            <a:ext cx="6555161" cy="4891326"/>
          </a:xfrm>
          <a:solidFill>
            <a:srgbClr val="E6F2F2">
              <a:alpha val="5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  <a:p>
            <a:r>
              <a:rPr lang="fr-FR" b="0" noProof="0">
                <a:solidFill>
                  <a:srgbClr val="E8F2E0"/>
                </a:solidFill>
              </a:rPr>
              <a:t>S   FFF</a:t>
            </a:r>
            <a:endParaRPr lang="fr-FR" b="0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E1D0DF13-F75F-8B2F-4295-664700D22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CE3954D-B0BA-851C-D24E-4AF5FA5462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7" y="406495"/>
            <a:ext cx="11110569" cy="432000"/>
          </a:xfrm>
        </p:spPr>
        <p:txBody>
          <a:bodyPr/>
          <a:lstStyle/>
          <a:p>
            <a:r>
              <a:rPr lang="fr-FR"/>
              <a:t>AU TOTAL, LES SIGNATAIRES DE RCI SONT PLUS SOUVENT EN EMPLOI QUE LEURS TÉMOINS</a:t>
            </a:r>
            <a:endParaRPr lang="fr-FR" spc="-40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D18CA4B-1DF0-7FEF-1820-A35F2A16F4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563" y="674555"/>
            <a:ext cx="10967748" cy="196512"/>
          </a:xfrm>
        </p:spPr>
        <p:txBody>
          <a:bodyPr/>
          <a:lstStyle/>
          <a:p>
            <a:pPr>
              <a:defRPr/>
            </a:pPr>
            <a:r>
              <a:rPr lang="fr-FR" sz="1400">
                <a:solidFill>
                  <a:srgbClr val="007C80"/>
                </a:solidFill>
              </a:rPr>
              <a:t>Six ans après la rupture, +3,3 points en emploi salarié ou non salarié : le léger déficit en emploi salarié est plus que compensé par l'installation à son compte</a:t>
            </a:r>
          </a:p>
        </p:txBody>
      </p:sp>
      <p:pic>
        <p:nvPicPr>
          <p:cNvPr id="5" name="Graphique 4" descr="Badge 1 avec un remplissage uni">
            <a:extLst>
              <a:ext uri="{FF2B5EF4-FFF2-40B4-BE49-F238E27FC236}">
                <a16:creationId xmlns:a16="http://schemas.microsoft.com/office/drawing/2014/main" id="{11960F8B-7318-314B-737E-1F297A24F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3719" y="1455046"/>
            <a:ext cx="285166" cy="285166"/>
          </a:xfrm>
          <a:prstGeom prst="rect">
            <a:avLst/>
          </a:prstGeom>
        </p:spPr>
      </p:pic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505306C0-606A-2C03-0224-A6EA186899FA}"/>
              </a:ext>
            </a:extLst>
          </p:cNvPr>
          <p:cNvSpPr txBox="1">
            <a:spLocks/>
          </p:cNvSpPr>
          <p:nvPr/>
        </p:nvSpPr>
        <p:spPr>
          <a:xfrm>
            <a:off x="7762087" y="1455045"/>
            <a:ext cx="4379289" cy="4891326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pic>
        <p:nvPicPr>
          <p:cNvPr id="41" name="Graphique 40" descr="Badge avec un remplissage uni">
            <a:extLst>
              <a:ext uri="{FF2B5EF4-FFF2-40B4-BE49-F238E27FC236}">
                <a16:creationId xmlns:a16="http://schemas.microsoft.com/office/drawing/2014/main" id="{575D8201-1F75-1FF8-6DE6-8E53F04A3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806528" y="1455046"/>
            <a:ext cx="285166" cy="285166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136C9725-F899-1C7A-726E-1FA9EAE76CD3}"/>
              </a:ext>
            </a:extLst>
          </p:cNvPr>
          <p:cNvSpPr/>
          <p:nvPr/>
        </p:nvSpPr>
        <p:spPr>
          <a:xfrm>
            <a:off x="7769125" y="4450343"/>
            <a:ext cx="4379289" cy="449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B31678E-7CA3-0793-DEE1-60B459889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444" y="1956097"/>
            <a:ext cx="5811208" cy="30988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F004858-CD05-57DE-7800-E124B21164A2}"/>
              </a:ext>
            </a:extLst>
          </p:cNvPr>
          <p:cNvSpPr txBox="1"/>
          <p:nvPr/>
        </p:nvSpPr>
        <p:spPr>
          <a:xfrm>
            <a:off x="2371440" y="1433500"/>
            <a:ext cx="3657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EMPLOI GLOBAL (SALARIÉ OU NON SALARIÉ)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7B74701-7E04-2552-F7DC-A35573C17AB7}"/>
              </a:ext>
            </a:extLst>
          </p:cNvPr>
          <p:cNvSpPr txBox="1"/>
          <p:nvPr/>
        </p:nvSpPr>
        <p:spPr>
          <a:xfrm>
            <a:off x="712613" y="5054941"/>
            <a:ext cx="655516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2019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F36BB8-9275-0630-545E-6F10A50E090E}"/>
              </a:ext>
            </a:extLst>
          </p:cNvPr>
          <p:cNvSpPr/>
          <p:nvPr/>
        </p:nvSpPr>
        <p:spPr>
          <a:xfrm>
            <a:off x="750971" y="5766910"/>
            <a:ext cx="6555161" cy="355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3E8B11C-3ADA-551D-E1D8-29620F38FDD9}"/>
              </a:ext>
            </a:extLst>
          </p:cNvPr>
          <p:cNvSpPr txBox="1"/>
          <p:nvPr/>
        </p:nvSpPr>
        <p:spPr>
          <a:xfrm>
            <a:off x="398849" y="5778424"/>
            <a:ext cx="7259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L’emploi, qu’il soit salarié ou non est plus fréquent chez les  RCI après la rupture du contrat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7391C38-D403-3A3F-AFA4-FD0237A88A24}"/>
              </a:ext>
            </a:extLst>
          </p:cNvPr>
          <p:cNvSpPr txBox="1"/>
          <p:nvPr/>
        </p:nvSpPr>
        <p:spPr>
          <a:xfrm>
            <a:off x="8123151" y="1463213"/>
            <a:ext cx="3657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ACTIVITÉ NON SALARIÉE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1A873DFC-1B79-6D22-E77C-7705F7B83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890" y="1740212"/>
            <a:ext cx="4229680" cy="2255489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B796CD69-4312-EF20-2F5D-BE28CA1DF451}"/>
              </a:ext>
            </a:extLst>
          </p:cNvPr>
          <p:cNvSpPr txBox="1"/>
          <p:nvPr/>
        </p:nvSpPr>
        <p:spPr>
          <a:xfrm>
            <a:off x="7806528" y="4004505"/>
            <a:ext cx="430448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2019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DC63A51-73B6-41C2-1405-43E5065E0150}"/>
              </a:ext>
            </a:extLst>
          </p:cNvPr>
          <p:cNvSpPr txBox="1"/>
          <p:nvPr/>
        </p:nvSpPr>
        <p:spPr>
          <a:xfrm>
            <a:off x="7987185" y="4436566"/>
            <a:ext cx="4126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Sur 100 RCI, environ 5 sont à leur compte alors que leurs témoins ne le sont pas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01AB551E-BBB7-7E29-F48B-3F90CCB75664}"/>
              </a:ext>
            </a:extLst>
          </p:cNvPr>
          <p:cNvGrpSpPr/>
          <p:nvPr/>
        </p:nvGrpSpPr>
        <p:grpSpPr>
          <a:xfrm>
            <a:off x="7987185" y="5113480"/>
            <a:ext cx="271932" cy="1169921"/>
            <a:chOff x="7987185" y="5113480"/>
            <a:chExt cx="271932" cy="1169921"/>
          </a:xfrm>
        </p:grpSpPr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62ABCAD-4EEB-ACB3-F92D-C7DCB91DA449}"/>
                </a:ext>
              </a:extLst>
            </p:cNvPr>
            <p:cNvGrpSpPr/>
            <p:nvPr/>
          </p:nvGrpSpPr>
          <p:grpSpPr>
            <a:xfrm>
              <a:off x="7987185" y="5113480"/>
              <a:ext cx="271932" cy="271932"/>
              <a:chOff x="1265826" y="-914400"/>
              <a:chExt cx="647641" cy="647641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5BFDD60E-D5EF-AFDA-F2F0-9ED6E88114B6}"/>
                  </a:ext>
                </a:extLst>
              </p:cNvPr>
              <p:cNvSpPr/>
              <p:nvPr/>
            </p:nvSpPr>
            <p:spPr>
              <a:xfrm>
                <a:off x="1265826" y="-914400"/>
                <a:ext cx="647641" cy="647641"/>
              </a:xfrm>
              <a:prstGeom prst="ellipse">
                <a:avLst/>
              </a:prstGeom>
              <a:solidFill>
                <a:srgbClr val="FF9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44" name="Graphique 43" descr="Porte-documents avec un remplissage uni">
                <a:extLst>
                  <a:ext uri="{FF2B5EF4-FFF2-40B4-BE49-F238E27FC236}">
                    <a16:creationId xmlns:a16="http://schemas.microsoft.com/office/drawing/2014/main" id="{5B444A98-F4BB-2F8D-4E58-51BB3E330D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1357178" y="-843087"/>
                <a:ext cx="464934" cy="464934"/>
              </a:xfrm>
              <a:prstGeom prst="rect">
                <a:avLst/>
              </a:prstGeom>
            </p:spPr>
          </p:pic>
        </p:grp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3D80BE83-CA4D-D3E2-BAF1-2C330B5AD14B}"/>
                </a:ext>
              </a:extLst>
            </p:cNvPr>
            <p:cNvGrpSpPr/>
            <p:nvPr/>
          </p:nvGrpSpPr>
          <p:grpSpPr>
            <a:xfrm>
              <a:off x="7987185" y="5562409"/>
              <a:ext cx="271932" cy="271932"/>
              <a:chOff x="1265826" y="-914400"/>
              <a:chExt cx="647641" cy="647641"/>
            </a:xfrm>
          </p:grpSpPr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D968738D-3508-EAAC-08FF-A73C07F998CF}"/>
                  </a:ext>
                </a:extLst>
              </p:cNvPr>
              <p:cNvSpPr/>
              <p:nvPr/>
            </p:nvSpPr>
            <p:spPr>
              <a:xfrm>
                <a:off x="1265826" y="-914400"/>
                <a:ext cx="647641" cy="647641"/>
              </a:xfrm>
              <a:prstGeom prst="ellipse">
                <a:avLst/>
              </a:prstGeom>
              <a:solidFill>
                <a:srgbClr val="FF9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50" name="Graphique 49" descr="Kiosque avec un remplissage uni">
                <a:extLst>
                  <a:ext uri="{FF2B5EF4-FFF2-40B4-BE49-F238E27FC236}">
                    <a16:creationId xmlns:a16="http://schemas.microsoft.com/office/drawing/2014/main" id="{4D4C3CD4-85BA-86DB-46F5-D2B9149A0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1357178" y="-843087"/>
                <a:ext cx="464934" cy="464934"/>
              </a:xfrm>
              <a:prstGeom prst="rect">
                <a:avLst/>
              </a:prstGeom>
            </p:spPr>
          </p:pic>
        </p:grpSp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70A44B3B-0FB2-2E72-CA54-307DFA9801B4}"/>
                </a:ext>
              </a:extLst>
            </p:cNvPr>
            <p:cNvGrpSpPr/>
            <p:nvPr/>
          </p:nvGrpSpPr>
          <p:grpSpPr>
            <a:xfrm>
              <a:off x="7987185" y="6011469"/>
              <a:ext cx="271932" cy="271932"/>
              <a:chOff x="1265824" y="-914086"/>
              <a:chExt cx="647640" cy="647641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53E52A2C-4DC7-6180-1EBC-88FE5EA7D7A6}"/>
                  </a:ext>
                </a:extLst>
              </p:cNvPr>
              <p:cNvSpPr/>
              <p:nvPr/>
            </p:nvSpPr>
            <p:spPr>
              <a:xfrm>
                <a:off x="1265824" y="-914086"/>
                <a:ext cx="647640" cy="647641"/>
              </a:xfrm>
              <a:prstGeom prst="ellipse">
                <a:avLst/>
              </a:prstGeom>
              <a:solidFill>
                <a:srgbClr val="FF9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60" name="Graphique 59" descr="Diagramme de Gantt avec un remplissage uni">
                <a:extLst>
                  <a:ext uri="{FF2B5EF4-FFF2-40B4-BE49-F238E27FC236}">
                    <a16:creationId xmlns:a16="http://schemas.microsoft.com/office/drawing/2014/main" id="{03EB3DEB-FE2C-D76E-EAE0-92B49C1F8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357178" y="-843087"/>
                <a:ext cx="464934" cy="464934"/>
              </a:xfrm>
              <a:prstGeom prst="rect">
                <a:avLst/>
              </a:prstGeom>
            </p:spPr>
          </p:pic>
        </p:grp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5DFC4C4D-F0C6-EE0A-C39F-37106026F986}"/>
              </a:ext>
            </a:extLst>
          </p:cNvPr>
          <p:cNvGrpSpPr/>
          <p:nvPr/>
        </p:nvGrpSpPr>
        <p:grpSpPr>
          <a:xfrm>
            <a:off x="7821709" y="5087142"/>
            <a:ext cx="1992505" cy="1196259"/>
            <a:chOff x="7821709" y="5087142"/>
            <a:chExt cx="1992505" cy="1196259"/>
          </a:xfrm>
        </p:grpSpPr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A714FDCE-1A38-117B-E480-CE5D4347601C}"/>
                </a:ext>
              </a:extLst>
            </p:cNvPr>
            <p:cNvSpPr txBox="1"/>
            <p:nvPr/>
          </p:nvSpPr>
          <p:spPr>
            <a:xfrm>
              <a:off x="7821709" y="5087142"/>
              <a:ext cx="1992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spc="-5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-0,45 pts</a:t>
              </a:r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3E419E19-3A2A-03CA-CE02-5E843CDAFE0D}"/>
                </a:ext>
              </a:extLst>
            </p:cNvPr>
            <p:cNvSpPr txBox="1"/>
            <p:nvPr/>
          </p:nvSpPr>
          <p:spPr>
            <a:xfrm>
              <a:off x="7821709" y="5536070"/>
              <a:ext cx="1992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spc="-50" noProof="0">
                  <a:solidFill>
                    <a:srgbClr val="7BBB5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+5 pts</a:t>
              </a:r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013FC7D5-28D0-C5D0-1A54-0EECB26C4BDE}"/>
                </a:ext>
              </a:extLst>
            </p:cNvPr>
            <p:cNvSpPr txBox="1"/>
            <p:nvPr/>
          </p:nvSpPr>
          <p:spPr>
            <a:xfrm>
              <a:off x="7821709" y="5975624"/>
              <a:ext cx="1992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spc="-50" noProof="0">
                  <a:solidFill>
                    <a:srgbClr val="7BBB5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+3,3 pts</a:t>
              </a:r>
            </a:p>
          </p:txBody>
        </p:sp>
      </p:grpSp>
      <p:sp>
        <p:nvSpPr>
          <p:cNvPr id="80" name="ZoneTexte 79">
            <a:extLst>
              <a:ext uri="{FF2B5EF4-FFF2-40B4-BE49-F238E27FC236}">
                <a16:creationId xmlns:a16="http://schemas.microsoft.com/office/drawing/2014/main" id="{81461B41-CD96-63CC-E18A-EB14839C7E11}"/>
              </a:ext>
            </a:extLst>
          </p:cNvPr>
          <p:cNvSpPr txBox="1"/>
          <p:nvPr/>
        </p:nvSpPr>
        <p:spPr>
          <a:xfrm>
            <a:off x="8123151" y="4901870"/>
            <a:ext cx="3657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DÉCOMPOSITION À 6 ANS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D2C27A36-AFDE-D440-D592-3D08BE39AD54}"/>
              </a:ext>
            </a:extLst>
          </p:cNvPr>
          <p:cNvSpPr txBox="1"/>
          <p:nvPr/>
        </p:nvSpPr>
        <p:spPr>
          <a:xfrm>
            <a:off x="7306132" y="5093580"/>
            <a:ext cx="7259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pc="-30" noProof="0">
                <a:latin typeface="Segoe UI" panose="020B0502040204020203" pitchFamily="34" charset="0"/>
                <a:cs typeface="Segoe UI" panose="020B0502040204020203" pitchFamily="34" charset="0"/>
              </a:rPr>
              <a:t>En emploi salarié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CC8DE1C2-538B-11C4-9160-35959707B36C}"/>
              </a:ext>
            </a:extLst>
          </p:cNvPr>
          <p:cNvSpPr txBox="1"/>
          <p:nvPr/>
        </p:nvSpPr>
        <p:spPr>
          <a:xfrm>
            <a:off x="7306132" y="5534456"/>
            <a:ext cx="7259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pc="-30" noProof="0">
                <a:latin typeface="Segoe UI" panose="020B0502040204020203" pitchFamily="34" charset="0"/>
                <a:cs typeface="Segoe UI" panose="020B0502040204020203" pitchFamily="34" charset="0"/>
              </a:rPr>
              <a:t>En emploi non salarié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D9E3890F-809D-1904-01FB-0D26EC56A045}"/>
              </a:ext>
            </a:extLst>
          </p:cNvPr>
          <p:cNvSpPr txBox="1"/>
          <p:nvPr/>
        </p:nvSpPr>
        <p:spPr>
          <a:xfrm>
            <a:off x="7306132" y="5975332"/>
            <a:ext cx="7259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pc="-30" noProof="0">
                <a:latin typeface="Segoe UI" panose="020B0502040204020203" pitchFamily="34" charset="0"/>
                <a:cs typeface="Segoe UI" panose="020B0502040204020203" pitchFamily="34" charset="0"/>
              </a:rPr>
              <a:t>En emploi global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27D1886-DD98-AE11-27C0-B55AEA50063E}"/>
              </a:ext>
            </a:extLst>
          </p:cNvPr>
          <p:cNvSpPr/>
          <p:nvPr/>
        </p:nvSpPr>
        <p:spPr>
          <a:xfrm rot="5400000">
            <a:off x="5550776" y="1916826"/>
            <a:ext cx="829187" cy="1719942"/>
          </a:xfrm>
          <a:prstGeom prst="rect">
            <a:avLst/>
          </a:prstGeom>
          <a:solidFill>
            <a:srgbClr val="7BBB5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1B06AC9E-7B53-B7A8-242D-ABF6E3BB5618}"/>
              </a:ext>
            </a:extLst>
          </p:cNvPr>
          <p:cNvSpPr txBox="1"/>
          <p:nvPr/>
        </p:nvSpPr>
        <p:spPr>
          <a:xfrm>
            <a:off x="4164549" y="2377480"/>
            <a:ext cx="3657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+3,3 POINTS</a:t>
            </a:r>
          </a:p>
        </p:txBody>
      </p:sp>
      <p:sp>
        <p:nvSpPr>
          <p:cNvPr id="97" name="Rectangle : coins arrondis 96">
            <a:extLst>
              <a:ext uri="{FF2B5EF4-FFF2-40B4-BE49-F238E27FC236}">
                <a16:creationId xmlns:a16="http://schemas.microsoft.com/office/drawing/2014/main" id="{65D9CB86-F137-6377-7E2B-E3D032646941}"/>
              </a:ext>
            </a:extLst>
          </p:cNvPr>
          <p:cNvSpPr/>
          <p:nvPr/>
        </p:nvSpPr>
        <p:spPr>
          <a:xfrm>
            <a:off x="3396344" y="2971020"/>
            <a:ext cx="1253100" cy="961954"/>
          </a:xfrm>
          <a:prstGeom prst="roundRect">
            <a:avLst/>
          </a:prstGeom>
          <a:solidFill>
            <a:schemeClr val="bg1"/>
          </a:solidFill>
          <a:ln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20B4AEEA-2D47-893F-E3FA-20897D2C1AA4}"/>
              </a:ext>
            </a:extLst>
          </p:cNvPr>
          <p:cNvCxnSpPr>
            <a:cxnSpLocks/>
            <a:stCxn id="97" idx="0"/>
          </p:cNvCxnSpPr>
          <p:nvPr/>
        </p:nvCxnSpPr>
        <p:spPr>
          <a:xfrm flipH="1" flipV="1">
            <a:off x="3819899" y="2327049"/>
            <a:ext cx="202995" cy="643971"/>
          </a:xfrm>
          <a:prstGeom prst="straightConnector1">
            <a:avLst/>
          </a:prstGeom>
          <a:ln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ZoneTexte 112">
            <a:extLst>
              <a:ext uri="{FF2B5EF4-FFF2-40B4-BE49-F238E27FC236}">
                <a16:creationId xmlns:a16="http://schemas.microsoft.com/office/drawing/2014/main" id="{2601448A-6CBF-1D99-5030-ACA64F9A6F9C}"/>
              </a:ext>
            </a:extLst>
          </p:cNvPr>
          <p:cNvSpPr txBox="1"/>
          <p:nvPr/>
        </p:nvSpPr>
        <p:spPr>
          <a:xfrm>
            <a:off x="3499945" y="3027643"/>
            <a:ext cx="1075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 à 4,3 points, puis reflux et stabilisation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199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E17AE-FD58-D350-7BFC-A27718A6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9C469E4-7A39-B545-C861-36FB1AEAA7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99387" y="152062"/>
            <a:ext cx="8061749" cy="199465"/>
          </a:xfrm>
        </p:spPr>
        <p:txBody>
          <a:bodyPr/>
          <a:lstStyle/>
          <a:p>
            <a:r>
              <a:rPr lang="fr-FR"/>
              <a:t>LONG TERME – consommation de droits</a:t>
            </a:r>
          </a:p>
          <a:p>
            <a:endParaRPr lang="fr-FR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08DA4EF6-6A67-134C-9FC1-4092ABC7E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7746400-585C-28D5-FC78-B7F0BAD17A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8" y="351527"/>
            <a:ext cx="10946668" cy="432000"/>
          </a:xfrm>
        </p:spPr>
        <p:txBody>
          <a:bodyPr/>
          <a:lstStyle/>
          <a:p>
            <a:r>
              <a:rPr lang="fr-FR" noProof="0"/>
              <a:t>UNE SURCONSOMMATION DE DROITS PENDANT LE PREMIER DROIT, COMPENSÉE EN TROIS ANS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BFEF3B6F-1CB7-6676-306E-5D48FCE6B3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710" y="847739"/>
            <a:ext cx="10967748" cy="196512"/>
          </a:xfrm>
        </p:spPr>
        <p:txBody>
          <a:bodyPr/>
          <a:lstStyle/>
          <a:p>
            <a:r>
              <a:rPr lang="fr-FR" sz="1400" noProof="0">
                <a:solidFill>
                  <a:schemeClr val="accent3"/>
                </a:solidFill>
              </a:rPr>
              <a:t>Jusqu’à 5,8 jours indemnisés de plus </a:t>
            </a:r>
            <a:r>
              <a:rPr lang="fr-FR" sz="1400" noProof="0" err="1">
                <a:solidFill>
                  <a:schemeClr val="accent3"/>
                </a:solidFill>
              </a:rPr>
              <a:t>pa</a:t>
            </a:r>
            <a:r>
              <a:rPr lang="fr-FR" sz="1400">
                <a:solidFill>
                  <a:schemeClr val="accent3"/>
                </a:solidFill>
              </a:rPr>
              <a:t>r personne à deux ans,, un point d’équilibre à 37 mois, puis 10,7 jours de moins que les témoins à six ans</a:t>
            </a:r>
            <a:endParaRPr lang="fr-FR" sz="1400" noProof="0">
              <a:solidFill>
                <a:schemeClr val="accent3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3A7D14A-80CE-5C40-F49A-3F0640D766B0}"/>
              </a:ext>
            </a:extLst>
          </p:cNvPr>
          <p:cNvSpPr/>
          <p:nvPr/>
        </p:nvSpPr>
        <p:spPr>
          <a:xfrm>
            <a:off x="8383649" y="4484412"/>
            <a:ext cx="3808351" cy="650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E23F6E4-5F8E-E859-9265-DA713385DA60}"/>
              </a:ext>
            </a:extLst>
          </p:cNvPr>
          <p:cNvSpPr/>
          <p:nvPr/>
        </p:nvSpPr>
        <p:spPr>
          <a:xfrm>
            <a:off x="911098" y="1388627"/>
            <a:ext cx="7406640" cy="3977640"/>
          </a:xfrm>
          <a:prstGeom prst="rect">
            <a:avLst/>
          </a:prstGeom>
          <a:solidFill>
            <a:srgbClr val="E6F1F1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AFA09C6-1666-8FE6-77D9-FB72EC2869A1}"/>
              </a:ext>
            </a:extLst>
          </p:cNvPr>
          <p:cNvSpPr txBox="1"/>
          <p:nvPr/>
        </p:nvSpPr>
        <p:spPr>
          <a:xfrm>
            <a:off x="1414018" y="1461779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787A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ÉCART CUMULÉ DE JOURS INDEMNISÉS DEPUIS LA FIN DU CONTRAT</a:t>
            </a:r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 0" descr="cout_cumule_point_equilibre.png">
            <a:extLst>
              <a:ext uri="{FF2B5EF4-FFF2-40B4-BE49-F238E27FC236}">
                <a16:creationId xmlns:a16="http://schemas.microsoft.com/office/drawing/2014/main" id="{47F37034-BDA5-D920-EEF8-D3FCD9E07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786" y="1884447"/>
            <a:ext cx="6557264" cy="3065734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EE063AC6-D891-9BB2-E322-1EA5E5D86D19}"/>
              </a:ext>
            </a:extLst>
          </p:cNvPr>
          <p:cNvSpPr txBox="1"/>
          <p:nvPr/>
        </p:nvSpPr>
        <p:spPr>
          <a:xfrm>
            <a:off x="1045589" y="507369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6B728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Champ : France, personnes indemnisables à l'ARE hors annexes VIII et X et ayant en 2019 une fin de CDI suivie d'une ouverture de droit initiale. Source : MiDAS ; traitement Unédic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4611A68E-9F33-7875-20A8-01D697400D36}"/>
              </a:ext>
            </a:extLst>
          </p:cNvPr>
          <p:cNvSpPr/>
          <p:nvPr/>
        </p:nvSpPr>
        <p:spPr>
          <a:xfrm>
            <a:off x="8546338" y="1388627"/>
            <a:ext cx="3383280" cy="3977640"/>
          </a:xfrm>
          <a:prstGeom prst="rect">
            <a:avLst/>
          </a:prstGeom>
          <a:solidFill>
            <a:srgbClr val="FFE8CC">
              <a:alpha val="25098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07B112E-4D12-47FB-2457-39602B952509}"/>
              </a:ext>
            </a:extLst>
          </p:cNvPr>
          <p:cNvSpPr txBox="1"/>
          <p:nvPr/>
        </p:nvSpPr>
        <p:spPr>
          <a:xfrm>
            <a:off x="9003538" y="1461779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8A0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BILAN EN JOURS INDEMNISÉS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05F3F05-2DB3-FC54-3C43-DBB995405F0C}"/>
              </a:ext>
            </a:extLst>
          </p:cNvPr>
          <p:cNvSpPr txBox="1"/>
          <p:nvPr/>
        </p:nvSpPr>
        <p:spPr>
          <a:xfrm>
            <a:off x="8683498" y="1818395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Par personne, écart RCI − témoins appariés</a:t>
            </a:r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EA3266AA-D5BB-43AA-C00D-49ADE05AD44E}"/>
              </a:ext>
            </a:extLst>
          </p:cNvPr>
          <p:cNvSpPr/>
          <p:nvPr/>
        </p:nvSpPr>
        <p:spPr>
          <a:xfrm>
            <a:off x="8683498" y="2165867"/>
            <a:ext cx="310896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26322161-BBC0-E640-6329-7F3DD1042381}"/>
              </a:ext>
            </a:extLst>
          </p:cNvPr>
          <p:cNvSpPr/>
          <p:nvPr/>
        </p:nvSpPr>
        <p:spPr>
          <a:xfrm>
            <a:off x="8683498" y="2165867"/>
            <a:ext cx="64008" cy="896112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7AF30F0A-0240-CB77-300F-ADA371C1CDDE}"/>
              </a:ext>
            </a:extLst>
          </p:cNvPr>
          <p:cNvSpPr txBox="1"/>
          <p:nvPr/>
        </p:nvSpPr>
        <p:spPr>
          <a:xfrm>
            <a:off x="8866378" y="223901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787A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+5,8 jours</a:t>
            </a:r>
            <a:endParaRPr lang="en-US" sz="2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C154290D-8F32-8C2D-CE46-D264E4CC8D90}"/>
              </a:ext>
            </a:extLst>
          </p:cNvPr>
          <p:cNvSpPr txBox="1"/>
          <p:nvPr/>
        </p:nvSpPr>
        <p:spPr>
          <a:xfrm>
            <a:off x="8866378" y="2641355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écart cumulé maximal, atteint à 24 mois</a:t>
            </a:r>
            <a:endParaRPr lang="en-US" sz="95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00CB3488-B270-414A-8B42-2BC6B0479578}"/>
              </a:ext>
            </a:extLst>
          </p:cNvPr>
          <p:cNvSpPr/>
          <p:nvPr/>
        </p:nvSpPr>
        <p:spPr>
          <a:xfrm>
            <a:off x="8683498" y="3189995"/>
            <a:ext cx="310896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B7C715CB-3FC6-DD85-18B0-5BDEF983D429}"/>
              </a:ext>
            </a:extLst>
          </p:cNvPr>
          <p:cNvSpPr/>
          <p:nvPr/>
        </p:nvSpPr>
        <p:spPr>
          <a:xfrm>
            <a:off x="8683498" y="3189995"/>
            <a:ext cx="64008" cy="896112"/>
          </a:xfrm>
          <a:prstGeom prst="rect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9A8DB2C7-0036-7F84-63D4-31CB3B2D2C03}"/>
              </a:ext>
            </a:extLst>
          </p:cNvPr>
          <p:cNvSpPr txBox="1"/>
          <p:nvPr/>
        </p:nvSpPr>
        <p:spPr>
          <a:xfrm>
            <a:off x="8866378" y="3263147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8A0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37 mois</a:t>
            </a:r>
            <a:endParaRPr lang="en-US" sz="2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5859027C-79D9-8CC6-5446-C83DDA5AB23F}"/>
              </a:ext>
            </a:extLst>
          </p:cNvPr>
          <p:cNvSpPr txBox="1"/>
          <p:nvPr/>
        </p:nvSpPr>
        <p:spPr>
          <a:xfrm>
            <a:off x="8866378" y="366548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point d'équilibre : les consommations cumulées s'égalisent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2EF01288-F592-9271-A345-1818F0FA8E88}"/>
              </a:ext>
            </a:extLst>
          </p:cNvPr>
          <p:cNvSpPr/>
          <p:nvPr/>
        </p:nvSpPr>
        <p:spPr>
          <a:xfrm>
            <a:off x="8683498" y="4214123"/>
            <a:ext cx="310896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429970AF-FEC6-BF1D-F723-63584CBFC5EA}"/>
              </a:ext>
            </a:extLst>
          </p:cNvPr>
          <p:cNvSpPr/>
          <p:nvPr/>
        </p:nvSpPr>
        <p:spPr>
          <a:xfrm>
            <a:off x="8683498" y="4214123"/>
            <a:ext cx="64008" cy="896112"/>
          </a:xfrm>
          <a:prstGeom prst="rect">
            <a:avLst/>
          </a:prstGeom>
          <a:solidFill>
            <a:srgbClr val="5E8F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1424EE06-055A-75EA-6A7E-73A6D795A573}"/>
              </a:ext>
            </a:extLst>
          </p:cNvPr>
          <p:cNvSpPr txBox="1"/>
          <p:nvPr/>
        </p:nvSpPr>
        <p:spPr>
          <a:xfrm>
            <a:off x="8866378" y="4287275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E8F1F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−10,7 jours</a:t>
            </a:r>
            <a:endParaRPr lang="en-US" sz="2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32EF4B5B-FDB8-7C56-2803-2FAC914A503E}"/>
              </a:ext>
            </a:extLst>
          </p:cNvPr>
          <p:cNvSpPr txBox="1"/>
          <p:nvPr/>
        </p:nvSpPr>
        <p:spPr>
          <a:xfrm>
            <a:off x="8866378" y="468961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moins de jours indemnisés que les témoins à six ans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4D1F294B-336B-DCE5-7B04-BA11F886CA4D}"/>
              </a:ext>
            </a:extLst>
          </p:cNvPr>
          <p:cNvGrpSpPr/>
          <p:nvPr/>
        </p:nvGrpSpPr>
        <p:grpSpPr>
          <a:xfrm>
            <a:off x="911098" y="5599439"/>
            <a:ext cx="10927080" cy="832104"/>
            <a:chOff x="960120" y="5532120"/>
            <a:chExt cx="10927080" cy="832104"/>
          </a:xfrm>
        </p:grpSpPr>
        <p:sp>
          <p:nvSpPr>
            <p:cNvPr id="39" name="Shape 28">
              <a:extLst>
                <a:ext uri="{FF2B5EF4-FFF2-40B4-BE49-F238E27FC236}">
                  <a16:creationId xmlns:a16="http://schemas.microsoft.com/office/drawing/2014/main" id="{A4B7F4C7-7266-F6C9-871D-EF49264D329C}"/>
                </a:ext>
              </a:extLst>
            </p:cNvPr>
            <p:cNvSpPr/>
            <p:nvPr/>
          </p:nvSpPr>
          <p:spPr>
            <a:xfrm>
              <a:off x="960120" y="5532120"/>
              <a:ext cx="3520440" cy="644618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875">
              <a:solidFill>
                <a:srgbClr val="00787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29">
              <a:extLst>
                <a:ext uri="{FF2B5EF4-FFF2-40B4-BE49-F238E27FC236}">
                  <a16:creationId xmlns:a16="http://schemas.microsoft.com/office/drawing/2014/main" id="{149AC243-5109-5F13-0C4D-155207010572}"/>
                </a:ext>
              </a:extLst>
            </p:cNvPr>
            <p:cNvSpPr txBox="1"/>
            <p:nvPr/>
          </p:nvSpPr>
          <p:spPr>
            <a:xfrm>
              <a:off x="1097280" y="5577840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00787A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PLUS DE DROITS CONSOMMÉS AU DÉPART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ext 30">
              <a:extLst>
                <a:ext uri="{FF2B5EF4-FFF2-40B4-BE49-F238E27FC236}">
                  <a16:creationId xmlns:a16="http://schemas.microsoft.com/office/drawing/2014/main" id="{2C638494-CBB7-E460-1E4A-7D7C9E59C2B6}"/>
                </a:ext>
              </a:extLst>
            </p:cNvPr>
            <p:cNvSpPr txBox="1"/>
            <p:nvPr/>
          </p:nvSpPr>
          <p:spPr>
            <a:xfrm>
              <a:off x="1097280" y="5833872"/>
              <a:ext cx="32461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333333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Les RCI consomment davantage de jours indemnisés pendant les 24 premiers mois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Shape 31">
              <a:extLst>
                <a:ext uri="{FF2B5EF4-FFF2-40B4-BE49-F238E27FC236}">
                  <a16:creationId xmlns:a16="http://schemas.microsoft.com/office/drawing/2014/main" id="{C0FE493E-255C-922A-01ED-F12A5196CE95}"/>
                </a:ext>
              </a:extLst>
            </p:cNvPr>
            <p:cNvSpPr/>
            <p:nvPr/>
          </p:nvSpPr>
          <p:spPr>
            <a:xfrm>
              <a:off x="4663440" y="5532120"/>
              <a:ext cx="3520440" cy="644618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875">
              <a:solidFill>
                <a:srgbClr val="F08A0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 32">
              <a:extLst>
                <a:ext uri="{FF2B5EF4-FFF2-40B4-BE49-F238E27FC236}">
                  <a16:creationId xmlns:a16="http://schemas.microsoft.com/office/drawing/2014/main" id="{264F1ADC-DF73-24E3-5F70-56419D658DC6}"/>
                </a:ext>
              </a:extLst>
            </p:cNvPr>
            <p:cNvSpPr txBox="1"/>
            <p:nvPr/>
          </p:nvSpPr>
          <p:spPr>
            <a:xfrm>
              <a:off x="4800600" y="5577840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F08A0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UN RATTRAPAGE EN UN AN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Text 33">
              <a:extLst>
                <a:ext uri="{FF2B5EF4-FFF2-40B4-BE49-F238E27FC236}">
                  <a16:creationId xmlns:a16="http://schemas.microsoft.com/office/drawing/2014/main" id="{7D5A2FDF-5B0F-0C1F-2138-3A47FFCA7157}"/>
                </a:ext>
              </a:extLst>
            </p:cNvPr>
            <p:cNvSpPr txBox="1"/>
            <p:nvPr/>
          </p:nvSpPr>
          <p:spPr>
            <a:xfrm>
              <a:off x="4800600" y="5833872"/>
              <a:ext cx="32461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333333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Dès le 25ᵉ mois, ils consomment chaque mois moins que leurs témoins : l'écart cumulé s'annule à 37 mois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Shape 34">
              <a:extLst>
                <a:ext uri="{FF2B5EF4-FFF2-40B4-BE49-F238E27FC236}">
                  <a16:creationId xmlns:a16="http://schemas.microsoft.com/office/drawing/2014/main" id="{985531FD-2672-ADA6-AAE4-0F9207DD7744}"/>
                </a:ext>
              </a:extLst>
            </p:cNvPr>
            <p:cNvSpPr/>
            <p:nvPr/>
          </p:nvSpPr>
          <p:spPr>
            <a:xfrm>
              <a:off x="8366760" y="5532120"/>
              <a:ext cx="3520440" cy="644618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875">
              <a:solidFill>
                <a:srgbClr val="5E8F1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 35">
              <a:extLst>
                <a:ext uri="{FF2B5EF4-FFF2-40B4-BE49-F238E27FC236}">
                  <a16:creationId xmlns:a16="http://schemas.microsoft.com/office/drawing/2014/main" id="{1686C899-6E52-4126-FCDF-334525833A4D}"/>
                </a:ext>
              </a:extLst>
            </p:cNvPr>
            <p:cNvSpPr txBox="1"/>
            <p:nvPr/>
          </p:nvSpPr>
          <p:spPr>
            <a:xfrm>
              <a:off x="8503920" y="5577840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5E8F1F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MOINS DE DROITS CONSOMMÉS À SIX ANS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 36">
              <a:extLst>
                <a:ext uri="{FF2B5EF4-FFF2-40B4-BE49-F238E27FC236}">
                  <a16:creationId xmlns:a16="http://schemas.microsoft.com/office/drawing/2014/main" id="{EECF9BC7-3166-AC3A-9A15-44BCDCB3CC7B}"/>
                </a:ext>
              </a:extLst>
            </p:cNvPr>
            <p:cNvSpPr txBox="1"/>
            <p:nvPr/>
          </p:nvSpPr>
          <p:spPr>
            <a:xfrm>
              <a:off x="8503920" y="5833872"/>
              <a:ext cx="32461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333333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Moins de retours à l'indemnisation après le premier droit : 10,7 jours de moins par personne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2474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051560" y="402336"/>
            <a:ext cx="10771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400">
              <a:lnSpc>
                <a:spcPct val="90000"/>
              </a:lnSpc>
            </a:pPr>
            <a:r>
              <a:rPr lang="fr-FR" b="1">
                <a:solidFill>
                  <a:srgbClr val="94C43E"/>
                </a:solidFill>
                <a:latin typeface="Montserrat" pitchFamily="2" charset="77"/>
              </a:rPr>
              <a:t>L’effet moyen recouvre-t-il des parcours homogènes ?</a:t>
            </a:r>
            <a:endParaRPr lang="en-US" b="1">
              <a:solidFill>
                <a:srgbClr val="94C43E"/>
              </a:solidFill>
              <a:latin typeface="Montserrat" pitchFamily="2" charset="7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52728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QUESTION</a:t>
            </a:r>
            <a:endParaRPr lang="en-US" sz="850"/>
          </a:p>
        </p:txBody>
      </p:sp>
      <p:sp>
        <p:nvSpPr>
          <p:cNvPr id="5" name="Text 3"/>
          <p:cNvSpPr txBox="1"/>
          <p:nvPr/>
        </p:nvSpPr>
        <p:spPr>
          <a:xfrm>
            <a:off x="4169664" y="1207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NOUS FAISONS</a:t>
            </a:r>
            <a:endParaRPr lang="en-US" sz="850"/>
          </a:p>
        </p:txBody>
      </p:sp>
      <p:sp>
        <p:nvSpPr>
          <p:cNvPr id="6" name="Text 4"/>
          <p:cNvSpPr txBox="1"/>
          <p:nvPr/>
        </p:nvSpPr>
        <p:spPr>
          <a:xfrm>
            <a:off x="9107424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CELA PERMET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1252728" y="1609344"/>
            <a:ext cx="402336" cy="402336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252728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1252728" y="20848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profil comparable, la rupture conventionnelle change-t-elle les trajectoires ?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950208" y="1627632"/>
            <a:ext cx="0" cy="1453896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169664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Comparaison appariée et étude d'événements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4169664" y="1920240"/>
            <a:ext cx="45720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aux seuls sortants de CDI, et non à l'ensemble des allocataires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Documenter les écarts d'âge, de diplôme et de salaire de référence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Apparier sur score de propension : 217 variables, dont 24 mois d'historique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Suivre les trajectoires de 24 mois avant à 36 mois après, et jusqu'à 72 mois pour 2019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8887968" y="1627632"/>
            <a:ext cx="0" cy="1453896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1609344"/>
            <a:ext cx="384048" cy="384048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1709928"/>
            <a:ext cx="173736" cy="17373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07424" y="208483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Isoler ce qui tient à la voie de sortie, et non au profil ni à la conjoncture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1252728" y="3529584"/>
            <a:ext cx="402336" cy="402336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1252728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/>
          </a:p>
        </p:txBody>
      </p:sp>
      <p:sp>
        <p:nvSpPr>
          <p:cNvPr id="19" name="Text 16"/>
          <p:cNvSpPr txBox="1"/>
          <p:nvPr/>
        </p:nvSpPr>
        <p:spPr>
          <a:xfrm>
            <a:off x="1252728" y="40050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cache l'effet moyen ?</a:t>
            </a:r>
            <a:endParaRPr lang="en-US" sz="1150"/>
          </a:p>
        </p:txBody>
      </p:sp>
      <p:sp>
        <p:nvSpPr>
          <p:cNvPr id="20" name="Shape 17"/>
          <p:cNvSpPr/>
          <p:nvPr/>
        </p:nvSpPr>
        <p:spPr>
          <a:xfrm>
            <a:off x="3950208" y="3547872"/>
            <a:ext cx="0" cy="106070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4169664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de séquences</a:t>
            </a:r>
            <a:endParaRPr lang="en-US" sz="1200"/>
          </a:p>
        </p:txBody>
      </p:sp>
      <p:sp>
        <p:nvSpPr>
          <p:cNvPr id="22" name="Text 19"/>
          <p:cNvSpPr txBox="1"/>
          <p:nvPr/>
        </p:nvSpPr>
        <p:spPr>
          <a:xfrm>
            <a:off x="4169664" y="384048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Reconstituer les parcours mensuels sur six ans, emploi comme hors emploi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Classer les trajectoires en parcours types communs aux deux groupes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la répartition des signataires et de leurs témoins appariés</a:t>
            </a:r>
            <a:endParaRPr lang="en-US" sz="950"/>
          </a:p>
        </p:txBody>
      </p:sp>
      <p:sp>
        <p:nvSpPr>
          <p:cNvPr id="23" name="Shape 20"/>
          <p:cNvSpPr/>
          <p:nvPr/>
        </p:nvSpPr>
        <p:spPr>
          <a:xfrm>
            <a:off x="8887968" y="3547872"/>
            <a:ext cx="0" cy="106070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9107424" y="3529584"/>
            <a:ext cx="384048" cy="384048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630168"/>
            <a:ext cx="173736" cy="17373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107424" y="40050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Faire apparaître la diversité des parcours derrière la moyenne</a:t>
            </a:r>
            <a:endParaRPr lang="en-US" sz="1050"/>
          </a:p>
        </p:txBody>
      </p:sp>
      <p:sp>
        <p:nvSpPr>
          <p:cNvPr id="27" name="Shape 23"/>
          <p:cNvSpPr/>
          <p:nvPr/>
        </p:nvSpPr>
        <p:spPr>
          <a:xfrm>
            <a:off x="1051560" y="4786503"/>
            <a:ext cx="1077163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4"/>
          <p:cNvSpPr/>
          <p:nvPr/>
        </p:nvSpPr>
        <p:spPr>
          <a:xfrm>
            <a:off x="1212342" y="4956048"/>
            <a:ext cx="45720" cy="566928"/>
          </a:xfrm>
          <a:prstGeom prst="rect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1362456" y="5115687"/>
            <a:ext cx="365760" cy="365760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5239512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892808" y="4832223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B3BE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COMPLÉMENT</a:t>
            </a:r>
            <a:endParaRPr lang="en-US" sz="850"/>
          </a:p>
        </p:txBody>
      </p:sp>
      <p:sp>
        <p:nvSpPr>
          <p:cNvPr id="32" name="Text 27"/>
          <p:cNvSpPr txBox="1"/>
          <p:nvPr/>
        </p:nvSpPr>
        <p:spPr>
          <a:xfrm>
            <a:off x="1892808" y="5140452"/>
            <a:ext cx="9674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motifs, dans les mots des salariés. </a:t>
            </a:r>
            <a:r>
              <a:rPr lang="en-US" sz="100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administratives enregistrent ce que font les signataires, pas pourquoi ils ont signé. Un modèle de sujets sur environ 1 700 messages de forums éclaire les motifs déclarés, sans prétention à la représentativité.</a:t>
            </a:r>
            <a:endParaRPr lang="en-US" sz="1000"/>
          </a:p>
        </p:txBody>
      </p:sp>
      <p:sp>
        <p:nvSpPr>
          <p:cNvPr id="33" name="Shape 28"/>
          <p:cNvSpPr/>
          <p:nvPr/>
        </p:nvSpPr>
        <p:spPr>
          <a:xfrm>
            <a:off x="1078992" y="5819775"/>
            <a:ext cx="107716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580" y="6021705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535430" y="58908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MiDAS</a:t>
            </a:r>
            <a:r>
              <a:rPr lang="en-US" sz="100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appariement Dares, Cnaf et France Travail, 2017-2025</a:t>
            </a:r>
            <a:endParaRPr lang="en-US" sz="100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6039231"/>
            <a:ext cx="201168" cy="16459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629400" y="58841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2022</a:t>
            </a:r>
            <a:r>
              <a:rPr lang="en-US" sz="100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trois ans de recul</a:t>
            </a:r>
            <a:endParaRPr lang="en-US" sz="100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6075807"/>
            <a:ext cx="201168" cy="16459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491472" y="5926265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2019</a:t>
            </a:r>
            <a:r>
              <a:rPr lang="en-US" sz="100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six ans de recul</a:t>
            </a:r>
            <a:endParaRPr lang="en-US" sz="100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BBD40880-4777-D580-C6CF-9F8CF18AF60E}"/>
              </a:ext>
            </a:extLst>
          </p:cNvPr>
          <p:cNvSpPr txBox="1"/>
          <p:nvPr/>
        </p:nvSpPr>
        <p:spPr>
          <a:xfrm>
            <a:off x="4572000" y="1097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u="sng" dirty="0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PARTIE 2 : </a:t>
            </a:r>
            <a:r>
              <a:rPr lang="fr-FR" sz="1100" b="1" u="sng" dirty="0">
                <a:solidFill>
                  <a:srgbClr val="F08A00"/>
                </a:solidFill>
                <a:latin typeface="Montserrat" pitchFamily="34" charset="0"/>
              </a:rPr>
              <a:t>AU-DELÀ DE L’EFFET MOYEN : L’HÉTÉROGÉNÉITÉ DES TRAJECTOIRES</a:t>
            </a:r>
            <a:endParaRPr lang="en-US" sz="1100" b="1" u="sng" dirty="0">
              <a:solidFill>
                <a:srgbClr val="F08A00"/>
              </a:solidFill>
              <a:latin typeface="Montserrat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C6A0-575B-8AC8-D9B7-09961DA8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6ABAB462-7752-9A47-EF35-5D2AB4B5DAA0}"/>
              </a:ext>
            </a:extLst>
          </p:cNvPr>
          <p:cNvSpPr txBox="1">
            <a:spLocks/>
          </p:cNvSpPr>
          <p:nvPr/>
        </p:nvSpPr>
        <p:spPr>
          <a:xfrm>
            <a:off x="4957698" y="1377759"/>
            <a:ext cx="7213282" cy="2469620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7A98BD8-5288-9907-0719-80D961F91B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32025" y="39823"/>
            <a:ext cx="8061749" cy="199465"/>
          </a:xfrm>
        </p:spPr>
        <p:txBody>
          <a:bodyPr/>
          <a:lstStyle/>
          <a:p>
            <a:r>
              <a:rPr lang="fr-FR"/>
              <a:t>Analyse D’hétérogénéité – TRAJECTOIRES à long terme -méthodologie</a:t>
            </a:r>
            <a:endParaRPr lang="fr-FR" noProof="0"/>
          </a:p>
          <a:p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F7CA7E-7A2B-699D-C707-0004AD04FC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8" y="591794"/>
            <a:ext cx="11377532" cy="490862"/>
          </a:xfrm>
        </p:spPr>
        <p:txBody>
          <a:bodyPr/>
          <a:lstStyle/>
          <a:p>
            <a:r>
              <a:rPr lang="fr-FR" sz="1600" spc="-40" noProof="0"/>
              <a:t>AU-DELÀ DE L’EFFET MOYEN : RECONSTITUER LES PARCOURS DES RCI ET DE LEURS TÉMOINS SUR 67 MOIS</a:t>
            </a:r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AA904BA5-F8CE-A59B-CB9B-BA5997B361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560F0DB-C393-02BC-9AED-4AD97FC5DC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464" y="789782"/>
            <a:ext cx="10174817" cy="432000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Chaque trajectoire est une suite d'états mensuels, comparée aux autres puis regroupée en parcours types communs aux deux groupes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F13C1357-734A-B27D-9800-776A748E062E}"/>
              </a:ext>
            </a:extLst>
          </p:cNvPr>
          <p:cNvSpPr txBox="1">
            <a:spLocks/>
          </p:cNvSpPr>
          <p:nvPr/>
        </p:nvSpPr>
        <p:spPr>
          <a:xfrm>
            <a:off x="957824" y="1374651"/>
            <a:ext cx="3951760" cy="2469620"/>
          </a:xfrm>
          <a:prstGeom prst="rect">
            <a:avLst/>
          </a:prstGeom>
          <a:solidFill>
            <a:srgbClr val="E5F1DD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D04F2D30-9068-A02F-5479-D3A1E89F7074}"/>
              </a:ext>
            </a:extLst>
          </p:cNvPr>
          <p:cNvSpPr txBox="1">
            <a:spLocks/>
          </p:cNvSpPr>
          <p:nvPr/>
        </p:nvSpPr>
        <p:spPr>
          <a:xfrm>
            <a:off x="971555" y="4084101"/>
            <a:ext cx="3494428" cy="2189710"/>
          </a:xfrm>
          <a:prstGeom prst="rect">
            <a:avLst/>
          </a:prstGeom>
          <a:solidFill>
            <a:srgbClr val="F2F8F9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21FC21A-CC14-9E4D-ECFD-35E048B718E0}"/>
              </a:ext>
            </a:extLst>
          </p:cNvPr>
          <p:cNvSpPr txBox="1">
            <a:spLocks/>
          </p:cNvSpPr>
          <p:nvPr/>
        </p:nvSpPr>
        <p:spPr>
          <a:xfrm>
            <a:off x="4561785" y="4078629"/>
            <a:ext cx="3389681" cy="2187577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10E7E68-F24E-B48C-47AF-75C73A571D37}"/>
              </a:ext>
            </a:extLst>
          </p:cNvPr>
          <p:cNvSpPr txBox="1">
            <a:spLocks/>
          </p:cNvSpPr>
          <p:nvPr/>
        </p:nvSpPr>
        <p:spPr>
          <a:xfrm>
            <a:off x="8047268" y="4078628"/>
            <a:ext cx="4123711" cy="2195184"/>
          </a:xfrm>
          <a:prstGeom prst="rect">
            <a:avLst/>
          </a:prstGeom>
          <a:solidFill>
            <a:srgbClr val="E5F1DD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pic>
        <p:nvPicPr>
          <p:cNvPr id="19" name="Graphique 18" descr="Badge 1 avec un remplissage uni">
            <a:extLst>
              <a:ext uri="{FF2B5EF4-FFF2-40B4-BE49-F238E27FC236}">
                <a16:creationId xmlns:a16="http://schemas.microsoft.com/office/drawing/2014/main" id="{E9CE7CF3-8850-16D9-69CF-0DE880DD9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5934" y="1294054"/>
            <a:ext cx="243544" cy="243544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A1359592-6607-A4B6-C2F2-CCF1024BD4ED}"/>
              </a:ext>
            </a:extLst>
          </p:cNvPr>
          <p:cNvSpPr txBox="1"/>
          <p:nvPr/>
        </p:nvSpPr>
        <p:spPr>
          <a:xfrm>
            <a:off x="1398143" y="1374651"/>
            <a:ext cx="2483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ECHANTILLON STRATIFIÉ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4533A8-7D3F-30EA-3EBB-C9F412CA9A2A}"/>
              </a:ext>
            </a:extLst>
          </p:cNvPr>
          <p:cNvSpPr txBox="1"/>
          <p:nvPr/>
        </p:nvSpPr>
        <p:spPr>
          <a:xfrm>
            <a:off x="5491183" y="1356295"/>
            <a:ext cx="61883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TRAJECTOIRE = UNE SUITE D’ÉTATS MENSUELS DU 1</a:t>
            </a:r>
            <a:r>
              <a:rPr lang="fr-FR" sz="1050" b="1" spc="-3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</a:t>
            </a:r>
            <a:r>
              <a:rPr lang="fr-FR" sz="105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MOIS APRÈS LA RUPTURE DU CDI JUSQU’AU 67</a:t>
            </a:r>
            <a:r>
              <a:rPr lang="fr-FR" sz="1050" b="1" spc="-3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5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MOIS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6D8D11-262E-EDB8-A7C1-561BEBDD89C5}"/>
              </a:ext>
            </a:extLst>
          </p:cNvPr>
          <p:cNvSpPr txBox="1"/>
          <p:nvPr/>
        </p:nvSpPr>
        <p:spPr>
          <a:xfrm>
            <a:off x="1245923" y="4073848"/>
            <a:ext cx="290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DISTANCE ENTRE LES TRAJECTOIRES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BB1543B-56C1-F1BF-F658-0DD701F6FF9B}"/>
              </a:ext>
            </a:extLst>
          </p:cNvPr>
          <p:cNvSpPr txBox="1"/>
          <p:nvPr/>
        </p:nvSpPr>
        <p:spPr>
          <a:xfrm>
            <a:off x="5274496" y="4073848"/>
            <a:ext cx="1964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TYPOLOGIE COMMUNE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ABEB432-E764-D7AD-702D-22FAC3F49C40}"/>
              </a:ext>
            </a:extLst>
          </p:cNvPr>
          <p:cNvSpPr txBox="1"/>
          <p:nvPr/>
        </p:nvSpPr>
        <p:spPr>
          <a:xfrm>
            <a:off x="8899928" y="4073848"/>
            <a:ext cx="24183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COMPARAISON RCI/TÉMOINS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8398D13-054F-8111-BFCB-D377F77E76F5}"/>
              </a:ext>
            </a:extLst>
          </p:cNvPr>
          <p:cNvSpPr txBox="1"/>
          <p:nvPr/>
        </p:nvSpPr>
        <p:spPr>
          <a:xfrm>
            <a:off x="959171" y="1666646"/>
            <a:ext cx="108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20 000</a:t>
            </a:r>
            <a:endParaRPr lang="fr-FR" sz="1400" noProof="0">
              <a:solidFill>
                <a:schemeClr val="accent5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35561CA-19C2-3418-685E-8639FE8C747D}"/>
              </a:ext>
            </a:extLst>
          </p:cNvPr>
          <p:cNvSpPr txBox="1"/>
          <p:nvPr/>
        </p:nvSpPr>
        <p:spPr>
          <a:xfrm rot="10800000" flipV="1">
            <a:off x="1540981" y="1701447"/>
            <a:ext cx="348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paires, strates définies par le profil du traité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406BFD1B-ECBB-5729-3255-5D0827923E89}"/>
              </a:ext>
            </a:extLst>
          </p:cNvPr>
          <p:cNvSpPr/>
          <p:nvPr/>
        </p:nvSpPr>
        <p:spPr>
          <a:xfrm>
            <a:off x="2774459" y="2058823"/>
            <a:ext cx="971340" cy="50358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5AE4572-DAE8-FDE1-7DBB-B0A5F98C9F89}"/>
              </a:ext>
            </a:extLst>
          </p:cNvPr>
          <p:cNvSpPr/>
          <p:nvPr/>
        </p:nvSpPr>
        <p:spPr>
          <a:xfrm>
            <a:off x="3854387" y="2058823"/>
            <a:ext cx="971340" cy="50358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E14BB35B-BC8E-7FFD-ED92-434264C2292D}"/>
              </a:ext>
            </a:extLst>
          </p:cNvPr>
          <p:cNvSpPr/>
          <p:nvPr/>
        </p:nvSpPr>
        <p:spPr>
          <a:xfrm>
            <a:off x="1051737" y="2058823"/>
            <a:ext cx="1648072" cy="50358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640647A-7346-3268-4EB3-389A34E18986}"/>
              </a:ext>
            </a:extLst>
          </p:cNvPr>
          <p:cNvSpPr txBox="1"/>
          <p:nvPr/>
        </p:nvSpPr>
        <p:spPr>
          <a:xfrm rot="10800000" flipV="1">
            <a:off x="1005938" y="2626090"/>
            <a:ext cx="39062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fr-FR" sz="900" noProof="0">
                <a:latin typeface="Segoe UI"/>
                <a:cs typeface="Segoe UI"/>
              </a:rPr>
              <a:t>Paires tirées en couleur – 1  strate = croisement des caractéristiques du traité (variables catégorielles x quantile des continues)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A586599D-31DF-3E5F-8BE2-2E7F0B403686}"/>
              </a:ext>
            </a:extLst>
          </p:cNvPr>
          <p:cNvSpPr txBox="1"/>
          <p:nvPr/>
        </p:nvSpPr>
        <p:spPr>
          <a:xfrm>
            <a:off x="1390652" y="2037932"/>
            <a:ext cx="970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 A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ED286B4-C68D-B19E-9F07-BE755E4D0193}"/>
              </a:ext>
            </a:extLst>
          </p:cNvPr>
          <p:cNvSpPr txBox="1"/>
          <p:nvPr/>
        </p:nvSpPr>
        <p:spPr>
          <a:xfrm>
            <a:off x="2775008" y="2022863"/>
            <a:ext cx="970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 B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F3BB75D-4CDC-01AC-0993-D461070A73E2}"/>
              </a:ext>
            </a:extLst>
          </p:cNvPr>
          <p:cNvSpPr txBox="1"/>
          <p:nvPr/>
        </p:nvSpPr>
        <p:spPr>
          <a:xfrm>
            <a:off x="3854936" y="2036434"/>
            <a:ext cx="970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 C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8DB2F7D8-1BA1-F30C-632B-8C2169D1301B}"/>
              </a:ext>
            </a:extLst>
          </p:cNvPr>
          <p:cNvGrpSpPr/>
          <p:nvPr/>
        </p:nvGrpSpPr>
        <p:grpSpPr>
          <a:xfrm>
            <a:off x="1218261" y="2257145"/>
            <a:ext cx="1315024" cy="232274"/>
            <a:chOff x="1518710" y="4835077"/>
            <a:chExt cx="1315024" cy="232274"/>
          </a:xfrm>
        </p:grpSpPr>
        <p:pic>
          <p:nvPicPr>
            <p:cNvPr id="63" name="Graphique 62" descr="Utilisateur avec un remplissage uni">
              <a:extLst>
                <a:ext uri="{FF2B5EF4-FFF2-40B4-BE49-F238E27FC236}">
                  <a16:creationId xmlns:a16="http://schemas.microsoft.com/office/drawing/2014/main" id="{26FA7177-4BFF-2826-A715-8383D715B3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10" y="4835077"/>
              <a:ext cx="232274" cy="232274"/>
            </a:xfrm>
            <a:prstGeom prst="rect">
              <a:avLst/>
            </a:prstGeom>
          </p:spPr>
        </p:pic>
        <p:pic>
          <p:nvPicPr>
            <p:cNvPr id="64" name="Graphique 63" descr="Utilisateur avec un remplissage uni">
              <a:extLst>
                <a:ext uri="{FF2B5EF4-FFF2-40B4-BE49-F238E27FC236}">
                  <a16:creationId xmlns:a16="http://schemas.microsoft.com/office/drawing/2014/main" id="{33661D1E-1F63-9170-7C17-B56BE30E8F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260" y="4835077"/>
              <a:ext cx="232274" cy="232274"/>
            </a:xfrm>
            <a:prstGeom prst="rect">
              <a:avLst/>
            </a:prstGeom>
          </p:spPr>
        </p:pic>
        <p:pic>
          <p:nvPicPr>
            <p:cNvPr id="65" name="Graphique 64" descr="Utilisateur avec un remplissage uni">
              <a:extLst>
                <a:ext uri="{FF2B5EF4-FFF2-40B4-BE49-F238E27FC236}">
                  <a16:creationId xmlns:a16="http://schemas.microsoft.com/office/drawing/2014/main" id="{E0C4F3C6-D8E0-9EC1-1620-C8E0AD6ABC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51810" y="4835077"/>
              <a:ext cx="232274" cy="232274"/>
            </a:xfrm>
            <a:prstGeom prst="rect">
              <a:avLst/>
            </a:prstGeom>
          </p:spPr>
        </p:pic>
        <p:pic>
          <p:nvPicPr>
            <p:cNvPr id="67" name="Graphique 66" descr="Utilisateur avec un remplissage uni">
              <a:extLst>
                <a:ext uri="{FF2B5EF4-FFF2-40B4-BE49-F238E27FC236}">
                  <a16:creationId xmlns:a16="http://schemas.microsoft.com/office/drawing/2014/main" id="{93A96E94-4C28-3C25-751E-05B3FC1C8B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68360" y="4835077"/>
              <a:ext cx="232274" cy="232274"/>
            </a:xfrm>
            <a:prstGeom prst="rect">
              <a:avLst/>
            </a:prstGeom>
          </p:spPr>
        </p:pic>
        <p:pic>
          <p:nvPicPr>
            <p:cNvPr id="68" name="Graphique 67" descr="Utilisateur avec un remplissage uni">
              <a:extLst>
                <a:ext uri="{FF2B5EF4-FFF2-40B4-BE49-F238E27FC236}">
                  <a16:creationId xmlns:a16="http://schemas.microsoft.com/office/drawing/2014/main" id="{2F4F5E94-08D8-09AE-7836-13E2181849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84910" y="4835077"/>
              <a:ext cx="232274" cy="232274"/>
            </a:xfrm>
            <a:prstGeom prst="rect">
              <a:avLst/>
            </a:prstGeom>
          </p:spPr>
        </p:pic>
        <p:pic>
          <p:nvPicPr>
            <p:cNvPr id="69" name="Graphique 68" descr="Utilisateur avec un remplissage uni">
              <a:extLst>
                <a:ext uri="{FF2B5EF4-FFF2-40B4-BE49-F238E27FC236}">
                  <a16:creationId xmlns:a16="http://schemas.microsoft.com/office/drawing/2014/main" id="{1C796500-44CC-A9F4-2003-A016656803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01460" y="4835077"/>
              <a:ext cx="232274" cy="232274"/>
            </a:xfrm>
            <a:prstGeom prst="rect">
              <a:avLst/>
            </a:prstGeom>
          </p:spPr>
        </p:pic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13EAA689-DC29-14DA-C87D-89041523AD5F}"/>
              </a:ext>
            </a:extLst>
          </p:cNvPr>
          <p:cNvGrpSpPr/>
          <p:nvPr/>
        </p:nvGrpSpPr>
        <p:grpSpPr>
          <a:xfrm>
            <a:off x="2827003" y="2224671"/>
            <a:ext cx="866252" cy="232274"/>
            <a:chOff x="1518710" y="4835077"/>
            <a:chExt cx="866252" cy="232274"/>
          </a:xfrm>
        </p:grpSpPr>
        <p:pic>
          <p:nvPicPr>
            <p:cNvPr id="71" name="Graphique 70" descr="Utilisateur avec un remplissage uni">
              <a:extLst>
                <a:ext uri="{FF2B5EF4-FFF2-40B4-BE49-F238E27FC236}">
                  <a16:creationId xmlns:a16="http://schemas.microsoft.com/office/drawing/2014/main" id="{1D1D5897-780C-8CE6-701A-B609A755DD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10" y="4835077"/>
              <a:ext cx="232274" cy="232274"/>
            </a:xfrm>
            <a:prstGeom prst="rect">
              <a:avLst/>
            </a:prstGeom>
          </p:spPr>
        </p:pic>
        <p:pic>
          <p:nvPicPr>
            <p:cNvPr id="72" name="Graphique 71" descr="Utilisateur avec un remplissage uni">
              <a:extLst>
                <a:ext uri="{FF2B5EF4-FFF2-40B4-BE49-F238E27FC236}">
                  <a16:creationId xmlns:a16="http://schemas.microsoft.com/office/drawing/2014/main" id="{A283DBDD-C0EF-EE34-6514-EA09A4E01D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260" y="4835077"/>
              <a:ext cx="232274" cy="232274"/>
            </a:xfrm>
            <a:prstGeom prst="rect">
              <a:avLst/>
            </a:prstGeom>
          </p:spPr>
        </p:pic>
        <p:pic>
          <p:nvPicPr>
            <p:cNvPr id="75" name="Graphique 74" descr="Utilisateur avec un remplissage uni">
              <a:extLst>
                <a:ext uri="{FF2B5EF4-FFF2-40B4-BE49-F238E27FC236}">
                  <a16:creationId xmlns:a16="http://schemas.microsoft.com/office/drawing/2014/main" id="{658E9493-1C0D-F27A-0B69-BEF84D6628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46183" y="4835077"/>
              <a:ext cx="232274" cy="232274"/>
            </a:xfrm>
            <a:prstGeom prst="rect">
              <a:avLst/>
            </a:prstGeom>
          </p:spPr>
        </p:pic>
        <p:pic>
          <p:nvPicPr>
            <p:cNvPr id="76" name="Graphique 75" descr="Utilisateur avec un remplissage uni">
              <a:extLst>
                <a:ext uri="{FF2B5EF4-FFF2-40B4-BE49-F238E27FC236}">
                  <a16:creationId xmlns:a16="http://schemas.microsoft.com/office/drawing/2014/main" id="{B9E0E283-B5B9-DC34-BF6C-C1A691C2C8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2688" y="4835077"/>
              <a:ext cx="232274" cy="232274"/>
            </a:xfrm>
            <a:prstGeom prst="rect">
              <a:avLst/>
            </a:prstGeom>
          </p:spPr>
        </p:pic>
      </p:grp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7F8EB9C2-1180-7886-B2DB-A9841325F9D7}"/>
              </a:ext>
            </a:extLst>
          </p:cNvPr>
          <p:cNvGrpSpPr/>
          <p:nvPr/>
        </p:nvGrpSpPr>
        <p:grpSpPr>
          <a:xfrm>
            <a:off x="3890449" y="2239694"/>
            <a:ext cx="866252" cy="232274"/>
            <a:chOff x="1518710" y="4835077"/>
            <a:chExt cx="866252" cy="232274"/>
          </a:xfrm>
        </p:grpSpPr>
        <p:pic>
          <p:nvPicPr>
            <p:cNvPr id="78" name="Graphique 77" descr="Utilisateur avec un remplissage uni">
              <a:extLst>
                <a:ext uri="{FF2B5EF4-FFF2-40B4-BE49-F238E27FC236}">
                  <a16:creationId xmlns:a16="http://schemas.microsoft.com/office/drawing/2014/main" id="{54A5E242-CA81-DDF8-E7C9-83D5650C52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10" y="4835077"/>
              <a:ext cx="232274" cy="232274"/>
            </a:xfrm>
            <a:prstGeom prst="rect">
              <a:avLst/>
            </a:prstGeom>
          </p:spPr>
        </p:pic>
        <p:pic>
          <p:nvPicPr>
            <p:cNvPr id="79" name="Graphique 78" descr="Utilisateur avec un remplissage uni">
              <a:extLst>
                <a:ext uri="{FF2B5EF4-FFF2-40B4-BE49-F238E27FC236}">
                  <a16:creationId xmlns:a16="http://schemas.microsoft.com/office/drawing/2014/main" id="{BB00B57A-053C-0077-C66C-A331A2896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260" y="4835077"/>
              <a:ext cx="232274" cy="232274"/>
            </a:xfrm>
            <a:prstGeom prst="rect">
              <a:avLst/>
            </a:prstGeom>
          </p:spPr>
        </p:pic>
        <p:pic>
          <p:nvPicPr>
            <p:cNvPr id="80" name="Graphique 79" descr="Utilisateur avec un remplissage uni">
              <a:extLst>
                <a:ext uri="{FF2B5EF4-FFF2-40B4-BE49-F238E27FC236}">
                  <a16:creationId xmlns:a16="http://schemas.microsoft.com/office/drawing/2014/main" id="{A84E3E18-E172-75B6-012D-50D56CBD8D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46183" y="4835077"/>
              <a:ext cx="232274" cy="232274"/>
            </a:xfrm>
            <a:prstGeom prst="rect">
              <a:avLst/>
            </a:prstGeom>
          </p:spPr>
        </p:pic>
        <p:pic>
          <p:nvPicPr>
            <p:cNvPr id="81" name="Graphique 80" descr="Utilisateur avec un remplissage uni">
              <a:extLst>
                <a:ext uri="{FF2B5EF4-FFF2-40B4-BE49-F238E27FC236}">
                  <a16:creationId xmlns:a16="http://schemas.microsoft.com/office/drawing/2014/main" id="{57E1AB23-5198-7CA9-DDEB-2E635B87EF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2688" y="4835077"/>
              <a:ext cx="232274" cy="232274"/>
            </a:xfrm>
            <a:prstGeom prst="rect">
              <a:avLst/>
            </a:prstGeom>
          </p:spPr>
        </p:pic>
      </p:grpSp>
      <p:sp>
        <p:nvSpPr>
          <p:cNvPr id="82" name="Ellipse 81">
            <a:extLst>
              <a:ext uri="{FF2B5EF4-FFF2-40B4-BE49-F238E27FC236}">
                <a16:creationId xmlns:a16="http://schemas.microsoft.com/office/drawing/2014/main" id="{935295A1-892C-86C8-2373-BF3794DD5F89}"/>
              </a:ext>
            </a:extLst>
          </p:cNvPr>
          <p:cNvSpPr/>
          <p:nvPr/>
        </p:nvSpPr>
        <p:spPr>
          <a:xfrm>
            <a:off x="1101754" y="3105742"/>
            <a:ext cx="149977" cy="1499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D8C01BCB-E3DD-DD65-59F7-0782F52C3D0F}"/>
              </a:ext>
            </a:extLst>
          </p:cNvPr>
          <p:cNvGrpSpPr/>
          <p:nvPr/>
        </p:nvGrpSpPr>
        <p:grpSpPr>
          <a:xfrm>
            <a:off x="2838061" y="2224671"/>
            <a:ext cx="866252" cy="232274"/>
            <a:chOff x="1518710" y="4835077"/>
            <a:chExt cx="866252" cy="232274"/>
          </a:xfrm>
        </p:grpSpPr>
        <p:pic>
          <p:nvPicPr>
            <p:cNvPr id="84" name="Graphique 83" descr="Utilisateur avec un remplissage uni">
              <a:extLst>
                <a:ext uri="{FF2B5EF4-FFF2-40B4-BE49-F238E27FC236}">
                  <a16:creationId xmlns:a16="http://schemas.microsoft.com/office/drawing/2014/main" id="{7E7CF6E2-A285-BD6E-60F5-9F155A1626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10" y="4835077"/>
              <a:ext cx="232274" cy="232274"/>
            </a:xfrm>
            <a:prstGeom prst="rect">
              <a:avLst/>
            </a:prstGeom>
          </p:spPr>
        </p:pic>
        <p:pic>
          <p:nvPicPr>
            <p:cNvPr id="85" name="Graphique 84" descr="Utilisateur avec un remplissage uni">
              <a:extLst>
                <a:ext uri="{FF2B5EF4-FFF2-40B4-BE49-F238E27FC236}">
                  <a16:creationId xmlns:a16="http://schemas.microsoft.com/office/drawing/2014/main" id="{F97324CC-8965-7D74-F949-EAC2E82540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260" y="4835077"/>
              <a:ext cx="232274" cy="232274"/>
            </a:xfrm>
            <a:prstGeom prst="rect">
              <a:avLst/>
            </a:prstGeom>
          </p:spPr>
        </p:pic>
        <p:pic>
          <p:nvPicPr>
            <p:cNvPr id="86" name="Graphique 85" descr="Utilisateur avec un remplissage uni">
              <a:extLst>
                <a:ext uri="{FF2B5EF4-FFF2-40B4-BE49-F238E27FC236}">
                  <a16:creationId xmlns:a16="http://schemas.microsoft.com/office/drawing/2014/main" id="{4C691BC4-B9BB-C654-45DA-4C2C0E003E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46183" y="4835077"/>
              <a:ext cx="232274" cy="232274"/>
            </a:xfrm>
            <a:prstGeom prst="rect">
              <a:avLst/>
            </a:prstGeom>
          </p:spPr>
        </p:pic>
        <p:pic>
          <p:nvPicPr>
            <p:cNvPr id="87" name="Graphique 86" descr="Utilisateur avec un remplissage uni">
              <a:extLst>
                <a:ext uri="{FF2B5EF4-FFF2-40B4-BE49-F238E27FC236}">
                  <a16:creationId xmlns:a16="http://schemas.microsoft.com/office/drawing/2014/main" id="{E8C5E110-E540-A1A3-4CB6-5713B5DDC2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2688" y="4835077"/>
              <a:ext cx="232274" cy="232274"/>
            </a:xfrm>
            <a:prstGeom prst="rect">
              <a:avLst/>
            </a:prstGeom>
          </p:spPr>
        </p:pic>
      </p:grpSp>
      <p:sp>
        <p:nvSpPr>
          <p:cNvPr id="89" name="Ellipse 88">
            <a:extLst>
              <a:ext uri="{FF2B5EF4-FFF2-40B4-BE49-F238E27FC236}">
                <a16:creationId xmlns:a16="http://schemas.microsoft.com/office/drawing/2014/main" id="{79B214C0-7812-D153-B8DB-162C563DBA5C}"/>
              </a:ext>
            </a:extLst>
          </p:cNvPr>
          <p:cNvSpPr/>
          <p:nvPr/>
        </p:nvSpPr>
        <p:spPr>
          <a:xfrm>
            <a:off x="1101754" y="3375574"/>
            <a:ext cx="149977" cy="1499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7FA2EA9E-160A-3B6D-78AF-0AEFD0B9C18E}"/>
              </a:ext>
            </a:extLst>
          </p:cNvPr>
          <p:cNvSpPr/>
          <p:nvPr/>
        </p:nvSpPr>
        <p:spPr>
          <a:xfrm>
            <a:off x="1101754" y="3645407"/>
            <a:ext cx="149977" cy="1499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3755605B-040D-8E35-36D9-077D75248183}"/>
              </a:ext>
            </a:extLst>
          </p:cNvPr>
          <p:cNvSpPr txBox="1"/>
          <p:nvPr/>
        </p:nvSpPr>
        <p:spPr>
          <a:xfrm>
            <a:off x="1230417" y="3064157"/>
            <a:ext cx="3594762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spc="-30" noProof="0">
                <a:solidFill>
                  <a:schemeClr val="accent5"/>
                </a:solidFill>
                <a:latin typeface="Segoe UI"/>
                <a:cs typeface="Segoe UI"/>
              </a:rPr>
              <a:t>RÉPARTITION PROPORTIONNELLE </a:t>
            </a:r>
            <a:r>
              <a:rPr lang="fr-FR" sz="900" spc="-30" noProof="0">
                <a:latin typeface="Segoe UI"/>
                <a:cs typeface="Segoe UI"/>
              </a:rPr>
              <a:t>à l’échantillon entre les strates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87128387-21DE-E493-4659-97F156C26F4A}"/>
              </a:ext>
            </a:extLst>
          </p:cNvPr>
          <p:cNvSpPr txBox="1"/>
          <p:nvPr/>
        </p:nvSpPr>
        <p:spPr>
          <a:xfrm>
            <a:off x="1238730" y="3321318"/>
            <a:ext cx="3153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TIRAGE AU HASARD </a:t>
            </a:r>
            <a:r>
              <a:rPr lang="fr-FR" sz="900" spc="-30" noProof="0">
                <a:latin typeface="Segoe UI" panose="020B0502040204020203" pitchFamily="34" charset="0"/>
                <a:cs typeface="Segoe UI" panose="020B0502040204020203" pitchFamily="34" charset="0"/>
              </a:rPr>
              <a:t>des paires à l’intérieur de chaque strate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2D89FB42-4683-F656-2429-1311A17855A1}"/>
                  </a:ext>
                </a:extLst>
              </p:cNvPr>
              <p:cNvSpPr txBox="1"/>
              <p:nvPr/>
            </p:nvSpPr>
            <p:spPr>
              <a:xfrm>
                <a:off x="1230418" y="3586143"/>
                <a:ext cx="31535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900" b="1" spc="-30" noProof="0">
                    <a:solidFill>
                      <a:schemeClr val="accent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REPRÉSENTATION VÉRIFIÉE :  </a:t>
                </a:r>
                <a:r>
                  <a:rPr lang="fr-FR" sz="900" spc="-3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population </a:t>
                </a:r>
                <a14:m>
                  <m:oMath xmlns:m="http://schemas.openxmlformats.org/officeDocument/2006/math">
                    <m:r>
                      <a:rPr lang="fr-FR" sz="900" i="1" spc="-3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~</m:t>
                    </m:r>
                  </m:oMath>
                </a14:m>
                <a:r>
                  <a:rPr lang="fr-FR" sz="900" spc="-3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 échantillon</a:t>
                </a:r>
              </a:p>
            </p:txBody>
          </p:sp>
        </mc:Choice>
        <mc:Fallback xmlns="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2D89FB42-4683-F656-2429-1311A1785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418" y="3586143"/>
                <a:ext cx="3153564" cy="230832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ZoneTexte 100">
            <a:extLst>
              <a:ext uri="{FF2B5EF4-FFF2-40B4-BE49-F238E27FC236}">
                <a16:creationId xmlns:a16="http://schemas.microsoft.com/office/drawing/2014/main" id="{D1A72819-08FC-5E8F-198A-11732F24B43F}"/>
              </a:ext>
            </a:extLst>
          </p:cNvPr>
          <p:cNvSpPr txBox="1"/>
          <p:nvPr/>
        </p:nvSpPr>
        <p:spPr>
          <a:xfrm rot="10800000" flipV="1">
            <a:off x="955722" y="4285588"/>
            <a:ext cx="3488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Optimal Matching = coût minimal pour transformer une trajectoire en une autre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AE3DC3FD-EF90-E534-E712-C88754C53BAE}"/>
              </a:ext>
            </a:extLst>
          </p:cNvPr>
          <p:cNvSpPr txBox="1"/>
          <p:nvPr/>
        </p:nvSpPr>
        <p:spPr>
          <a:xfrm rot="10800000" flipV="1">
            <a:off x="4530961" y="4212507"/>
            <a:ext cx="3466495" cy="382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Classification ascendante hiérarchique (Ward), consolidée par k-médoïdes 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85D80541-9C7F-D2AD-C097-B48291BBCBF1}"/>
              </a:ext>
            </a:extLst>
          </p:cNvPr>
          <p:cNvSpPr txBox="1"/>
          <p:nvPr/>
        </p:nvSpPr>
        <p:spPr>
          <a:xfrm rot="10800000" flipV="1">
            <a:off x="8191361" y="4633943"/>
            <a:ext cx="348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Même typologie pour les deux groupes : comparaison directe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B46E940-CC18-3455-EF8A-EF230EEE069B}"/>
              </a:ext>
            </a:extLst>
          </p:cNvPr>
          <p:cNvSpPr/>
          <p:nvPr/>
        </p:nvSpPr>
        <p:spPr>
          <a:xfrm>
            <a:off x="8047267" y="4554233"/>
            <a:ext cx="4144733" cy="650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B4F9BB1-33AC-EAD4-D3F0-F08CF75505AC}"/>
              </a:ext>
            </a:extLst>
          </p:cNvPr>
          <p:cNvSpPr/>
          <p:nvPr/>
        </p:nvSpPr>
        <p:spPr>
          <a:xfrm>
            <a:off x="8047267" y="5445702"/>
            <a:ext cx="4144733" cy="650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2FE0944A-1F86-FADC-7791-B6CBF6E58717}"/>
              </a:ext>
            </a:extLst>
          </p:cNvPr>
          <p:cNvGrpSpPr/>
          <p:nvPr/>
        </p:nvGrpSpPr>
        <p:grpSpPr>
          <a:xfrm>
            <a:off x="8097962" y="4663946"/>
            <a:ext cx="422810" cy="422810"/>
            <a:chOff x="1265826" y="-914400"/>
            <a:chExt cx="647641" cy="647641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58208E86-8847-916D-3438-9D1CF9B7900D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57" name="Graphique 156" descr="Hiérarchie avec un remplissage uni">
              <a:extLst>
                <a:ext uri="{FF2B5EF4-FFF2-40B4-BE49-F238E27FC236}">
                  <a16:creationId xmlns:a16="http://schemas.microsoft.com/office/drawing/2014/main" id="{DA25FC7F-722D-37D9-E6AC-7B1E7D61A3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357178" y="-843086"/>
              <a:ext cx="464933" cy="464933"/>
            </a:xfrm>
            <a:prstGeom prst="rect">
              <a:avLst/>
            </a:prstGeom>
          </p:spPr>
        </p:pic>
      </p:grpSp>
      <p:sp>
        <p:nvSpPr>
          <p:cNvPr id="162" name="ZoneTexte 161">
            <a:extLst>
              <a:ext uri="{FF2B5EF4-FFF2-40B4-BE49-F238E27FC236}">
                <a16:creationId xmlns:a16="http://schemas.microsoft.com/office/drawing/2014/main" id="{732EA978-FE79-8407-426D-B8C2560CAE3A}"/>
              </a:ext>
            </a:extLst>
          </p:cNvPr>
          <p:cNvSpPr txBox="1"/>
          <p:nvPr/>
        </p:nvSpPr>
        <p:spPr>
          <a:xfrm>
            <a:off x="8735085" y="4575579"/>
            <a:ext cx="2769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RÉPARTITION DANS LES CLASSES</a:t>
            </a:r>
          </a:p>
        </p:txBody>
      </p:sp>
      <p:sp>
        <p:nvSpPr>
          <p:cNvPr id="164" name="ZoneTexte 163">
            <a:extLst>
              <a:ext uri="{FF2B5EF4-FFF2-40B4-BE49-F238E27FC236}">
                <a16:creationId xmlns:a16="http://schemas.microsoft.com/office/drawing/2014/main" id="{0AA5286E-D946-653C-39AE-9394C3F82DD6}"/>
              </a:ext>
            </a:extLst>
          </p:cNvPr>
          <p:cNvSpPr txBox="1"/>
          <p:nvPr/>
        </p:nvSpPr>
        <p:spPr>
          <a:xfrm>
            <a:off x="8735085" y="5497973"/>
            <a:ext cx="2769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COMPLEXITÉ DES TRAJECTOIRES</a:t>
            </a:r>
          </a:p>
        </p:txBody>
      </p:sp>
      <p:grpSp>
        <p:nvGrpSpPr>
          <p:cNvPr id="165" name="Groupe 164">
            <a:extLst>
              <a:ext uri="{FF2B5EF4-FFF2-40B4-BE49-F238E27FC236}">
                <a16:creationId xmlns:a16="http://schemas.microsoft.com/office/drawing/2014/main" id="{735F4C9F-C292-C281-8C08-A6785827483E}"/>
              </a:ext>
            </a:extLst>
          </p:cNvPr>
          <p:cNvGrpSpPr/>
          <p:nvPr/>
        </p:nvGrpSpPr>
        <p:grpSpPr>
          <a:xfrm>
            <a:off x="8097962" y="5533950"/>
            <a:ext cx="422810" cy="422810"/>
            <a:chOff x="1265826" y="-914400"/>
            <a:chExt cx="647641" cy="647641"/>
          </a:xfrm>
        </p:grpSpPr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9FE9106F-2F9B-267C-CB43-2DFB5612E7F7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67" name="Graphique 166" descr="Présentation avec graphique à barres avec un remplissage uni">
              <a:extLst>
                <a:ext uri="{FF2B5EF4-FFF2-40B4-BE49-F238E27FC236}">
                  <a16:creationId xmlns:a16="http://schemas.microsoft.com/office/drawing/2014/main" id="{A4DA16EC-80EE-F59D-0E70-003897CDAC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357178" y="-843086"/>
              <a:ext cx="464933" cy="464933"/>
            </a:xfrm>
            <a:prstGeom prst="rect">
              <a:avLst/>
            </a:prstGeom>
          </p:spPr>
        </p:pic>
      </p:grpSp>
      <p:sp>
        <p:nvSpPr>
          <p:cNvPr id="169" name="ZoneTexte 168">
            <a:extLst>
              <a:ext uri="{FF2B5EF4-FFF2-40B4-BE49-F238E27FC236}">
                <a16:creationId xmlns:a16="http://schemas.microsoft.com/office/drawing/2014/main" id="{B090F069-E10C-1F4F-5AB4-BF0C294C9B98}"/>
              </a:ext>
            </a:extLst>
          </p:cNvPr>
          <p:cNvSpPr txBox="1"/>
          <p:nvPr/>
        </p:nvSpPr>
        <p:spPr>
          <a:xfrm rot="10800000" flipV="1">
            <a:off x="8690573" y="4863464"/>
            <a:ext cx="33960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Part des RCI et des témoins dans chaque classe, écart en points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7E268D22-3D6D-B7D1-79CE-AA3AC7F73539}"/>
              </a:ext>
            </a:extLst>
          </p:cNvPr>
          <p:cNvSpPr txBox="1"/>
          <p:nvPr/>
        </p:nvSpPr>
        <p:spPr>
          <a:xfrm rot="10800000" flipV="1">
            <a:off x="8690573" y="5707475"/>
            <a:ext cx="339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Indice de complexité (transitions et diversité des états) et nombre d’épisodes </a:t>
            </a:r>
          </a:p>
        </p:txBody>
      </p:sp>
      <p:grpSp>
        <p:nvGrpSpPr>
          <p:cNvPr id="249" name="Groupe 248">
            <a:extLst>
              <a:ext uri="{FF2B5EF4-FFF2-40B4-BE49-F238E27FC236}">
                <a16:creationId xmlns:a16="http://schemas.microsoft.com/office/drawing/2014/main" id="{4D86D91A-D143-14AE-CE17-9BC6372D83C3}"/>
              </a:ext>
            </a:extLst>
          </p:cNvPr>
          <p:cNvGrpSpPr/>
          <p:nvPr/>
        </p:nvGrpSpPr>
        <p:grpSpPr>
          <a:xfrm>
            <a:off x="10575987" y="1618268"/>
            <a:ext cx="2286000" cy="2148840"/>
            <a:chOff x="9829800" y="1572768"/>
            <a:chExt cx="2286000" cy="2148840"/>
          </a:xfrm>
        </p:grpSpPr>
        <p:sp>
          <p:nvSpPr>
            <p:cNvPr id="250" name="Text 100">
              <a:extLst>
                <a:ext uri="{FF2B5EF4-FFF2-40B4-BE49-F238E27FC236}">
                  <a16:creationId xmlns:a16="http://schemas.microsoft.com/office/drawing/2014/main" id="{A351E253-BC1C-A3D2-5311-A0996EDBF41C}"/>
                </a:ext>
              </a:extLst>
            </p:cNvPr>
            <p:cNvSpPr txBox="1"/>
            <p:nvPr/>
          </p:nvSpPr>
          <p:spPr>
            <a:xfrm>
              <a:off x="9829800" y="157276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90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9 ÉTATS</a:t>
              </a:r>
            </a:p>
          </p:txBody>
        </p:sp>
        <p:sp>
          <p:nvSpPr>
            <p:cNvPr id="251" name="Shape 101">
              <a:extLst>
                <a:ext uri="{FF2B5EF4-FFF2-40B4-BE49-F238E27FC236}">
                  <a16:creationId xmlns:a16="http://schemas.microsoft.com/office/drawing/2014/main" id="{21D3FA50-F5AF-5436-D1A1-2C29A00AF1B0}"/>
                </a:ext>
              </a:extLst>
            </p:cNvPr>
            <p:cNvSpPr/>
            <p:nvPr/>
          </p:nvSpPr>
          <p:spPr>
            <a:xfrm>
              <a:off x="9829800" y="1837944"/>
              <a:ext cx="182880" cy="137160"/>
            </a:xfrm>
            <a:prstGeom prst="rect">
              <a:avLst/>
            </a:prstGeom>
            <a:solidFill>
              <a:srgbClr val="1A9850"/>
            </a:solidFill>
            <a:ln w="12700">
              <a:solidFill>
                <a:srgbClr val="1A985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52" name="Text 102">
              <a:extLst>
                <a:ext uri="{FF2B5EF4-FFF2-40B4-BE49-F238E27FC236}">
                  <a16:creationId xmlns:a16="http://schemas.microsoft.com/office/drawing/2014/main" id="{B9DA1998-EBA1-A2A9-206C-6A852AB80275}"/>
                </a:ext>
              </a:extLst>
            </p:cNvPr>
            <p:cNvSpPr txBox="1"/>
            <p:nvPr/>
          </p:nvSpPr>
          <p:spPr>
            <a:xfrm>
              <a:off x="10085832" y="1810512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EMPLOI SALARIÉ</a:t>
              </a:r>
              <a:endParaRPr lang="fr-FR" sz="8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3" name="Shape 103">
              <a:extLst>
                <a:ext uri="{FF2B5EF4-FFF2-40B4-BE49-F238E27FC236}">
                  <a16:creationId xmlns:a16="http://schemas.microsoft.com/office/drawing/2014/main" id="{7E32E30E-163B-B0BA-E004-6AD8A6A66603}"/>
                </a:ext>
              </a:extLst>
            </p:cNvPr>
            <p:cNvSpPr/>
            <p:nvPr/>
          </p:nvSpPr>
          <p:spPr>
            <a:xfrm>
              <a:off x="9829800" y="2052828"/>
              <a:ext cx="182880" cy="137160"/>
            </a:xfrm>
            <a:prstGeom prst="rect">
              <a:avLst/>
            </a:prstGeom>
            <a:solidFill>
              <a:srgbClr val="A6D96A"/>
            </a:solidFill>
            <a:ln w="12700">
              <a:solidFill>
                <a:srgbClr val="A6D96A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54" name="Text 104">
              <a:extLst>
                <a:ext uri="{FF2B5EF4-FFF2-40B4-BE49-F238E27FC236}">
                  <a16:creationId xmlns:a16="http://schemas.microsoft.com/office/drawing/2014/main" id="{7C00343C-D6AA-E459-2659-6375D20FEC3F}"/>
                </a:ext>
              </a:extLst>
            </p:cNvPr>
            <p:cNvSpPr txBox="1"/>
            <p:nvPr/>
          </p:nvSpPr>
          <p:spPr>
            <a:xfrm>
              <a:off x="10085832" y="2025396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EMPLOI SALARIÉ AVEC AIDES</a:t>
              </a:r>
            </a:p>
          </p:txBody>
        </p:sp>
        <p:sp>
          <p:nvSpPr>
            <p:cNvPr id="255" name="Shape 105">
              <a:extLst>
                <a:ext uri="{FF2B5EF4-FFF2-40B4-BE49-F238E27FC236}">
                  <a16:creationId xmlns:a16="http://schemas.microsoft.com/office/drawing/2014/main" id="{FAA9A9B9-F0F3-F8CE-7D89-5FDC2A11FE4D}"/>
                </a:ext>
              </a:extLst>
            </p:cNvPr>
            <p:cNvSpPr/>
            <p:nvPr/>
          </p:nvSpPr>
          <p:spPr>
            <a:xfrm>
              <a:off x="9829800" y="2267712"/>
              <a:ext cx="182880" cy="137160"/>
            </a:xfrm>
            <a:prstGeom prst="rect">
              <a:avLst/>
            </a:prstGeom>
            <a:solidFill>
              <a:srgbClr val="8C510A"/>
            </a:solidFill>
            <a:ln w="12700">
              <a:solidFill>
                <a:srgbClr val="8C510A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56" name="Text 106">
              <a:extLst>
                <a:ext uri="{FF2B5EF4-FFF2-40B4-BE49-F238E27FC236}">
                  <a16:creationId xmlns:a16="http://schemas.microsoft.com/office/drawing/2014/main" id="{A21624AF-C011-977A-A383-07720A33C723}"/>
                </a:ext>
              </a:extLst>
            </p:cNvPr>
            <p:cNvSpPr txBox="1"/>
            <p:nvPr/>
          </p:nvSpPr>
          <p:spPr>
            <a:xfrm>
              <a:off x="10085832" y="2240280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+ SALARIÉ</a:t>
              </a:r>
            </a:p>
          </p:txBody>
        </p:sp>
        <p:sp>
          <p:nvSpPr>
            <p:cNvPr id="257" name="Shape 107">
              <a:extLst>
                <a:ext uri="{FF2B5EF4-FFF2-40B4-BE49-F238E27FC236}">
                  <a16:creationId xmlns:a16="http://schemas.microsoft.com/office/drawing/2014/main" id="{E7383314-2F4B-FD80-9224-A7D99AC4EBA6}"/>
                </a:ext>
              </a:extLst>
            </p:cNvPr>
            <p:cNvSpPr/>
            <p:nvPr/>
          </p:nvSpPr>
          <p:spPr>
            <a:xfrm>
              <a:off x="9829800" y="2482596"/>
              <a:ext cx="182880" cy="13716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D73027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58" name="Text 108">
              <a:extLst>
                <a:ext uri="{FF2B5EF4-FFF2-40B4-BE49-F238E27FC236}">
                  <a16:creationId xmlns:a16="http://schemas.microsoft.com/office/drawing/2014/main" id="{918874AD-D2EE-DA2B-B2F4-7EA1DE241FB2}"/>
                </a:ext>
              </a:extLst>
            </p:cNvPr>
            <p:cNvSpPr txBox="1"/>
            <p:nvPr/>
          </p:nvSpPr>
          <p:spPr>
            <a:xfrm>
              <a:off x="10085832" y="2455164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INDEMNISÉ</a:t>
              </a:r>
            </a:p>
          </p:txBody>
        </p:sp>
        <p:sp>
          <p:nvSpPr>
            <p:cNvPr id="259" name="Shape 109">
              <a:extLst>
                <a:ext uri="{FF2B5EF4-FFF2-40B4-BE49-F238E27FC236}">
                  <a16:creationId xmlns:a16="http://schemas.microsoft.com/office/drawing/2014/main" id="{D1AADDB8-3BF6-19DA-D256-24898C051182}"/>
                </a:ext>
              </a:extLst>
            </p:cNvPr>
            <p:cNvSpPr/>
            <p:nvPr/>
          </p:nvSpPr>
          <p:spPr>
            <a:xfrm>
              <a:off x="9829800" y="2697480"/>
              <a:ext cx="182880" cy="137160"/>
            </a:xfrm>
            <a:prstGeom prst="rect">
              <a:avLst/>
            </a:prstGeom>
            <a:solidFill>
              <a:srgbClr val="F46D43"/>
            </a:solidFill>
            <a:ln w="12700">
              <a:solidFill>
                <a:srgbClr val="F46D43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0" name="Text 110">
              <a:extLst>
                <a:ext uri="{FF2B5EF4-FFF2-40B4-BE49-F238E27FC236}">
                  <a16:creationId xmlns:a16="http://schemas.microsoft.com/office/drawing/2014/main" id="{375F974F-3AC9-1953-D0F3-E866FF437A7F}"/>
                </a:ext>
              </a:extLst>
            </p:cNvPr>
            <p:cNvSpPr txBox="1"/>
            <p:nvPr/>
          </p:nvSpPr>
          <p:spPr>
            <a:xfrm>
              <a:off x="10085832" y="2670048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SEUL</a:t>
              </a:r>
            </a:p>
          </p:txBody>
        </p:sp>
        <p:sp>
          <p:nvSpPr>
            <p:cNvPr id="261" name="Shape 111">
              <a:extLst>
                <a:ext uri="{FF2B5EF4-FFF2-40B4-BE49-F238E27FC236}">
                  <a16:creationId xmlns:a16="http://schemas.microsoft.com/office/drawing/2014/main" id="{48F58D08-34EB-3FFC-F62A-5218A0A8A0CE}"/>
                </a:ext>
              </a:extLst>
            </p:cNvPr>
            <p:cNvSpPr/>
            <p:nvPr/>
          </p:nvSpPr>
          <p:spPr>
            <a:xfrm>
              <a:off x="9829800" y="2912364"/>
              <a:ext cx="182880" cy="137160"/>
            </a:xfrm>
            <a:prstGeom prst="rect">
              <a:avLst/>
            </a:prstGeom>
            <a:solidFill>
              <a:srgbClr val="4393C3"/>
            </a:solidFill>
            <a:ln w="12700">
              <a:solidFill>
                <a:srgbClr val="4393C3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2" name="Text 112">
              <a:extLst>
                <a:ext uri="{FF2B5EF4-FFF2-40B4-BE49-F238E27FC236}">
                  <a16:creationId xmlns:a16="http://schemas.microsoft.com/office/drawing/2014/main" id="{30030689-DD91-2F30-7E9D-F1963D0C08EF}"/>
                </a:ext>
              </a:extLst>
            </p:cNvPr>
            <p:cNvSpPr txBox="1"/>
            <p:nvPr/>
          </p:nvSpPr>
          <p:spPr>
            <a:xfrm>
              <a:off x="10085832" y="2884932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CHÔMAGE INDEMNISÉ</a:t>
              </a:r>
            </a:p>
          </p:txBody>
        </p:sp>
        <p:sp>
          <p:nvSpPr>
            <p:cNvPr id="263" name="Shape 113">
              <a:extLst>
                <a:ext uri="{FF2B5EF4-FFF2-40B4-BE49-F238E27FC236}">
                  <a16:creationId xmlns:a16="http://schemas.microsoft.com/office/drawing/2014/main" id="{22ACFFA8-5CAC-0E78-B01D-E74167662674}"/>
                </a:ext>
              </a:extLst>
            </p:cNvPr>
            <p:cNvSpPr/>
            <p:nvPr/>
          </p:nvSpPr>
          <p:spPr>
            <a:xfrm>
              <a:off x="9829800" y="3127248"/>
              <a:ext cx="182880" cy="137160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4" name="Text 114">
              <a:extLst>
                <a:ext uri="{FF2B5EF4-FFF2-40B4-BE49-F238E27FC236}">
                  <a16:creationId xmlns:a16="http://schemas.microsoft.com/office/drawing/2014/main" id="{8E5D6E0D-6B03-B337-0566-AAE4EEC376A8}"/>
                </a:ext>
              </a:extLst>
            </p:cNvPr>
            <p:cNvSpPr txBox="1"/>
            <p:nvPr/>
          </p:nvSpPr>
          <p:spPr>
            <a:xfrm>
              <a:off x="10085832" y="3099816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MINIMA SOCIAUX</a:t>
              </a:r>
            </a:p>
          </p:txBody>
        </p:sp>
        <p:sp>
          <p:nvSpPr>
            <p:cNvPr id="265" name="Shape 115">
              <a:extLst>
                <a:ext uri="{FF2B5EF4-FFF2-40B4-BE49-F238E27FC236}">
                  <a16:creationId xmlns:a16="http://schemas.microsoft.com/office/drawing/2014/main" id="{EBFDACD8-DE2E-D11C-0A99-D5546AE327A7}"/>
                </a:ext>
              </a:extLst>
            </p:cNvPr>
            <p:cNvSpPr/>
            <p:nvPr/>
          </p:nvSpPr>
          <p:spPr>
            <a:xfrm>
              <a:off x="9829800" y="3342132"/>
              <a:ext cx="182880" cy="137160"/>
            </a:xfrm>
            <a:prstGeom prst="rect">
              <a:avLst/>
            </a:prstGeom>
            <a:solidFill>
              <a:srgbClr val="4D4D4D"/>
            </a:solidFill>
            <a:ln w="12700">
              <a:solidFill>
                <a:srgbClr val="4D4D4D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6" name="Text 116">
              <a:extLst>
                <a:ext uri="{FF2B5EF4-FFF2-40B4-BE49-F238E27FC236}">
                  <a16:creationId xmlns:a16="http://schemas.microsoft.com/office/drawing/2014/main" id="{C19534E6-740D-D64F-4CF0-0D795C6DF759}"/>
                </a:ext>
              </a:extLst>
            </p:cNvPr>
            <p:cNvSpPr txBox="1"/>
            <p:nvPr/>
          </p:nvSpPr>
          <p:spPr>
            <a:xfrm>
              <a:off x="10085832" y="3314700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RETRAITE</a:t>
              </a:r>
            </a:p>
          </p:txBody>
        </p:sp>
        <p:sp>
          <p:nvSpPr>
            <p:cNvPr id="267" name="Shape 117">
              <a:extLst>
                <a:ext uri="{FF2B5EF4-FFF2-40B4-BE49-F238E27FC236}">
                  <a16:creationId xmlns:a16="http://schemas.microsoft.com/office/drawing/2014/main" id="{859645EE-DB31-73CE-97A2-7BDBCC59FDF8}"/>
                </a:ext>
              </a:extLst>
            </p:cNvPr>
            <p:cNvSpPr/>
            <p:nvPr/>
          </p:nvSpPr>
          <p:spPr>
            <a:xfrm>
              <a:off x="9829800" y="3557016"/>
              <a:ext cx="182880" cy="137160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8" name="Text 118">
              <a:extLst>
                <a:ext uri="{FF2B5EF4-FFF2-40B4-BE49-F238E27FC236}">
                  <a16:creationId xmlns:a16="http://schemas.microsoft.com/office/drawing/2014/main" id="{B86A4E3E-313F-7BB9-CAEE-6A1915662F1D}"/>
                </a:ext>
              </a:extLst>
            </p:cNvPr>
            <p:cNvSpPr txBox="1"/>
            <p:nvPr/>
          </p:nvSpPr>
          <p:spPr>
            <a:xfrm>
              <a:off x="10085832" y="3529584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OBSERVÉ</a:t>
              </a:r>
            </a:p>
          </p:txBody>
        </p:sp>
      </p:grpSp>
      <p:sp>
        <p:nvSpPr>
          <p:cNvPr id="329" name="Text 99">
            <a:extLst>
              <a:ext uri="{FF2B5EF4-FFF2-40B4-BE49-F238E27FC236}">
                <a16:creationId xmlns:a16="http://schemas.microsoft.com/office/drawing/2014/main" id="{63A0064F-599F-675E-C491-D80F3DB31E61}"/>
              </a:ext>
            </a:extLst>
          </p:cNvPr>
          <p:cNvSpPr txBox="1"/>
          <p:nvPr/>
        </p:nvSpPr>
        <p:spPr>
          <a:xfrm>
            <a:off x="5402441" y="3423394"/>
            <a:ext cx="5577840" cy="230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1000" b="1" noProof="0">
                <a:solidFill>
                  <a:schemeClr val="accent4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 SEUL ÉTAT PAR MOIS PAR INDIVIDU SUIVI</a:t>
            </a:r>
            <a:endParaRPr lang="fr-FR" sz="1000" i="1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3BA529D-4019-CE6B-A2F3-F85F24474EF3}"/>
              </a:ext>
            </a:extLst>
          </p:cNvPr>
          <p:cNvSpPr/>
          <p:nvPr/>
        </p:nvSpPr>
        <p:spPr>
          <a:xfrm>
            <a:off x="4955143" y="2006151"/>
            <a:ext cx="5484257" cy="1352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25C88EEF-A898-2544-4744-B8261B3DBF61}"/>
              </a:ext>
            </a:extLst>
          </p:cNvPr>
          <p:cNvGrpSpPr/>
          <p:nvPr/>
        </p:nvGrpSpPr>
        <p:grpSpPr>
          <a:xfrm>
            <a:off x="4986789" y="2094098"/>
            <a:ext cx="5564216" cy="1293832"/>
            <a:chOff x="5102609" y="1251439"/>
            <a:chExt cx="5564216" cy="1293832"/>
          </a:xfrm>
        </p:grpSpPr>
        <p:grpSp>
          <p:nvGrpSpPr>
            <p:cNvPr id="224" name="Groupe 223">
              <a:extLst>
                <a:ext uri="{FF2B5EF4-FFF2-40B4-BE49-F238E27FC236}">
                  <a16:creationId xmlns:a16="http://schemas.microsoft.com/office/drawing/2014/main" id="{89E99313-51E4-7FEA-3B60-F764031AE20D}"/>
                </a:ext>
              </a:extLst>
            </p:cNvPr>
            <p:cNvGrpSpPr/>
            <p:nvPr/>
          </p:nvGrpSpPr>
          <p:grpSpPr>
            <a:xfrm>
              <a:off x="5397663" y="1251439"/>
              <a:ext cx="5020056" cy="237744"/>
              <a:chOff x="4343400" y="1645920"/>
              <a:chExt cx="5020056" cy="237744"/>
            </a:xfrm>
          </p:grpSpPr>
          <p:sp>
            <p:nvSpPr>
              <p:cNvPr id="225" name="Shape 19">
                <a:extLst>
                  <a:ext uri="{FF2B5EF4-FFF2-40B4-BE49-F238E27FC236}">
                    <a16:creationId xmlns:a16="http://schemas.microsoft.com/office/drawing/2014/main" id="{63ABB20C-E227-6DEF-CC91-4013E2BFE8F0}"/>
                  </a:ext>
                </a:extLst>
              </p:cNvPr>
              <p:cNvSpPr/>
              <p:nvPr/>
            </p:nvSpPr>
            <p:spPr>
              <a:xfrm>
                <a:off x="4343400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6" name="Shape 20">
                <a:extLst>
                  <a:ext uri="{FF2B5EF4-FFF2-40B4-BE49-F238E27FC236}">
                    <a16:creationId xmlns:a16="http://schemas.microsoft.com/office/drawing/2014/main" id="{C8A3FFA4-21C7-F801-B014-E53ABC1E23A9}"/>
                  </a:ext>
                </a:extLst>
              </p:cNvPr>
              <p:cNvSpPr/>
              <p:nvPr/>
            </p:nvSpPr>
            <p:spPr>
              <a:xfrm>
                <a:off x="4562856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7" name="Shape 21">
                <a:extLst>
                  <a:ext uri="{FF2B5EF4-FFF2-40B4-BE49-F238E27FC236}">
                    <a16:creationId xmlns:a16="http://schemas.microsoft.com/office/drawing/2014/main" id="{F42FF016-5669-60F9-089E-DC6FD4D5F5F8}"/>
                  </a:ext>
                </a:extLst>
              </p:cNvPr>
              <p:cNvSpPr/>
              <p:nvPr/>
            </p:nvSpPr>
            <p:spPr>
              <a:xfrm>
                <a:off x="4782312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8" name="Shape 22">
                <a:extLst>
                  <a:ext uri="{FF2B5EF4-FFF2-40B4-BE49-F238E27FC236}">
                    <a16:creationId xmlns:a16="http://schemas.microsoft.com/office/drawing/2014/main" id="{7CBEF8BD-DCB5-2F68-EF60-5063538BDD1C}"/>
                  </a:ext>
                </a:extLst>
              </p:cNvPr>
              <p:cNvSpPr/>
              <p:nvPr/>
            </p:nvSpPr>
            <p:spPr>
              <a:xfrm>
                <a:off x="5001768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9" name="Shape 23">
                <a:extLst>
                  <a:ext uri="{FF2B5EF4-FFF2-40B4-BE49-F238E27FC236}">
                    <a16:creationId xmlns:a16="http://schemas.microsoft.com/office/drawing/2014/main" id="{DA1C0D78-BC00-F9CB-50AD-90CBE30A2E92}"/>
                  </a:ext>
                </a:extLst>
              </p:cNvPr>
              <p:cNvSpPr/>
              <p:nvPr/>
            </p:nvSpPr>
            <p:spPr>
              <a:xfrm>
                <a:off x="5221224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0" name="Shape 24">
                <a:extLst>
                  <a:ext uri="{FF2B5EF4-FFF2-40B4-BE49-F238E27FC236}">
                    <a16:creationId xmlns:a16="http://schemas.microsoft.com/office/drawing/2014/main" id="{1693576C-32D3-8216-57F2-932E86756230}"/>
                  </a:ext>
                </a:extLst>
              </p:cNvPr>
              <p:cNvSpPr/>
              <p:nvPr/>
            </p:nvSpPr>
            <p:spPr>
              <a:xfrm>
                <a:off x="5440680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1" name="Shape 25">
                <a:extLst>
                  <a:ext uri="{FF2B5EF4-FFF2-40B4-BE49-F238E27FC236}">
                    <a16:creationId xmlns:a16="http://schemas.microsoft.com/office/drawing/2014/main" id="{B0A636DF-833F-47D2-A1C5-F671320507CD}"/>
                  </a:ext>
                </a:extLst>
              </p:cNvPr>
              <p:cNvSpPr/>
              <p:nvPr/>
            </p:nvSpPr>
            <p:spPr>
              <a:xfrm>
                <a:off x="5660136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2" name="Shape 26">
                <a:extLst>
                  <a:ext uri="{FF2B5EF4-FFF2-40B4-BE49-F238E27FC236}">
                    <a16:creationId xmlns:a16="http://schemas.microsoft.com/office/drawing/2014/main" id="{CA84C211-4A53-15F2-3484-4794D4E0CD05}"/>
                  </a:ext>
                </a:extLst>
              </p:cNvPr>
              <p:cNvSpPr/>
              <p:nvPr/>
            </p:nvSpPr>
            <p:spPr>
              <a:xfrm>
                <a:off x="5879592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3" name="Shape 27">
                <a:extLst>
                  <a:ext uri="{FF2B5EF4-FFF2-40B4-BE49-F238E27FC236}">
                    <a16:creationId xmlns:a16="http://schemas.microsoft.com/office/drawing/2014/main" id="{5ED3F3A9-DD14-C855-3167-CA1525645269}"/>
                  </a:ext>
                </a:extLst>
              </p:cNvPr>
              <p:cNvSpPr/>
              <p:nvPr/>
            </p:nvSpPr>
            <p:spPr>
              <a:xfrm>
                <a:off x="6099048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4" name="Shape 28">
                <a:extLst>
                  <a:ext uri="{FF2B5EF4-FFF2-40B4-BE49-F238E27FC236}">
                    <a16:creationId xmlns:a16="http://schemas.microsoft.com/office/drawing/2014/main" id="{D9CC58EB-DF07-3F18-4820-BDC91EEBEC4E}"/>
                  </a:ext>
                </a:extLst>
              </p:cNvPr>
              <p:cNvSpPr/>
              <p:nvPr/>
            </p:nvSpPr>
            <p:spPr>
              <a:xfrm>
                <a:off x="6318504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5" name="Shape 29">
                <a:extLst>
                  <a:ext uri="{FF2B5EF4-FFF2-40B4-BE49-F238E27FC236}">
                    <a16:creationId xmlns:a16="http://schemas.microsoft.com/office/drawing/2014/main" id="{0C48BA74-34A3-8BC5-F4EE-948BEA1C4536}"/>
                  </a:ext>
                </a:extLst>
              </p:cNvPr>
              <p:cNvSpPr/>
              <p:nvPr/>
            </p:nvSpPr>
            <p:spPr>
              <a:xfrm>
                <a:off x="6537960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6" name="Shape 30">
                <a:extLst>
                  <a:ext uri="{FF2B5EF4-FFF2-40B4-BE49-F238E27FC236}">
                    <a16:creationId xmlns:a16="http://schemas.microsoft.com/office/drawing/2014/main" id="{E07FE148-4C02-D1A0-96D4-AFC686D94D9E}"/>
                  </a:ext>
                </a:extLst>
              </p:cNvPr>
              <p:cNvSpPr/>
              <p:nvPr/>
            </p:nvSpPr>
            <p:spPr>
              <a:xfrm>
                <a:off x="6757416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7" name="Shape 31">
                <a:extLst>
                  <a:ext uri="{FF2B5EF4-FFF2-40B4-BE49-F238E27FC236}">
                    <a16:creationId xmlns:a16="http://schemas.microsoft.com/office/drawing/2014/main" id="{D83AE289-5034-FED6-6239-4DE1F211312D}"/>
                  </a:ext>
                </a:extLst>
              </p:cNvPr>
              <p:cNvSpPr/>
              <p:nvPr/>
            </p:nvSpPr>
            <p:spPr>
              <a:xfrm>
                <a:off x="6976872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8" name="Shape 32">
                <a:extLst>
                  <a:ext uri="{FF2B5EF4-FFF2-40B4-BE49-F238E27FC236}">
                    <a16:creationId xmlns:a16="http://schemas.microsoft.com/office/drawing/2014/main" id="{C06E2DAC-B22D-CB94-2DC4-3467F6E2F270}"/>
                  </a:ext>
                </a:extLst>
              </p:cNvPr>
              <p:cNvSpPr/>
              <p:nvPr/>
            </p:nvSpPr>
            <p:spPr>
              <a:xfrm>
                <a:off x="7196328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9" name="Shape 33">
                <a:extLst>
                  <a:ext uri="{FF2B5EF4-FFF2-40B4-BE49-F238E27FC236}">
                    <a16:creationId xmlns:a16="http://schemas.microsoft.com/office/drawing/2014/main" id="{56B0169F-E81A-3AFF-E752-2832EA21E4FF}"/>
                  </a:ext>
                </a:extLst>
              </p:cNvPr>
              <p:cNvSpPr/>
              <p:nvPr/>
            </p:nvSpPr>
            <p:spPr>
              <a:xfrm>
                <a:off x="7415784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0" name="Shape 34">
                <a:extLst>
                  <a:ext uri="{FF2B5EF4-FFF2-40B4-BE49-F238E27FC236}">
                    <a16:creationId xmlns:a16="http://schemas.microsoft.com/office/drawing/2014/main" id="{B500446C-6E59-9BF4-5F81-E4B5FFFA335E}"/>
                  </a:ext>
                </a:extLst>
              </p:cNvPr>
              <p:cNvSpPr/>
              <p:nvPr/>
            </p:nvSpPr>
            <p:spPr>
              <a:xfrm>
                <a:off x="7635240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1" name="Shape 35">
                <a:extLst>
                  <a:ext uri="{FF2B5EF4-FFF2-40B4-BE49-F238E27FC236}">
                    <a16:creationId xmlns:a16="http://schemas.microsoft.com/office/drawing/2014/main" id="{9FFD3F46-88DC-29AE-8C85-7649D742CDA0}"/>
                  </a:ext>
                </a:extLst>
              </p:cNvPr>
              <p:cNvSpPr/>
              <p:nvPr/>
            </p:nvSpPr>
            <p:spPr>
              <a:xfrm>
                <a:off x="7854696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2" name="Shape 36">
                <a:extLst>
                  <a:ext uri="{FF2B5EF4-FFF2-40B4-BE49-F238E27FC236}">
                    <a16:creationId xmlns:a16="http://schemas.microsoft.com/office/drawing/2014/main" id="{61DCFF6F-5B0A-606D-C929-1CF7A804BBEA}"/>
                  </a:ext>
                </a:extLst>
              </p:cNvPr>
              <p:cNvSpPr/>
              <p:nvPr/>
            </p:nvSpPr>
            <p:spPr>
              <a:xfrm>
                <a:off x="8074152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3" name="Shape 37">
                <a:extLst>
                  <a:ext uri="{FF2B5EF4-FFF2-40B4-BE49-F238E27FC236}">
                    <a16:creationId xmlns:a16="http://schemas.microsoft.com/office/drawing/2014/main" id="{47DFB39F-984B-168A-65E0-B91224A77DC8}"/>
                  </a:ext>
                </a:extLst>
              </p:cNvPr>
              <p:cNvSpPr/>
              <p:nvPr/>
            </p:nvSpPr>
            <p:spPr>
              <a:xfrm>
                <a:off x="8293608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4" name="Shape 38">
                <a:extLst>
                  <a:ext uri="{FF2B5EF4-FFF2-40B4-BE49-F238E27FC236}">
                    <a16:creationId xmlns:a16="http://schemas.microsoft.com/office/drawing/2014/main" id="{21CAC5A1-B46E-DE2E-8443-7F4A41F6ED09}"/>
                  </a:ext>
                </a:extLst>
              </p:cNvPr>
              <p:cNvSpPr/>
              <p:nvPr/>
            </p:nvSpPr>
            <p:spPr>
              <a:xfrm>
                <a:off x="8513064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5" name="Shape 39">
                <a:extLst>
                  <a:ext uri="{FF2B5EF4-FFF2-40B4-BE49-F238E27FC236}">
                    <a16:creationId xmlns:a16="http://schemas.microsoft.com/office/drawing/2014/main" id="{A582D242-C275-0757-9427-304764207EA6}"/>
                  </a:ext>
                </a:extLst>
              </p:cNvPr>
              <p:cNvSpPr/>
              <p:nvPr/>
            </p:nvSpPr>
            <p:spPr>
              <a:xfrm>
                <a:off x="8732520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6" name="Shape 40">
                <a:extLst>
                  <a:ext uri="{FF2B5EF4-FFF2-40B4-BE49-F238E27FC236}">
                    <a16:creationId xmlns:a16="http://schemas.microsoft.com/office/drawing/2014/main" id="{D59D192D-0F23-8D19-FBC0-48CEBA99EA08}"/>
                  </a:ext>
                </a:extLst>
              </p:cNvPr>
              <p:cNvSpPr/>
              <p:nvPr/>
            </p:nvSpPr>
            <p:spPr>
              <a:xfrm>
                <a:off x="8951976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7" name="Shape 41">
                <a:extLst>
                  <a:ext uri="{FF2B5EF4-FFF2-40B4-BE49-F238E27FC236}">
                    <a16:creationId xmlns:a16="http://schemas.microsoft.com/office/drawing/2014/main" id="{39B82304-F86D-031D-744C-C6DBAEB9921A}"/>
                  </a:ext>
                </a:extLst>
              </p:cNvPr>
              <p:cNvSpPr/>
              <p:nvPr/>
            </p:nvSpPr>
            <p:spPr>
              <a:xfrm>
                <a:off x="9171432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</p:grpSp>
        <p:sp>
          <p:nvSpPr>
            <p:cNvPr id="327" name="Text 98">
              <a:extLst>
                <a:ext uri="{FF2B5EF4-FFF2-40B4-BE49-F238E27FC236}">
                  <a16:creationId xmlns:a16="http://schemas.microsoft.com/office/drawing/2014/main" id="{1995B64E-498D-AE0D-147F-C629F47FFE05}"/>
                </a:ext>
              </a:extLst>
            </p:cNvPr>
            <p:cNvSpPr txBox="1"/>
            <p:nvPr/>
          </p:nvSpPr>
          <p:spPr>
            <a:xfrm>
              <a:off x="5335596" y="2380679"/>
              <a:ext cx="27432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850" i="1" noProof="0">
                  <a:solidFill>
                    <a:schemeClr val="accent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case = 3 mois (illustration)</a:t>
              </a:r>
              <a:endParaRPr lang="fr-FR" sz="850" noProof="0">
                <a:solidFill>
                  <a:schemeClr val="accent4"/>
                </a:solidFill>
              </a:endParaRPr>
            </a:p>
          </p:txBody>
        </p:sp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2C9239CD-77FE-FFE3-8E20-5761BE9EF5CB}"/>
                </a:ext>
              </a:extLst>
            </p:cNvPr>
            <p:cNvGrpSpPr/>
            <p:nvPr/>
          </p:nvGrpSpPr>
          <p:grpSpPr>
            <a:xfrm>
              <a:off x="5373597" y="2245315"/>
              <a:ext cx="5293228" cy="164592"/>
              <a:chOff x="5289160" y="3031915"/>
              <a:chExt cx="5293228" cy="164592"/>
            </a:xfrm>
          </p:grpSpPr>
          <p:sp>
            <p:nvSpPr>
              <p:cNvPr id="320" name="Text 91">
                <a:extLst>
                  <a:ext uri="{FF2B5EF4-FFF2-40B4-BE49-F238E27FC236}">
                    <a16:creationId xmlns:a16="http://schemas.microsoft.com/office/drawing/2014/main" id="{911184B2-0CFF-6B6E-96EE-8106724827FC}"/>
                  </a:ext>
                </a:extLst>
              </p:cNvPr>
              <p:cNvSpPr txBox="1"/>
              <p:nvPr/>
            </p:nvSpPr>
            <p:spPr>
              <a:xfrm>
                <a:off x="5289160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1</a:t>
                </a:r>
                <a:endParaRPr lang="fr-FR" sz="85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1" name="Text 92">
                <a:extLst>
                  <a:ext uri="{FF2B5EF4-FFF2-40B4-BE49-F238E27FC236}">
                    <a16:creationId xmlns:a16="http://schemas.microsoft.com/office/drawing/2014/main" id="{E8F287B8-DC2D-7E3A-94CF-EAC00823716B}"/>
                  </a:ext>
                </a:extLst>
              </p:cNvPr>
              <p:cNvSpPr txBox="1"/>
              <p:nvPr/>
            </p:nvSpPr>
            <p:spPr>
              <a:xfrm>
                <a:off x="6166984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12</a:t>
                </a:r>
                <a:endParaRPr lang="fr-FR" sz="85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2" name="Text 93">
                <a:extLst>
                  <a:ext uri="{FF2B5EF4-FFF2-40B4-BE49-F238E27FC236}">
                    <a16:creationId xmlns:a16="http://schemas.microsoft.com/office/drawing/2014/main" id="{16927534-5392-0B72-F830-10199AC8268D}"/>
                  </a:ext>
                </a:extLst>
              </p:cNvPr>
              <p:cNvSpPr txBox="1"/>
              <p:nvPr/>
            </p:nvSpPr>
            <p:spPr>
              <a:xfrm>
                <a:off x="7044808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24</a:t>
                </a:r>
              </a:p>
            </p:txBody>
          </p:sp>
          <p:sp>
            <p:nvSpPr>
              <p:cNvPr id="323" name="Text 94">
                <a:extLst>
                  <a:ext uri="{FF2B5EF4-FFF2-40B4-BE49-F238E27FC236}">
                    <a16:creationId xmlns:a16="http://schemas.microsoft.com/office/drawing/2014/main" id="{B48B200C-756C-BBFC-535F-6398C84AC011}"/>
                  </a:ext>
                </a:extLst>
              </p:cNvPr>
              <p:cNvSpPr txBox="1"/>
              <p:nvPr/>
            </p:nvSpPr>
            <p:spPr>
              <a:xfrm>
                <a:off x="7922632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36</a:t>
                </a:r>
              </a:p>
            </p:txBody>
          </p:sp>
          <p:sp>
            <p:nvSpPr>
              <p:cNvPr id="324" name="Text 95">
                <a:extLst>
                  <a:ext uri="{FF2B5EF4-FFF2-40B4-BE49-F238E27FC236}">
                    <a16:creationId xmlns:a16="http://schemas.microsoft.com/office/drawing/2014/main" id="{2C7E38BE-9A73-2A4E-B99B-78E499CEB2D8}"/>
                  </a:ext>
                </a:extLst>
              </p:cNvPr>
              <p:cNvSpPr txBox="1"/>
              <p:nvPr/>
            </p:nvSpPr>
            <p:spPr>
              <a:xfrm>
                <a:off x="8800456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48</a:t>
                </a:r>
              </a:p>
            </p:txBody>
          </p:sp>
          <p:sp>
            <p:nvSpPr>
              <p:cNvPr id="325" name="Text 96">
                <a:extLst>
                  <a:ext uri="{FF2B5EF4-FFF2-40B4-BE49-F238E27FC236}">
                    <a16:creationId xmlns:a16="http://schemas.microsoft.com/office/drawing/2014/main" id="{1E8A46D8-11BA-8101-EBA9-CAEE225DF45A}"/>
                  </a:ext>
                </a:extLst>
              </p:cNvPr>
              <p:cNvSpPr txBox="1"/>
              <p:nvPr/>
            </p:nvSpPr>
            <p:spPr>
              <a:xfrm>
                <a:off x="9678280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60</a:t>
                </a:r>
              </a:p>
            </p:txBody>
          </p:sp>
          <p:sp>
            <p:nvSpPr>
              <p:cNvPr id="331" name="Text 96">
                <a:extLst>
                  <a:ext uri="{FF2B5EF4-FFF2-40B4-BE49-F238E27FC236}">
                    <a16:creationId xmlns:a16="http://schemas.microsoft.com/office/drawing/2014/main" id="{4AE5A260-EF22-6D61-71D1-A4DA1FAAA0BB}"/>
                  </a:ext>
                </a:extLst>
              </p:cNvPr>
              <p:cNvSpPr txBox="1"/>
              <p:nvPr/>
            </p:nvSpPr>
            <p:spPr>
              <a:xfrm>
                <a:off x="10015460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67</a:t>
                </a:r>
              </a:p>
            </p:txBody>
          </p:sp>
        </p:grp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1713B67C-5670-13B3-0742-520E7CED8834}"/>
                </a:ext>
              </a:extLst>
            </p:cNvPr>
            <p:cNvGrpSpPr/>
            <p:nvPr/>
          </p:nvGrpSpPr>
          <p:grpSpPr>
            <a:xfrm>
              <a:off x="5397663" y="1705873"/>
              <a:ext cx="5020056" cy="237744"/>
              <a:chOff x="4343400" y="1645920"/>
              <a:chExt cx="5020056" cy="237744"/>
            </a:xfrm>
          </p:grpSpPr>
          <p:sp>
            <p:nvSpPr>
              <p:cNvPr id="8" name="Shape 19">
                <a:extLst>
                  <a:ext uri="{FF2B5EF4-FFF2-40B4-BE49-F238E27FC236}">
                    <a16:creationId xmlns:a16="http://schemas.microsoft.com/office/drawing/2014/main" id="{E52CB457-27AD-527C-EA8C-45DE8C862B5E}"/>
                  </a:ext>
                </a:extLst>
              </p:cNvPr>
              <p:cNvSpPr/>
              <p:nvPr/>
            </p:nvSpPr>
            <p:spPr>
              <a:xfrm>
                <a:off x="4343400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12" name="Shape 20">
                <a:extLst>
                  <a:ext uri="{FF2B5EF4-FFF2-40B4-BE49-F238E27FC236}">
                    <a16:creationId xmlns:a16="http://schemas.microsoft.com/office/drawing/2014/main" id="{96A6B5DD-D965-DC56-EE3B-AB665AA3A2C1}"/>
                  </a:ext>
                </a:extLst>
              </p:cNvPr>
              <p:cNvSpPr/>
              <p:nvPr/>
            </p:nvSpPr>
            <p:spPr>
              <a:xfrm>
                <a:off x="4562856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15" name="Shape 21">
                <a:extLst>
                  <a:ext uri="{FF2B5EF4-FFF2-40B4-BE49-F238E27FC236}">
                    <a16:creationId xmlns:a16="http://schemas.microsoft.com/office/drawing/2014/main" id="{A86FAD4C-2443-0436-00E2-DC2AC0E18E6C}"/>
                  </a:ext>
                </a:extLst>
              </p:cNvPr>
              <p:cNvSpPr/>
              <p:nvPr/>
            </p:nvSpPr>
            <p:spPr>
              <a:xfrm>
                <a:off x="4782312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18" name="Shape 22">
                <a:extLst>
                  <a:ext uri="{FF2B5EF4-FFF2-40B4-BE49-F238E27FC236}">
                    <a16:creationId xmlns:a16="http://schemas.microsoft.com/office/drawing/2014/main" id="{839276B1-43A2-0B89-41CD-E7418403B03E}"/>
                  </a:ext>
                </a:extLst>
              </p:cNvPr>
              <p:cNvSpPr/>
              <p:nvPr/>
            </p:nvSpPr>
            <p:spPr>
              <a:xfrm>
                <a:off x="5001768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" name="Shape 23">
                <a:extLst>
                  <a:ext uri="{FF2B5EF4-FFF2-40B4-BE49-F238E27FC236}">
                    <a16:creationId xmlns:a16="http://schemas.microsoft.com/office/drawing/2014/main" id="{3746AA41-CC50-53E0-CE12-1CBE96D5EEE6}"/>
                  </a:ext>
                </a:extLst>
              </p:cNvPr>
              <p:cNvSpPr/>
              <p:nvPr/>
            </p:nvSpPr>
            <p:spPr>
              <a:xfrm>
                <a:off x="5221224" y="1645920"/>
                <a:ext cx="192024" cy="23774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8" name="Shape 24">
                <a:extLst>
                  <a:ext uri="{FF2B5EF4-FFF2-40B4-BE49-F238E27FC236}">
                    <a16:creationId xmlns:a16="http://schemas.microsoft.com/office/drawing/2014/main" id="{0C5D6FBD-D6AE-2AFD-B093-DDE8B69C0D67}"/>
                  </a:ext>
                </a:extLst>
              </p:cNvPr>
              <p:cNvSpPr/>
              <p:nvPr/>
            </p:nvSpPr>
            <p:spPr>
              <a:xfrm>
                <a:off x="5440680" y="1645920"/>
                <a:ext cx="192024" cy="23774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1" name="Shape 25">
                <a:extLst>
                  <a:ext uri="{FF2B5EF4-FFF2-40B4-BE49-F238E27FC236}">
                    <a16:creationId xmlns:a16="http://schemas.microsoft.com/office/drawing/2014/main" id="{818B5FBE-A11A-0927-6F40-6361E1EF9988}"/>
                  </a:ext>
                </a:extLst>
              </p:cNvPr>
              <p:cNvSpPr/>
              <p:nvPr/>
            </p:nvSpPr>
            <p:spPr>
              <a:xfrm>
                <a:off x="5660136" y="1645920"/>
                <a:ext cx="192024" cy="23774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3" name="Shape 26">
                <a:extLst>
                  <a:ext uri="{FF2B5EF4-FFF2-40B4-BE49-F238E27FC236}">
                    <a16:creationId xmlns:a16="http://schemas.microsoft.com/office/drawing/2014/main" id="{406BA784-3006-9823-705C-0EF27ECE18C7}"/>
                  </a:ext>
                </a:extLst>
              </p:cNvPr>
              <p:cNvSpPr/>
              <p:nvPr/>
            </p:nvSpPr>
            <p:spPr>
              <a:xfrm>
                <a:off x="5879592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5" name="Shape 27">
                <a:extLst>
                  <a:ext uri="{FF2B5EF4-FFF2-40B4-BE49-F238E27FC236}">
                    <a16:creationId xmlns:a16="http://schemas.microsoft.com/office/drawing/2014/main" id="{157D7CBA-1DC2-9938-761F-BA866D805658}"/>
                  </a:ext>
                </a:extLst>
              </p:cNvPr>
              <p:cNvSpPr/>
              <p:nvPr/>
            </p:nvSpPr>
            <p:spPr>
              <a:xfrm>
                <a:off x="6099048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7" name="Shape 28">
                <a:extLst>
                  <a:ext uri="{FF2B5EF4-FFF2-40B4-BE49-F238E27FC236}">
                    <a16:creationId xmlns:a16="http://schemas.microsoft.com/office/drawing/2014/main" id="{9E64F160-D012-CC5C-0590-34CB057A1210}"/>
                  </a:ext>
                </a:extLst>
              </p:cNvPr>
              <p:cNvSpPr/>
              <p:nvPr/>
            </p:nvSpPr>
            <p:spPr>
              <a:xfrm>
                <a:off x="6318504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8" name="Shape 29">
                <a:extLst>
                  <a:ext uri="{FF2B5EF4-FFF2-40B4-BE49-F238E27FC236}">
                    <a16:creationId xmlns:a16="http://schemas.microsoft.com/office/drawing/2014/main" id="{BADC8605-7E64-A3C9-4F88-80EB5E53EF9F}"/>
                  </a:ext>
                </a:extLst>
              </p:cNvPr>
              <p:cNvSpPr/>
              <p:nvPr/>
            </p:nvSpPr>
            <p:spPr>
              <a:xfrm>
                <a:off x="6537960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9" name="Shape 30">
                <a:extLst>
                  <a:ext uri="{FF2B5EF4-FFF2-40B4-BE49-F238E27FC236}">
                    <a16:creationId xmlns:a16="http://schemas.microsoft.com/office/drawing/2014/main" id="{5AD485AB-C7C7-A8A3-1094-366591A87299}"/>
                  </a:ext>
                </a:extLst>
              </p:cNvPr>
              <p:cNvSpPr/>
              <p:nvPr/>
            </p:nvSpPr>
            <p:spPr>
              <a:xfrm>
                <a:off x="6757416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0" name="Shape 31">
                <a:extLst>
                  <a:ext uri="{FF2B5EF4-FFF2-40B4-BE49-F238E27FC236}">
                    <a16:creationId xmlns:a16="http://schemas.microsoft.com/office/drawing/2014/main" id="{A36489B8-C6AC-21EF-707E-A91F7B5D13C1}"/>
                  </a:ext>
                </a:extLst>
              </p:cNvPr>
              <p:cNvSpPr/>
              <p:nvPr/>
            </p:nvSpPr>
            <p:spPr>
              <a:xfrm>
                <a:off x="6976872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1" name="Shape 32">
                <a:extLst>
                  <a:ext uri="{FF2B5EF4-FFF2-40B4-BE49-F238E27FC236}">
                    <a16:creationId xmlns:a16="http://schemas.microsoft.com/office/drawing/2014/main" id="{D6C60156-A3AE-9A49-6FCE-81DCBE2E9EDA}"/>
                  </a:ext>
                </a:extLst>
              </p:cNvPr>
              <p:cNvSpPr/>
              <p:nvPr/>
            </p:nvSpPr>
            <p:spPr>
              <a:xfrm>
                <a:off x="7196328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2" name="Shape 33">
                <a:extLst>
                  <a:ext uri="{FF2B5EF4-FFF2-40B4-BE49-F238E27FC236}">
                    <a16:creationId xmlns:a16="http://schemas.microsoft.com/office/drawing/2014/main" id="{C1338840-7918-4C3E-C195-5816324DBAEA}"/>
                  </a:ext>
                </a:extLst>
              </p:cNvPr>
              <p:cNvSpPr/>
              <p:nvPr/>
            </p:nvSpPr>
            <p:spPr>
              <a:xfrm>
                <a:off x="7415784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3" name="Shape 34">
                <a:extLst>
                  <a:ext uri="{FF2B5EF4-FFF2-40B4-BE49-F238E27FC236}">
                    <a16:creationId xmlns:a16="http://schemas.microsoft.com/office/drawing/2014/main" id="{24FD3B93-F931-9986-98CC-530F844EC0DA}"/>
                  </a:ext>
                </a:extLst>
              </p:cNvPr>
              <p:cNvSpPr/>
              <p:nvPr/>
            </p:nvSpPr>
            <p:spPr>
              <a:xfrm>
                <a:off x="7635240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4" name="Shape 35">
                <a:extLst>
                  <a:ext uri="{FF2B5EF4-FFF2-40B4-BE49-F238E27FC236}">
                    <a16:creationId xmlns:a16="http://schemas.microsoft.com/office/drawing/2014/main" id="{0E79EA4C-BD5A-32B0-EE72-201DA51B1F7C}"/>
                  </a:ext>
                </a:extLst>
              </p:cNvPr>
              <p:cNvSpPr/>
              <p:nvPr/>
            </p:nvSpPr>
            <p:spPr>
              <a:xfrm>
                <a:off x="7854696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5" name="Shape 36">
                <a:extLst>
                  <a:ext uri="{FF2B5EF4-FFF2-40B4-BE49-F238E27FC236}">
                    <a16:creationId xmlns:a16="http://schemas.microsoft.com/office/drawing/2014/main" id="{77925F25-1D5D-4E03-A5DA-6C45BCC0DC9C}"/>
                  </a:ext>
                </a:extLst>
              </p:cNvPr>
              <p:cNvSpPr/>
              <p:nvPr/>
            </p:nvSpPr>
            <p:spPr>
              <a:xfrm>
                <a:off x="8074152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6" name="Shape 37">
                <a:extLst>
                  <a:ext uri="{FF2B5EF4-FFF2-40B4-BE49-F238E27FC236}">
                    <a16:creationId xmlns:a16="http://schemas.microsoft.com/office/drawing/2014/main" id="{3D964141-2655-219B-8C49-4DA3B88BD95B}"/>
                  </a:ext>
                </a:extLst>
              </p:cNvPr>
              <p:cNvSpPr/>
              <p:nvPr/>
            </p:nvSpPr>
            <p:spPr>
              <a:xfrm>
                <a:off x="8293608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8" name="Shape 38">
                <a:extLst>
                  <a:ext uri="{FF2B5EF4-FFF2-40B4-BE49-F238E27FC236}">
                    <a16:creationId xmlns:a16="http://schemas.microsoft.com/office/drawing/2014/main" id="{986BE6E7-80AA-2355-EB9C-109F72DA15A9}"/>
                  </a:ext>
                </a:extLst>
              </p:cNvPr>
              <p:cNvSpPr/>
              <p:nvPr/>
            </p:nvSpPr>
            <p:spPr>
              <a:xfrm>
                <a:off x="8513064" y="1645920"/>
                <a:ext cx="192024" cy="23774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9" name="Shape 39">
                <a:extLst>
                  <a:ext uri="{FF2B5EF4-FFF2-40B4-BE49-F238E27FC236}">
                    <a16:creationId xmlns:a16="http://schemas.microsoft.com/office/drawing/2014/main" id="{0B349425-8DA4-C7C3-82FC-2887348E32BB}"/>
                  </a:ext>
                </a:extLst>
              </p:cNvPr>
              <p:cNvSpPr/>
              <p:nvPr/>
            </p:nvSpPr>
            <p:spPr>
              <a:xfrm>
                <a:off x="8732520" y="1645920"/>
                <a:ext cx="192024" cy="23774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51" name="Shape 40">
                <a:extLst>
                  <a:ext uri="{FF2B5EF4-FFF2-40B4-BE49-F238E27FC236}">
                    <a16:creationId xmlns:a16="http://schemas.microsoft.com/office/drawing/2014/main" id="{A56DB2B5-161C-4B4D-7861-2CC5952ACFD0}"/>
                  </a:ext>
                </a:extLst>
              </p:cNvPr>
              <p:cNvSpPr/>
              <p:nvPr/>
            </p:nvSpPr>
            <p:spPr>
              <a:xfrm>
                <a:off x="8951976" y="1645920"/>
                <a:ext cx="192024" cy="23774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53" name="Shape 41">
                <a:extLst>
                  <a:ext uri="{FF2B5EF4-FFF2-40B4-BE49-F238E27FC236}">
                    <a16:creationId xmlns:a16="http://schemas.microsoft.com/office/drawing/2014/main" id="{2AB96887-8EA6-E98F-24C3-BB8E36B55C48}"/>
                  </a:ext>
                </a:extLst>
              </p:cNvPr>
              <p:cNvSpPr/>
              <p:nvPr/>
            </p:nvSpPr>
            <p:spPr>
              <a:xfrm>
                <a:off x="9171432" y="1645920"/>
                <a:ext cx="192024" cy="23774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</p:grpSp>
        <p:cxnSp>
          <p:nvCxnSpPr>
            <p:cNvPr id="57" name="Connecteur droit 56">
              <a:extLst>
                <a:ext uri="{FF2B5EF4-FFF2-40B4-BE49-F238E27FC236}">
                  <a16:creationId xmlns:a16="http://schemas.microsoft.com/office/drawing/2014/main" id="{7260BD8C-1EDC-1E22-4A15-A257099D823F}"/>
                </a:ext>
              </a:extLst>
            </p:cNvPr>
            <p:cNvCxnSpPr>
              <a:cxnSpLocks/>
            </p:cNvCxnSpPr>
            <p:nvPr/>
          </p:nvCxnSpPr>
          <p:spPr>
            <a:xfrm>
              <a:off x="5419051" y="2186229"/>
              <a:ext cx="5055090" cy="0"/>
            </a:xfrm>
            <a:prstGeom prst="line">
              <a:avLst/>
            </a:prstGeom>
            <a:ln w="19050">
              <a:solidFill>
                <a:srgbClr val="FF96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DA368BB2-1917-760D-23BA-DE33809B3030}"/>
                </a:ext>
              </a:extLst>
            </p:cNvPr>
            <p:cNvCxnSpPr>
              <a:cxnSpLocks/>
            </p:cNvCxnSpPr>
            <p:nvPr/>
          </p:nvCxnSpPr>
          <p:spPr>
            <a:xfrm>
              <a:off x="5634808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2E35F7D5-72DF-3E41-43C9-75E5CA990662}"/>
                </a:ext>
              </a:extLst>
            </p:cNvPr>
            <p:cNvCxnSpPr>
              <a:cxnSpLocks/>
            </p:cNvCxnSpPr>
            <p:nvPr/>
          </p:nvCxnSpPr>
          <p:spPr>
            <a:xfrm>
              <a:off x="6516077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09CE835D-7652-32C4-842E-F46CF9C96D55}"/>
                </a:ext>
              </a:extLst>
            </p:cNvPr>
            <p:cNvCxnSpPr>
              <a:cxnSpLocks/>
            </p:cNvCxnSpPr>
            <p:nvPr/>
          </p:nvCxnSpPr>
          <p:spPr>
            <a:xfrm>
              <a:off x="7403972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necteur droit 72">
              <a:extLst>
                <a:ext uri="{FF2B5EF4-FFF2-40B4-BE49-F238E27FC236}">
                  <a16:creationId xmlns:a16="http://schemas.microsoft.com/office/drawing/2014/main" id="{A67BAD63-B806-14A3-4CCD-86C6141A335B}"/>
                </a:ext>
              </a:extLst>
            </p:cNvPr>
            <p:cNvCxnSpPr>
              <a:cxnSpLocks/>
            </p:cNvCxnSpPr>
            <p:nvPr/>
          </p:nvCxnSpPr>
          <p:spPr>
            <a:xfrm>
              <a:off x="8298495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FD854461-AC45-5BF3-210D-226FAF52BE1B}"/>
                </a:ext>
              </a:extLst>
            </p:cNvPr>
            <p:cNvCxnSpPr>
              <a:cxnSpLocks/>
            </p:cNvCxnSpPr>
            <p:nvPr/>
          </p:nvCxnSpPr>
          <p:spPr>
            <a:xfrm>
              <a:off x="9159886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3FBA7D63-2BBE-C8C3-DA2D-99B06C32B2D3}"/>
                </a:ext>
              </a:extLst>
            </p:cNvPr>
            <p:cNvCxnSpPr>
              <a:cxnSpLocks/>
            </p:cNvCxnSpPr>
            <p:nvPr/>
          </p:nvCxnSpPr>
          <p:spPr>
            <a:xfrm>
              <a:off x="10041155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Connecteur droit 89">
              <a:extLst>
                <a:ext uri="{FF2B5EF4-FFF2-40B4-BE49-F238E27FC236}">
                  <a16:creationId xmlns:a16="http://schemas.microsoft.com/office/drawing/2014/main" id="{38505084-7A63-2508-4FFC-8DF19FB1C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410482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6" name="Graphique 95" descr="Utilisateur avec un remplissage uni">
              <a:extLst>
                <a:ext uri="{FF2B5EF4-FFF2-40B4-BE49-F238E27FC236}">
                  <a16:creationId xmlns:a16="http://schemas.microsoft.com/office/drawing/2014/main" id="{39200BFF-98F0-566E-ED02-9CA2DC8346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06819" y="1256807"/>
              <a:ext cx="232274" cy="232274"/>
            </a:xfrm>
            <a:prstGeom prst="rect">
              <a:avLst/>
            </a:prstGeom>
          </p:spPr>
        </p:pic>
        <p:pic>
          <p:nvPicPr>
            <p:cNvPr id="99" name="Graphique 98" descr="Utilisateur avec un remplissage uni">
              <a:extLst>
                <a:ext uri="{FF2B5EF4-FFF2-40B4-BE49-F238E27FC236}">
                  <a16:creationId xmlns:a16="http://schemas.microsoft.com/office/drawing/2014/main" id="{E6666154-975C-A1B7-19B2-9A8B09EE8D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02609" y="1690948"/>
              <a:ext cx="232274" cy="232274"/>
            </a:xfrm>
            <a:prstGeom prst="rect">
              <a:avLst/>
            </a:prstGeom>
          </p:spPr>
        </p:pic>
      </p:grpSp>
      <p:pic>
        <p:nvPicPr>
          <p:cNvPr id="197" name="Graphique 196" descr="Badge avec un remplissage uni">
            <a:extLst>
              <a:ext uri="{FF2B5EF4-FFF2-40B4-BE49-F238E27FC236}">
                <a16:creationId xmlns:a16="http://schemas.microsoft.com/office/drawing/2014/main" id="{101BC00E-73D5-E34B-FDD4-076179283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913129" y="1267955"/>
            <a:ext cx="243544" cy="243544"/>
          </a:xfrm>
          <a:prstGeom prst="rect">
            <a:avLst/>
          </a:prstGeom>
        </p:spPr>
      </p:pic>
      <p:pic>
        <p:nvPicPr>
          <p:cNvPr id="199" name="Graphique 198" descr="Badge 3 avec un remplissage uni">
            <a:extLst>
              <a:ext uri="{FF2B5EF4-FFF2-40B4-BE49-F238E27FC236}">
                <a16:creationId xmlns:a16="http://schemas.microsoft.com/office/drawing/2014/main" id="{3672EE03-BFCF-1A1E-ED90-568622A57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06577" y="3970318"/>
            <a:ext cx="243544" cy="243544"/>
          </a:xfrm>
          <a:prstGeom prst="rect">
            <a:avLst/>
          </a:prstGeom>
        </p:spPr>
      </p:pic>
      <p:pic>
        <p:nvPicPr>
          <p:cNvPr id="201" name="Graphique 200" descr="Badge 4 avec un remplissage uni">
            <a:extLst>
              <a:ext uri="{FF2B5EF4-FFF2-40B4-BE49-F238E27FC236}">
                <a16:creationId xmlns:a16="http://schemas.microsoft.com/office/drawing/2014/main" id="{174A87C5-5F0B-DFC5-E1DE-166EDA800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485667" y="3951446"/>
            <a:ext cx="243544" cy="243544"/>
          </a:xfrm>
          <a:prstGeom prst="rect">
            <a:avLst/>
          </a:prstGeom>
        </p:spPr>
      </p:pic>
      <p:pic>
        <p:nvPicPr>
          <p:cNvPr id="203" name="Graphique 202" descr="Badge 5 avec un remplissage uni">
            <a:extLst>
              <a:ext uri="{FF2B5EF4-FFF2-40B4-BE49-F238E27FC236}">
                <a16:creationId xmlns:a16="http://schemas.microsoft.com/office/drawing/2014/main" id="{C33FAAA9-BBC3-9881-E7D6-C7F99D15D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001278" y="3968963"/>
            <a:ext cx="243544" cy="243544"/>
          </a:xfrm>
          <a:prstGeom prst="rect">
            <a:avLst/>
          </a:prstGeom>
        </p:spPr>
      </p:pic>
      <p:sp>
        <p:nvSpPr>
          <p:cNvPr id="205" name="Rectangle 204">
            <a:extLst>
              <a:ext uri="{FF2B5EF4-FFF2-40B4-BE49-F238E27FC236}">
                <a16:creationId xmlns:a16="http://schemas.microsoft.com/office/drawing/2014/main" id="{3E2C7283-46B4-CBCE-3F10-7D9D679BA638}"/>
              </a:ext>
            </a:extLst>
          </p:cNvPr>
          <p:cNvSpPr/>
          <p:nvPr/>
        </p:nvSpPr>
        <p:spPr>
          <a:xfrm>
            <a:off x="995950" y="4701557"/>
            <a:ext cx="3489717" cy="6807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95" name="Groupe 194">
            <a:extLst>
              <a:ext uri="{FF2B5EF4-FFF2-40B4-BE49-F238E27FC236}">
                <a16:creationId xmlns:a16="http://schemas.microsoft.com/office/drawing/2014/main" id="{8B64E2B7-AA53-C3D9-324B-495A58483F55}"/>
              </a:ext>
            </a:extLst>
          </p:cNvPr>
          <p:cNvGrpSpPr/>
          <p:nvPr/>
        </p:nvGrpSpPr>
        <p:grpSpPr>
          <a:xfrm>
            <a:off x="1094658" y="4768704"/>
            <a:ext cx="3035542" cy="534023"/>
            <a:chOff x="1114281" y="4798750"/>
            <a:chExt cx="3035542" cy="534023"/>
          </a:xfrm>
        </p:grpSpPr>
        <p:pic>
          <p:nvPicPr>
            <p:cNvPr id="34" name="Graphique 33" descr="Utilisateur avec un remplissage uni">
              <a:extLst>
                <a:ext uri="{FF2B5EF4-FFF2-40B4-BE49-F238E27FC236}">
                  <a16:creationId xmlns:a16="http://schemas.microsoft.com/office/drawing/2014/main" id="{008C0A7A-7CE3-2A4E-44DA-0269B178CC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4281" y="4798750"/>
              <a:ext cx="232274" cy="232274"/>
            </a:xfrm>
            <a:prstGeom prst="rect">
              <a:avLst/>
            </a:prstGeom>
          </p:spPr>
        </p:pic>
        <p:pic>
          <p:nvPicPr>
            <p:cNvPr id="36" name="Graphique 35" descr="Utilisateur avec un remplissage uni">
              <a:extLst>
                <a:ext uri="{FF2B5EF4-FFF2-40B4-BE49-F238E27FC236}">
                  <a16:creationId xmlns:a16="http://schemas.microsoft.com/office/drawing/2014/main" id="{3626BC03-146F-E4FE-5A43-DB16F62144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4281" y="5075217"/>
              <a:ext cx="232274" cy="232274"/>
            </a:xfrm>
            <a:prstGeom prst="rect">
              <a:avLst/>
            </a:prstGeom>
          </p:spPr>
        </p:pic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E4D5BFB8-58B1-1831-86F8-8FDA745148FC}"/>
                </a:ext>
              </a:extLst>
            </p:cNvPr>
            <p:cNvGrpSpPr/>
            <p:nvPr/>
          </p:nvGrpSpPr>
          <p:grpSpPr>
            <a:xfrm>
              <a:off x="1550948" y="4825003"/>
              <a:ext cx="2598875" cy="176715"/>
              <a:chOff x="1550948" y="4825003"/>
              <a:chExt cx="2598875" cy="176715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3C7CD118-9934-2101-6D94-A7BAB2507D32}"/>
                  </a:ext>
                </a:extLst>
              </p:cNvPr>
              <p:cNvSpPr/>
              <p:nvPr/>
            </p:nvSpPr>
            <p:spPr>
              <a:xfrm>
                <a:off x="1550948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2179EB3C-BADE-6BEA-BB09-5CC61C764353}"/>
                  </a:ext>
                </a:extLst>
              </p:cNvPr>
              <p:cNvSpPr/>
              <p:nvPr/>
            </p:nvSpPr>
            <p:spPr>
              <a:xfrm>
                <a:off x="1773452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FF291C0-C1D6-098B-A83B-2C57D4DB0722}"/>
                  </a:ext>
                </a:extLst>
              </p:cNvPr>
              <p:cNvSpPr/>
              <p:nvPr/>
            </p:nvSpPr>
            <p:spPr>
              <a:xfrm>
                <a:off x="1995956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E285F5BD-39F5-88C8-CC6C-BF24C913CD8A}"/>
                  </a:ext>
                </a:extLst>
              </p:cNvPr>
              <p:cNvSpPr/>
              <p:nvPr/>
            </p:nvSpPr>
            <p:spPr>
              <a:xfrm>
                <a:off x="2218460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4781C7-8904-035F-5F65-6B96000FB723}"/>
                  </a:ext>
                </a:extLst>
              </p:cNvPr>
              <p:cNvSpPr/>
              <p:nvPr/>
            </p:nvSpPr>
            <p:spPr>
              <a:xfrm>
                <a:off x="2440964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1AD31D0D-2456-0173-9E2C-7C711C683184}"/>
                  </a:ext>
                </a:extLst>
              </p:cNvPr>
              <p:cNvSpPr/>
              <p:nvPr/>
            </p:nvSpPr>
            <p:spPr>
              <a:xfrm>
                <a:off x="2663468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219DB72-A828-74CC-3A5F-6E568D5D9491}"/>
                  </a:ext>
                </a:extLst>
              </p:cNvPr>
              <p:cNvSpPr/>
              <p:nvPr/>
            </p:nvSpPr>
            <p:spPr>
              <a:xfrm>
                <a:off x="2885972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B3E8339-E4E9-E4AE-87F6-C76FE52DCAE3}"/>
                  </a:ext>
                </a:extLst>
              </p:cNvPr>
              <p:cNvSpPr/>
              <p:nvPr/>
            </p:nvSpPr>
            <p:spPr>
              <a:xfrm>
                <a:off x="3108476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FFECA409-D5B2-D2FB-C4C7-0FBF4DEA8DE2}"/>
                  </a:ext>
                </a:extLst>
              </p:cNvPr>
              <p:cNvSpPr/>
              <p:nvPr/>
            </p:nvSpPr>
            <p:spPr>
              <a:xfrm>
                <a:off x="3330980" y="4825003"/>
                <a:ext cx="151326" cy="176715"/>
              </a:xfrm>
              <a:prstGeom prst="rect">
                <a:avLst/>
              </a:prstGeom>
              <a:solidFill>
                <a:srgbClr val="1A98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D9BCCE7-7090-2003-35EF-6AB83BF57353}"/>
                  </a:ext>
                </a:extLst>
              </p:cNvPr>
              <p:cNvSpPr/>
              <p:nvPr/>
            </p:nvSpPr>
            <p:spPr>
              <a:xfrm>
                <a:off x="3553484" y="4825003"/>
                <a:ext cx="151326" cy="176715"/>
              </a:xfrm>
              <a:prstGeom prst="rect">
                <a:avLst/>
              </a:prstGeom>
              <a:solidFill>
                <a:srgbClr val="1A98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1E8EA053-6737-0493-11F7-65319984CF3C}"/>
                  </a:ext>
                </a:extLst>
              </p:cNvPr>
              <p:cNvSpPr/>
              <p:nvPr/>
            </p:nvSpPr>
            <p:spPr>
              <a:xfrm>
                <a:off x="3775988" y="4825003"/>
                <a:ext cx="151326" cy="176715"/>
              </a:xfrm>
              <a:prstGeom prst="rect">
                <a:avLst/>
              </a:prstGeom>
              <a:solidFill>
                <a:srgbClr val="1A98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1C65F7C7-71C8-8515-9ACB-7B2814CEB247}"/>
                  </a:ext>
                </a:extLst>
              </p:cNvPr>
              <p:cNvSpPr/>
              <p:nvPr/>
            </p:nvSpPr>
            <p:spPr>
              <a:xfrm>
                <a:off x="3998497" y="4825003"/>
                <a:ext cx="151326" cy="176715"/>
              </a:xfrm>
              <a:prstGeom prst="rect">
                <a:avLst/>
              </a:prstGeom>
              <a:solidFill>
                <a:srgbClr val="1A98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</p:grpSp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776711A9-99B9-865B-6AB1-B31F7956EA98}"/>
                </a:ext>
              </a:extLst>
            </p:cNvPr>
            <p:cNvGrpSpPr/>
            <p:nvPr/>
          </p:nvGrpSpPr>
          <p:grpSpPr>
            <a:xfrm>
              <a:off x="1550948" y="5156058"/>
              <a:ext cx="2598875" cy="176715"/>
              <a:chOff x="1550948" y="4825003"/>
              <a:chExt cx="2598875" cy="176715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9C9DF75-3C03-28BA-4F1D-B3B4F549B4BC}"/>
                  </a:ext>
                </a:extLst>
              </p:cNvPr>
              <p:cNvSpPr/>
              <p:nvPr/>
            </p:nvSpPr>
            <p:spPr>
              <a:xfrm>
                <a:off x="1550948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CE7B33E5-C992-7C0F-DE87-9AA817B02B85}"/>
                  </a:ext>
                </a:extLst>
              </p:cNvPr>
              <p:cNvSpPr/>
              <p:nvPr/>
            </p:nvSpPr>
            <p:spPr>
              <a:xfrm>
                <a:off x="1773452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AE093A80-8AB9-06AF-C05E-D08E21CFFD8C}"/>
                  </a:ext>
                </a:extLst>
              </p:cNvPr>
              <p:cNvSpPr/>
              <p:nvPr/>
            </p:nvSpPr>
            <p:spPr>
              <a:xfrm>
                <a:off x="1995956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D885F369-7588-D64C-02BF-183649C75688}"/>
                  </a:ext>
                </a:extLst>
              </p:cNvPr>
              <p:cNvSpPr/>
              <p:nvPr/>
            </p:nvSpPr>
            <p:spPr>
              <a:xfrm>
                <a:off x="2218460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9B704DAB-929E-6911-CCEA-5BB519514A21}"/>
                  </a:ext>
                </a:extLst>
              </p:cNvPr>
              <p:cNvSpPr/>
              <p:nvPr/>
            </p:nvSpPr>
            <p:spPr>
              <a:xfrm>
                <a:off x="2440964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EAC69A6-C38C-2F93-D2CF-DB00BF78AD67}"/>
                  </a:ext>
                </a:extLst>
              </p:cNvPr>
              <p:cNvSpPr/>
              <p:nvPr/>
            </p:nvSpPr>
            <p:spPr>
              <a:xfrm>
                <a:off x="2663468" y="4825003"/>
                <a:ext cx="151326" cy="176715"/>
              </a:xfrm>
              <a:prstGeom prst="rect">
                <a:avLst/>
              </a:prstGeom>
              <a:solidFill>
                <a:srgbClr val="7BBB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9AF0345B-26A1-0E09-36C2-BD29EA674181}"/>
                  </a:ext>
                </a:extLst>
              </p:cNvPr>
              <p:cNvSpPr/>
              <p:nvPr/>
            </p:nvSpPr>
            <p:spPr>
              <a:xfrm>
                <a:off x="2885972" y="4825003"/>
                <a:ext cx="151326" cy="176715"/>
              </a:xfrm>
              <a:prstGeom prst="rect">
                <a:avLst/>
              </a:prstGeom>
              <a:solidFill>
                <a:srgbClr val="7BBB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460D22A-C0B8-5CBF-F435-C0124848F5E5}"/>
                  </a:ext>
                </a:extLst>
              </p:cNvPr>
              <p:cNvSpPr/>
              <p:nvPr/>
            </p:nvSpPr>
            <p:spPr>
              <a:xfrm>
                <a:off x="3108476" y="4825003"/>
                <a:ext cx="151326" cy="176715"/>
              </a:xfrm>
              <a:prstGeom prst="rect">
                <a:avLst/>
              </a:prstGeom>
              <a:solidFill>
                <a:srgbClr val="7BBB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E4947D25-65B1-9D55-82CB-14E059ED7D1C}"/>
                  </a:ext>
                </a:extLst>
              </p:cNvPr>
              <p:cNvSpPr/>
              <p:nvPr/>
            </p:nvSpPr>
            <p:spPr>
              <a:xfrm>
                <a:off x="3330980" y="4825003"/>
                <a:ext cx="151326" cy="1767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A959822D-D901-823B-9BD2-8C4818081416}"/>
                  </a:ext>
                </a:extLst>
              </p:cNvPr>
              <p:cNvSpPr/>
              <p:nvPr/>
            </p:nvSpPr>
            <p:spPr>
              <a:xfrm>
                <a:off x="3553484" y="4825003"/>
                <a:ext cx="151326" cy="1767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72E64735-0947-D5F9-56A1-186C82ED1D7C}"/>
                  </a:ext>
                </a:extLst>
              </p:cNvPr>
              <p:cNvSpPr/>
              <p:nvPr/>
            </p:nvSpPr>
            <p:spPr>
              <a:xfrm>
                <a:off x="3775988" y="4825003"/>
                <a:ext cx="151326" cy="1767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EF9AF1D6-8CBB-14A9-10DE-F1A5466194B4}"/>
                  </a:ext>
                </a:extLst>
              </p:cNvPr>
              <p:cNvSpPr/>
              <p:nvPr/>
            </p:nvSpPr>
            <p:spPr>
              <a:xfrm>
                <a:off x="3998497" y="4825003"/>
                <a:ext cx="151326" cy="1767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</p:grpSp>
      </p:grpSp>
      <p:grpSp>
        <p:nvGrpSpPr>
          <p:cNvPr id="220" name="Groupe 219">
            <a:extLst>
              <a:ext uri="{FF2B5EF4-FFF2-40B4-BE49-F238E27FC236}">
                <a16:creationId xmlns:a16="http://schemas.microsoft.com/office/drawing/2014/main" id="{C04445E2-9098-4191-BB72-5F31784DD2C0}"/>
              </a:ext>
            </a:extLst>
          </p:cNvPr>
          <p:cNvGrpSpPr/>
          <p:nvPr/>
        </p:nvGrpSpPr>
        <p:grpSpPr>
          <a:xfrm>
            <a:off x="1028349" y="5667412"/>
            <a:ext cx="3356653" cy="525913"/>
            <a:chOff x="1120764" y="5747898"/>
            <a:chExt cx="3356653" cy="525913"/>
          </a:xfrm>
        </p:grpSpPr>
        <p:sp>
          <p:nvSpPr>
            <p:cNvPr id="144" name="ZoneTexte 143">
              <a:extLst>
                <a:ext uri="{FF2B5EF4-FFF2-40B4-BE49-F238E27FC236}">
                  <a16:creationId xmlns:a16="http://schemas.microsoft.com/office/drawing/2014/main" id="{86636EDC-909E-D30D-6287-D275F53B19EC}"/>
                </a:ext>
              </a:extLst>
            </p:cNvPr>
            <p:cNvSpPr txBox="1"/>
            <p:nvPr/>
          </p:nvSpPr>
          <p:spPr>
            <a:xfrm>
              <a:off x="1323853" y="5747898"/>
              <a:ext cx="31535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SUBSTITUTION D’UN ÉTAT : </a:t>
              </a:r>
              <a:r>
                <a:rPr lang="fr-FR" sz="900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coût 2</a:t>
              </a:r>
            </a:p>
          </p:txBody>
        </p:sp>
        <p:sp>
          <p:nvSpPr>
            <p:cNvPr id="146" name="ZoneTexte 145">
              <a:extLst>
                <a:ext uri="{FF2B5EF4-FFF2-40B4-BE49-F238E27FC236}">
                  <a16:creationId xmlns:a16="http://schemas.microsoft.com/office/drawing/2014/main" id="{1B01EA3A-3E08-4E36-A2D4-B8E4182A2C8C}"/>
                </a:ext>
              </a:extLst>
            </p:cNvPr>
            <p:cNvSpPr txBox="1"/>
            <p:nvPr/>
          </p:nvSpPr>
          <p:spPr>
            <a:xfrm>
              <a:off x="1323853" y="6042979"/>
              <a:ext cx="31535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INSERTION / SUPPRESSION (DÉCALAGE) : </a:t>
              </a:r>
              <a:r>
                <a:rPr lang="fr-FR" sz="900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coût 1,5</a:t>
              </a:r>
            </a:p>
          </p:txBody>
        </p:sp>
        <p:sp>
          <p:nvSpPr>
            <p:cNvPr id="213" name="Ellipse 212">
              <a:extLst>
                <a:ext uri="{FF2B5EF4-FFF2-40B4-BE49-F238E27FC236}">
                  <a16:creationId xmlns:a16="http://schemas.microsoft.com/office/drawing/2014/main" id="{444024B7-EE74-DF50-3184-4E718A8EDB2F}"/>
                </a:ext>
              </a:extLst>
            </p:cNvPr>
            <p:cNvSpPr/>
            <p:nvPr/>
          </p:nvSpPr>
          <p:spPr>
            <a:xfrm>
              <a:off x="1124383" y="5788326"/>
              <a:ext cx="149977" cy="14997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15" name="Ellipse 214">
              <a:extLst>
                <a:ext uri="{FF2B5EF4-FFF2-40B4-BE49-F238E27FC236}">
                  <a16:creationId xmlns:a16="http://schemas.microsoft.com/office/drawing/2014/main" id="{BCF4FD09-85EE-1440-95A3-6C1CE857A370}"/>
                </a:ext>
              </a:extLst>
            </p:cNvPr>
            <p:cNvSpPr/>
            <p:nvPr/>
          </p:nvSpPr>
          <p:spPr>
            <a:xfrm>
              <a:off x="1120764" y="6077179"/>
              <a:ext cx="149977" cy="14997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</p:grpSp>
      <p:sp>
        <p:nvSpPr>
          <p:cNvPr id="218" name="ZoneTexte 217">
            <a:extLst>
              <a:ext uri="{FF2B5EF4-FFF2-40B4-BE49-F238E27FC236}">
                <a16:creationId xmlns:a16="http://schemas.microsoft.com/office/drawing/2014/main" id="{269C26D8-EF9E-959B-1604-4E99EDF89EE3}"/>
              </a:ext>
            </a:extLst>
          </p:cNvPr>
          <p:cNvSpPr txBox="1"/>
          <p:nvPr/>
        </p:nvSpPr>
        <p:spPr>
          <a:xfrm rot="10800000" flipV="1">
            <a:off x="2557260" y="5489068"/>
            <a:ext cx="12269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Substitution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DA1F353-2145-7C6E-76D5-1D326E6E9BA3}"/>
              </a:ext>
            </a:extLst>
          </p:cNvPr>
          <p:cNvSpPr/>
          <p:nvPr/>
        </p:nvSpPr>
        <p:spPr>
          <a:xfrm>
            <a:off x="2616200" y="4659220"/>
            <a:ext cx="668868" cy="848848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79D08DC-3EC3-70D3-41B7-F774D4ADF499}"/>
              </a:ext>
            </a:extLst>
          </p:cNvPr>
          <p:cNvSpPr/>
          <p:nvPr/>
        </p:nvSpPr>
        <p:spPr>
          <a:xfrm>
            <a:off x="4545840" y="4537585"/>
            <a:ext cx="3417060" cy="159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338" name="Groupe 337">
            <a:extLst>
              <a:ext uri="{FF2B5EF4-FFF2-40B4-BE49-F238E27FC236}">
                <a16:creationId xmlns:a16="http://schemas.microsoft.com/office/drawing/2014/main" id="{F2EFD08A-68B8-F44F-DA69-DEA72190B1CB}"/>
              </a:ext>
            </a:extLst>
          </p:cNvPr>
          <p:cNvGrpSpPr/>
          <p:nvPr/>
        </p:nvGrpSpPr>
        <p:grpSpPr>
          <a:xfrm>
            <a:off x="4610704" y="4562122"/>
            <a:ext cx="3291840" cy="1481328"/>
            <a:chOff x="4480560" y="4617720"/>
            <a:chExt cx="3291840" cy="1481328"/>
          </a:xfrm>
        </p:grpSpPr>
        <p:sp>
          <p:nvSpPr>
            <p:cNvPr id="339" name="Shape 144">
              <a:extLst>
                <a:ext uri="{FF2B5EF4-FFF2-40B4-BE49-F238E27FC236}">
                  <a16:creationId xmlns:a16="http://schemas.microsoft.com/office/drawing/2014/main" id="{C97C2D6E-22C2-FC7D-8030-114E21F5F485}"/>
                </a:ext>
              </a:extLst>
            </p:cNvPr>
            <p:cNvSpPr/>
            <p:nvPr/>
          </p:nvSpPr>
          <p:spPr>
            <a:xfrm>
              <a:off x="4994486" y="4761421"/>
              <a:ext cx="4341" cy="468519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0" name="Shape 145">
              <a:extLst>
                <a:ext uri="{FF2B5EF4-FFF2-40B4-BE49-F238E27FC236}">
                  <a16:creationId xmlns:a16="http://schemas.microsoft.com/office/drawing/2014/main" id="{394B78F1-FBC1-38DC-16D7-BCCD7E9E585D}"/>
                </a:ext>
              </a:extLst>
            </p:cNvPr>
            <p:cNvSpPr/>
            <p:nvPr/>
          </p:nvSpPr>
          <p:spPr>
            <a:xfrm>
              <a:off x="6128282" y="5030656"/>
              <a:ext cx="0" cy="19852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1" name="Shape 146">
              <a:extLst>
                <a:ext uri="{FF2B5EF4-FFF2-40B4-BE49-F238E27FC236}">
                  <a16:creationId xmlns:a16="http://schemas.microsoft.com/office/drawing/2014/main" id="{03203626-F3BB-F112-CAEB-5DEE19E051C1}"/>
                </a:ext>
              </a:extLst>
            </p:cNvPr>
            <p:cNvSpPr/>
            <p:nvPr/>
          </p:nvSpPr>
          <p:spPr>
            <a:xfrm>
              <a:off x="7269479" y="5029200"/>
              <a:ext cx="1301" cy="196568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2" name="Shape 147">
              <a:extLst>
                <a:ext uri="{FF2B5EF4-FFF2-40B4-BE49-F238E27FC236}">
                  <a16:creationId xmlns:a16="http://schemas.microsoft.com/office/drawing/2014/main" id="{B5D8D9DB-A100-5DEF-6194-3D017A0C2FA4}"/>
                </a:ext>
              </a:extLst>
            </p:cNvPr>
            <p:cNvSpPr/>
            <p:nvPr/>
          </p:nvSpPr>
          <p:spPr>
            <a:xfrm>
              <a:off x="6120161" y="5029552"/>
              <a:ext cx="1156335" cy="1905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3" name="Shape 148">
              <a:extLst>
                <a:ext uri="{FF2B5EF4-FFF2-40B4-BE49-F238E27FC236}">
                  <a16:creationId xmlns:a16="http://schemas.microsoft.com/office/drawing/2014/main" id="{02A0FF74-BB9F-262C-93B6-D3D9E79DD8C0}"/>
                </a:ext>
              </a:extLst>
            </p:cNvPr>
            <p:cNvSpPr/>
            <p:nvPr/>
          </p:nvSpPr>
          <p:spPr>
            <a:xfrm>
              <a:off x="6693408" y="4754880"/>
              <a:ext cx="0" cy="274320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4" name="Shape 150">
              <a:extLst>
                <a:ext uri="{FF2B5EF4-FFF2-40B4-BE49-F238E27FC236}">
                  <a16:creationId xmlns:a16="http://schemas.microsoft.com/office/drawing/2014/main" id="{08059BDB-DBE3-0276-2874-3B2DE4D6E1DA}"/>
                </a:ext>
              </a:extLst>
            </p:cNvPr>
            <p:cNvSpPr/>
            <p:nvPr/>
          </p:nvSpPr>
          <p:spPr>
            <a:xfrm>
              <a:off x="4983480" y="4754880"/>
              <a:ext cx="1709928" cy="0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5" name="Shape 152">
              <a:extLst>
                <a:ext uri="{FF2B5EF4-FFF2-40B4-BE49-F238E27FC236}">
                  <a16:creationId xmlns:a16="http://schemas.microsoft.com/office/drawing/2014/main" id="{68FB3E5F-E3DE-9A89-E10D-9D6EB867B2CA}"/>
                </a:ext>
              </a:extLst>
            </p:cNvPr>
            <p:cNvSpPr/>
            <p:nvPr/>
          </p:nvSpPr>
          <p:spPr>
            <a:xfrm>
              <a:off x="5843016" y="4617720"/>
              <a:ext cx="0" cy="137160"/>
            </a:xfrm>
            <a:prstGeom prst="line">
              <a:avLst/>
            </a:prstGeom>
            <a:noFill/>
            <a:ln w="19050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6" name="Shape 153">
              <a:extLst>
                <a:ext uri="{FF2B5EF4-FFF2-40B4-BE49-F238E27FC236}">
                  <a16:creationId xmlns:a16="http://schemas.microsoft.com/office/drawing/2014/main" id="{2C1BE64A-B41D-3A09-10C8-08A119EE5E93}"/>
                </a:ext>
              </a:extLst>
            </p:cNvPr>
            <p:cNvSpPr/>
            <p:nvPr/>
          </p:nvSpPr>
          <p:spPr>
            <a:xfrm>
              <a:off x="4480560" y="5230368"/>
              <a:ext cx="1005840" cy="868680"/>
            </a:xfrm>
            <a:prstGeom prst="roundRect">
              <a:avLst>
                <a:gd name="adj" fmla="val 5263"/>
              </a:avLst>
            </a:prstGeom>
            <a:noFill/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7" name="Text 154">
              <a:extLst>
                <a:ext uri="{FF2B5EF4-FFF2-40B4-BE49-F238E27FC236}">
                  <a16:creationId xmlns:a16="http://schemas.microsoft.com/office/drawing/2014/main" id="{7BE6CE2F-D5E2-1C3C-E1BD-5BA84275D5B6}"/>
                </a:ext>
              </a:extLst>
            </p:cNvPr>
            <p:cNvSpPr txBox="1"/>
            <p:nvPr/>
          </p:nvSpPr>
          <p:spPr>
            <a:xfrm>
              <a:off x="4480560" y="5266944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95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CLASSE 1</a:t>
              </a:r>
              <a:endParaRPr lang="fr-FR" sz="9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1" name="Shape 155">
              <a:extLst>
                <a:ext uri="{FF2B5EF4-FFF2-40B4-BE49-F238E27FC236}">
                  <a16:creationId xmlns:a16="http://schemas.microsoft.com/office/drawing/2014/main" id="{403FE344-0DFA-D5C3-112D-F16133FF1F74}"/>
                </a:ext>
              </a:extLst>
            </p:cNvPr>
            <p:cNvSpPr/>
            <p:nvPr/>
          </p:nvSpPr>
          <p:spPr>
            <a:xfrm>
              <a:off x="5623560" y="5230368"/>
              <a:ext cx="1005840" cy="868680"/>
            </a:xfrm>
            <a:prstGeom prst="roundRect">
              <a:avLst>
                <a:gd name="adj" fmla="val 5263"/>
              </a:avLst>
            </a:prstGeom>
            <a:noFill/>
            <a:ln w="9525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52" name="Text 156">
              <a:extLst>
                <a:ext uri="{FF2B5EF4-FFF2-40B4-BE49-F238E27FC236}">
                  <a16:creationId xmlns:a16="http://schemas.microsoft.com/office/drawing/2014/main" id="{BD194FB8-6610-0443-01F2-DEDAC5A058CA}"/>
                </a:ext>
              </a:extLst>
            </p:cNvPr>
            <p:cNvSpPr txBox="1"/>
            <p:nvPr/>
          </p:nvSpPr>
          <p:spPr>
            <a:xfrm>
              <a:off x="5623560" y="5266944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95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CLASSE 2</a:t>
              </a:r>
              <a:endParaRPr lang="fr-FR" sz="9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6" name="Shape 157">
              <a:extLst>
                <a:ext uri="{FF2B5EF4-FFF2-40B4-BE49-F238E27FC236}">
                  <a16:creationId xmlns:a16="http://schemas.microsoft.com/office/drawing/2014/main" id="{C19A23A7-3146-32A9-AEEB-FA1F29C082F2}"/>
                </a:ext>
              </a:extLst>
            </p:cNvPr>
            <p:cNvSpPr/>
            <p:nvPr/>
          </p:nvSpPr>
          <p:spPr>
            <a:xfrm>
              <a:off x="6766560" y="5230368"/>
              <a:ext cx="1005840" cy="868680"/>
            </a:xfrm>
            <a:prstGeom prst="roundRect">
              <a:avLst>
                <a:gd name="adj" fmla="val 5263"/>
              </a:avLst>
            </a:prstGeom>
            <a:noFill/>
            <a:ln w="9525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57" name="Text 158">
              <a:extLst>
                <a:ext uri="{FF2B5EF4-FFF2-40B4-BE49-F238E27FC236}">
                  <a16:creationId xmlns:a16="http://schemas.microsoft.com/office/drawing/2014/main" id="{26AAB3D5-1226-A833-CBA1-614612A22C94}"/>
                </a:ext>
              </a:extLst>
            </p:cNvPr>
            <p:cNvSpPr txBox="1"/>
            <p:nvPr/>
          </p:nvSpPr>
          <p:spPr>
            <a:xfrm>
              <a:off x="6766560" y="5266944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95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CLASSE 3</a:t>
              </a:r>
              <a:endParaRPr lang="fr-FR" sz="9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7" name="Groupe 176">
            <a:extLst>
              <a:ext uri="{FF2B5EF4-FFF2-40B4-BE49-F238E27FC236}">
                <a16:creationId xmlns:a16="http://schemas.microsoft.com/office/drawing/2014/main" id="{B9C269B5-ED42-19D6-F468-AFA48C0AECE7}"/>
              </a:ext>
            </a:extLst>
          </p:cNvPr>
          <p:cNvGrpSpPr/>
          <p:nvPr/>
        </p:nvGrpSpPr>
        <p:grpSpPr>
          <a:xfrm>
            <a:off x="4647356" y="5419841"/>
            <a:ext cx="955173" cy="496009"/>
            <a:chOff x="-2983585" y="1906726"/>
            <a:chExt cx="955173" cy="496009"/>
          </a:xfrm>
        </p:grpSpPr>
        <p:pic>
          <p:nvPicPr>
            <p:cNvPr id="178" name="Graphique 177" descr="Utilisateur avec un remplissage uni">
              <a:extLst>
                <a:ext uri="{FF2B5EF4-FFF2-40B4-BE49-F238E27FC236}">
                  <a16:creationId xmlns:a16="http://schemas.microsoft.com/office/drawing/2014/main" id="{D9F79AB3-CF9B-6323-B6A5-282EAA0A48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1906726"/>
              <a:ext cx="232274" cy="232274"/>
            </a:xfrm>
            <a:prstGeom prst="rect">
              <a:avLst/>
            </a:prstGeom>
          </p:spPr>
        </p:pic>
        <p:pic>
          <p:nvPicPr>
            <p:cNvPr id="179" name="Graphique 178" descr="Utilisateur avec un remplissage uni">
              <a:extLst>
                <a:ext uri="{FF2B5EF4-FFF2-40B4-BE49-F238E27FC236}">
                  <a16:creationId xmlns:a16="http://schemas.microsoft.com/office/drawing/2014/main" id="{4B46B694-2CBA-A9AD-6A04-283F8A1A6D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742619" y="1906726"/>
              <a:ext cx="232274" cy="232274"/>
            </a:xfrm>
            <a:prstGeom prst="rect">
              <a:avLst/>
            </a:prstGeom>
          </p:spPr>
        </p:pic>
        <p:pic>
          <p:nvPicPr>
            <p:cNvPr id="180" name="Graphique 179" descr="Utilisateur avec un remplissage uni">
              <a:extLst>
                <a:ext uri="{FF2B5EF4-FFF2-40B4-BE49-F238E27FC236}">
                  <a16:creationId xmlns:a16="http://schemas.microsoft.com/office/drawing/2014/main" id="{59A6CE9A-259F-E5B8-7FD5-4E9127AFBA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01653" y="1906726"/>
              <a:ext cx="232274" cy="232274"/>
            </a:xfrm>
            <a:prstGeom prst="rect">
              <a:avLst/>
            </a:prstGeom>
          </p:spPr>
        </p:pic>
        <p:pic>
          <p:nvPicPr>
            <p:cNvPr id="181" name="Graphique 180" descr="Utilisateur avec un remplissage uni">
              <a:extLst>
                <a:ext uri="{FF2B5EF4-FFF2-40B4-BE49-F238E27FC236}">
                  <a16:creationId xmlns:a16="http://schemas.microsoft.com/office/drawing/2014/main" id="{6CD9FD3F-38C9-0FB2-4AAB-2576CD3A20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60686" y="1906726"/>
              <a:ext cx="232274" cy="232274"/>
            </a:xfrm>
            <a:prstGeom prst="rect">
              <a:avLst/>
            </a:prstGeom>
          </p:spPr>
        </p:pic>
        <p:pic>
          <p:nvPicPr>
            <p:cNvPr id="182" name="Graphique 181" descr="Utilisateur avec un remplissage uni">
              <a:extLst>
                <a:ext uri="{FF2B5EF4-FFF2-40B4-BE49-F238E27FC236}">
                  <a16:creationId xmlns:a16="http://schemas.microsoft.com/office/drawing/2014/main" id="{0F778C2D-4A15-E103-FF66-E00F9BD3B4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78501" y="2170461"/>
              <a:ext cx="232274" cy="232274"/>
            </a:xfrm>
            <a:prstGeom prst="rect">
              <a:avLst/>
            </a:prstGeom>
          </p:spPr>
        </p:pic>
        <p:pic>
          <p:nvPicPr>
            <p:cNvPr id="183" name="Graphique 182" descr="Utilisateur avec un remplissage uni">
              <a:extLst>
                <a:ext uri="{FF2B5EF4-FFF2-40B4-BE49-F238E27FC236}">
                  <a16:creationId xmlns:a16="http://schemas.microsoft.com/office/drawing/2014/main" id="{664AA299-26BD-BA91-B86A-CE84A86E99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2170461"/>
              <a:ext cx="232274" cy="232274"/>
            </a:xfrm>
            <a:prstGeom prst="rect">
              <a:avLst/>
            </a:prstGeom>
          </p:spPr>
        </p:pic>
        <p:pic>
          <p:nvPicPr>
            <p:cNvPr id="184" name="Graphique 183" descr="Utilisateur avec un remplissage uni">
              <a:extLst>
                <a:ext uri="{FF2B5EF4-FFF2-40B4-BE49-F238E27FC236}">
                  <a16:creationId xmlns:a16="http://schemas.microsoft.com/office/drawing/2014/main" id="{6DF353C6-6504-E86D-11BE-0A59FF57B4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748557" y="2170461"/>
              <a:ext cx="232274" cy="232274"/>
            </a:xfrm>
            <a:prstGeom prst="rect">
              <a:avLst/>
            </a:prstGeom>
          </p:spPr>
        </p:pic>
        <p:pic>
          <p:nvPicPr>
            <p:cNvPr id="185" name="Graphique 184" descr="Utilisateur avec un remplissage uni">
              <a:extLst>
                <a:ext uri="{FF2B5EF4-FFF2-40B4-BE49-F238E27FC236}">
                  <a16:creationId xmlns:a16="http://schemas.microsoft.com/office/drawing/2014/main" id="{7E70BDAD-3A06-D904-45C7-762FA7CF75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513529" y="2170461"/>
              <a:ext cx="232274" cy="232274"/>
            </a:xfrm>
            <a:prstGeom prst="rect">
              <a:avLst/>
            </a:prstGeom>
          </p:spPr>
        </p:pic>
      </p:grpSp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18B79263-423A-1C7C-6103-254FB9EE2069}"/>
              </a:ext>
            </a:extLst>
          </p:cNvPr>
          <p:cNvGrpSpPr/>
          <p:nvPr/>
        </p:nvGrpSpPr>
        <p:grpSpPr>
          <a:xfrm>
            <a:off x="5779038" y="5415511"/>
            <a:ext cx="955173" cy="496009"/>
            <a:chOff x="-2983585" y="1906726"/>
            <a:chExt cx="955173" cy="496009"/>
          </a:xfrm>
        </p:grpSpPr>
        <p:pic>
          <p:nvPicPr>
            <p:cNvPr id="117" name="Graphique 116" descr="Utilisateur avec un remplissage uni">
              <a:extLst>
                <a:ext uri="{FF2B5EF4-FFF2-40B4-BE49-F238E27FC236}">
                  <a16:creationId xmlns:a16="http://schemas.microsoft.com/office/drawing/2014/main" id="{D87A10C4-DCFD-0556-F92E-04DCBBFC32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1906726"/>
              <a:ext cx="232274" cy="232274"/>
            </a:xfrm>
            <a:prstGeom prst="rect">
              <a:avLst/>
            </a:prstGeom>
          </p:spPr>
        </p:pic>
        <p:pic>
          <p:nvPicPr>
            <p:cNvPr id="121" name="Graphique 120" descr="Utilisateur avec un remplissage uni">
              <a:extLst>
                <a:ext uri="{FF2B5EF4-FFF2-40B4-BE49-F238E27FC236}">
                  <a16:creationId xmlns:a16="http://schemas.microsoft.com/office/drawing/2014/main" id="{3EFD1B49-1AAE-8A54-EF96-4728B0D807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2742619" y="1906726"/>
              <a:ext cx="232274" cy="232274"/>
            </a:xfrm>
            <a:prstGeom prst="rect">
              <a:avLst/>
            </a:prstGeom>
          </p:spPr>
        </p:pic>
        <p:pic>
          <p:nvPicPr>
            <p:cNvPr id="125" name="Graphique 124" descr="Utilisateur avec un remplissage uni">
              <a:extLst>
                <a:ext uri="{FF2B5EF4-FFF2-40B4-BE49-F238E27FC236}">
                  <a16:creationId xmlns:a16="http://schemas.microsoft.com/office/drawing/2014/main" id="{72A24B08-86DE-7840-904B-C832379D3A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2501653" y="1906726"/>
              <a:ext cx="232274" cy="232274"/>
            </a:xfrm>
            <a:prstGeom prst="rect">
              <a:avLst/>
            </a:prstGeom>
          </p:spPr>
        </p:pic>
        <p:pic>
          <p:nvPicPr>
            <p:cNvPr id="143" name="Graphique 142" descr="Utilisateur avec un remplissage uni">
              <a:extLst>
                <a:ext uri="{FF2B5EF4-FFF2-40B4-BE49-F238E27FC236}">
                  <a16:creationId xmlns:a16="http://schemas.microsoft.com/office/drawing/2014/main" id="{6AA75313-67DD-B8B3-12F5-A64A7CFB75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60686" y="1906726"/>
              <a:ext cx="232274" cy="232274"/>
            </a:xfrm>
            <a:prstGeom prst="rect">
              <a:avLst/>
            </a:prstGeom>
          </p:spPr>
        </p:pic>
        <p:pic>
          <p:nvPicPr>
            <p:cNvPr id="151" name="Graphique 150" descr="Utilisateur avec un remplissage uni">
              <a:extLst>
                <a:ext uri="{FF2B5EF4-FFF2-40B4-BE49-F238E27FC236}">
                  <a16:creationId xmlns:a16="http://schemas.microsoft.com/office/drawing/2014/main" id="{1DE2D35F-D776-1771-3F88-341738875D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78501" y="2170461"/>
              <a:ext cx="232274" cy="232274"/>
            </a:xfrm>
            <a:prstGeom prst="rect">
              <a:avLst/>
            </a:prstGeom>
          </p:spPr>
        </p:pic>
        <p:pic>
          <p:nvPicPr>
            <p:cNvPr id="158" name="Graphique 157" descr="Utilisateur avec un remplissage uni">
              <a:extLst>
                <a:ext uri="{FF2B5EF4-FFF2-40B4-BE49-F238E27FC236}">
                  <a16:creationId xmlns:a16="http://schemas.microsoft.com/office/drawing/2014/main" id="{9F965CDF-41DB-9C38-3497-20CC659D9B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2170461"/>
              <a:ext cx="232274" cy="232274"/>
            </a:xfrm>
            <a:prstGeom prst="rect">
              <a:avLst/>
            </a:prstGeom>
          </p:spPr>
        </p:pic>
        <p:pic>
          <p:nvPicPr>
            <p:cNvPr id="160" name="Graphique 159" descr="Utilisateur avec un remplissage uni">
              <a:extLst>
                <a:ext uri="{FF2B5EF4-FFF2-40B4-BE49-F238E27FC236}">
                  <a16:creationId xmlns:a16="http://schemas.microsoft.com/office/drawing/2014/main" id="{B1B61FF3-9912-C3A6-3A38-10C9589F08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748557" y="2170461"/>
              <a:ext cx="232274" cy="232274"/>
            </a:xfrm>
            <a:prstGeom prst="rect">
              <a:avLst/>
            </a:prstGeom>
          </p:spPr>
        </p:pic>
        <p:pic>
          <p:nvPicPr>
            <p:cNvPr id="163" name="Graphique 162" descr="Utilisateur avec un remplissage uni">
              <a:extLst>
                <a:ext uri="{FF2B5EF4-FFF2-40B4-BE49-F238E27FC236}">
                  <a16:creationId xmlns:a16="http://schemas.microsoft.com/office/drawing/2014/main" id="{B9BCBA7D-986B-26BB-A09E-81E08C8F6C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513529" y="2170461"/>
              <a:ext cx="232274" cy="232274"/>
            </a:xfrm>
            <a:prstGeom prst="rect">
              <a:avLst/>
            </a:prstGeom>
          </p:spPr>
        </p:pic>
      </p:grp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EA643FFA-0A7D-4B85-5614-9B921ACED5B1}"/>
              </a:ext>
            </a:extLst>
          </p:cNvPr>
          <p:cNvGrpSpPr/>
          <p:nvPr/>
        </p:nvGrpSpPr>
        <p:grpSpPr>
          <a:xfrm>
            <a:off x="6947410" y="5431367"/>
            <a:ext cx="955173" cy="496009"/>
            <a:chOff x="-2983585" y="1906726"/>
            <a:chExt cx="955173" cy="496009"/>
          </a:xfrm>
        </p:grpSpPr>
        <p:pic>
          <p:nvPicPr>
            <p:cNvPr id="187" name="Graphique 186" descr="Utilisateur avec un remplissage uni">
              <a:extLst>
                <a:ext uri="{FF2B5EF4-FFF2-40B4-BE49-F238E27FC236}">
                  <a16:creationId xmlns:a16="http://schemas.microsoft.com/office/drawing/2014/main" id="{DDF7C783-7771-687D-DE2B-46E9A08058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1906726"/>
              <a:ext cx="232274" cy="232274"/>
            </a:xfrm>
            <a:prstGeom prst="rect">
              <a:avLst/>
            </a:prstGeom>
          </p:spPr>
        </p:pic>
        <p:pic>
          <p:nvPicPr>
            <p:cNvPr id="188" name="Graphique 187" descr="Utilisateur avec un remplissage uni">
              <a:extLst>
                <a:ext uri="{FF2B5EF4-FFF2-40B4-BE49-F238E27FC236}">
                  <a16:creationId xmlns:a16="http://schemas.microsoft.com/office/drawing/2014/main" id="{8A9B0EDA-5290-F73A-22B2-B1FAB51BBD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742619" y="1906726"/>
              <a:ext cx="232274" cy="232274"/>
            </a:xfrm>
            <a:prstGeom prst="rect">
              <a:avLst/>
            </a:prstGeom>
          </p:spPr>
        </p:pic>
        <p:pic>
          <p:nvPicPr>
            <p:cNvPr id="189" name="Graphique 188" descr="Utilisateur avec un remplissage uni">
              <a:extLst>
                <a:ext uri="{FF2B5EF4-FFF2-40B4-BE49-F238E27FC236}">
                  <a16:creationId xmlns:a16="http://schemas.microsoft.com/office/drawing/2014/main" id="{D58CB50C-AACD-745E-D7C9-C14F59A1CB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01653" y="1906726"/>
              <a:ext cx="232274" cy="232274"/>
            </a:xfrm>
            <a:prstGeom prst="rect">
              <a:avLst/>
            </a:prstGeom>
          </p:spPr>
        </p:pic>
        <p:pic>
          <p:nvPicPr>
            <p:cNvPr id="190" name="Graphique 189" descr="Utilisateur avec un remplissage uni">
              <a:extLst>
                <a:ext uri="{FF2B5EF4-FFF2-40B4-BE49-F238E27FC236}">
                  <a16:creationId xmlns:a16="http://schemas.microsoft.com/office/drawing/2014/main" id="{E22B0801-4931-C1A3-CEAE-60BA999A1E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60686" y="1906726"/>
              <a:ext cx="232274" cy="232274"/>
            </a:xfrm>
            <a:prstGeom prst="rect">
              <a:avLst/>
            </a:prstGeom>
          </p:spPr>
        </p:pic>
        <p:pic>
          <p:nvPicPr>
            <p:cNvPr id="191" name="Graphique 190" descr="Utilisateur avec un remplissage uni">
              <a:extLst>
                <a:ext uri="{FF2B5EF4-FFF2-40B4-BE49-F238E27FC236}">
                  <a16:creationId xmlns:a16="http://schemas.microsoft.com/office/drawing/2014/main" id="{C84E8CFF-7056-7C9B-67AC-62C930CA08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78501" y="2170461"/>
              <a:ext cx="232274" cy="232274"/>
            </a:xfrm>
            <a:prstGeom prst="rect">
              <a:avLst/>
            </a:prstGeom>
          </p:spPr>
        </p:pic>
        <p:pic>
          <p:nvPicPr>
            <p:cNvPr id="192" name="Graphique 191" descr="Utilisateur avec un remplissage uni">
              <a:extLst>
                <a:ext uri="{FF2B5EF4-FFF2-40B4-BE49-F238E27FC236}">
                  <a16:creationId xmlns:a16="http://schemas.microsoft.com/office/drawing/2014/main" id="{CEB2C49C-D6B1-51C0-1F90-201BA3C98E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2170461"/>
              <a:ext cx="232274" cy="232274"/>
            </a:xfrm>
            <a:prstGeom prst="rect">
              <a:avLst/>
            </a:prstGeom>
          </p:spPr>
        </p:pic>
        <p:pic>
          <p:nvPicPr>
            <p:cNvPr id="193" name="Graphique 192" descr="Utilisateur avec un remplissage uni">
              <a:extLst>
                <a:ext uri="{FF2B5EF4-FFF2-40B4-BE49-F238E27FC236}">
                  <a16:creationId xmlns:a16="http://schemas.microsoft.com/office/drawing/2014/main" id="{A83AE2CA-C0CE-3D38-2CD8-B2F2BD25FA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2748557" y="2170461"/>
              <a:ext cx="232274" cy="232274"/>
            </a:xfrm>
            <a:prstGeom prst="rect">
              <a:avLst/>
            </a:prstGeom>
          </p:spPr>
        </p:pic>
        <p:pic>
          <p:nvPicPr>
            <p:cNvPr id="194" name="Graphique 193" descr="Utilisateur avec un remplissage uni">
              <a:extLst>
                <a:ext uri="{FF2B5EF4-FFF2-40B4-BE49-F238E27FC236}">
                  <a16:creationId xmlns:a16="http://schemas.microsoft.com/office/drawing/2014/main" id="{C77764DE-3587-6A91-1297-E1EB4313BA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513529" y="2170461"/>
              <a:ext cx="232274" cy="232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0100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9BC0-084F-D3CC-24DF-C7CFDBAF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C29CBF7-DF52-0E2C-87D8-96691CB30E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1112" y="107691"/>
            <a:ext cx="8061749" cy="199465"/>
          </a:xfrm>
        </p:spPr>
        <p:txBody>
          <a:bodyPr/>
          <a:lstStyle/>
          <a:p>
            <a:r>
              <a:rPr lang="fr-FR"/>
              <a:t>Analyse D’hétérogénéité – TRAJECTOIRES à long terme -résultats</a:t>
            </a:r>
          </a:p>
          <a:p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8EDAE8-3E3D-94E9-59D1-3F83BF8A91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927" y="349657"/>
            <a:ext cx="11628550" cy="490862"/>
          </a:xfrm>
        </p:spPr>
        <p:txBody>
          <a:bodyPr/>
          <a:lstStyle/>
          <a:p>
            <a:r>
              <a:rPr lang="fr-FR" sz="1600"/>
              <a:t>Plus d'installations à son compte, moins d'emploi aidé : ce qui distingue les parcours des RCI</a:t>
            </a:r>
            <a:endParaRPr lang="fr-FR" sz="1600" spc="-40" noProof="0">
              <a:solidFill>
                <a:srgbClr val="7BBB53"/>
              </a:solidFill>
            </a:endParaRPr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E296C6FD-C360-7E09-1A1E-2A96A2AC6C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DAD62E-6325-C239-FE09-D64336BDC55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3927" y="596363"/>
            <a:ext cx="11222010" cy="432000"/>
          </a:xfrm>
        </p:spPr>
        <p:txBody>
          <a:bodyPr/>
          <a:lstStyle/>
          <a:p>
            <a:r>
              <a:rPr lang="fr-FR" sz="1400" dirty="0"/>
              <a:t>Sur quatre parcours types, les RCI sont surreprésentés dans l'activité non salariée (+5 pts) et sous-représentés dans l'emploi salarié avec aides (− 3 pts)</a:t>
            </a:r>
            <a:endParaRPr lang="fr-FR" sz="1400" noProof="0" dirty="0">
              <a:solidFill>
                <a:schemeClr val="accent3"/>
              </a:solidFill>
            </a:endParaRP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8D28C779-AF57-236E-B644-50E8C909DEFA}"/>
              </a:ext>
            </a:extLst>
          </p:cNvPr>
          <p:cNvGrpSpPr/>
          <p:nvPr/>
        </p:nvGrpSpPr>
        <p:grpSpPr>
          <a:xfrm>
            <a:off x="837889" y="1140621"/>
            <a:ext cx="12101465" cy="192024"/>
            <a:chOff x="941620" y="1167008"/>
            <a:chExt cx="12101465" cy="192024"/>
          </a:xfrm>
        </p:grpSpPr>
        <p:sp>
          <p:nvSpPr>
            <p:cNvPr id="39" name="Shape 109">
              <a:extLst>
                <a:ext uri="{FF2B5EF4-FFF2-40B4-BE49-F238E27FC236}">
                  <a16:creationId xmlns:a16="http://schemas.microsoft.com/office/drawing/2014/main" id="{3DF8CD64-939A-346F-3CBD-A807F3842141}"/>
                </a:ext>
              </a:extLst>
            </p:cNvPr>
            <p:cNvSpPr/>
            <p:nvPr/>
          </p:nvSpPr>
          <p:spPr>
            <a:xfrm>
              <a:off x="7832695" y="1167008"/>
              <a:ext cx="182880" cy="137160"/>
            </a:xfrm>
            <a:prstGeom prst="rect">
              <a:avLst/>
            </a:prstGeom>
            <a:solidFill>
              <a:srgbClr val="F46D43"/>
            </a:solidFill>
            <a:ln w="12700">
              <a:solidFill>
                <a:srgbClr val="F46D43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2" name="Text 102">
              <a:extLst>
                <a:ext uri="{FF2B5EF4-FFF2-40B4-BE49-F238E27FC236}">
                  <a16:creationId xmlns:a16="http://schemas.microsoft.com/office/drawing/2014/main" id="{D7B0AF00-B313-1365-4716-2FF4CFBBFC7B}"/>
                </a:ext>
              </a:extLst>
            </p:cNvPr>
            <p:cNvSpPr txBox="1"/>
            <p:nvPr/>
          </p:nvSpPr>
          <p:spPr>
            <a:xfrm>
              <a:off x="1170160" y="1167008"/>
              <a:ext cx="87699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EMPLOI SALARIÉ</a:t>
              </a:r>
              <a:endParaRPr lang="fr-FR" sz="90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Shape 103">
              <a:extLst>
                <a:ext uri="{FF2B5EF4-FFF2-40B4-BE49-F238E27FC236}">
                  <a16:creationId xmlns:a16="http://schemas.microsoft.com/office/drawing/2014/main" id="{B861BA4C-D1B0-4EE2-26F4-C36BC5972EFD}"/>
                </a:ext>
              </a:extLst>
            </p:cNvPr>
            <p:cNvSpPr/>
            <p:nvPr/>
          </p:nvSpPr>
          <p:spPr>
            <a:xfrm>
              <a:off x="2066804" y="1167008"/>
              <a:ext cx="182880" cy="137160"/>
            </a:xfrm>
            <a:prstGeom prst="rect">
              <a:avLst/>
            </a:prstGeom>
            <a:solidFill>
              <a:srgbClr val="A6D96A"/>
            </a:solidFill>
            <a:ln w="12700">
              <a:solidFill>
                <a:srgbClr val="A6D96A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6" name="Text 106">
              <a:extLst>
                <a:ext uri="{FF2B5EF4-FFF2-40B4-BE49-F238E27FC236}">
                  <a16:creationId xmlns:a16="http://schemas.microsoft.com/office/drawing/2014/main" id="{4634CB8C-1493-8FBB-62A4-E415F7059E5E}"/>
                </a:ext>
              </a:extLst>
            </p:cNvPr>
            <p:cNvSpPr txBox="1"/>
            <p:nvPr/>
          </p:nvSpPr>
          <p:spPr>
            <a:xfrm>
              <a:off x="4996446" y="1167008"/>
              <a:ext cx="1287737" cy="182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+ SALARIÉ</a:t>
              </a:r>
            </a:p>
          </p:txBody>
        </p:sp>
        <p:sp>
          <p:nvSpPr>
            <p:cNvPr id="40" name="Text 110">
              <a:extLst>
                <a:ext uri="{FF2B5EF4-FFF2-40B4-BE49-F238E27FC236}">
                  <a16:creationId xmlns:a16="http://schemas.microsoft.com/office/drawing/2014/main" id="{BD8B674D-9CDF-F342-9A25-E84B66C7D749}"/>
                </a:ext>
              </a:extLst>
            </p:cNvPr>
            <p:cNvSpPr txBox="1"/>
            <p:nvPr/>
          </p:nvSpPr>
          <p:spPr>
            <a:xfrm>
              <a:off x="8068494" y="1167008"/>
              <a:ext cx="104073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SEUL</a:t>
              </a:r>
            </a:p>
          </p:txBody>
        </p:sp>
        <p:sp>
          <p:nvSpPr>
            <p:cNvPr id="43" name="Shape 113">
              <a:extLst>
                <a:ext uri="{FF2B5EF4-FFF2-40B4-BE49-F238E27FC236}">
                  <a16:creationId xmlns:a16="http://schemas.microsoft.com/office/drawing/2014/main" id="{B040DE6A-FCED-A3E3-5E39-8ADEF7691D45}"/>
                </a:ext>
              </a:extLst>
            </p:cNvPr>
            <p:cNvSpPr/>
            <p:nvPr/>
          </p:nvSpPr>
          <p:spPr>
            <a:xfrm>
              <a:off x="9105869" y="1167008"/>
              <a:ext cx="182880" cy="137160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4" name="Text 114">
              <a:extLst>
                <a:ext uri="{FF2B5EF4-FFF2-40B4-BE49-F238E27FC236}">
                  <a16:creationId xmlns:a16="http://schemas.microsoft.com/office/drawing/2014/main" id="{0C4B62E7-D51F-493D-0F77-25975717B896}"/>
                </a:ext>
              </a:extLst>
            </p:cNvPr>
            <p:cNvSpPr txBox="1"/>
            <p:nvPr/>
          </p:nvSpPr>
          <p:spPr>
            <a:xfrm>
              <a:off x="9334409" y="1167008"/>
              <a:ext cx="1030467" cy="1829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MINIMA SOCIAUX</a:t>
              </a:r>
            </a:p>
          </p:txBody>
        </p:sp>
        <p:sp>
          <p:nvSpPr>
            <p:cNvPr id="45" name="Shape 115">
              <a:extLst>
                <a:ext uri="{FF2B5EF4-FFF2-40B4-BE49-F238E27FC236}">
                  <a16:creationId xmlns:a16="http://schemas.microsoft.com/office/drawing/2014/main" id="{D796DACC-4B82-D5B5-7243-BE91E3CA6D10}"/>
                </a:ext>
              </a:extLst>
            </p:cNvPr>
            <p:cNvSpPr/>
            <p:nvPr/>
          </p:nvSpPr>
          <p:spPr>
            <a:xfrm>
              <a:off x="10312874" y="1167008"/>
              <a:ext cx="182880" cy="137160"/>
            </a:xfrm>
            <a:prstGeom prst="rect">
              <a:avLst/>
            </a:prstGeom>
            <a:solidFill>
              <a:srgbClr val="4D4D4D"/>
            </a:solidFill>
            <a:ln w="12700">
              <a:solidFill>
                <a:srgbClr val="4D4D4D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6" name="Text 116">
              <a:extLst>
                <a:ext uri="{FF2B5EF4-FFF2-40B4-BE49-F238E27FC236}">
                  <a16:creationId xmlns:a16="http://schemas.microsoft.com/office/drawing/2014/main" id="{E9500667-8131-767A-0476-74ADEF390E3C}"/>
                </a:ext>
              </a:extLst>
            </p:cNvPr>
            <p:cNvSpPr txBox="1"/>
            <p:nvPr/>
          </p:nvSpPr>
          <p:spPr>
            <a:xfrm>
              <a:off x="10578995" y="1167008"/>
              <a:ext cx="681438" cy="137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RETRAITE</a:t>
              </a:r>
            </a:p>
          </p:txBody>
        </p:sp>
        <p:sp>
          <p:nvSpPr>
            <p:cNvPr id="47" name="Shape 117">
              <a:extLst>
                <a:ext uri="{FF2B5EF4-FFF2-40B4-BE49-F238E27FC236}">
                  <a16:creationId xmlns:a16="http://schemas.microsoft.com/office/drawing/2014/main" id="{BB2F6967-32BA-640E-C4A6-3BA48062471E}"/>
                </a:ext>
              </a:extLst>
            </p:cNvPr>
            <p:cNvSpPr/>
            <p:nvPr/>
          </p:nvSpPr>
          <p:spPr>
            <a:xfrm>
              <a:off x="11115639" y="1167008"/>
              <a:ext cx="182880" cy="137160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8" name="Text 118">
              <a:extLst>
                <a:ext uri="{FF2B5EF4-FFF2-40B4-BE49-F238E27FC236}">
                  <a16:creationId xmlns:a16="http://schemas.microsoft.com/office/drawing/2014/main" id="{5863F497-46EF-2666-6551-F5986E317AF5}"/>
                </a:ext>
              </a:extLst>
            </p:cNvPr>
            <p:cNvSpPr txBox="1"/>
            <p:nvPr/>
          </p:nvSpPr>
          <p:spPr>
            <a:xfrm>
              <a:off x="11351445" y="1167008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OBSERVÉ</a:t>
              </a:r>
            </a:p>
          </p:txBody>
        </p:sp>
        <p:sp>
          <p:nvSpPr>
            <p:cNvPr id="54" name="Text 104">
              <a:extLst>
                <a:ext uri="{FF2B5EF4-FFF2-40B4-BE49-F238E27FC236}">
                  <a16:creationId xmlns:a16="http://schemas.microsoft.com/office/drawing/2014/main" id="{2DF85AAE-01C5-98A5-E47B-D08D4EF924A7}"/>
                </a:ext>
              </a:extLst>
            </p:cNvPr>
            <p:cNvSpPr txBox="1"/>
            <p:nvPr/>
          </p:nvSpPr>
          <p:spPr>
            <a:xfrm>
              <a:off x="2300727" y="1167008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EMPLOI SALARIÉ AVEC AIDES</a:t>
              </a:r>
            </a:p>
          </p:txBody>
        </p:sp>
        <p:sp>
          <p:nvSpPr>
            <p:cNvPr id="55" name="Shape 105">
              <a:extLst>
                <a:ext uri="{FF2B5EF4-FFF2-40B4-BE49-F238E27FC236}">
                  <a16:creationId xmlns:a16="http://schemas.microsoft.com/office/drawing/2014/main" id="{4E899FEC-CB53-F563-C8FF-2E29A8E81C65}"/>
                </a:ext>
              </a:extLst>
            </p:cNvPr>
            <p:cNvSpPr/>
            <p:nvPr/>
          </p:nvSpPr>
          <p:spPr>
            <a:xfrm>
              <a:off x="4776196" y="1167008"/>
              <a:ext cx="182880" cy="137160"/>
            </a:xfrm>
            <a:prstGeom prst="rect">
              <a:avLst/>
            </a:prstGeom>
            <a:solidFill>
              <a:srgbClr val="8C510A"/>
            </a:solidFill>
            <a:ln w="12700">
              <a:solidFill>
                <a:srgbClr val="8C510A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57" name="Shape 107">
              <a:extLst>
                <a:ext uri="{FF2B5EF4-FFF2-40B4-BE49-F238E27FC236}">
                  <a16:creationId xmlns:a16="http://schemas.microsoft.com/office/drawing/2014/main" id="{C8485E91-41EC-CFEF-97F5-FFD6B9EDBCE1}"/>
                </a:ext>
              </a:extLst>
            </p:cNvPr>
            <p:cNvSpPr/>
            <p:nvPr/>
          </p:nvSpPr>
          <p:spPr>
            <a:xfrm>
              <a:off x="6323492" y="1167008"/>
              <a:ext cx="182880" cy="13716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D73027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58" name="Text 108">
              <a:extLst>
                <a:ext uri="{FF2B5EF4-FFF2-40B4-BE49-F238E27FC236}">
                  <a16:creationId xmlns:a16="http://schemas.microsoft.com/office/drawing/2014/main" id="{E3F16F8F-76A3-FFF5-C303-151819E97BB8}"/>
                </a:ext>
              </a:extLst>
            </p:cNvPr>
            <p:cNvSpPr txBox="1"/>
            <p:nvPr/>
          </p:nvSpPr>
          <p:spPr>
            <a:xfrm>
              <a:off x="6566638" y="1167008"/>
              <a:ext cx="1287737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900" spc="-4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INDEMNISÉ</a:t>
              </a:r>
            </a:p>
          </p:txBody>
        </p:sp>
        <p:sp>
          <p:nvSpPr>
            <p:cNvPr id="73" name="Shape 101">
              <a:extLst>
                <a:ext uri="{FF2B5EF4-FFF2-40B4-BE49-F238E27FC236}">
                  <a16:creationId xmlns:a16="http://schemas.microsoft.com/office/drawing/2014/main" id="{A68217A8-C4F1-1E9E-8B0C-39913C7C2D12}"/>
                </a:ext>
              </a:extLst>
            </p:cNvPr>
            <p:cNvSpPr/>
            <p:nvPr/>
          </p:nvSpPr>
          <p:spPr>
            <a:xfrm>
              <a:off x="941620" y="1167008"/>
              <a:ext cx="182880" cy="137160"/>
            </a:xfrm>
            <a:prstGeom prst="rect">
              <a:avLst/>
            </a:prstGeom>
            <a:solidFill>
              <a:srgbClr val="1A9850"/>
            </a:solidFill>
            <a:ln w="12700">
              <a:solidFill>
                <a:srgbClr val="1A985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76" name="Shape 101">
              <a:extLst>
                <a:ext uri="{FF2B5EF4-FFF2-40B4-BE49-F238E27FC236}">
                  <a16:creationId xmlns:a16="http://schemas.microsoft.com/office/drawing/2014/main" id="{6AECF8A1-0B08-9F46-A5A4-04B751B15151}"/>
                </a:ext>
              </a:extLst>
            </p:cNvPr>
            <p:cNvSpPr/>
            <p:nvPr/>
          </p:nvSpPr>
          <p:spPr>
            <a:xfrm>
              <a:off x="3826179" y="1167008"/>
              <a:ext cx="182880" cy="13716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rgbClr val="0070C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78" name="Text 102">
              <a:extLst>
                <a:ext uri="{FF2B5EF4-FFF2-40B4-BE49-F238E27FC236}">
                  <a16:creationId xmlns:a16="http://schemas.microsoft.com/office/drawing/2014/main" id="{90B1E036-FDC2-6C33-6D99-1A836799A334}"/>
                </a:ext>
              </a:extLst>
            </p:cNvPr>
            <p:cNvSpPr txBox="1"/>
            <p:nvPr/>
          </p:nvSpPr>
          <p:spPr>
            <a:xfrm>
              <a:off x="4045777" y="1167008"/>
              <a:ext cx="691110" cy="1736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CHÔMAGE I.</a:t>
              </a:r>
              <a:endParaRPr lang="fr-FR" sz="90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8365CB43-FA79-9A49-2807-9644B0F95846}"/>
              </a:ext>
            </a:extLst>
          </p:cNvPr>
          <p:cNvGrpSpPr/>
          <p:nvPr/>
        </p:nvGrpSpPr>
        <p:grpSpPr>
          <a:xfrm>
            <a:off x="461394" y="5260374"/>
            <a:ext cx="3026293" cy="435433"/>
            <a:chOff x="473185" y="5452749"/>
            <a:chExt cx="3026293" cy="435433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B3664FB6-A491-3500-5449-854AB1F76BE0}"/>
                </a:ext>
              </a:extLst>
            </p:cNvPr>
            <p:cNvSpPr/>
            <p:nvPr/>
          </p:nvSpPr>
          <p:spPr>
            <a:xfrm>
              <a:off x="795058" y="5458691"/>
              <a:ext cx="2704420" cy="4294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 i="1" noProof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9" name="ZoneTexte 158">
              <a:extLst>
                <a:ext uri="{FF2B5EF4-FFF2-40B4-BE49-F238E27FC236}">
                  <a16:creationId xmlns:a16="http://schemas.microsoft.com/office/drawing/2014/main" id="{60AC5E9F-C7D3-E7A6-B643-53F7F1B62DFC}"/>
                </a:ext>
              </a:extLst>
            </p:cNvPr>
            <p:cNvSpPr txBox="1"/>
            <p:nvPr/>
          </p:nvSpPr>
          <p:spPr>
            <a:xfrm>
              <a:off x="473185" y="5452749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TRAITÉS</a:t>
              </a:r>
            </a:p>
          </p:txBody>
        </p:sp>
      </p:grpSp>
      <p:grpSp>
        <p:nvGrpSpPr>
          <p:cNvPr id="237" name="Groupe 236">
            <a:extLst>
              <a:ext uri="{FF2B5EF4-FFF2-40B4-BE49-F238E27FC236}">
                <a16:creationId xmlns:a16="http://schemas.microsoft.com/office/drawing/2014/main" id="{E1D93A15-61CD-1C32-B976-D7F982BE727E}"/>
              </a:ext>
            </a:extLst>
          </p:cNvPr>
          <p:cNvGrpSpPr/>
          <p:nvPr/>
        </p:nvGrpSpPr>
        <p:grpSpPr>
          <a:xfrm>
            <a:off x="1437854" y="5829650"/>
            <a:ext cx="4001235" cy="509704"/>
            <a:chOff x="365760" y="5852160"/>
            <a:chExt cx="5239512" cy="658368"/>
          </a:xfrm>
        </p:grpSpPr>
        <p:sp>
          <p:nvSpPr>
            <p:cNvPr id="238" name="Shape 85">
              <a:extLst>
                <a:ext uri="{FF2B5EF4-FFF2-40B4-BE49-F238E27FC236}">
                  <a16:creationId xmlns:a16="http://schemas.microsoft.com/office/drawing/2014/main" id="{6DEDF652-97C5-B6D8-BF97-3612C665F058}"/>
                </a:ext>
              </a:extLst>
            </p:cNvPr>
            <p:cNvSpPr/>
            <p:nvPr/>
          </p:nvSpPr>
          <p:spPr>
            <a:xfrm>
              <a:off x="365760" y="5852160"/>
              <a:ext cx="5201875" cy="658368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40" name="Text 87">
              <a:extLst>
                <a:ext uri="{FF2B5EF4-FFF2-40B4-BE49-F238E27FC236}">
                  <a16:creationId xmlns:a16="http://schemas.microsoft.com/office/drawing/2014/main" id="{17A96AD8-10CA-22C6-0307-E1FAAB89D704}"/>
                </a:ext>
              </a:extLst>
            </p:cNvPr>
            <p:cNvSpPr txBox="1"/>
            <p:nvPr/>
          </p:nvSpPr>
          <p:spPr>
            <a:xfrm>
              <a:off x="667512" y="5875318"/>
              <a:ext cx="49377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DEUX PROFILS OÙ LES RCI SE DÉMARQUENT</a:t>
              </a:r>
              <a:endParaRPr lang="fr-FR" sz="9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1" name="Text 88">
              <a:extLst>
                <a:ext uri="{FF2B5EF4-FFF2-40B4-BE49-F238E27FC236}">
                  <a16:creationId xmlns:a16="http://schemas.microsoft.com/office/drawing/2014/main" id="{063D9675-793C-513A-B71E-EC5E72316567}"/>
                </a:ext>
              </a:extLst>
            </p:cNvPr>
            <p:cNvSpPr txBox="1"/>
            <p:nvPr/>
          </p:nvSpPr>
          <p:spPr>
            <a:xfrm>
              <a:off x="467949" y="6106540"/>
              <a:ext cx="5090423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fr-FR" sz="85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Sur-représentation dans le groupe de l’activité non salarié et présence</a:t>
              </a:r>
              <a:r>
                <a:rPr lang="fr-FR" sz="85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moins nombreuse dans le groupe de l’emploi aidé</a:t>
              </a:r>
              <a:endParaRPr lang="fr-FR" sz="850" noProof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endParaRPr>
            </a:p>
          </p:txBody>
        </p:sp>
      </p:grpSp>
      <p:sp>
        <p:nvSpPr>
          <p:cNvPr id="243" name="Shape 85">
            <a:extLst>
              <a:ext uri="{FF2B5EF4-FFF2-40B4-BE49-F238E27FC236}">
                <a16:creationId xmlns:a16="http://schemas.microsoft.com/office/drawing/2014/main" id="{F085CF64-21F0-A7D4-E006-C2DB2145EA8F}"/>
              </a:ext>
            </a:extLst>
          </p:cNvPr>
          <p:cNvSpPr/>
          <p:nvPr/>
        </p:nvSpPr>
        <p:spPr>
          <a:xfrm>
            <a:off x="7297136" y="5798515"/>
            <a:ext cx="3972493" cy="509703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45" name="Text 87">
            <a:extLst>
              <a:ext uri="{FF2B5EF4-FFF2-40B4-BE49-F238E27FC236}">
                <a16:creationId xmlns:a16="http://schemas.microsoft.com/office/drawing/2014/main" id="{65C4FCAF-3E65-BF5C-BD0B-4A9238AFA0DC}"/>
              </a:ext>
            </a:extLst>
          </p:cNvPr>
          <p:cNvSpPr txBox="1"/>
          <p:nvPr/>
        </p:nvSpPr>
        <p:spPr>
          <a:xfrm>
            <a:off x="7498831" y="5847580"/>
            <a:ext cx="3770798" cy="169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chemeClr val="accent5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CE QUI ÉCLAIRE LE MOINDRE COÛT À L’ASSURANCE-CHÔMAGE</a:t>
            </a:r>
            <a:endParaRPr lang="fr-FR" sz="900" noProof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6" name="Text 88">
            <a:extLst>
              <a:ext uri="{FF2B5EF4-FFF2-40B4-BE49-F238E27FC236}">
                <a16:creationId xmlns:a16="http://schemas.microsoft.com/office/drawing/2014/main" id="{696C47AC-D82E-4892-EB0F-4096E0E2C794}"/>
              </a:ext>
            </a:extLst>
          </p:cNvPr>
          <p:cNvSpPr txBox="1"/>
          <p:nvPr/>
        </p:nvSpPr>
        <p:spPr>
          <a:xfrm>
            <a:off x="7498831" y="6017481"/>
            <a:ext cx="3432405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50" noProof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Peu de retour à l’assurance-chômage après le premier droit par rapport aux témoins appariés</a:t>
            </a:r>
            <a:endParaRPr lang="fr-FR" sz="85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F0AFEC8-CCCD-8F20-DF75-A0B432B6957C}"/>
              </a:ext>
            </a:extLst>
          </p:cNvPr>
          <p:cNvGrpSpPr/>
          <p:nvPr/>
        </p:nvGrpSpPr>
        <p:grpSpPr>
          <a:xfrm>
            <a:off x="668130" y="1455046"/>
            <a:ext cx="3168687" cy="4228210"/>
            <a:chOff x="637048" y="1597627"/>
            <a:chExt cx="3168687" cy="42282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FFFD96-A234-7BA9-23AB-554DC1831206}"/>
                </a:ext>
              </a:extLst>
            </p:cNvPr>
            <p:cNvSpPr/>
            <p:nvPr/>
          </p:nvSpPr>
          <p:spPr>
            <a:xfrm>
              <a:off x="803927" y="1597627"/>
              <a:ext cx="2683760" cy="4228210"/>
            </a:xfrm>
            <a:prstGeom prst="rect">
              <a:avLst/>
            </a:prstGeom>
            <a:solidFill>
              <a:srgbClr val="FFEACC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489D9B1-5F60-7C1D-1A7B-0CC034DE9952}"/>
                </a:ext>
              </a:extLst>
            </p:cNvPr>
            <p:cNvSpPr/>
            <p:nvPr/>
          </p:nvSpPr>
          <p:spPr>
            <a:xfrm>
              <a:off x="803927" y="1735799"/>
              <a:ext cx="2683760" cy="613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Passage par l’assurance-chômage bref, puis emploi salarié durable</a:t>
              </a:r>
            </a:p>
          </p:txBody>
        </p: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2DF00725-0984-1523-37CE-817AB2EA0505}"/>
                </a:ext>
              </a:extLst>
            </p:cNvPr>
            <p:cNvSpPr txBox="1"/>
            <p:nvPr/>
          </p:nvSpPr>
          <p:spPr>
            <a:xfrm>
              <a:off x="637048" y="1713868"/>
              <a:ext cx="291722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spc="-30" noProof="0">
                  <a:solidFill>
                    <a:srgbClr val="FF96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CL.1 : REPRISE RAPIDE EN EMPLOI SALARIÉ</a:t>
              </a: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0034B73A-0430-0AC4-F2C3-E4F438358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058" y="2521240"/>
              <a:ext cx="2683760" cy="1306683"/>
            </a:xfrm>
            <a:prstGeom prst="rect">
              <a:avLst/>
            </a:prstGeom>
          </p:spPr>
        </p:pic>
        <p:sp>
          <p:nvSpPr>
            <p:cNvPr id="127" name="ZoneTexte 126">
              <a:extLst>
                <a:ext uri="{FF2B5EF4-FFF2-40B4-BE49-F238E27FC236}">
                  <a16:creationId xmlns:a16="http://schemas.microsoft.com/office/drawing/2014/main" id="{CCE0F1D9-D7ED-B656-CB37-AC150D744417}"/>
                </a:ext>
              </a:extLst>
            </p:cNvPr>
            <p:cNvSpPr txBox="1"/>
            <p:nvPr/>
          </p:nvSpPr>
          <p:spPr>
            <a:xfrm>
              <a:off x="903858" y="2159428"/>
              <a:ext cx="248389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spc="-30" noProof="0">
                  <a:solidFill>
                    <a:srgbClr val="FF96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40% DES EFFECTIFS</a:t>
              </a:r>
            </a:p>
          </p:txBody>
        </p:sp>
        <p:pic>
          <p:nvPicPr>
            <p:cNvPr id="136" name="Parcours types CL.1" descr="preencoded.png">
              <a:extLst>
                <a:ext uri="{FF2B5EF4-FFF2-40B4-BE49-F238E27FC236}">
                  <a16:creationId xmlns:a16="http://schemas.microsoft.com/office/drawing/2014/main" id="{4351A2F8-18D8-B73D-4CBB-912E0DFA2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7502" y="4013980"/>
              <a:ext cx="2496312" cy="584502"/>
            </a:xfrm>
            <a:prstGeom prst="rect">
              <a:avLst/>
            </a:prstGeom>
          </p:spPr>
        </p:pic>
        <p:grpSp>
          <p:nvGrpSpPr>
            <p:cNvPr id="178" name="Groupe 177">
              <a:extLst>
                <a:ext uri="{FF2B5EF4-FFF2-40B4-BE49-F238E27FC236}">
                  <a16:creationId xmlns:a16="http://schemas.microsoft.com/office/drawing/2014/main" id="{66C2883C-DCB6-2667-8371-D33D884A1DCC}"/>
                </a:ext>
              </a:extLst>
            </p:cNvPr>
            <p:cNvGrpSpPr/>
            <p:nvPr/>
          </p:nvGrpSpPr>
          <p:grpSpPr>
            <a:xfrm>
              <a:off x="847502" y="4725078"/>
              <a:ext cx="2958233" cy="356405"/>
              <a:chOff x="893965" y="5034777"/>
              <a:chExt cx="2958233" cy="356405"/>
            </a:xfrm>
          </p:grpSpPr>
          <p:cxnSp>
            <p:nvCxnSpPr>
              <p:cNvPr id="146" name="Connecteur droit 145">
                <a:extLst>
                  <a:ext uri="{FF2B5EF4-FFF2-40B4-BE49-F238E27FC236}">
                    <a16:creationId xmlns:a16="http://schemas.microsoft.com/office/drawing/2014/main" id="{FDB96891-BCE2-F783-14F6-84E09F435854}"/>
                  </a:ext>
                </a:extLst>
              </p:cNvPr>
              <p:cNvCxnSpPr/>
              <p:nvPr/>
            </p:nvCxnSpPr>
            <p:spPr>
              <a:xfrm>
                <a:off x="982973" y="5113020"/>
                <a:ext cx="23669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Connecteur droit 151">
                <a:extLst>
                  <a:ext uri="{FF2B5EF4-FFF2-40B4-BE49-F238E27FC236}">
                    <a16:creationId xmlns:a16="http://schemas.microsoft.com/office/drawing/2014/main" id="{40E9AAC0-C179-77BE-A1BA-592B25A83E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007" y="5034777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Connecteur droit 153">
                <a:extLst>
                  <a:ext uri="{FF2B5EF4-FFF2-40B4-BE49-F238E27FC236}">
                    <a16:creationId xmlns:a16="http://schemas.microsoft.com/office/drawing/2014/main" id="{6ED2D94F-8EE1-47D9-3580-5E58FCC33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608" y="5037294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7" name="ZoneTexte 156">
                <a:extLst>
                  <a:ext uri="{FF2B5EF4-FFF2-40B4-BE49-F238E27FC236}">
                    <a16:creationId xmlns:a16="http://schemas.microsoft.com/office/drawing/2014/main" id="{503BE815-AAE8-BC25-E468-92398FA316D6}"/>
                  </a:ext>
                </a:extLst>
              </p:cNvPr>
              <p:cNvSpPr txBox="1"/>
              <p:nvPr/>
            </p:nvSpPr>
            <p:spPr>
              <a:xfrm>
                <a:off x="893965" y="5175738"/>
                <a:ext cx="29582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k=1                                                                     k=67</a:t>
                </a:r>
              </a:p>
            </p:txBody>
          </p:sp>
        </p:grpSp>
        <p:sp>
          <p:nvSpPr>
            <p:cNvPr id="248" name="ZoneTexte 247">
              <a:extLst>
                <a:ext uri="{FF2B5EF4-FFF2-40B4-BE49-F238E27FC236}">
                  <a16:creationId xmlns:a16="http://schemas.microsoft.com/office/drawing/2014/main" id="{811B5585-BD51-0BA1-8A28-53AB31E6EC44}"/>
                </a:ext>
              </a:extLst>
            </p:cNvPr>
            <p:cNvSpPr txBox="1"/>
            <p:nvPr/>
          </p:nvSpPr>
          <p:spPr>
            <a:xfrm>
              <a:off x="1300194" y="2329525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CHRONOGRAMME DES ETATS</a:t>
              </a:r>
            </a:p>
          </p:txBody>
        </p:sp>
        <p:sp>
          <p:nvSpPr>
            <p:cNvPr id="256" name="ZoneTexte 255">
              <a:extLst>
                <a:ext uri="{FF2B5EF4-FFF2-40B4-BE49-F238E27FC236}">
                  <a16:creationId xmlns:a16="http://schemas.microsoft.com/office/drawing/2014/main" id="{09708C02-8BCC-CABB-EA74-0A871534FD3C}"/>
                </a:ext>
              </a:extLst>
            </p:cNvPr>
            <p:cNvSpPr txBox="1"/>
            <p:nvPr/>
          </p:nvSpPr>
          <p:spPr>
            <a:xfrm>
              <a:off x="977582" y="4611436"/>
              <a:ext cx="23662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SÉQUENCES LES PLUS REPRÉSENTATIVES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68F3876D-8867-75E6-BDF6-9A8FF22B7D25}"/>
              </a:ext>
            </a:extLst>
          </p:cNvPr>
          <p:cNvGrpSpPr/>
          <p:nvPr/>
        </p:nvGrpSpPr>
        <p:grpSpPr>
          <a:xfrm>
            <a:off x="3411049" y="1458687"/>
            <a:ext cx="3289105" cy="4234542"/>
            <a:chOff x="3411049" y="1597626"/>
            <a:chExt cx="3289105" cy="423819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6B73D6-0BC5-F83F-67A9-1E0C5C6127A8}"/>
                </a:ext>
              </a:extLst>
            </p:cNvPr>
            <p:cNvSpPr/>
            <p:nvPr/>
          </p:nvSpPr>
          <p:spPr>
            <a:xfrm>
              <a:off x="3654566" y="1597626"/>
              <a:ext cx="2683760" cy="4238192"/>
            </a:xfrm>
            <a:prstGeom prst="rect">
              <a:avLst/>
            </a:prstGeom>
            <a:solidFill>
              <a:srgbClr val="E5F1D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6351133-EFDB-DBC9-78BD-E457AFA48C07}"/>
                </a:ext>
              </a:extLst>
            </p:cNvPr>
            <p:cNvSpPr/>
            <p:nvPr/>
          </p:nvSpPr>
          <p:spPr>
            <a:xfrm>
              <a:off x="3654566" y="1735799"/>
              <a:ext cx="2683027" cy="613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i="1" noProof="0">
                  <a:solidFill>
                    <a:schemeClr val="tx1"/>
                  </a:solidFill>
                </a:rPr>
                <a:t>Retour à l’emploi salarié cumulé avec l’ARE ou les minimas sociaux</a:t>
              </a: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62605F86-607D-0DED-F9AD-131F7C2E69C7}"/>
                </a:ext>
              </a:extLst>
            </p:cNvPr>
            <p:cNvSpPr txBox="1"/>
            <p:nvPr/>
          </p:nvSpPr>
          <p:spPr>
            <a:xfrm>
              <a:off x="3754130" y="1724931"/>
              <a:ext cx="248389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CL.2 : EMPLOI SALARIÉ AVEC AIDES</a:t>
              </a:r>
            </a:p>
          </p:txBody>
        </p:sp>
        <p:pic>
          <p:nvPicPr>
            <p:cNvPr id="121" name="Image 120">
              <a:extLst>
                <a:ext uri="{FF2B5EF4-FFF2-40B4-BE49-F238E27FC236}">
                  <a16:creationId xmlns:a16="http://schemas.microsoft.com/office/drawing/2014/main" id="{BC970F38-0E43-BD79-E34F-3279FCBF0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8406" y="2526948"/>
              <a:ext cx="2704559" cy="1292129"/>
            </a:xfrm>
            <a:prstGeom prst="rect">
              <a:avLst/>
            </a:prstGeom>
          </p:spPr>
        </p:pic>
        <p:pic>
          <p:nvPicPr>
            <p:cNvPr id="138" name="Parcours types CL.2" descr="preencoded.png">
              <a:extLst>
                <a:ext uri="{FF2B5EF4-FFF2-40B4-BE49-F238E27FC236}">
                  <a16:creationId xmlns:a16="http://schemas.microsoft.com/office/drawing/2014/main" id="{D4D6C55E-99ED-035D-790B-A14E0B7E5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11064" y="4013980"/>
              <a:ext cx="2496312" cy="584502"/>
            </a:xfrm>
            <a:prstGeom prst="rect">
              <a:avLst/>
            </a:prstGeom>
          </p:spPr>
        </p:pic>
        <p:grpSp>
          <p:nvGrpSpPr>
            <p:cNvPr id="179" name="Groupe 178">
              <a:extLst>
                <a:ext uri="{FF2B5EF4-FFF2-40B4-BE49-F238E27FC236}">
                  <a16:creationId xmlns:a16="http://schemas.microsoft.com/office/drawing/2014/main" id="{79D6D0DB-C441-8C69-5F03-4E5D5E341A76}"/>
                </a:ext>
              </a:extLst>
            </p:cNvPr>
            <p:cNvGrpSpPr/>
            <p:nvPr/>
          </p:nvGrpSpPr>
          <p:grpSpPr>
            <a:xfrm>
              <a:off x="3741921" y="4703196"/>
              <a:ext cx="2958233" cy="356405"/>
              <a:chOff x="893965" y="5034777"/>
              <a:chExt cx="2958233" cy="356405"/>
            </a:xfrm>
          </p:grpSpPr>
          <p:cxnSp>
            <p:nvCxnSpPr>
              <p:cNvPr id="180" name="Connecteur droit 179">
                <a:extLst>
                  <a:ext uri="{FF2B5EF4-FFF2-40B4-BE49-F238E27FC236}">
                    <a16:creationId xmlns:a16="http://schemas.microsoft.com/office/drawing/2014/main" id="{069BB31D-D026-290C-78CF-724D90728932}"/>
                  </a:ext>
                </a:extLst>
              </p:cNvPr>
              <p:cNvCxnSpPr/>
              <p:nvPr/>
            </p:nvCxnSpPr>
            <p:spPr>
              <a:xfrm>
                <a:off x="982973" y="5113020"/>
                <a:ext cx="23669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necteur droit 180">
                <a:extLst>
                  <a:ext uri="{FF2B5EF4-FFF2-40B4-BE49-F238E27FC236}">
                    <a16:creationId xmlns:a16="http://schemas.microsoft.com/office/drawing/2014/main" id="{9E76BE55-03D7-D679-EFB2-870DC7F918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007" y="5034777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2FF04F91-DA00-5B35-9621-640D5593E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608" y="5037294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3" name="ZoneTexte 182">
                <a:extLst>
                  <a:ext uri="{FF2B5EF4-FFF2-40B4-BE49-F238E27FC236}">
                    <a16:creationId xmlns:a16="http://schemas.microsoft.com/office/drawing/2014/main" id="{A6010FB1-1CC4-68C3-8158-9AC94B191FD7}"/>
                  </a:ext>
                </a:extLst>
              </p:cNvPr>
              <p:cNvSpPr txBox="1"/>
              <p:nvPr/>
            </p:nvSpPr>
            <p:spPr>
              <a:xfrm>
                <a:off x="893965" y="5175738"/>
                <a:ext cx="29582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k=1                                                                     k=67</a:t>
                </a:r>
              </a:p>
            </p:txBody>
          </p:sp>
        </p:grpSp>
        <p:grpSp>
          <p:nvGrpSpPr>
            <p:cNvPr id="195" name="Groupe 194">
              <a:extLst>
                <a:ext uri="{FF2B5EF4-FFF2-40B4-BE49-F238E27FC236}">
                  <a16:creationId xmlns:a16="http://schemas.microsoft.com/office/drawing/2014/main" id="{F4C4B002-559A-273D-4248-7AD4C556103E}"/>
                </a:ext>
              </a:extLst>
            </p:cNvPr>
            <p:cNvGrpSpPr/>
            <p:nvPr/>
          </p:nvGrpSpPr>
          <p:grpSpPr>
            <a:xfrm>
              <a:off x="3411049" y="5266316"/>
              <a:ext cx="2939207" cy="439742"/>
              <a:chOff x="560271" y="5458691"/>
              <a:chExt cx="2939207" cy="439742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4079597-F4F8-33AD-8F40-C7FA2B57CA3F}"/>
                  </a:ext>
                </a:extLst>
              </p:cNvPr>
              <p:cNvSpPr/>
              <p:nvPr/>
            </p:nvSpPr>
            <p:spPr>
              <a:xfrm>
                <a:off x="795058" y="5458691"/>
                <a:ext cx="2704420" cy="429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197" name="Groupe 196">
                <a:extLst>
                  <a:ext uri="{FF2B5EF4-FFF2-40B4-BE49-F238E27FC236}">
                    <a16:creationId xmlns:a16="http://schemas.microsoft.com/office/drawing/2014/main" id="{EC9618EA-D1A2-EB95-E5DE-B381857E156B}"/>
                  </a:ext>
                </a:extLst>
              </p:cNvPr>
              <p:cNvGrpSpPr/>
              <p:nvPr/>
            </p:nvGrpSpPr>
            <p:grpSpPr>
              <a:xfrm>
                <a:off x="560271" y="5463104"/>
                <a:ext cx="1726698" cy="435329"/>
                <a:chOff x="612921" y="5548214"/>
                <a:chExt cx="1726698" cy="435329"/>
              </a:xfrm>
            </p:grpSpPr>
            <p:sp>
              <p:nvSpPr>
                <p:cNvPr id="198" name="ZoneTexte 197">
                  <a:extLst>
                    <a:ext uri="{FF2B5EF4-FFF2-40B4-BE49-F238E27FC236}">
                      <a16:creationId xmlns:a16="http://schemas.microsoft.com/office/drawing/2014/main" id="{64F81496-69BD-50D6-A9EC-B1F48527A17C}"/>
                    </a:ext>
                  </a:extLst>
                </p:cNvPr>
                <p:cNvSpPr txBox="1"/>
                <p:nvPr/>
              </p:nvSpPr>
              <p:spPr>
                <a:xfrm>
                  <a:off x="612921" y="5548214"/>
                  <a:ext cx="166229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800" b="1" noProof="0">
                      <a:solidFill>
                        <a:schemeClr val="accent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TRAITÉS</a:t>
                  </a:r>
                </a:p>
              </p:txBody>
            </p:sp>
            <p:sp>
              <p:nvSpPr>
                <p:cNvPr id="199" name="ZoneTexte 198">
                  <a:extLst>
                    <a:ext uri="{FF2B5EF4-FFF2-40B4-BE49-F238E27FC236}">
                      <a16:creationId xmlns:a16="http://schemas.microsoft.com/office/drawing/2014/main" id="{8D13C87C-B333-1350-CBEA-2AAD7CA9C8BF}"/>
                    </a:ext>
                  </a:extLst>
                </p:cNvPr>
                <p:cNvSpPr txBox="1"/>
                <p:nvPr/>
              </p:nvSpPr>
              <p:spPr>
                <a:xfrm>
                  <a:off x="677327" y="5768099"/>
                  <a:ext cx="166229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800" b="1" noProof="0">
                      <a:solidFill>
                        <a:srgbClr val="007C8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APPARIÉS</a:t>
                  </a:r>
                </a:p>
              </p:txBody>
            </p:sp>
          </p:grpSp>
        </p:grpSp>
        <p:sp>
          <p:nvSpPr>
            <p:cNvPr id="250" name="ZoneTexte 249">
              <a:extLst>
                <a:ext uri="{FF2B5EF4-FFF2-40B4-BE49-F238E27FC236}">
                  <a16:creationId xmlns:a16="http://schemas.microsoft.com/office/drawing/2014/main" id="{934648FF-E392-01C6-E25D-CCCC5423218D}"/>
                </a:ext>
              </a:extLst>
            </p:cNvPr>
            <p:cNvSpPr txBox="1"/>
            <p:nvPr/>
          </p:nvSpPr>
          <p:spPr>
            <a:xfrm>
              <a:off x="4244616" y="2309972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CHRONOGRAMME DES ETATS</a:t>
              </a:r>
            </a:p>
          </p:txBody>
        </p:sp>
        <p:sp>
          <p:nvSpPr>
            <p:cNvPr id="258" name="ZoneTexte 257">
              <a:extLst>
                <a:ext uri="{FF2B5EF4-FFF2-40B4-BE49-F238E27FC236}">
                  <a16:creationId xmlns:a16="http://schemas.microsoft.com/office/drawing/2014/main" id="{08BD7B47-EB00-B978-D156-F63C57699194}"/>
                </a:ext>
              </a:extLst>
            </p:cNvPr>
            <p:cNvSpPr txBox="1"/>
            <p:nvPr/>
          </p:nvSpPr>
          <p:spPr>
            <a:xfrm>
              <a:off x="3814220" y="4596238"/>
              <a:ext cx="23662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SÉQUENCES LES PLUS REPRÉSENTATIVES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40B690D-5F89-3186-9155-D64625D81960}"/>
              </a:ext>
            </a:extLst>
          </p:cNvPr>
          <p:cNvGrpSpPr/>
          <p:nvPr/>
        </p:nvGrpSpPr>
        <p:grpSpPr>
          <a:xfrm>
            <a:off x="6225272" y="1453137"/>
            <a:ext cx="3296253" cy="4228210"/>
            <a:chOff x="6282848" y="1597625"/>
            <a:chExt cx="3296253" cy="422821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7A2892C-A7CF-1D5E-1F2F-FBF415665707}"/>
                </a:ext>
              </a:extLst>
            </p:cNvPr>
            <p:cNvSpPr/>
            <p:nvPr/>
          </p:nvSpPr>
          <p:spPr>
            <a:xfrm>
              <a:off x="6561703" y="1597625"/>
              <a:ext cx="2683760" cy="4228210"/>
            </a:xfrm>
            <a:prstGeom prst="rect">
              <a:avLst/>
            </a:prstGeom>
            <a:solidFill>
              <a:srgbClr val="E6F2F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13A68AF-EF6D-56A7-D7B7-BF8ECB53F557}"/>
                </a:ext>
              </a:extLst>
            </p:cNvPr>
            <p:cNvSpPr/>
            <p:nvPr/>
          </p:nvSpPr>
          <p:spPr>
            <a:xfrm>
              <a:off x="6560970" y="1735799"/>
              <a:ext cx="2684493" cy="613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Activité non salariée, d’abord indemnisée puis seule</a:t>
              </a:r>
            </a:p>
          </p:txBody>
        </p:sp>
        <p:pic>
          <p:nvPicPr>
            <p:cNvPr id="123" name="Image 122">
              <a:extLst>
                <a:ext uri="{FF2B5EF4-FFF2-40B4-BE49-F238E27FC236}">
                  <a16:creationId xmlns:a16="http://schemas.microsoft.com/office/drawing/2014/main" id="{08BA3806-2910-881C-51AA-9EB33AFA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60970" y="2557978"/>
              <a:ext cx="2704559" cy="1287460"/>
            </a:xfrm>
            <a:prstGeom prst="rect">
              <a:avLst/>
            </a:prstGeom>
          </p:spPr>
        </p:pic>
        <p:sp>
          <p:nvSpPr>
            <p:cNvPr id="131" name="ZoneTexte 130">
              <a:extLst>
                <a:ext uri="{FF2B5EF4-FFF2-40B4-BE49-F238E27FC236}">
                  <a16:creationId xmlns:a16="http://schemas.microsoft.com/office/drawing/2014/main" id="{9BF7D677-6AA2-2F69-2D6E-D8D16257709B}"/>
                </a:ext>
              </a:extLst>
            </p:cNvPr>
            <p:cNvSpPr txBox="1"/>
            <p:nvPr/>
          </p:nvSpPr>
          <p:spPr>
            <a:xfrm>
              <a:off x="6578455" y="2139881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17% DES EFFECTIFS</a:t>
              </a:r>
            </a:p>
          </p:txBody>
        </p:sp>
        <p:pic>
          <p:nvPicPr>
            <p:cNvPr id="142" name="Parcours types CL.3" descr="preencoded.png">
              <a:extLst>
                <a:ext uri="{FF2B5EF4-FFF2-40B4-BE49-F238E27FC236}">
                  <a16:creationId xmlns:a16="http://schemas.microsoft.com/office/drawing/2014/main" id="{6688F75B-FE7C-D196-8BF5-F969B2DAE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57481" y="4011736"/>
              <a:ext cx="2496312" cy="584502"/>
            </a:xfrm>
            <a:prstGeom prst="rect">
              <a:avLst/>
            </a:prstGeom>
          </p:spPr>
        </p:pic>
        <p:grpSp>
          <p:nvGrpSpPr>
            <p:cNvPr id="184" name="Groupe 183">
              <a:extLst>
                <a:ext uri="{FF2B5EF4-FFF2-40B4-BE49-F238E27FC236}">
                  <a16:creationId xmlns:a16="http://schemas.microsoft.com/office/drawing/2014/main" id="{6D66347C-2AF5-DE1D-0C9A-3013993BB65C}"/>
                </a:ext>
              </a:extLst>
            </p:cNvPr>
            <p:cNvGrpSpPr/>
            <p:nvPr/>
          </p:nvGrpSpPr>
          <p:grpSpPr>
            <a:xfrm>
              <a:off x="6620868" y="4703196"/>
              <a:ext cx="2958233" cy="356405"/>
              <a:chOff x="893965" y="5034777"/>
              <a:chExt cx="2958233" cy="356405"/>
            </a:xfrm>
          </p:grpSpPr>
          <p:cxnSp>
            <p:nvCxnSpPr>
              <p:cNvPr id="185" name="Connecteur droit 184">
                <a:extLst>
                  <a:ext uri="{FF2B5EF4-FFF2-40B4-BE49-F238E27FC236}">
                    <a16:creationId xmlns:a16="http://schemas.microsoft.com/office/drawing/2014/main" id="{BF171035-02D9-D40F-2661-6727A1F4EC17}"/>
                  </a:ext>
                </a:extLst>
              </p:cNvPr>
              <p:cNvCxnSpPr/>
              <p:nvPr/>
            </p:nvCxnSpPr>
            <p:spPr>
              <a:xfrm>
                <a:off x="982973" y="5113020"/>
                <a:ext cx="23669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6E444C28-45D3-CCF7-FC4F-3E5C32463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007" y="5034777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Connecteur droit 186">
                <a:extLst>
                  <a:ext uri="{FF2B5EF4-FFF2-40B4-BE49-F238E27FC236}">
                    <a16:creationId xmlns:a16="http://schemas.microsoft.com/office/drawing/2014/main" id="{6C414182-6E61-18B5-F277-14BAF11DF0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608" y="5037294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30C73CC1-C4CE-DC35-35DA-1F9B5C982CF2}"/>
                  </a:ext>
                </a:extLst>
              </p:cNvPr>
              <p:cNvSpPr txBox="1"/>
              <p:nvPr/>
            </p:nvSpPr>
            <p:spPr>
              <a:xfrm>
                <a:off x="893965" y="5175738"/>
                <a:ext cx="29582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k=1                                                                     k=67</a:t>
                </a:r>
              </a:p>
            </p:txBody>
          </p:sp>
        </p:grpSp>
        <p:grpSp>
          <p:nvGrpSpPr>
            <p:cNvPr id="200" name="Groupe 199">
              <a:extLst>
                <a:ext uri="{FF2B5EF4-FFF2-40B4-BE49-F238E27FC236}">
                  <a16:creationId xmlns:a16="http://schemas.microsoft.com/office/drawing/2014/main" id="{0D78512D-107A-1B1E-E850-512F90D3446A}"/>
                </a:ext>
              </a:extLst>
            </p:cNvPr>
            <p:cNvGrpSpPr/>
            <p:nvPr/>
          </p:nvGrpSpPr>
          <p:grpSpPr>
            <a:xfrm>
              <a:off x="6282848" y="5266318"/>
              <a:ext cx="2981473" cy="441649"/>
              <a:chOff x="518005" y="5458691"/>
              <a:chExt cx="2981473" cy="441649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DEE897F-C2E4-2357-9BD9-B8E78617C695}"/>
                  </a:ext>
                </a:extLst>
              </p:cNvPr>
              <p:cNvSpPr/>
              <p:nvPr/>
            </p:nvSpPr>
            <p:spPr>
              <a:xfrm>
                <a:off x="795058" y="5458691"/>
                <a:ext cx="2704420" cy="429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202" name="Groupe 201">
                <a:extLst>
                  <a:ext uri="{FF2B5EF4-FFF2-40B4-BE49-F238E27FC236}">
                    <a16:creationId xmlns:a16="http://schemas.microsoft.com/office/drawing/2014/main" id="{57023CBB-9A06-F0EF-E82F-9D88EB5B5B47}"/>
                  </a:ext>
                </a:extLst>
              </p:cNvPr>
              <p:cNvGrpSpPr/>
              <p:nvPr/>
            </p:nvGrpSpPr>
            <p:grpSpPr>
              <a:xfrm>
                <a:off x="518005" y="5465011"/>
                <a:ext cx="1714247" cy="435329"/>
                <a:chOff x="570655" y="5550121"/>
                <a:chExt cx="1714247" cy="435329"/>
              </a:xfrm>
            </p:grpSpPr>
            <p:sp>
              <p:nvSpPr>
                <p:cNvPr id="203" name="ZoneTexte 202">
                  <a:extLst>
                    <a:ext uri="{FF2B5EF4-FFF2-40B4-BE49-F238E27FC236}">
                      <a16:creationId xmlns:a16="http://schemas.microsoft.com/office/drawing/2014/main" id="{3F57DED4-DC5F-4CEE-A07F-A9BDBAE611C5}"/>
                    </a:ext>
                  </a:extLst>
                </p:cNvPr>
                <p:cNvSpPr txBox="1"/>
                <p:nvPr/>
              </p:nvSpPr>
              <p:spPr>
                <a:xfrm>
                  <a:off x="570655" y="5550121"/>
                  <a:ext cx="166229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800" b="1" noProof="0">
                      <a:solidFill>
                        <a:schemeClr val="accent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TRAITÉS</a:t>
                  </a:r>
                </a:p>
              </p:txBody>
            </p:sp>
            <p:sp>
              <p:nvSpPr>
                <p:cNvPr id="204" name="ZoneTexte 203">
                  <a:extLst>
                    <a:ext uri="{FF2B5EF4-FFF2-40B4-BE49-F238E27FC236}">
                      <a16:creationId xmlns:a16="http://schemas.microsoft.com/office/drawing/2014/main" id="{4E4F23E0-A4F8-DA29-8AD4-06DBFE82D26B}"/>
                    </a:ext>
                  </a:extLst>
                </p:cNvPr>
                <p:cNvSpPr txBox="1"/>
                <p:nvPr/>
              </p:nvSpPr>
              <p:spPr>
                <a:xfrm>
                  <a:off x="622610" y="5770006"/>
                  <a:ext cx="166229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800" b="1" noProof="0">
                      <a:solidFill>
                        <a:srgbClr val="007C8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APPARIÉS</a:t>
                  </a:r>
                </a:p>
              </p:txBody>
            </p:sp>
          </p:grpSp>
        </p:grpSp>
        <p:grpSp>
          <p:nvGrpSpPr>
            <p:cNvPr id="112" name="Groupe 111">
              <a:extLst>
                <a:ext uri="{FF2B5EF4-FFF2-40B4-BE49-F238E27FC236}">
                  <a16:creationId xmlns:a16="http://schemas.microsoft.com/office/drawing/2014/main" id="{D8FDA210-E634-DF98-103A-9E11C6D68934}"/>
                </a:ext>
              </a:extLst>
            </p:cNvPr>
            <p:cNvGrpSpPr/>
            <p:nvPr/>
          </p:nvGrpSpPr>
          <p:grpSpPr>
            <a:xfrm>
              <a:off x="6574780" y="5260376"/>
              <a:ext cx="250748" cy="449686"/>
              <a:chOff x="830259" y="5810249"/>
              <a:chExt cx="250748" cy="449686"/>
            </a:xfrm>
          </p:grpSpPr>
          <p:pic>
            <p:nvPicPr>
              <p:cNvPr id="113" name="Graphique 112" descr="Utilisateur avec un remplissage uni">
                <a:extLst>
                  <a:ext uri="{FF2B5EF4-FFF2-40B4-BE49-F238E27FC236}">
                    <a16:creationId xmlns:a16="http://schemas.microsoft.com/office/drawing/2014/main" id="{C706AFFB-C12E-69E1-51AA-881064460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30259" y="5810249"/>
                <a:ext cx="243118" cy="243118"/>
              </a:xfrm>
              <a:prstGeom prst="rect">
                <a:avLst/>
              </a:prstGeom>
            </p:spPr>
          </p:pic>
          <p:pic>
            <p:nvPicPr>
              <p:cNvPr id="114" name="Graphique 113" descr="Utilisateur avec un remplissage uni">
                <a:extLst>
                  <a:ext uri="{FF2B5EF4-FFF2-40B4-BE49-F238E27FC236}">
                    <a16:creationId xmlns:a16="http://schemas.microsoft.com/office/drawing/2014/main" id="{E4EC5BAF-C66A-6E63-55CE-88C12027F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37889" y="6016817"/>
                <a:ext cx="243118" cy="243118"/>
              </a:xfrm>
              <a:prstGeom prst="rect">
                <a:avLst/>
              </a:prstGeom>
            </p:spPr>
          </p:pic>
        </p:grpSp>
        <p:sp>
          <p:nvSpPr>
            <p:cNvPr id="252" name="ZoneTexte 251">
              <a:extLst>
                <a:ext uri="{FF2B5EF4-FFF2-40B4-BE49-F238E27FC236}">
                  <a16:creationId xmlns:a16="http://schemas.microsoft.com/office/drawing/2014/main" id="{D27FABC6-4BD1-6061-0845-151FB4EBEDB6}"/>
                </a:ext>
              </a:extLst>
            </p:cNvPr>
            <p:cNvSpPr txBox="1"/>
            <p:nvPr/>
          </p:nvSpPr>
          <p:spPr>
            <a:xfrm>
              <a:off x="7080698" y="2315312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CHRONOGRAMME DES ETATS</a:t>
              </a:r>
            </a:p>
          </p:txBody>
        </p:sp>
        <p:sp>
          <p:nvSpPr>
            <p:cNvPr id="260" name="ZoneTexte 259">
              <a:extLst>
                <a:ext uri="{FF2B5EF4-FFF2-40B4-BE49-F238E27FC236}">
                  <a16:creationId xmlns:a16="http://schemas.microsoft.com/office/drawing/2014/main" id="{0AD550AE-15C2-D9B9-ED80-BAA5960EF538}"/>
                </a:ext>
              </a:extLst>
            </p:cNvPr>
            <p:cNvSpPr txBox="1"/>
            <p:nvPr/>
          </p:nvSpPr>
          <p:spPr>
            <a:xfrm>
              <a:off x="6739659" y="4596238"/>
              <a:ext cx="23662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SÉQUENCES LES PLUS REPRÉSENTATIVES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799A276-DCE2-20A0-BCAB-DDA20EC3449F}"/>
              </a:ext>
            </a:extLst>
          </p:cNvPr>
          <p:cNvGrpSpPr/>
          <p:nvPr/>
        </p:nvGrpSpPr>
        <p:grpSpPr>
          <a:xfrm>
            <a:off x="9353655" y="1450506"/>
            <a:ext cx="3058164" cy="4228210"/>
            <a:chOff x="9468840" y="1597625"/>
            <a:chExt cx="3058164" cy="422821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746A754-73EA-3E2A-3DFF-CD85CCDB4305}"/>
                </a:ext>
              </a:extLst>
            </p:cNvPr>
            <p:cNvSpPr/>
            <p:nvPr/>
          </p:nvSpPr>
          <p:spPr>
            <a:xfrm>
              <a:off x="9468841" y="1597625"/>
              <a:ext cx="2683760" cy="4228210"/>
            </a:xfrm>
            <a:prstGeom prst="rect">
              <a:avLst/>
            </a:prstGeom>
            <a:solidFill>
              <a:srgbClr val="E3D1ED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D5A9693-D29D-0A20-3444-4701D82F1025}"/>
                </a:ext>
              </a:extLst>
            </p:cNvPr>
            <p:cNvSpPr/>
            <p:nvPr/>
          </p:nvSpPr>
          <p:spPr>
            <a:xfrm>
              <a:off x="9468840" y="1735799"/>
              <a:ext cx="2683760" cy="650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Chômage indemnisé, puis retraite, minima sociaux ou sortie du champ</a:t>
              </a:r>
            </a:p>
          </p:txBody>
        </p: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965B0438-263B-7A91-F1D2-EB410368DDE3}"/>
                </a:ext>
              </a:extLst>
            </p:cNvPr>
            <p:cNvSpPr txBox="1"/>
            <p:nvPr/>
          </p:nvSpPr>
          <p:spPr>
            <a:xfrm>
              <a:off x="9568771" y="1713868"/>
              <a:ext cx="248389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spc="-30" noProof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CL.4 : SORTIE DU CHAMP OBSERVÉ</a:t>
              </a:r>
            </a:p>
          </p:txBody>
        </p:sp>
        <p:pic>
          <p:nvPicPr>
            <p:cNvPr id="125" name="Image 124">
              <a:extLst>
                <a:ext uri="{FF2B5EF4-FFF2-40B4-BE49-F238E27FC236}">
                  <a16:creationId xmlns:a16="http://schemas.microsoft.com/office/drawing/2014/main" id="{35E1D123-68C9-E840-26B7-BA87A5117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68840" y="2548738"/>
              <a:ext cx="2675623" cy="1284829"/>
            </a:xfrm>
            <a:prstGeom prst="rect">
              <a:avLst/>
            </a:prstGeom>
          </p:spPr>
        </p:pic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4498735C-92F0-5DAC-83CD-B59AEF3C3027}"/>
                </a:ext>
              </a:extLst>
            </p:cNvPr>
            <p:cNvSpPr txBox="1"/>
            <p:nvPr/>
          </p:nvSpPr>
          <p:spPr>
            <a:xfrm>
              <a:off x="9579101" y="2139881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spc="-30" noProof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25% DES EFFECTIFS</a:t>
              </a:r>
            </a:p>
          </p:txBody>
        </p:sp>
        <p:pic>
          <p:nvPicPr>
            <p:cNvPr id="144" name="Parcours types CL.4" descr="preencoded.png">
              <a:extLst>
                <a:ext uri="{FF2B5EF4-FFF2-40B4-BE49-F238E27FC236}">
                  <a16:creationId xmlns:a16="http://schemas.microsoft.com/office/drawing/2014/main" id="{73A9B06B-516A-6485-0E61-15B1E1128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558495" y="4011736"/>
              <a:ext cx="2496312" cy="584502"/>
            </a:xfrm>
            <a:prstGeom prst="rect">
              <a:avLst/>
            </a:prstGeom>
          </p:spPr>
        </p:pic>
        <p:grpSp>
          <p:nvGrpSpPr>
            <p:cNvPr id="189" name="Groupe 188">
              <a:extLst>
                <a:ext uri="{FF2B5EF4-FFF2-40B4-BE49-F238E27FC236}">
                  <a16:creationId xmlns:a16="http://schemas.microsoft.com/office/drawing/2014/main" id="{7CD748C7-735F-692B-09FB-2BA4FB5B5611}"/>
                </a:ext>
              </a:extLst>
            </p:cNvPr>
            <p:cNvGrpSpPr/>
            <p:nvPr/>
          </p:nvGrpSpPr>
          <p:grpSpPr>
            <a:xfrm>
              <a:off x="9568771" y="4718504"/>
              <a:ext cx="2958233" cy="356405"/>
              <a:chOff x="893965" y="5034777"/>
              <a:chExt cx="2958233" cy="356405"/>
            </a:xfrm>
          </p:grpSpPr>
          <p:cxnSp>
            <p:nvCxnSpPr>
              <p:cNvPr id="190" name="Connecteur droit 189">
                <a:extLst>
                  <a:ext uri="{FF2B5EF4-FFF2-40B4-BE49-F238E27FC236}">
                    <a16:creationId xmlns:a16="http://schemas.microsoft.com/office/drawing/2014/main" id="{72E6276F-7E39-EABB-D224-7FFEE7214CE1}"/>
                  </a:ext>
                </a:extLst>
              </p:cNvPr>
              <p:cNvCxnSpPr/>
              <p:nvPr/>
            </p:nvCxnSpPr>
            <p:spPr>
              <a:xfrm>
                <a:off x="982973" y="5113020"/>
                <a:ext cx="23669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necteur droit 190">
                <a:extLst>
                  <a:ext uri="{FF2B5EF4-FFF2-40B4-BE49-F238E27FC236}">
                    <a16:creationId xmlns:a16="http://schemas.microsoft.com/office/drawing/2014/main" id="{EEE80F1D-BA1A-7C73-D9C4-27C4BCAE09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007" y="5034777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2" name="Connecteur droit 191">
                <a:extLst>
                  <a:ext uri="{FF2B5EF4-FFF2-40B4-BE49-F238E27FC236}">
                    <a16:creationId xmlns:a16="http://schemas.microsoft.com/office/drawing/2014/main" id="{65BEB41A-5B62-078F-5035-815BCC98C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608" y="5037294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3" name="ZoneTexte 192">
                <a:extLst>
                  <a:ext uri="{FF2B5EF4-FFF2-40B4-BE49-F238E27FC236}">
                    <a16:creationId xmlns:a16="http://schemas.microsoft.com/office/drawing/2014/main" id="{DFED787F-FA70-4D48-3842-038D045FFE61}"/>
                  </a:ext>
                </a:extLst>
              </p:cNvPr>
              <p:cNvSpPr txBox="1"/>
              <p:nvPr/>
            </p:nvSpPr>
            <p:spPr>
              <a:xfrm>
                <a:off x="893965" y="5175738"/>
                <a:ext cx="29582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k=1                                                                     k=67</a:t>
                </a:r>
              </a:p>
            </p:txBody>
          </p:sp>
        </p:grpSp>
        <p:sp>
          <p:nvSpPr>
            <p:cNvPr id="254" name="ZoneTexte 253">
              <a:extLst>
                <a:ext uri="{FF2B5EF4-FFF2-40B4-BE49-F238E27FC236}">
                  <a16:creationId xmlns:a16="http://schemas.microsoft.com/office/drawing/2014/main" id="{23BDB4D2-F668-1614-A1FD-CBFE49461DFC}"/>
                </a:ext>
              </a:extLst>
            </p:cNvPr>
            <p:cNvSpPr txBox="1"/>
            <p:nvPr/>
          </p:nvSpPr>
          <p:spPr>
            <a:xfrm>
              <a:off x="10060660" y="2359228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CHRONOGRAMME DES ETATS</a:t>
              </a:r>
            </a:p>
          </p:txBody>
        </p:sp>
        <p:sp>
          <p:nvSpPr>
            <p:cNvPr id="262" name="ZoneTexte 261">
              <a:extLst>
                <a:ext uri="{FF2B5EF4-FFF2-40B4-BE49-F238E27FC236}">
                  <a16:creationId xmlns:a16="http://schemas.microsoft.com/office/drawing/2014/main" id="{14E9E664-EE9E-F950-1A9C-ACA2A1E150F4}"/>
                </a:ext>
              </a:extLst>
            </p:cNvPr>
            <p:cNvSpPr txBox="1"/>
            <p:nvPr/>
          </p:nvSpPr>
          <p:spPr>
            <a:xfrm>
              <a:off x="9737472" y="4580256"/>
              <a:ext cx="23662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SÉQUENCES LES PLUS REPRÉSENTATIVES</a:t>
              </a:r>
            </a:p>
          </p:txBody>
        </p:sp>
      </p:grp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1A8183A-69EB-CAA2-4A0C-29FC7254142D}"/>
              </a:ext>
            </a:extLst>
          </p:cNvPr>
          <p:cNvSpPr/>
          <p:nvPr/>
        </p:nvSpPr>
        <p:spPr>
          <a:xfrm>
            <a:off x="9337964" y="5133989"/>
            <a:ext cx="2687974" cy="42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i="1" noProof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0BDC00CE-54AE-FB2F-4F43-742FA926DE9B}"/>
              </a:ext>
            </a:extLst>
          </p:cNvPr>
          <p:cNvGrpSpPr/>
          <p:nvPr/>
        </p:nvGrpSpPr>
        <p:grpSpPr>
          <a:xfrm>
            <a:off x="9153793" y="5133989"/>
            <a:ext cx="1672622" cy="430888"/>
            <a:chOff x="-1982272" y="2669299"/>
            <a:chExt cx="1672622" cy="430888"/>
          </a:xfrm>
        </p:grpSpPr>
        <p:sp>
          <p:nvSpPr>
            <p:cNvPr id="208" name="ZoneTexte 207">
              <a:extLst>
                <a:ext uri="{FF2B5EF4-FFF2-40B4-BE49-F238E27FC236}">
                  <a16:creationId xmlns:a16="http://schemas.microsoft.com/office/drawing/2014/main" id="{2A2F8B6D-CBE6-A62A-0FE6-14110FFC6879}"/>
                </a:ext>
              </a:extLst>
            </p:cNvPr>
            <p:cNvSpPr txBox="1"/>
            <p:nvPr/>
          </p:nvSpPr>
          <p:spPr>
            <a:xfrm>
              <a:off x="-1982272" y="2669299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TRAITÉS</a:t>
              </a:r>
            </a:p>
          </p:txBody>
        </p:sp>
        <p:sp>
          <p:nvSpPr>
            <p:cNvPr id="209" name="ZoneTexte 208">
              <a:extLst>
                <a:ext uri="{FF2B5EF4-FFF2-40B4-BE49-F238E27FC236}">
                  <a16:creationId xmlns:a16="http://schemas.microsoft.com/office/drawing/2014/main" id="{47B91D28-BFCA-41C5-9649-6FE2307B2729}"/>
                </a:ext>
              </a:extLst>
            </p:cNvPr>
            <p:cNvSpPr txBox="1"/>
            <p:nvPr/>
          </p:nvSpPr>
          <p:spPr>
            <a:xfrm>
              <a:off x="-1971942" y="2884743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rgbClr val="007C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APPARIÉS</a:t>
              </a:r>
            </a:p>
          </p:txBody>
        </p:sp>
      </p:grpSp>
      <p:pic>
        <p:nvPicPr>
          <p:cNvPr id="15" name="Graphique 14" descr="Utilisateur avec un remplissage uni">
            <a:extLst>
              <a:ext uri="{FF2B5EF4-FFF2-40B4-BE49-F238E27FC236}">
                <a16:creationId xmlns:a16="http://schemas.microsoft.com/office/drawing/2014/main" id="{FDF671EE-5F5A-AEDA-79A2-0E4995F3C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7964" y="5105616"/>
            <a:ext cx="243118" cy="243118"/>
          </a:xfrm>
          <a:prstGeom prst="rect">
            <a:avLst/>
          </a:prstGeom>
        </p:spPr>
      </p:pic>
      <p:pic>
        <p:nvPicPr>
          <p:cNvPr id="17" name="Graphique 16" descr="Utilisateur avec un remplissage uni">
            <a:extLst>
              <a:ext uri="{FF2B5EF4-FFF2-40B4-BE49-F238E27FC236}">
                <a16:creationId xmlns:a16="http://schemas.microsoft.com/office/drawing/2014/main" id="{2970E5FC-3602-0EF3-D8A5-0523E83BA0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49553" y="5320362"/>
            <a:ext cx="243118" cy="243118"/>
          </a:xfrm>
          <a:prstGeom prst="rect">
            <a:avLst/>
          </a:prstGeom>
        </p:spPr>
      </p:pic>
      <p:pic>
        <p:nvPicPr>
          <p:cNvPr id="19" name="Graphique 18" descr="Utilisateur avec un remplissage uni">
            <a:extLst>
              <a:ext uri="{FF2B5EF4-FFF2-40B4-BE49-F238E27FC236}">
                <a16:creationId xmlns:a16="http://schemas.microsoft.com/office/drawing/2014/main" id="{88751EAD-DD84-35A6-FF53-F1377C3F2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8406" y="5114313"/>
            <a:ext cx="243118" cy="243118"/>
          </a:xfrm>
          <a:prstGeom prst="rect">
            <a:avLst/>
          </a:prstGeom>
        </p:spPr>
      </p:pic>
      <p:pic>
        <p:nvPicPr>
          <p:cNvPr id="21" name="Graphique 20" descr="Utilisateur avec un remplissage uni">
            <a:extLst>
              <a:ext uri="{FF2B5EF4-FFF2-40B4-BE49-F238E27FC236}">
                <a16:creationId xmlns:a16="http://schemas.microsoft.com/office/drawing/2014/main" id="{EDB64608-9455-6EFF-B730-E5DCD2C88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7964" y="5320362"/>
            <a:ext cx="243118" cy="24311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DB4028F-DC04-C002-0F3A-653D98C2896D}"/>
              </a:ext>
            </a:extLst>
          </p:cNvPr>
          <p:cNvSpPr/>
          <p:nvPr/>
        </p:nvSpPr>
        <p:spPr>
          <a:xfrm>
            <a:off x="803927" y="5133988"/>
            <a:ext cx="2749764" cy="42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i="1" noProof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7" name="Graphique 26" descr="Utilisateur avec un remplissage uni">
            <a:extLst>
              <a:ext uri="{FF2B5EF4-FFF2-40B4-BE49-F238E27FC236}">
                <a16:creationId xmlns:a16="http://schemas.microsoft.com/office/drawing/2014/main" id="{E813A6D1-DBDE-CEDB-ADB8-0A90DCB4E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5909" y="5105616"/>
            <a:ext cx="243118" cy="243118"/>
          </a:xfrm>
          <a:prstGeom prst="rect">
            <a:avLst/>
          </a:prstGeom>
        </p:spPr>
      </p:pic>
      <p:pic>
        <p:nvPicPr>
          <p:cNvPr id="30" name="Graphique 29" descr="Utilisateur avec un remplissage uni">
            <a:extLst>
              <a:ext uri="{FF2B5EF4-FFF2-40B4-BE49-F238E27FC236}">
                <a16:creationId xmlns:a16="http://schemas.microsoft.com/office/drawing/2014/main" id="{141F037C-B492-C37D-2532-DED9D6FEAF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5909" y="5320361"/>
            <a:ext cx="243118" cy="243118"/>
          </a:xfrm>
          <a:prstGeom prst="rect">
            <a:avLst/>
          </a:prstGeom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D117E1D8-A85E-4F47-FD6C-C8866D18779D}"/>
              </a:ext>
            </a:extLst>
          </p:cNvPr>
          <p:cNvSpPr txBox="1"/>
          <p:nvPr/>
        </p:nvSpPr>
        <p:spPr>
          <a:xfrm>
            <a:off x="509222" y="5118160"/>
            <a:ext cx="16622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TRAITÉS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6A238B8F-4889-04AB-0511-574D07AFFBAC}"/>
              </a:ext>
            </a:extLst>
          </p:cNvPr>
          <p:cNvSpPr txBox="1"/>
          <p:nvPr/>
        </p:nvSpPr>
        <p:spPr>
          <a:xfrm>
            <a:off x="936414" y="5365086"/>
            <a:ext cx="889285" cy="22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APPARIÉS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A10E4EFF-91AD-C31E-6776-DD5B0774327B}"/>
              </a:ext>
            </a:extLst>
          </p:cNvPr>
          <p:cNvSpPr txBox="1"/>
          <p:nvPr/>
        </p:nvSpPr>
        <p:spPr>
          <a:xfrm>
            <a:off x="6560037" y="1597629"/>
            <a:ext cx="2483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CL.3 : INSTALLATION A SON COMPTE</a:t>
            </a:r>
          </a:p>
        </p:txBody>
      </p: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D9BD6DAF-0373-B348-08CE-FDEF64ED9607}"/>
              </a:ext>
            </a:extLst>
          </p:cNvPr>
          <p:cNvGrpSpPr/>
          <p:nvPr/>
        </p:nvGrpSpPr>
        <p:grpSpPr>
          <a:xfrm>
            <a:off x="1308955" y="5721548"/>
            <a:ext cx="301154" cy="301154"/>
            <a:chOff x="1265826" y="-914400"/>
            <a:chExt cx="647641" cy="647641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B713E3D4-3327-69DC-EA68-F07092EC50F0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FF9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63" name="Graphique 62" descr="Sphères de Harvey 60% avec un remplissage uni">
              <a:extLst>
                <a:ext uri="{FF2B5EF4-FFF2-40B4-BE49-F238E27FC236}">
                  <a16:creationId xmlns:a16="http://schemas.microsoft.com/office/drawing/2014/main" id="{09CD08F0-E7BF-B6B0-C078-1480F14202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5183B7C6-4D73-6A06-A23B-F2D9A0BA7ABA}"/>
              </a:ext>
            </a:extLst>
          </p:cNvPr>
          <p:cNvGrpSpPr/>
          <p:nvPr/>
        </p:nvGrpSpPr>
        <p:grpSpPr>
          <a:xfrm>
            <a:off x="7146559" y="5697003"/>
            <a:ext cx="301154" cy="301154"/>
            <a:chOff x="1265826" y="-914400"/>
            <a:chExt cx="647641" cy="647641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35BB9D6C-3FCE-BAA5-2ADC-63F5F34E390E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67" name="Graphique 66" descr="Pièces avec un remplissage uni">
              <a:extLst>
                <a:ext uri="{FF2B5EF4-FFF2-40B4-BE49-F238E27FC236}">
                  <a16:creationId xmlns:a16="http://schemas.microsoft.com/office/drawing/2014/main" id="{3ABC4EE9-D3CA-C2A4-A9C8-5DF094342D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sp>
        <p:nvSpPr>
          <p:cNvPr id="69" name="Shape 30">
            <a:extLst>
              <a:ext uri="{FF2B5EF4-FFF2-40B4-BE49-F238E27FC236}">
                <a16:creationId xmlns:a16="http://schemas.microsoft.com/office/drawing/2014/main" id="{8F0150BB-D9DF-5020-8CB9-86F1F6A2809E}"/>
              </a:ext>
            </a:extLst>
          </p:cNvPr>
          <p:cNvSpPr/>
          <p:nvPr/>
        </p:nvSpPr>
        <p:spPr>
          <a:xfrm>
            <a:off x="1784356" y="5171018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30">
            <a:extLst>
              <a:ext uri="{FF2B5EF4-FFF2-40B4-BE49-F238E27FC236}">
                <a16:creationId xmlns:a16="http://schemas.microsoft.com/office/drawing/2014/main" id="{CF8BC809-EA67-EF1F-1495-50C551256023}"/>
              </a:ext>
            </a:extLst>
          </p:cNvPr>
          <p:cNvSpPr/>
          <p:nvPr/>
        </p:nvSpPr>
        <p:spPr>
          <a:xfrm>
            <a:off x="1784356" y="5393677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30">
            <a:extLst>
              <a:ext uri="{FF2B5EF4-FFF2-40B4-BE49-F238E27FC236}">
                <a16:creationId xmlns:a16="http://schemas.microsoft.com/office/drawing/2014/main" id="{CE954B3A-7AEC-22AC-1CB0-952AFD118C90}"/>
              </a:ext>
            </a:extLst>
          </p:cNvPr>
          <p:cNvSpPr/>
          <p:nvPr/>
        </p:nvSpPr>
        <p:spPr>
          <a:xfrm>
            <a:off x="4718188" y="5171018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D842BFCB-21F8-FF43-731F-EFD8795A9B27}"/>
              </a:ext>
            </a:extLst>
          </p:cNvPr>
          <p:cNvSpPr/>
          <p:nvPr/>
        </p:nvSpPr>
        <p:spPr>
          <a:xfrm>
            <a:off x="4718188" y="5393677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30">
            <a:extLst>
              <a:ext uri="{FF2B5EF4-FFF2-40B4-BE49-F238E27FC236}">
                <a16:creationId xmlns:a16="http://schemas.microsoft.com/office/drawing/2014/main" id="{3FE1D63B-F47A-5AC4-0269-7800D5085FA5}"/>
              </a:ext>
            </a:extLst>
          </p:cNvPr>
          <p:cNvSpPr/>
          <p:nvPr/>
        </p:nvSpPr>
        <p:spPr>
          <a:xfrm>
            <a:off x="7606966" y="5171018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EE25339F-991D-C8C2-E3DF-B48B90192D91}"/>
              </a:ext>
            </a:extLst>
          </p:cNvPr>
          <p:cNvSpPr/>
          <p:nvPr/>
        </p:nvSpPr>
        <p:spPr>
          <a:xfrm>
            <a:off x="7606966" y="5386084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30">
            <a:extLst>
              <a:ext uri="{FF2B5EF4-FFF2-40B4-BE49-F238E27FC236}">
                <a16:creationId xmlns:a16="http://schemas.microsoft.com/office/drawing/2014/main" id="{9A3FA013-A080-DC49-021F-1CCD31180061}"/>
              </a:ext>
            </a:extLst>
          </p:cNvPr>
          <p:cNvSpPr/>
          <p:nvPr/>
        </p:nvSpPr>
        <p:spPr>
          <a:xfrm>
            <a:off x="10510206" y="5181008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Shape 30">
            <a:extLst>
              <a:ext uri="{FF2B5EF4-FFF2-40B4-BE49-F238E27FC236}">
                <a16:creationId xmlns:a16="http://schemas.microsoft.com/office/drawing/2014/main" id="{58B67956-3332-AB08-F734-B97B4181811A}"/>
              </a:ext>
            </a:extLst>
          </p:cNvPr>
          <p:cNvSpPr/>
          <p:nvPr/>
        </p:nvSpPr>
        <p:spPr>
          <a:xfrm>
            <a:off x="10510206" y="5393011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933A76A-ED76-FE54-BD19-070BF246ADDD}"/>
              </a:ext>
            </a:extLst>
          </p:cNvPr>
          <p:cNvSpPr txBox="1"/>
          <p:nvPr/>
        </p:nvSpPr>
        <p:spPr>
          <a:xfrm>
            <a:off x="3813652" y="1999534"/>
            <a:ext cx="2483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18% DES EFFECTIFS</a:t>
            </a:r>
          </a:p>
        </p:txBody>
      </p:sp>
      <p:sp>
        <p:nvSpPr>
          <p:cNvPr id="18" name="Shape 30">
            <a:extLst>
              <a:ext uri="{FF2B5EF4-FFF2-40B4-BE49-F238E27FC236}">
                <a16:creationId xmlns:a16="http://schemas.microsoft.com/office/drawing/2014/main" id="{3DFE34B0-2B24-20EE-0065-776094A919B0}"/>
              </a:ext>
            </a:extLst>
          </p:cNvPr>
          <p:cNvSpPr/>
          <p:nvPr/>
        </p:nvSpPr>
        <p:spPr>
          <a:xfrm>
            <a:off x="-1681977" y="-36288"/>
            <a:ext cx="1234440" cy="100584"/>
          </a:xfrm>
          <a:prstGeom prst="rect">
            <a:avLst/>
          </a:prstGeom>
          <a:solidFill>
            <a:srgbClr val="E7ECEA"/>
          </a:solidFill>
          <a:ln w="12700">
            <a:solidFill>
              <a:srgbClr val="E7EC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32">
            <a:extLst>
              <a:ext uri="{FF2B5EF4-FFF2-40B4-BE49-F238E27FC236}">
                <a16:creationId xmlns:a16="http://schemas.microsoft.com/office/drawing/2014/main" id="{999A64D7-2BDC-C9C2-0BAF-19788D423677}"/>
              </a:ext>
            </a:extLst>
          </p:cNvPr>
          <p:cNvSpPr txBox="1"/>
          <p:nvPr/>
        </p:nvSpPr>
        <p:spPr>
          <a:xfrm>
            <a:off x="2095252" y="51279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39,2 %</a:t>
            </a:r>
            <a:endParaRPr lang="en-US" sz="850"/>
          </a:p>
        </p:txBody>
      </p:sp>
      <p:sp>
        <p:nvSpPr>
          <p:cNvPr id="29" name="Shape 34">
            <a:extLst>
              <a:ext uri="{FF2B5EF4-FFF2-40B4-BE49-F238E27FC236}">
                <a16:creationId xmlns:a16="http://schemas.microsoft.com/office/drawing/2014/main" id="{1C958D22-630F-F08B-681F-D056C4C2288F}"/>
              </a:ext>
            </a:extLst>
          </p:cNvPr>
          <p:cNvSpPr/>
          <p:nvPr/>
        </p:nvSpPr>
        <p:spPr>
          <a:xfrm>
            <a:off x="-1681977" y="238032"/>
            <a:ext cx="1234440" cy="100584"/>
          </a:xfrm>
          <a:prstGeom prst="rect">
            <a:avLst/>
          </a:prstGeom>
          <a:solidFill>
            <a:srgbClr val="E7ECEA"/>
          </a:solidFill>
          <a:ln w="12700">
            <a:solidFill>
              <a:srgbClr val="E7EC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2FBEC074-8EEC-95A1-115E-32DF0A10BCA4}"/>
              </a:ext>
            </a:extLst>
          </p:cNvPr>
          <p:cNvSpPr txBox="1"/>
          <p:nvPr/>
        </p:nvSpPr>
        <p:spPr>
          <a:xfrm>
            <a:off x="2138857" y="536930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850"/>
          </a:p>
        </p:txBody>
      </p:sp>
      <p:sp>
        <p:nvSpPr>
          <p:cNvPr id="49" name="Text 50">
            <a:extLst>
              <a:ext uri="{FF2B5EF4-FFF2-40B4-BE49-F238E27FC236}">
                <a16:creationId xmlns:a16="http://schemas.microsoft.com/office/drawing/2014/main" id="{C9D94D68-ED14-57D7-B692-F7C91608A75C}"/>
              </a:ext>
            </a:extLst>
          </p:cNvPr>
          <p:cNvSpPr txBox="1"/>
          <p:nvPr/>
        </p:nvSpPr>
        <p:spPr>
          <a:xfrm>
            <a:off x="5127374" y="512421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23 %</a:t>
            </a:r>
            <a:endParaRPr lang="en-US" sz="850" dirty="0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85379302-CE54-8DB3-B3CA-C910762A44E5}"/>
              </a:ext>
            </a:extLst>
          </p:cNvPr>
          <p:cNvSpPr txBox="1"/>
          <p:nvPr/>
        </p:nvSpPr>
        <p:spPr>
          <a:xfrm>
            <a:off x="5127374" y="5356435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26 %</a:t>
            </a:r>
            <a:endParaRPr lang="en-US" sz="850" dirty="0"/>
          </a:p>
        </p:txBody>
      </p:sp>
      <p:sp>
        <p:nvSpPr>
          <p:cNvPr id="79" name="Text 68">
            <a:extLst>
              <a:ext uri="{FF2B5EF4-FFF2-40B4-BE49-F238E27FC236}">
                <a16:creationId xmlns:a16="http://schemas.microsoft.com/office/drawing/2014/main" id="{CE663DA8-CBF4-6CA1-F4B3-BD3F8E8818F8}"/>
              </a:ext>
            </a:extLst>
          </p:cNvPr>
          <p:cNvSpPr txBox="1"/>
          <p:nvPr/>
        </p:nvSpPr>
        <p:spPr>
          <a:xfrm>
            <a:off x="8108800" y="513748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21 %</a:t>
            </a:r>
            <a:endParaRPr lang="en-US" sz="850"/>
          </a:p>
        </p:txBody>
      </p:sp>
      <p:sp>
        <p:nvSpPr>
          <p:cNvPr id="90" name="Text 72">
            <a:extLst>
              <a:ext uri="{FF2B5EF4-FFF2-40B4-BE49-F238E27FC236}">
                <a16:creationId xmlns:a16="http://schemas.microsoft.com/office/drawing/2014/main" id="{CA26D052-42A8-1F8F-A71D-8ACC5E71AD7C}"/>
              </a:ext>
            </a:extLst>
          </p:cNvPr>
          <p:cNvSpPr txBox="1"/>
          <p:nvPr/>
        </p:nvSpPr>
        <p:spPr>
          <a:xfrm>
            <a:off x="8108800" y="536508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/>
          </a:p>
        </p:txBody>
      </p:sp>
      <p:sp>
        <p:nvSpPr>
          <p:cNvPr id="102" name="Text 86">
            <a:extLst>
              <a:ext uri="{FF2B5EF4-FFF2-40B4-BE49-F238E27FC236}">
                <a16:creationId xmlns:a16="http://schemas.microsoft.com/office/drawing/2014/main" id="{24E436BF-59C7-82D3-A846-36F2B55B446E}"/>
              </a:ext>
            </a:extLst>
          </p:cNvPr>
          <p:cNvSpPr txBox="1"/>
          <p:nvPr/>
        </p:nvSpPr>
        <p:spPr>
          <a:xfrm>
            <a:off x="10964902" y="51444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16 %</a:t>
            </a:r>
            <a:endParaRPr lang="en-US" sz="85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2B9C6B0A-F5C2-087B-4B0B-0C1377C52BD7}"/>
              </a:ext>
            </a:extLst>
          </p:cNvPr>
          <p:cNvSpPr txBox="1"/>
          <p:nvPr/>
        </p:nvSpPr>
        <p:spPr>
          <a:xfrm>
            <a:off x="10986165" y="5356435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247102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38962" y="265176"/>
            <a:ext cx="120959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</a:pPr>
            <a:r>
              <a:rPr lang="en-US" sz="1600" b="1" spc="-40">
                <a:solidFill>
                  <a:srgbClr val="94C43E"/>
                </a:solidFill>
                <a:latin typeface="Montserrat" pitchFamily="2" charset="77"/>
              </a:rPr>
              <a:t>L’ACTIVITÉ NON SALARIÉE SEMBLE ÊTRE UN CHOIX, PAS UN DÉFAUT D'ALTERNATIVE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838962" y="658368"/>
            <a:ext cx="10771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A profil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égal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,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ceux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qui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créent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une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entreprise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ont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les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mêmes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chances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que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ceux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aui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reviennent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vite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en</a:t>
            </a:r>
            <a:r>
              <a:rPr lang="en-US" sz="14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ontserrat" pitchFamily="2" charset="77"/>
              </a:rPr>
              <a:t>emploi</a:t>
            </a:r>
            <a:endParaRPr lang="en-US" sz="1400" dirty="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88720" y="1573202"/>
            <a:ext cx="2810992" cy="18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① DES PERSPECTIVES AUSSI BONNES QUE CEUX QUI REVIENNENT VITE</a:t>
            </a:r>
            <a:endParaRPr lang="en-US" sz="1000">
              <a:solidFill>
                <a:schemeClr val="accent5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1188720" y="4251392"/>
            <a:ext cx="2377440" cy="2081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188720" y="2021702"/>
            <a:ext cx="201478" cy="22431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1188720" y="42648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Mois depuis la fin du contrat</a:t>
            </a:r>
            <a:endParaRPr lang="en-US" sz="800"/>
          </a:p>
        </p:txBody>
      </p:sp>
      <p:sp>
        <p:nvSpPr>
          <p:cNvPr id="11" name="Text 8"/>
          <p:cNvSpPr txBox="1"/>
          <p:nvPr/>
        </p:nvSpPr>
        <p:spPr>
          <a:xfrm>
            <a:off x="1207008" y="1865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%</a:t>
            </a:r>
            <a:endParaRPr lang="en-US" sz="750"/>
          </a:p>
        </p:txBody>
      </p:sp>
      <p:sp>
        <p:nvSpPr>
          <p:cNvPr id="15" name="Text 12"/>
          <p:cNvSpPr txBox="1"/>
          <p:nvPr/>
        </p:nvSpPr>
        <p:spPr>
          <a:xfrm>
            <a:off x="1435608" y="4791456"/>
            <a:ext cx="29341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E860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67 % </a:t>
            </a: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d'emploi salarié prédit à 36 mois, contre 61 % pour l'emploi aidé et 51 % pour la sortie du champ.</a:t>
            </a:r>
            <a:endParaRPr lang="en-US" sz="950"/>
          </a:p>
        </p:txBody>
      </p:sp>
      <p:sp>
        <p:nvSpPr>
          <p:cNvPr id="16" name="Text 13"/>
          <p:cNvSpPr txBox="1"/>
          <p:nvPr/>
        </p:nvSpPr>
        <p:spPr>
          <a:xfrm>
            <a:off x="4947059" y="1578193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② UN EMPLOI SALARIÉ BIEN EN DEÇÀ</a:t>
            </a:r>
            <a:endParaRPr lang="en-US" sz="1000">
              <a:solidFill>
                <a:schemeClr val="accent5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431123" y="1847088"/>
            <a:ext cx="2122235" cy="1746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5431123" y="4251392"/>
            <a:ext cx="2122235" cy="2081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 txBox="1"/>
          <p:nvPr/>
        </p:nvSpPr>
        <p:spPr>
          <a:xfrm>
            <a:off x="5431123" y="4264824"/>
            <a:ext cx="21222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Mois depuis la fin du contrat</a:t>
            </a:r>
            <a:endParaRPr lang="en-US" sz="800"/>
          </a:p>
        </p:txBody>
      </p:sp>
      <p:sp>
        <p:nvSpPr>
          <p:cNvPr id="21" name="Text 17"/>
          <p:cNvSpPr txBox="1"/>
          <p:nvPr/>
        </p:nvSpPr>
        <p:spPr>
          <a:xfrm>
            <a:off x="4753854" y="4755677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E860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38 % </a:t>
            </a: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observé à 60 mois, soit </a:t>
            </a:r>
            <a:r>
              <a:rPr lang="en-US" sz="950" b="1">
                <a:solidFill>
                  <a:srgbClr val="E860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points</a:t>
            </a: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moins que ce que leur profil laissait attendre.</a:t>
            </a:r>
            <a:endParaRPr lang="en-US" sz="950"/>
          </a:p>
        </p:txBody>
      </p:sp>
      <p:sp>
        <p:nvSpPr>
          <p:cNvPr id="22" name="Text 18"/>
          <p:cNvSpPr txBox="1"/>
          <p:nvPr/>
        </p:nvSpPr>
        <p:spPr>
          <a:xfrm>
            <a:off x="8156448" y="1481328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LECTURES POSSIBLES</a:t>
            </a:r>
            <a:endParaRPr lang="en-US" sz="900"/>
          </a:p>
        </p:txBody>
      </p:sp>
      <p:sp>
        <p:nvSpPr>
          <p:cNvPr id="23" name="Shape 19"/>
          <p:cNvSpPr/>
          <p:nvPr/>
        </p:nvSpPr>
        <p:spPr>
          <a:xfrm>
            <a:off x="8156448" y="1719072"/>
            <a:ext cx="351129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8275320" y="1892808"/>
            <a:ext cx="347472" cy="347472"/>
          </a:xfrm>
          <a:prstGeom prst="ellipse">
            <a:avLst/>
          </a:prstGeom>
          <a:solidFill>
            <a:srgbClr val="73807F"/>
          </a:solidFill>
          <a:ln w="12700">
            <a:solidFill>
              <a:srgbClr val="73807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84248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705088" y="1792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activité viable</a:t>
            </a:r>
            <a:endParaRPr lang="en-US" sz="1050"/>
          </a:p>
        </p:txBody>
      </p:sp>
      <p:sp>
        <p:nvSpPr>
          <p:cNvPr id="27" name="Text 22"/>
          <p:cNvSpPr txBox="1"/>
          <p:nvPr/>
        </p:nvSpPr>
        <p:spPr>
          <a:xfrm>
            <a:off x="8705088" y="201168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Ils restent indépendants parce que leur activité fonctionne.</a:t>
            </a:r>
            <a:endParaRPr lang="en-US" sz="900"/>
          </a:p>
        </p:txBody>
      </p:sp>
      <p:sp>
        <p:nvSpPr>
          <p:cNvPr id="28" name="Shape 23"/>
          <p:cNvSpPr/>
          <p:nvPr/>
        </p:nvSpPr>
        <p:spPr>
          <a:xfrm>
            <a:off x="8156448" y="2487168"/>
            <a:ext cx="351129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4"/>
          <p:cNvSpPr/>
          <p:nvPr/>
        </p:nvSpPr>
        <p:spPr>
          <a:xfrm>
            <a:off x="8275320" y="2660904"/>
            <a:ext cx="347472" cy="347472"/>
          </a:xfrm>
          <a:prstGeom prst="ellipse">
            <a:avLst/>
          </a:prstGeom>
          <a:solidFill>
            <a:srgbClr val="73807F"/>
          </a:solidFill>
          <a:ln w="12700">
            <a:solidFill>
              <a:srgbClr val="73807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752344"/>
            <a:ext cx="164592" cy="16459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705088" y="2560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absence d'alternative</a:t>
            </a:r>
            <a:endParaRPr lang="en-US" sz="1050"/>
          </a:p>
        </p:txBody>
      </p:sp>
      <p:sp>
        <p:nvSpPr>
          <p:cNvPr id="32" name="Text 26"/>
          <p:cNvSpPr txBox="1"/>
          <p:nvPr/>
        </p:nvSpPr>
        <p:spPr>
          <a:xfrm>
            <a:off x="8705088" y="2779776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Ils restent hors du salariat faute d'avoir retrouvé un emploi.</a:t>
            </a:r>
            <a:endParaRPr lang="en-US" sz="900"/>
          </a:p>
        </p:txBody>
      </p:sp>
      <p:sp>
        <p:nvSpPr>
          <p:cNvPr id="33" name="Shape 27"/>
          <p:cNvSpPr/>
          <p:nvPr/>
        </p:nvSpPr>
        <p:spPr>
          <a:xfrm>
            <a:off x="9765792" y="3291840"/>
            <a:ext cx="292608" cy="237744"/>
          </a:xfrm>
          <a:prstGeom prst="downArrow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8156448" y="3621024"/>
            <a:ext cx="3511296" cy="1517904"/>
          </a:xfrm>
          <a:prstGeom prst="roundRect">
            <a:avLst>
              <a:gd name="adj" fmla="val 3614"/>
            </a:avLst>
          </a:prstGeom>
          <a:solidFill>
            <a:srgbClr val="E8820C"/>
          </a:solidFill>
          <a:ln w="95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8275320" y="37490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3822192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741664" y="38221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MONTRENT LES DONNÉES</a:t>
            </a:r>
            <a:endParaRPr lang="en-US" sz="900"/>
          </a:p>
        </p:txBody>
      </p:sp>
      <p:sp>
        <p:nvSpPr>
          <p:cNvPr id="38" name="Text 31"/>
          <p:cNvSpPr txBox="1"/>
          <p:nvPr/>
        </p:nvSpPr>
        <p:spPr>
          <a:xfrm>
            <a:off x="8275320" y="4151376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profil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égal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ceux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s'installent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leur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compte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avaient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mêmes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perspectives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salariées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ceux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reviennent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emploi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Rester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hors du salariat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relèverait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donc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d'un choix, et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d'une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activité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tient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plutôt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d'un </a:t>
            </a:r>
            <a:r>
              <a:rPr lang="en-US" sz="10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échec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1051560" y="5431536"/>
            <a:ext cx="107716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3"/>
          <p:cNvSpPr txBox="1"/>
          <p:nvPr/>
        </p:nvSpPr>
        <p:spPr>
          <a:xfrm>
            <a:off x="1234440" y="5468112"/>
            <a:ext cx="10405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Méthode : </a:t>
            </a:r>
            <a:r>
              <a:rPr lang="en-US" sz="9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chaque parcours type, une forêt aléatoire entraînée sur les trois autres classes prédit l'emploi salarié à partir du profil en fin de contrat ; la classe prédite n'est jamais vue à l'entraînement.   </a:t>
            </a:r>
            <a:r>
              <a:rPr lang="en-US" sz="90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 : </a:t>
            </a:r>
            <a:r>
              <a:rPr lang="en-US" sz="9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l'activité non salariée n'est observée que pendant l'inscription à France Travail ; l'entrée y est traitée comme un état absorbant, la survie de l'activité n'est donc pas observée.</a:t>
            </a:r>
            <a:endParaRPr lang="en-US" sz="900"/>
          </a:p>
        </p:txBody>
      </p:sp>
      <p:sp>
        <p:nvSpPr>
          <p:cNvPr id="41" name="Text 34"/>
          <p:cNvSpPr txBox="1"/>
          <p:nvPr/>
        </p:nvSpPr>
        <p:spPr>
          <a:xfrm>
            <a:off x="1051560" y="6291072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MiDAS, cohorte 2019, échantillon stratifié de paires appariées · traitement Unédic.</a:t>
            </a:r>
            <a:endParaRPr lang="en-US" sz="850"/>
          </a:p>
        </p:txBody>
      </p:sp>
      <p:sp>
        <p:nvSpPr>
          <p:cNvPr id="45" name="Espace réservé du texte 1">
            <a:extLst>
              <a:ext uri="{FF2B5EF4-FFF2-40B4-BE49-F238E27FC236}">
                <a16:creationId xmlns:a16="http://schemas.microsoft.com/office/drawing/2014/main" id="{58ECF193-CB84-B025-95C3-CD5C8F23F6B7}"/>
              </a:ext>
            </a:extLst>
          </p:cNvPr>
          <p:cNvSpPr txBox="1">
            <a:spLocks/>
          </p:cNvSpPr>
          <p:nvPr/>
        </p:nvSpPr>
        <p:spPr>
          <a:xfrm>
            <a:off x="3999712" y="29135"/>
            <a:ext cx="8061749" cy="1994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sz="1100" b="1" u="sng" cap="all" dirty="0">
                <a:solidFill>
                  <a:srgbClr val="288494"/>
                </a:solidFill>
                <a:latin typeface="Montserrat" pitchFamily="2" charset="77"/>
              </a:rPr>
              <a:t>Analyse D’hétérogénéité – TRAJECTOIRES à long terme –durabilité de l’activité non salariée</a:t>
            </a:r>
          </a:p>
          <a:p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2B53FE35-8895-6809-2B6E-1C2AAFAD2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198" y="2015942"/>
            <a:ext cx="5707744" cy="2688519"/>
          </a:xfrm>
          <a:prstGeom prst="rect">
            <a:avLst/>
          </a:prstGeom>
        </p:spPr>
      </p:pic>
      <p:sp>
        <p:nvSpPr>
          <p:cNvPr id="43" name="Espace réservé du texte 2">
            <a:extLst>
              <a:ext uri="{FF2B5EF4-FFF2-40B4-BE49-F238E27FC236}">
                <a16:creationId xmlns:a16="http://schemas.microsoft.com/office/drawing/2014/main" id="{10B42E4D-9D1A-8298-FAAF-24FEBE735254}"/>
              </a:ext>
            </a:extLst>
          </p:cNvPr>
          <p:cNvSpPr txBox="1">
            <a:spLocks/>
          </p:cNvSpPr>
          <p:nvPr/>
        </p:nvSpPr>
        <p:spPr>
          <a:xfrm>
            <a:off x="1051560" y="2687538"/>
            <a:ext cx="6441369" cy="2712251"/>
          </a:xfrm>
          <a:prstGeom prst="rect">
            <a:avLst/>
          </a:prstGeom>
          <a:solidFill>
            <a:srgbClr val="F2F8F9">
              <a:alpha val="30196"/>
            </a:srgb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C8D4DE9F-6B1E-EEA1-E2EE-3B66F605B22A}"/>
              </a:ext>
            </a:extLst>
          </p:cNvPr>
          <p:cNvSpPr txBox="1">
            <a:spLocks/>
          </p:cNvSpPr>
          <p:nvPr/>
        </p:nvSpPr>
        <p:spPr>
          <a:xfrm>
            <a:off x="1051559" y="1435467"/>
            <a:ext cx="6441369" cy="3844339"/>
          </a:xfrm>
          <a:prstGeom prst="rect">
            <a:avLst/>
          </a:prstGeom>
          <a:solidFill>
            <a:srgbClr val="E5F1DD">
              <a:alpha val="4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051560" y="402336"/>
            <a:ext cx="10771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</a:pPr>
            <a:r>
              <a:rPr lang="en-US" sz="1600" b="1" spc="-40" dirty="0">
                <a:solidFill>
                  <a:srgbClr val="94C43E"/>
                </a:solidFill>
                <a:latin typeface="Montserrat" pitchFamily="2" charset="77"/>
              </a:rPr>
              <a:t>LE PROJET PRÉCÈDE LA RUPTURE, ET LE DROIT EN FINANCE LE LANCEMENT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051560" y="868680"/>
            <a:ext cx="10771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Quatre moments reconstitués à partir des messages les plus chargés sur le thème, et les résultats correspondants sur données administratives</a:t>
            </a:r>
            <a:endParaRPr lang="en-US" sz="1050" dirty="0"/>
          </a:p>
        </p:txBody>
      </p:sp>
      <p:sp>
        <p:nvSpPr>
          <p:cNvPr id="5" name="Ligne de temps"/>
          <p:cNvSpPr/>
          <p:nvPr/>
        </p:nvSpPr>
        <p:spPr>
          <a:xfrm>
            <a:off x="1051560" y="1481328"/>
            <a:ext cx="10661904" cy="0"/>
          </a:xfrm>
          <a:prstGeom prst="line">
            <a:avLst/>
          </a:prstGeom>
          <a:noFill/>
          <a:ln w="19050">
            <a:solidFill>
              <a:srgbClr val="8C9897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325880" y="115214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 LA RUPTURE</a:t>
            </a:r>
            <a:endParaRPr lang="en-US" sz="850" dirty="0"/>
          </a:p>
        </p:txBody>
      </p:sp>
      <p:sp>
        <p:nvSpPr>
          <p:cNvPr id="7" name="Étape 1"/>
          <p:cNvSpPr/>
          <p:nvPr/>
        </p:nvSpPr>
        <p:spPr>
          <a:xfrm>
            <a:off x="1069848" y="1362456"/>
            <a:ext cx="237744" cy="237744"/>
          </a:xfrm>
          <a:prstGeom prst="ellipse">
            <a:avLst/>
          </a:prstGeom>
          <a:solidFill>
            <a:srgbClr val="6FAF3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069848" y="13716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170078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projet existe déjà</a:t>
            </a:r>
            <a:endParaRPr lang="en-US" sz="1200" dirty="0"/>
          </a:p>
        </p:txBody>
      </p:sp>
      <p:sp>
        <p:nvSpPr>
          <p:cNvPr id="10" name="Résultat 1"/>
          <p:cNvSpPr/>
          <p:nvPr/>
        </p:nvSpPr>
        <p:spPr>
          <a:xfrm>
            <a:off x="1069848" y="2121408"/>
            <a:ext cx="243230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143000" y="2130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 &lt; 0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115214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RUPTURE</a:t>
            </a:r>
            <a:endParaRPr lang="en-US" sz="850" dirty="0"/>
          </a:p>
        </p:txBody>
      </p:sp>
      <p:sp>
        <p:nvSpPr>
          <p:cNvPr id="13" name="Étape 2"/>
          <p:cNvSpPr/>
          <p:nvPr/>
        </p:nvSpPr>
        <p:spPr>
          <a:xfrm>
            <a:off x="3813048" y="1362456"/>
            <a:ext cx="237744" cy="237744"/>
          </a:xfrm>
          <a:prstGeom prst="ellipse">
            <a:avLst/>
          </a:prstGeom>
          <a:solidFill>
            <a:srgbClr val="6FAF3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3813048" y="13716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813048" y="170078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rupture plutôt qu'une démission</a:t>
            </a:r>
            <a:endParaRPr lang="en-US" sz="1200" dirty="0"/>
          </a:p>
        </p:txBody>
      </p:sp>
      <p:sp>
        <p:nvSpPr>
          <p:cNvPr id="16" name="Résultat 2"/>
          <p:cNvSpPr/>
          <p:nvPr/>
        </p:nvSpPr>
        <p:spPr>
          <a:xfrm>
            <a:off x="3813048" y="2121408"/>
            <a:ext cx="243230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3886200" y="2130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 = 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15214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LANCEMENT</a:t>
            </a:r>
            <a:endParaRPr lang="en-US" sz="850" dirty="0"/>
          </a:p>
        </p:txBody>
      </p:sp>
      <p:sp>
        <p:nvSpPr>
          <p:cNvPr id="19" name="Étape 3"/>
          <p:cNvSpPr/>
          <p:nvPr/>
        </p:nvSpPr>
        <p:spPr>
          <a:xfrm>
            <a:off x="6556248" y="1362456"/>
            <a:ext cx="237744" cy="237744"/>
          </a:xfrm>
          <a:prstGeom prst="ellipse">
            <a:avLst/>
          </a:prstGeom>
          <a:solidFill>
            <a:srgbClr val="6FAF3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556248" y="13716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170078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financer avec le droit : ARE ou ARCE ?</a:t>
            </a:r>
            <a:endParaRPr lang="en-US" sz="1200" dirty="0"/>
          </a:p>
        </p:txBody>
      </p:sp>
      <p:sp>
        <p:nvSpPr>
          <p:cNvPr id="22" name="Résultat 3"/>
          <p:cNvSpPr/>
          <p:nvPr/>
        </p:nvSpPr>
        <p:spPr>
          <a:xfrm>
            <a:off x="6556248" y="2121408"/>
            <a:ext cx="243230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6629400" y="2130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 = 1 : + 2,1 pts d'activité non salariée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115214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ENSUITE</a:t>
            </a:r>
            <a:endParaRPr lang="en-US" sz="850" dirty="0"/>
          </a:p>
        </p:txBody>
      </p:sp>
      <p:sp>
        <p:nvSpPr>
          <p:cNvPr id="25" name="Étape 4"/>
          <p:cNvSpPr/>
          <p:nvPr/>
        </p:nvSpPr>
        <p:spPr>
          <a:xfrm>
            <a:off x="9299448" y="1362456"/>
            <a:ext cx="237744" cy="237744"/>
          </a:xfrm>
          <a:prstGeom prst="ellipse">
            <a:avLst/>
          </a:prstGeom>
          <a:solidFill>
            <a:srgbClr val="6FAF3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9299448" y="13716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170078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Indemnisé, puis seul ou de retour en recherche</a:t>
            </a:r>
            <a:endParaRPr lang="en-US" sz="1200" dirty="0"/>
          </a:p>
        </p:txBody>
      </p:sp>
      <p:sp>
        <p:nvSpPr>
          <p:cNvPr id="28" name="Résultat 4"/>
          <p:cNvSpPr/>
          <p:nvPr/>
        </p:nvSpPr>
        <p:spPr>
          <a:xfrm>
            <a:off x="9299448" y="2121408"/>
            <a:ext cx="243230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9372600" y="2130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son compte : 21 % contre 15 %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2578608"/>
            <a:ext cx="2194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J'ai créé ma micro-entreprise en parallèle du salariat et souhaite désormais en faire mon activité principale. »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3712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2025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206240"/>
            <a:ext cx="2194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Mon projet de création d'entreprise est lancé, j'ai déjà mes premiers clients. »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3400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2026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2578608"/>
            <a:ext cx="2194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J'y vois l'opportunité de négocier une rupture conventionnelle afin d'être éligible à l'ARE […] afin de me mettre à mon compte en freelance. »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977640" y="3712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2023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977640" y="4206240"/>
            <a:ext cx="2194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Il est impensable pour moi de quitter mon emploi sans filet financier (allocations chômage). »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977640" y="53400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2023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2578608"/>
            <a:ext cx="2194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Comme la première année sera certainement un peu difficile, j'aimerais toucher mes allocations chômage pour avoir un filet de sécurité. »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720840" y="3712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2024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4206240"/>
            <a:ext cx="2194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Me conseillez-vous de la créer avant ou après ma rupture conventionnelle ? […] Plutôt team ARCE ou ARE »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53400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r/vosfinances, 2024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9464040" y="2578608"/>
            <a:ext cx="2194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Je me suis lancé en auto-entrepreneur juste après, et quand je faisais pas d'argent je touchais l'allocation chômage. »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9464040" y="3712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2023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9464040" y="4206240"/>
            <a:ext cx="2194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J'ai voulu me lancer en autoentreprise […] mais je n'avais pas les reins assez solides pour débuter. »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464040" y="53400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r/france, 2022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1069848" y="5879592"/>
            <a:ext cx="10771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Lecture · </a:t>
            </a:r>
            <a:r>
              <a:rPr lang="en-US" sz="90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reproduites dans leur orthographe d'origine, tirées des messages les plus chargés sur le thème de la création d'entreprise ; pseudonymes retirés. Les étiquettes vertes rappellent le résultat correspondant estimé sur MiDAS. Le corpus illustre une séquence, il n'en mesure pas la fréquence.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6236208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Reddit (via Arctic Shift), forum-juridique.net et Juritravail, 2019-2026 ·.</a:t>
            </a:r>
            <a:endParaRPr lang="en-US" sz="850" dirty="0"/>
          </a:p>
        </p:txBody>
      </p:sp>
      <p:sp>
        <p:nvSpPr>
          <p:cNvPr id="49" name="Espace réservé du texte 2">
            <a:extLst>
              <a:ext uri="{FF2B5EF4-FFF2-40B4-BE49-F238E27FC236}">
                <a16:creationId xmlns:a16="http://schemas.microsoft.com/office/drawing/2014/main" id="{FD57ADA2-BCA5-2716-8148-BD11B08E2E03}"/>
              </a:ext>
            </a:extLst>
          </p:cNvPr>
          <p:cNvSpPr txBox="1">
            <a:spLocks/>
          </p:cNvSpPr>
          <p:nvPr/>
        </p:nvSpPr>
        <p:spPr>
          <a:xfrm>
            <a:off x="1051560" y="2450592"/>
            <a:ext cx="2542032" cy="1628372"/>
          </a:xfrm>
          <a:prstGeom prst="rect">
            <a:avLst/>
          </a:prstGeom>
          <a:solidFill>
            <a:srgbClr val="E5F1DD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  <p:sp>
        <p:nvSpPr>
          <p:cNvPr id="51" name="Espace réservé du texte 2">
            <a:extLst>
              <a:ext uri="{FF2B5EF4-FFF2-40B4-BE49-F238E27FC236}">
                <a16:creationId xmlns:a16="http://schemas.microsoft.com/office/drawing/2014/main" id="{6A2EF164-52D4-430A-032E-4E90B84CBD9C}"/>
              </a:ext>
            </a:extLst>
          </p:cNvPr>
          <p:cNvSpPr txBox="1">
            <a:spLocks/>
          </p:cNvSpPr>
          <p:nvPr/>
        </p:nvSpPr>
        <p:spPr>
          <a:xfrm>
            <a:off x="1069848" y="4148281"/>
            <a:ext cx="2542032" cy="1628372"/>
          </a:xfrm>
          <a:prstGeom prst="rect">
            <a:avLst/>
          </a:prstGeom>
          <a:solidFill>
            <a:srgbClr val="E5F1DD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  <p:sp>
        <p:nvSpPr>
          <p:cNvPr id="53" name="Espace réservé du texte 2">
            <a:extLst>
              <a:ext uri="{FF2B5EF4-FFF2-40B4-BE49-F238E27FC236}">
                <a16:creationId xmlns:a16="http://schemas.microsoft.com/office/drawing/2014/main" id="{4A851969-8473-ACBB-312C-152C3EE42BAB}"/>
              </a:ext>
            </a:extLst>
          </p:cNvPr>
          <p:cNvSpPr txBox="1">
            <a:spLocks/>
          </p:cNvSpPr>
          <p:nvPr/>
        </p:nvSpPr>
        <p:spPr>
          <a:xfrm>
            <a:off x="3776472" y="2450592"/>
            <a:ext cx="2542032" cy="1628372"/>
          </a:xfrm>
          <a:prstGeom prst="rect">
            <a:avLst/>
          </a:prstGeom>
          <a:solidFill>
            <a:srgbClr val="E5F1DD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  <p:sp>
        <p:nvSpPr>
          <p:cNvPr id="55" name="Espace réservé du texte 2">
            <a:extLst>
              <a:ext uri="{FF2B5EF4-FFF2-40B4-BE49-F238E27FC236}">
                <a16:creationId xmlns:a16="http://schemas.microsoft.com/office/drawing/2014/main" id="{1C016E4B-6F14-990C-F964-D405FB87DCF0}"/>
              </a:ext>
            </a:extLst>
          </p:cNvPr>
          <p:cNvSpPr txBox="1">
            <a:spLocks/>
          </p:cNvSpPr>
          <p:nvPr/>
        </p:nvSpPr>
        <p:spPr>
          <a:xfrm>
            <a:off x="3776472" y="4178438"/>
            <a:ext cx="2542032" cy="1628372"/>
          </a:xfrm>
          <a:prstGeom prst="rect">
            <a:avLst/>
          </a:prstGeom>
          <a:solidFill>
            <a:srgbClr val="E5F1DD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  <p:sp>
        <p:nvSpPr>
          <p:cNvPr id="57" name="Espace réservé du texte 2">
            <a:extLst>
              <a:ext uri="{FF2B5EF4-FFF2-40B4-BE49-F238E27FC236}">
                <a16:creationId xmlns:a16="http://schemas.microsoft.com/office/drawing/2014/main" id="{853F5F11-8528-18B8-DD8E-88EBEBCDF0B0}"/>
              </a:ext>
            </a:extLst>
          </p:cNvPr>
          <p:cNvSpPr txBox="1">
            <a:spLocks/>
          </p:cNvSpPr>
          <p:nvPr/>
        </p:nvSpPr>
        <p:spPr>
          <a:xfrm>
            <a:off x="6629400" y="2456317"/>
            <a:ext cx="2542032" cy="1628372"/>
          </a:xfrm>
          <a:prstGeom prst="rect">
            <a:avLst/>
          </a:prstGeom>
          <a:solidFill>
            <a:srgbClr val="E5F1DD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01DCD94D-9E96-F055-15F2-CC4D3F622C14}"/>
              </a:ext>
            </a:extLst>
          </p:cNvPr>
          <p:cNvSpPr txBox="1">
            <a:spLocks/>
          </p:cNvSpPr>
          <p:nvPr/>
        </p:nvSpPr>
        <p:spPr>
          <a:xfrm>
            <a:off x="6620256" y="4196726"/>
            <a:ext cx="2542032" cy="1628372"/>
          </a:xfrm>
          <a:prstGeom prst="rect">
            <a:avLst/>
          </a:prstGeom>
          <a:solidFill>
            <a:srgbClr val="E5F1DD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  <p:sp>
        <p:nvSpPr>
          <p:cNvPr id="61" name="Espace réservé du texte 2">
            <a:extLst>
              <a:ext uri="{FF2B5EF4-FFF2-40B4-BE49-F238E27FC236}">
                <a16:creationId xmlns:a16="http://schemas.microsoft.com/office/drawing/2014/main" id="{A0FF4661-B998-BB9D-49F3-D7B74ED41F1A}"/>
              </a:ext>
            </a:extLst>
          </p:cNvPr>
          <p:cNvSpPr txBox="1">
            <a:spLocks/>
          </p:cNvSpPr>
          <p:nvPr/>
        </p:nvSpPr>
        <p:spPr>
          <a:xfrm>
            <a:off x="9354312" y="2468510"/>
            <a:ext cx="2542032" cy="1628372"/>
          </a:xfrm>
          <a:prstGeom prst="rect">
            <a:avLst/>
          </a:prstGeom>
          <a:solidFill>
            <a:srgbClr val="E5F1DD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4A987AC5-A646-4CC8-99DF-0DFD4619D14E}"/>
              </a:ext>
            </a:extLst>
          </p:cNvPr>
          <p:cNvSpPr txBox="1">
            <a:spLocks/>
          </p:cNvSpPr>
          <p:nvPr/>
        </p:nvSpPr>
        <p:spPr>
          <a:xfrm>
            <a:off x="9381744" y="4196726"/>
            <a:ext cx="2542032" cy="1628372"/>
          </a:xfrm>
          <a:prstGeom prst="rect">
            <a:avLst/>
          </a:prstGeom>
          <a:solidFill>
            <a:srgbClr val="E5F1DD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 dirty="0"/>
          </a:p>
          <a:p>
            <a:r>
              <a:rPr lang="fr-FR" b="0" noProof="0" dirty="0">
                <a:solidFill>
                  <a:srgbClr val="E8F2E0"/>
                </a:solidFill>
              </a:rPr>
              <a:t>S</a:t>
            </a:r>
          </a:p>
          <a:p>
            <a:endParaRPr lang="fr-FR" b="0" noProof="0" dirty="0">
              <a:solidFill>
                <a:srgbClr val="E8F2E0"/>
              </a:solidFill>
            </a:endParaRPr>
          </a:p>
        </p:txBody>
      </p:sp>
      <p:sp>
        <p:nvSpPr>
          <p:cNvPr id="65" name="Espace réservé du texte 1">
            <a:extLst>
              <a:ext uri="{FF2B5EF4-FFF2-40B4-BE49-F238E27FC236}">
                <a16:creationId xmlns:a16="http://schemas.microsoft.com/office/drawing/2014/main" id="{D978DE55-806D-6D75-FFA6-E7966A040CF1}"/>
              </a:ext>
            </a:extLst>
          </p:cNvPr>
          <p:cNvSpPr txBox="1">
            <a:spLocks/>
          </p:cNvSpPr>
          <p:nvPr/>
        </p:nvSpPr>
        <p:spPr>
          <a:xfrm>
            <a:off x="3999712" y="29135"/>
            <a:ext cx="8061749" cy="1994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sz="1100" b="1" u="sng" cap="all" dirty="0">
                <a:solidFill>
                  <a:srgbClr val="288494"/>
                </a:solidFill>
                <a:latin typeface="Montserrat" pitchFamily="2" charset="77"/>
              </a:rPr>
              <a:t>EN complément – ANALYSE TEXTUELLE SUR DONNées de forum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29400" y="731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100" b="1" u="sng" cap="all">
                <a:solidFill>
                  <a:srgbClr val="288494"/>
                </a:solidFill>
                <a:latin typeface="Montserrat" pitchFamily="2" charset="77"/>
              </a:rPr>
              <a:t>EN COMPLÉMENT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97280" y="224028"/>
            <a:ext cx="10771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400">
              <a:lnSpc>
                <a:spcPct val="90000"/>
              </a:lnSpc>
            </a:pPr>
            <a:r>
              <a:rPr lang="en-US" b="1" dirty="0">
                <a:solidFill>
                  <a:srgbClr val="94C43E"/>
                </a:solidFill>
                <a:latin typeface="Montserrat" pitchFamily="2" charset="77"/>
              </a:rPr>
              <a:t>Les motifs, dans les mots des </a:t>
            </a:r>
            <a:r>
              <a:rPr lang="en-US" b="1" dirty="0" err="1">
                <a:solidFill>
                  <a:srgbClr val="94C43E"/>
                </a:solidFill>
                <a:latin typeface="Montserrat" pitchFamily="2" charset="77"/>
              </a:rPr>
              <a:t>salariés</a:t>
            </a:r>
            <a:endParaRPr lang="en-US" b="1" dirty="0">
              <a:solidFill>
                <a:srgbClr val="94C43E"/>
              </a:solidFill>
              <a:latin typeface="Montserrat" pitchFamily="2" charset="7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52728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QUESTION</a:t>
            </a:r>
            <a:endParaRPr lang="en-US" sz="850"/>
          </a:p>
        </p:txBody>
      </p:sp>
      <p:sp>
        <p:nvSpPr>
          <p:cNvPr id="5" name="Text 3"/>
          <p:cNvSpPr txBox="1"/>
          <p:nvPr/>
        </p:nvSpPr>
        <p:spPr>
          <a:xfrm>
            <a:off x="4169664" y="1207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NOUS FAISONS</a:t>
            </a:r>
            <a:endParaRPr lang="en-US" sz="850"/>
          </a:p>
        </p:txBody>
      </p:sp>
      <p:sp>
        <p:nvSpPr>
          <p:cNvPr id="6" name="Text 4"/>
          <p:cNvSpPr txBox="1"/>
          <p:nvPr/>
        </p:nvSpPr>
        <p:spPr>
          <a:xfrm>
            <a:off x="9107424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CELA PERMET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1252728" y="1609344"/>
            <a:ext cx="402336" cy="402336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252728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1252728" y="20848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profil comparable, la rupture conventionnelle change-t-elle les trajectoires ?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950208" y="1627632"/>
            <a:ext cx="0" cy="1453896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169664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Comparaison appariée et étude d'événements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4169664" y="1920240"/>
            <a:ext cx="45720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aux seuls sortants de CDI, et non à l'ensemble des allocataires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Documenter les écarts d'âge, de diplôme et de salaire de référence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Apparier sur score de propension : 217 variables, dont 24 mois d'historique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Suivre les trajectoires de 24 mois avant à 36 mois après, et jusqu'à 72 mois pour 2019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8887968" y="1627632"/>
            <a:ext cx="0" cy="1453896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1609344"/>
            <a:ext cx="384048" cy="384048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1709928"/>
            <a:ext cx="173736" cy="17373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07424" y="208483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Isoler ce qui tient à la voie de sortie, et non au profil ni à la conjoncture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1252728" y="3529584"/>
            <a:ext cx="402336" cy="402336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1252728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/>
          </a:p>
        </p:txBody>
      </p:sp>
      <p:sp>
        <p:nvSpPr>
          <p:cNvPr id="19" name="Text 16"/>
          <p:cNvSpPr txBox="1"/>
          <p:nvPr/>
        </p:nvSpPr>
        <p:spPr>
          <a:xfrm>
            <a:off x="1252728" y="40050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cache l'effet moyen ?</a:t>
            </a:r>
            <a:endParaRPr lang="en-US" sz="1150"/>
          </a:p>
        </p:txBody>
      </p:sp>
      <p:sp>
        <p:nvSpPr>
          <p:cNvPr id="20" name="Shape 17"/>
          <p:cNvSpPr/>
          <p:nvPr/>
        </p:nvSpPr>
        <p:spPr>
          <a:xfrm>
            <a:off x="3950208" y="3547872"/>
            <a:ext cx="0" cy="1060704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4169664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de séquences</a:t>
            </a:r>
            <a:endParaRPr lang="en-US" sz="1200"/>
          </a:p>
        </p:txBody>
      </p:sp>
      <p:sp>
        <p:nvSpPr>
          <p:cNvPr id="22" name="Text 19"/>
          <p:cNvSpPr txBox="1"/>
          <p:nvPr/>
        </p:nvSpPr>
        <p:spPr>
          <a:xfrm>
            <a:off x="4169664" y="384048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Reconstituer les parcours mensuels sur six ans, emploi comme hors emploi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Classer les trajectoires en parcours types communs aux deux groupes</a:t>
            </a:r>
            <a:endParaRPr lang="en-US" sz="9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la répartition des signataires et de leurs témoins appariés</a:t>
            </a:r>
            <a:endParaRPr lang="en-US" sz="950"/>
          </a:p>
        </p:txBody>
      </p:sp>
      <p:sp>
        <p:nvSpPr>
          <p:cNvPr id="23" name="Shape 20"/>
          <p:cNvSpPr/>
          <p:nvPr/>
        </p:nvSpPr>
        <p:spPr>
          <a:xfrm>
            <a:off x="8887968" y="3547872"/>
            <a:ext cx="0" cy="1060704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9107424" y="3529584"/>
            <a:ext cx="384048" cy="384048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630168"/>
            <a:ext cx="173736" cy="17373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107424" y="40050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Faire apparaître la diversité des parcours derrière la moyenne</a:t>
            </a:r>
            <a:endParaRPr lang="en-US" sz="1050"/>
          </a:p>
        </p:txBody>
      </p:sp>
      <p:sp>
        <p:nvSpPr>
          <p:cNvPr id="27" name="Shape 23"/>
          <p:cNvSpPr/>
          <p:nvPr/>
        </p:nvSpPr>
        <p:spPr>
          <a:xfrm>
            <a:off x="1051560" y="4745736"/>
            <a:ext cx="1077163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4"/>
          <p:cNvSpPr/>
          <p:nvPr/>
        </p:nvSpPr>
        <p:spPr>
          <a:xfrm>
            <a:off x="1207008" y="4882896"/>
            <a:ext cx="45720" cy="5669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1353312" y="5001768"/>
            <a:ext cx="365760" cy="36576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5093208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892808" y="4864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COMPLÉMENT</a:t>
            </a:r>
            <a:endParaRPr lang="en-US" sz="850"/>
          </a:p>
        </p:txBody>
      </p:sp>
      <p:sp>
        <p:nvSpPr>
          <p:cNvPr id="32" name="Text 27"/>
          <p:cNvSpPr txBox="1"/>
          <p:nvPr/>
        </p:nvSpPr>
        <p:spPr>
          <a:xfrm>
            <a:off x="1892808" y="5120640"/>
            <a:ext cx="9674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motifs, dans les mots des salariés. </a:t>
            </a:r>
            <a:r>
              <a:rPr lang="en-US" sz="10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administratives enregistrent ce que font les signataires, pas pourquoi ils ont signé. Un modèle de sujets sur environ 1 700 messages de forums éclaire les motifs déclarés, sans prétention à la représentativité.</a:t>
            </a:r>
            <a:endParaRPr lang="en-US" sz="1000"/>
          </a:p>
        </p:txBody>
      </p:sp>
      <p:sp>
        <p:nvSpPr>
          <p:cNvPr id="33" name="Shape 28"/>
          <p:cNvSpPr/>
          <p:nvPr/>
        </p:nvSpPr>
        <p:spPr>
          <a:xfrm>
            <a:off x="1051560" y="5797296"/>
            <a:ext cx="107716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6" y="5969508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581912" y="58338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MiDAS</a:t>
            </a:r>
            <a:r>
              <a:rPr lang="en-US" sz="100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appariement Dares, Cnaf et France Travail, 2017-2025</a:t>
            </a:r>
            <a:endParaRPr lang="en-US" sz="100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6007608"/>
            <a:ext cx="201168" cy="16459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656832" y="5807583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2022</a:t>
            </a:r>
            <a:r>
              <a:rPr lang="en-US" sz="100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trois ans de recul</a:t>
            </a:r>
            <a:endParaRPr lang="en-US" sz="100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6008751"/>
            <a:ext cx="201168" cy="16459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464040" y="58414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2019</a:t>
            </a:r>
            <a:r>
              <a:rPr lang="en-US" sz="100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six ans de recul</a:t>
            </a:r>
            <a:endParaRPr lang="en-U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dre apport 1"/>
          <p:cNvSpPr/>
          <p:nvPr/>
        </p:nvSpPr>
        <p:spPr>
          <a:xfrm>
            <a:off x="8577072" y="1335024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Cadre apport 2"/>
          <p:cNvSpPr/>
          <p:nvPr/>
        </p:nvSpPr>
        <p:spPr>
          <a:xfrm>
            <a:off x="8577072" y="2761488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Cadre apport 3"/>
          <p:cNvSpPr/>
          <p:nvPr/>
        </p:nvSpPr>
        <p:spPr>
          <a:xfrm>
            <a:off x="8577072" y="4187952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051560" y="216635"/>
            <a:ext cx="10771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1600" b="1" spc="-40" dirty="0">
                <a:solidFill>
                  <a:srgbClr val="94C43E"/>
                </a:solidFill>
                <a:latin typeface="Montserrat" pitchFamily="2" charset="77"/>
              </a:rPr>
              <a:t>CE QUE LES SALARIÉS ÉCRIVENT, ET CE QUE CELA APPORTE À L'ANALYSE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060704" y="600683"/>
            <a:ext cx="10771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Dix thèmes dégagés sans catégories imposées (NMF) : part moyenne du contenu des messages, et non part de la population des signataires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1252728" y="11155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THÈMES DU CORPUS · PART MOYENNE DU CONTENU</a:t>
            </a:r>
            <a:endParaRPr lang="en-US" sz="850"/>
          </a:p>
        </p:txBody>
      </p:sp>
      <p:sp>
        <p:nvSpPr>
          <p:cNvPr id="9" name="Text 7"/>
          <p:cNvSpPr txBox="1"/>
          <p:nvPr/>
        </p:nvSpPr>
        <p:spPr>
          <a:xfrm>
            <a:off x="5907024" y="1115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LES SALARIÉS ÉCRIVENT</a:t>
            </a:r>
            <a:endParaRPr lang="en-US" sz="850"/>
          </a:p>
        </p:txBody>
      </p:sp>
      <p:sp>
        <p:nvSpPr>
          <p:cNvPr id="10" name="Text 8"/>
          <p:cNvSpPr txBox="1"/>
          <p:nvPr/>
        </p:nvSpPr>
        <p:spPr>
          <a:xfrm>
            <a:off x="8778240" y="11155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CELA APPORTE À L'ANALYSE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1252728" y="14630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32 %</a:t>
            </a:r>
            <a:endParaRPr lang="en-US" sz="1900"/>
          </a:p>
        </p:txBody>
      </p:sp>
      <p:sp>
        <p:nvSpPr>
          <p:cNvPr id="12" name="Text 10"/>
          <p:cNvSpPr txBox="1"/>
          <p:nvPr/>
        </p:nvSpPr>
        <p:spPr>
          <a:xfrm>
            <a:off x="2148840" y="14813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 une rupture plutôt qu'une démission</a:t>
            </a:r>
            <a:endParaRPr lang="en-US" sz="1050"/>
          </a:p>
        </p:txBody>
      </p:sp>
      <p:sp>
        <p:nvSpPr>
          <p:cNvPr id="13" name="Text 11"/>
          <p:cNvSpPr txBox="1"/>
          <p:nvPr/>
        </p:nvSpPr>
        <p:spPr>
          <a:xfrm>
            <a:off x="1252728" y="186537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Envie de partir : insatisfaction, conflit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3995928" y="1929384"/>
            <a:ext cx="960120" cy="82296"/>
          </a:xfrm>
          <a:prstGeom prst="roundRect">
            <a:avLst>
              <a:gd name="adj" fmla="val 22222"/>
            </a:avLst>
          </a:prstGeom>
          <a:solidFill>
            <a:srgbClr val="E4EAE9"/>
          </a:solidFill>
          <a:ln w="12700">
            <a:solidFill>
              <a:srgbClr val="E4EA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Barre Envie de partir : insatisfaction, conflit"/>
          <p:cNvSpPr/>
          <p:nvPr/>
        </p:nvSpPr>
        <p:spPr>
          <a:xfrm>
            <a:off x="3995928" y="1929384"/>
            <a:ext cx="960120" cy="82296"/>
          </a:xfrm>
          <a:prstGeom prst="roundRect">
            <a:avLst>
              <a:gd name="adj" fmla="val 22222"/>
            </a:avLst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905756" y="1897380"/>
            <a:ext cx="105156" cy="105156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5111496" y="18653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18,2 %</a:t>
            </a:r>
            <a:endParaRPr lang="en-US" sz="850"/>
          </a:p>
        </p:txBody>
      </p:sp>
      <p:sp>
        <p:nvSpPr>
          <p:cNvPr id="18" name="Text 16"/>
          <p:cNvSpPr txBox="1"/>
          <p:nvPr/>
        </p:nvSpPr>
        <p:spPr>
          <a:xfrm>
            <a:off x="1252728" y="222199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Garder ses droits plutôt que démissionner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3995928" y="2286000"/>
            <a:ext cx="960120" cy="82296"/>
          </a:xfrm>
          <a:prstGeom prst="roundRect">
            <a:avLst>
              <a:gd name="adj" fmla="val 22222"/>
            </a:avLst>
          </a:prstGeom>
          <a:solidFill>
            <a:srgbClr val="E4EAE9"/>
          </a:solidFill>
          <a:ln w="12700">
            <a:solidFill>
              <a:srgbClr val="E4EA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Barre Garder ses droits plutôt que démissionner"/>
          <p:cNvSpPr/>
          <p:nvPr/>
        </p:nvSpPr>
        <p:spPr>
          <a:xfrm>
            <a:off x="3995928" y="2286000"/>
            <a:ext cx="722728" cy="82296"/>
          </a:xfrm>
          <a:prstGeom prst="roundRect">
            <a:avLst>
              <a:gd name="adj" fmla="val 22222"/>
            </a:avLst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68364" y="2253996"/>
            <a:ext cx="105156" cy="105156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5111496" y="22219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13,7 %</a:t>
            </a:r>
            <a:endParaRPr lang="en-US" sz="85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1499616"/>
            <a:ext cx="137160" cy="1371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907024" y="1700784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i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Si je démissionne je sais que je n'aurai pas droit au chômage. »</a:t>
            </a:r>
            <a:endParaRPr lang="en-US" sz="900"/>
          </a:p>
        </p:txBody>
      </p:sp>
      <p:sp>
        <p:nvSpPr>
          <p:cNvPr id="25" name="Text 22"/>
          <p:cNvSpPr txBox="1"/>
          <p:nvPr/>
        </p:nvSpPr>
        <p:spPr>
          <a:xfrm>
            <a:off x="5907024" y="2414016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2023</a:t>
            </a:r>
            <a:endParaRPr lang="en-US" sz="750"/>
          </a:p>
        </p:txBody>
      </p:sp>
      <p:sp>
        <p:nvSpPr>
          <p:cNvPr id="26" name="Text 23"/>
          <p:cNvSpPr txBox="1"/>
          <p:nvPr/>
        </p:nvSpPr>
        <p:spPr>
          <a:xfrm>
            <a:off x="8778240" y="1481328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>
                <a:solidFill>
                  <a:srgbClr val="9AA6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HORS CHAMP DANS MiDAS</a:t>
            </a:r>
            <a:endParaRPr lang="en-US" sz="750"/>
          </a:p>
        </p:txBody>
      </p:sp>
      <p:sp>
        <p:nvSpPr>
          <p:cNvPr id="27" name="Text 24"/>
          <p:cNvSpPr txBox="1"/>
          <p:nvPr/>
        </p:nvSpPr>
        <p:spPr>
          <a:xfrm>
            <a:off x="8778240" y="1664208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L'alternative n'est pas un départ indemnisé</a:t>
            </a:r>
            <a:endParaRPr lang="en-US" sz="1100"/>
          </a:p>
        </p:txBody>
      </p:sp>
      <p:sp>
        <p:nvSpPr>
          <p:cNvPr id="28" name="Text 25"/>
          <p:cNvSpPr txBox="1"/>
          <p:nvPr/>
        </p:nvSpPr>
        <p:spPr>
          <a:xfrm>
            <a:off x="8778240" y="20116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fr-FR" sz="90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démission n’ouvre pas de droit : ces salariés restent hors des données. Et quand la rupture leur est refusée, la détresse apparaît dans 36 % des messages, contre 14 % quand elle est obtenue.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252728" y="28895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24 %</a:t>
            </a:r>
            <a:endParaRPr lang="en-US" sz="1900"/>
          </a:p>
        </p:txBody>
      </p:sp>
      <p:sp>
        <p:nvSpPr>
          <p:cNvPr id="30" name="Text 27"/>
          <p:cNvSpPr txBox="1"/>
          <p:nvPr/>
        </p:nvSpPr>
        <p:spPr>
          <a:xfrm>
            <a:off x="2148840" y="29077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Ruptures subies</a:t>
            </a:r>
            <a:endParaRPr lang="en-US" sz="1050"/>
          </a:p>
        </p:txBody>
      </p:sp>
      <p:sp>
        <p:nvSpPr>
          <p:cNvPr id="31" name="Text 28"/>
          <p:cNvSpPr txBox="1"/>
          <p:nvPr/>
        </p:nvSpPr>
        <p:spPr>
          <a:xfrm>
            <a:off x="1252728" y="329184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Menace de licenciement pour faute, abandon de poste</a:t>
            </a:r>
            <a:endParaRPr lang="en-US" sz="850"/>
          </a:p>
        </p:txBody>
      </p:sp>
      <p:sp>
        <p:nvSpPr>
          <p:cNvPr id="32" name="Shape 29"/>
          <p:cNvSpPr/>
          <p:nvPr/>
        </p:nvSpPr>
        <p:spPr>
          <a:xfrm>
            <a:off x="3995928" y="3355848"/>
            <a:ext cx="960120" cy="82296"/>
          </a:xfrm>
          <a:prstGeom prst="roundRect">
            <a:avLst>
              <a:gd name="adj" fmla="val 22222"/>
            </a:avLst>
          </a:prstGeom>
          <a:solidFill>
            <a:srgbClr val="E4EAE9"/>
          </a:solidFill>
          <a:ln w="12700">
            <a:solidFill>
              <a:srgbClr val="E4EA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Barre Menace de licenciement pour faute, abandon de poste"/>
          <p:cNvSpPr/>
          <p:nvPr/>
        </p:nvSpPr>
        <p:spPr>
          <a:xfrm>
            <a:off x="3995928" y="3355848"/>
            <a:ext cx="516988" cy="82296"/>
          </a:xfrm>
          <a:prstGeom prst="roundRect">
            <a:avLst>
              <a:gd name="adj" fmla="val 22222"/>
            </a:avLst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1"/>
          <p:cNvSpPr/>
          <p:nvPr/>
        </p:nvSpPr>
        <p:spPr>
          <a:xfrm>
            <a:off x="4462624" y="3323844"/>
            <a:ext cx="105156" cy="105156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 txBox="1"/>
          <p:nvPr/>
        </p:nvSpPr>
        <p:spPr>
          <a:xfrm>
            <a:off x="5111496" y="329184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9,8 %</a:t>
            </a:r>
            <a:endParaRPr lang="en-US" sz="850"/>
          </a:p>
        </p:txBody>
      </p:sp>
      <p:sp>
        <p:nvSpPr>
          <p:cNvPr id="36" name="Text 33"/>
          <p:cNvSpPr txBox="1"/>
          <p:nvPr/>
        </p:nvSpPr>
        <p:spPr>
          <a:xfrm>
            <a:off x="1252728" y="352958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 maladie, burn-out</a:t>
            </a:r>
            <a:endParaRPr lang="en-US" sz="850"/>
          </a:p>
        </p:txBody>
      </p:sp>
      <p:sp>
        <p:nvSpPr>
          <p:cNvPr id="37" name="Shape 34"/>
          <p:cNvSpPr/>
          <p:nvPr/>
        </p:nvSpPr>
        <p:spPr>
          <a:xfrm>
            <a:off x="3995928" y="3593592"/>
            <a:ext cx="960120" cy="82296"/>
          </a:xfrm>
          <a:prstGeom prst="roundRect">
            <a:avLst>
              <a:gd name="adj" fmla="val 22222"/>
            </a:avLst>
          </a:prstGeom>
          <a:solidFill>
            <a:srgbClr val="E4EAE9"/>
          </a:solidFill>
          <a:ln w="12700">
            <a:solidFill>
              <a:srgbClr val="E4EA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arre Arrêt maladie, burn-out"/>
          <p:cNvSpPr/>
          <p:nvPr/>
        </p:nvSpPr>
        <p:spPr>
          <a:xfrm>
            <a:off x="3995928" y="3593592"/>
            <a:ext cx="390378" cy="82296"/>
          </a:xfrm>
          <a:prstGeom prst="roundRect">
            <a:avLst>
              <a:gd name="adj" fmla="val 22222"/>
            </a:avLst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4336014" y="3561588"/>
            <a:ext cx="105156" cy="105156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 txBox="1"/>
          <p:nvPr/>
        </p:nvSpPr>
        <p:spPr>
          <a:xfrm>
            <a:off x="5111496" y="35295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7,4 %</a:t>
            </a:r>
            <a:endParaRPr lang="en-US" sz="850"/>
          </a:p>
        </p:txBody>
      </p:sp>
      <p:sp>
        <p:nvSpPr>
          <p:cNvPr id="41" name="Text 38"/>
          <p:cNvSpPr txBox="1"/>
          <p:nvPr/>
        </p:nvSpPr>
        <p:spPr>
          <a:xfrm>
            <a:off x="1252728" y="376732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Rupture à la place d'un licenciement économique</a:t>
            </a:r>
            <a:endParaRPr lang="en-US" sz="850"/>
          </a:p>
        </p:txBody>
      </p:sp>
      <p:sp>
        <p:nvSpPr>
          <p:cNvPr id="42" name="Shape 39"/>
          <p:cNvSpPr/>
          <p:nvPr/>
        </p:nvSpPr>
        <p:spPr>
          <a:xfrm>
            <a:off x="3995928" y="3831336"/>
            <a:ext cx="960120" cy="82296"/>
          </a:xfrm>
          <a:prstGeom prst="roundRect">
            <a:avLst>
              <a:gd name="adj" fmla="val 22222"/>
            </a:avLst>
          </a:prstGeom>
          <a:solidFill>
            <a:srgbClr val="E4EAE9"/>
          </a:solidFill>
          <a:ln w="12700">
            <a:solidFill>
              <a:srgbClr val="E4EA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Barre Rupture à la place d'un licenciement économique"/>
          <p:cNvSpPr/>
          <p:nvPr/>
        </p:nvSpPr>
        <p:spPr>
          <a:xfrm>
            <a:off x="3995928" y="3831336"/>
            <a:ext cx="358726" cy="82296"/>
          </a:xfrm>
          <a:prstGeom prst="roundRect">
            <a:avLst>
              <a:gd name="adj" fmla="val 22222"/>
            </a:avLst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1"/>
          <p:cNvSpPr/>
          <p:nvPr/>
        </p:nvSpPr>
        <p:spPr>
          <a:xfrm>
            <a:off x="4304362" y="3799332"/>
            <a:ext cx="105156" cy="105156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 txBox="1"/>
          <p:nvPr/>
        </p:nvSpPr>
        <p:spPr>
          <a:xfrm>
            <a:off x="5111496" y="376732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6,8 %</a:t>
            </a:r>
            <a:endParaRPr lang="en-US" sz="85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926080"/>
            <a:ext cx="137160" cy="137160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5907024" y="3127248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i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Il a ajouté qu'il veut faire une rupture conventionnelle car un licenciement lui coûterait trop cher. »</a:t>
            </a:r>
            <a:endParaRPr lang="en-US" sz="900"/>
          </a:p>
        </p:txBody>
      </p:sp>
      <p:sp>
        <p:nvSpPr>
          <p:cNvPr id="48" name="Text 44"/>
          <p:cNvSpPr txBox="1"/>
          <p:nvPr/>
        </p:nvSpPr>
        <p:spPr>
          <a:xfrm>
            <a:off x="5907024" y="3840480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2023</a:t>
            </a:r>
            <a:endParaRPr lang="en-US" sz="750"/>
          </a:p>
        </p:txBody>
      </p:sp>
      <p:sp>
        <p:nvSpPr>
          <p:cNvPr id="49" name="Text 45"/>
          <p:cNvSpPr txBox="1"/>
          <p:nvPr/>
        </p:nvSpPr>
        <p:spPr>
          <a:xfrm>
            <a:off x="8778240" y="2907792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>
                <a:solidFill>
                  <a:srgbClr val="9AA6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 OBSERVABLE DANS MiDAS</a:t>
            </a:r>
            <a:endParaRPr lang="en-US" sz="750"/>
          </a:p>
        </p:txBody>
      </p:sp>
      <p:sp>
        <p:nvSpPr>
          <p:cNvPr id="50" name="Text 46"/>
          <p:cNvSpPr txBox="1"/>
          <p:nvPr/>
        </p:nvSpPr>
        <p:spPr>
          <a:xfrm>
            <a:off x="8778240" y="3090672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prémisse du « choix » ne vaut pas pour tous</a:t>
            </a:r>
            <a:endParaRPr lang="en-US" sz="1100"/>
          </a:p>
        </p:txBody>
      </p:sp>
      <p:sp>
        <p:nvSpPr>
          <p:cNvPr id="51" name="Text 47"/>
          <p:cNvSpPr txBox="1"/>
          <p:nvPr/>
        </p:nvSpPr>
        <p:spPr>
          <a:xfrm>
            <a:off x="8778240" y="3438144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Même ordre de grandeur que les 29 % de signataires contraints (Bourieau, 2013) et les 24 % de substitutions à un licenciement (Carry, 2025).</a:t>
            </a:r>
            <a:endParaRPr lang="en-US" sz="900"/>
          </a:p>
        </p:txBody>
      </p:sp>
      <p:sp>
        <p:nvSpPr>
          <p:cNvPr id="52" name="Text 48"/>
          <p:cNvSpPr txBox="1"/>
          <p:nvPr/>
        </p:nvSpPr>
        <p:spPr>
          <a:xfrm>
            <a:off x="1252728" y="43159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6FA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13 %</a:t>
            </a:r>
            <a:endParaRPr lang="en-US" sz="1900"/>
          </a:p>
        </p:txBody>
      </p:sp>
      <p:sp>
        <p:nvSpPr>
          <p:cNvPr id="53" name="Text 49"/>
          <p:cNvSpPr txBox="1"/>
          <p:nvPr/>
        </p:nvSpPr>
        <p:spPr>
          <a:xfrm>
            <a:off x="2148840" y="43342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Transitions après la rupture</a:t>
            </a:r>
            <a:endParaRPr lang="en-US" sz="1050"/>
          </a:p>
        </p:txBody>
      </p:sp>
      <p:sp>
        <p:nvSpPr>
          <p:cNvPr id="54" name="Text 50"/>
          <p:cNvSpPr txBox="1"/>
          <p:nvPr/>
        </p:nvSpPr>
        <p:spPr>
          <a:xfrm>
            <a:off x="1252728" y="471830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 d'entreprise financée par l'ARE ou l'ARCE</a:t>
            </a:r>
            <a:endParaRPr lang="en-US" sz="850"/>
          </a:p>
        </p:txBody>
      </p:sp>
      <p:sp>
        <p:nvSpPr>
          <p:cNvPr id="55" name="Shape 51"/>
          <p:cNvSpPr/>
          <p:nvPr/>
        </p:nvSpPr>
        <p:spPr>
          <a:xfrm>
            <a:off x="3995928" y="4782312"/>
            <a:ext cx="960120" cy="82296"/>
          </a:xfrm>
          <a:prstGeom prst="roundRect">
            <a:avLst>
              <a:gd name="adj" fmla="val 22222"/>
            </a:avLst>
          </a:prstGeom>
          <a:solidFill>
            <a:srgbClr val="E4EAE9"/>
          </a:solidFill>
          <a:ln w="12700">
            <a:solidFill>
              <a:srgbClr val="E4EA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Barre Création d'entreprise financée par l'ARE ou l'ARCE"/>
          <p:cNvSpPr/>
          <p:nvPr/>
        </p:nvSpPr>
        <p:spPr>
          <a:xfrm>
            <a:off x="3995928" y="4782312"/>
            <a:ext cx="416755" cy="82296"/>
          </a:xfrm>
          <a:prstGeom prst="roundRect">
            <a:avLst>
              <a:gd name="adj" fmla="val 22222"/>
            </a:avLst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3"/>
          <p:cNvSpPr/>
          <p:nvPr/>
        </p:nvSpPr>
        <p:spPr>
          <a:xfrm>
            <a:off x="4362391" y="4750308"/>
            <a:ext cx="105156" cy="105156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4"/>
          <p:cNvSpPr txBox="1"/>
          <p:nvPr/>
        </p:nvSpPr>
        <p:spPr>
          <a:xfrm>
            <a:off x="5111496" y="47183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7,9 %</a:t>
            </a:r>
            <a:endParaRPr lang="en-US" sz="850"/>
          </a:p>
        </p:txBody>
      </p:sp>
      <p:sp>
        <p:nvSpPr>
          <p:cNvPr id="59" name="Text 55"/>
          <p:cNvSpPr txBox="1"/>
          <p:nvPr/>
        </p:nvSpPr>
        <p:spPr>
          <a:xfrm>
            <a:off x="1252728" y="507492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Périodes d'essai, nouveaux emplois</a:t>
            </a:r>
            <a:endParaRPr lang="en-US" sz="850"/>
          </a:p>
        </p:txBody>
      </p:sp>
      <p:sp>
        <p:nvSpPr>
          <p:cNvPr id="60" name="Shape 56"/>
          <p:cNvSpPr/>
          <p:nvPr/>
        </p:nvSpPr>
        <p:spPr>
          <a:xfrm>
            <a:off x="3995928" y="5138928"/>
            <a:ext cx="960120" cy="82296"/>
          </a:xfrm>
          <a:prstGeom prst="roundRect">
            <a:avLst>
              <a:gd name="adj" fmla="val 22222"/>
            </a:avLst>
          </a:prstGeom>
          <a:solidFill>
            <a:srgbClr val="E4EAE9"/>
          </a:solidFill>
          <a:ln w="12700">
            <a:solidFill>
              <a:srgbClr val="E4EA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Barre Périodes d'essai, nouveaux emplois"/>
          <p:cNvSpPr/>
          <p:nvPr/>
        </p:nvSpPr>
        <p:spPr>
          <a:xfrm>
            <a:off x="3995928" y="5138928"/>
            <a:ext cx="258494" cy="82296"/>
          </a:xfrm>
          <a:prstGeom prst="roundRect">
            <a:avLst>
              <a:gd name="adj" fmla="val 22222"/>
            </a:avLst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58"/>
          <p:cNvSpPr/>
          <p:nvPr/>
        </p:nvSpPr>
        <p:spPr>
          <a:xfrm>
            <a:off x="4204130" y="5106924"/>
            <a:ext cx="105156" cy="105156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59"/>
          <p:cNvSpPr txBox="1"/>
          <p:nvPr/>
        </p:nvSpPr>
        <p:spPr>
          <a:xfrm>
            <a:off x="5111496" y="50749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4,9 %</a:t>
            </a:r>
            <a:endParaRPr lang="en-US" sz="850"/>
          </a:p>
        </p:txBody>
      </p:sp>
      <p:pic>
        <p:nvPicPr>
          <p:cNvPr id="6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4352544"/>
            <a:ext cx="137160" cy="137160"/>
          </a:xfrm>
          <a:prstGeom prst="rect">
            <a:avLst/>
          </a:prstGeom>
        </p:spPr>
      </p:pic>
      <p:sp>
        <p:nvSpPr>
          <p:cNvPr id="65" name="Text 60"/>
          <p:cNvSpPr txBox="1"/>
          <p:nvPr/>
        </p:nvSpPr>
        <p:spPr>
          <a:xfrm>
            <a:off x="5907024" y="4553712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i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Comme la première année sera certainement un peu difficile, j'aimerais toucher mes allocations chômage pour avoir un filet de sécurité. »</a:t>
            </a:r>
            <a:endParaRPr lang="en-US" sz="900"/>
          </a:p>
        </p:txBody>
      </p:sp>
      <p:sp>
        <p:nvSpPr>
          <p:cNvPr id="66" name="Text 61"/>
          <p:cNvSpPr txBox="1"/>
          <p:nvPr/>
        </p:nvSpPr>
        <p:spPr>
          <a:xfrm>
            <a:off x="5907024" y="5266944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r/conseiljuridique, 2024</a:t>
            </a:r>
            <a:endParaRPr lang="en-US" sz="750"/>
          </a:p>
        </p:txBody>
      </p:sp>
      <p:sp>
        <p:nvSpPr>
          <p:cNvPr id="67" name="Text 62"/>
          <p:cNvSpPr txBox="1"/>
          <p:nvPr/>
        </p:nvSpPr>
        <p:spPr>
          <a:xfrm>
            <a:off x="8778240" y="433425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>
                <a:solidFill>
                  <a:srgbClr val="9AA6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INFÉRÉ DANS MiDAS</a:t>
            </a:r>
            <a:endParaRPr lang="en-US" sz="750"/>
          </a:p>
        </p:txBody>
      </p:sp>
      <p:sp>
        <p:nvSpPr>
          <p:cNvPr id="68" name="Text 63"/>
          <p:cNvSpPr txBox="1"/>
          <p:nvPr/>
        </p:nvSpPr>
        <p:spPr>
          <a:xfrm>
            <a:off x="8778240" y="4517136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6FA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droit finance un projet préparé</a:t>
            </a:r>
            <a:endParaRPr lang="en-US" sz="1100"/>
          </a:p>
        </p:txBody>
      </p:sp>
      <p:sp>
        <p:nvSpPr>
          <p:cNvPr id="69" name="Text 64"/>
          <p:cNvSpPr txBox="1"/>
          <p:nvPr/>
        </p:nvSpPr>
        <p:spPr>
          <a:xfrm>
            <a:off x="8778240" y="4864608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 de l'intérieur ce que la forêt aléatoire laissait supposer : une installation choisie, et non un repli faute d'emploi salarié.</a:t>
            </a:r>
            <a:endParaRPr lang="en-US" sz="900"/>
          </a:p>
        </p:txBody>
      </p:sp>
      <p:sp>
        <p:nvSpPr>
          <p:cNvPr id="70" name="Text 65"/>
          <p:cNvSpPr txBox="1"/>
          <p:nvPr/>
        </p:nvSpPr>
        <p:spPr>
          <a:xfrm>
            <a:off x="1289304" y="5779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>
                <a:solidFill>
                  <a:srgbClr val="9AA6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31 %  </a:t>
            </a:r>
            <a:r>
              <a:rPr lang="en-US" sz="900" b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Procédure et argent</a:t>
            </a:r>
            <a:r>
              <a:rPr lang="en-US" sz="90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démarches et dates, montant de l'indemnité, solde de tout compte. Contenu administratif, sans portée pour l'analyse.</a:t>
            </a:r>
            <a:endParaRPr lang="en-US" sz="900"/>
          </a:p>
        </p:txBody>
      </p:sp>
      <p:sp>
        <p:nvSpPr>
          <p:cNvPr id="71" name="Text 66"/>
          <p:cNvSpPr txBox="1"/>
          <p:nvPr/>
        </p:nvSpPr>
        <p:spPr>
          <a:xfrm>
            <a:off x="6446520" y="5779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corpus n'estime aucun effet : </a:t>
            </a:r>
            <a:r>
              <a:rPr lang="en-US" sz="95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documente de l'intérieur des mécanismes que les données ne font qu'inférer, et contredit l'une des prémisses de la réforme.</a:t>
            </a:r>
            <a:endParaRPr lang="en-US" sz="950"/>
          </a:p>
        </p:txBody>
      </p:sp>
      <p:sp>
        <p:nvSpPr>
          <p:cNvPr id="72" name="Text 67"/>
          <p:cNvSpPr txBox="1"/>
          <p:nvPr/>
        </p:nvSpPr>
        <p:spPr>
          <a:xfrm>
            <a:off x="1289304" y="6199632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Reddit (via Arctic Shift), forum-juridique.net et Juritravail, 2019-2026 ; modèle de thèmes (NMF, dix </a:t>
            </a:r>
            <a:r>
              <a:rPr lang="en-US" sz="850" i="1" err="1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thèmes</a:t>
            </a:r>
            <a:r>
              <a:rPr lang="en-US" sz="850" i="1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850"/>
          </a:p>
        </p:txBody>
      </p:sp>
      <p:sp>
        <p:nvSpPr>
          <p:cNvPr id="73" name="Espace réservé du texte 2">
            <a:extLst>
              <a:ext uri="{FF2B5EF4-FFF2-40B4-BE49-F238E27FC236}">
                <a16:creationId xmlns:a16="http://schemas.microsoft.com/office/drawing/2014/main" id="{56301D45-2C87-C637-0B12-3FD6120B14AF}"/>
              </a:ext>
            </a:extLst>
          </p:cNvPr>
          <p:cNvSpPr txBox="1">
            <a:spLocks/>
          </p:cNvSpPr>
          <p:nvPr/>
        </p:nvSpPr>
        <p:spPr>
          <a:xfrm>
            <a:off x="1064735" y="1337845"/>
            <a:ext cx="4558825" cy="1286483"/>
          </a:xfrm>
          <a:prstGeom prst="rect">
            <a:avLst/>
          </a:prstGeom>
          <a:solidFill>
            <a:schemeClr val="bg2">
              <a:lumMod val="40000"/>
              <a:lumOff val="60000"/>
              <a:alpha val="30196"/>
            </a:scheme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76" name="Espace réservé du texte 2">
            <a:extLst>
              <a:ext uri="{FF2B5EF4-FFF2-40B4-BE49-F238E27FC236}">
                <a16:creationId xmlns:a16="http://schemas.microsoft.com/office/drawing/2014/main" id="{39820EFE-96D4-3330-72C4-3EDF3FE8AE99}"/>
              </a:ext>
            </a:extLst>
          </p:cNvPr>
          <p:cNvSpPr txBox="1">
            <a:spLocks/>
          </p:cNvSpPr>
          <p:nvPr/>
        </p:nvSpPr>
        <p:spPr>
          <a:xfrm>
            <a:off x="1064735" y="2843784"/>
            <a:ext cx="4558825" cy="1341347"/>
          </a:xfrm>
          <a:prstGeom prst="rect">
            <a:avLst/>
          </a:prstGeom>
          <a:solidFill>
            <a:schemeClr val="bg2">
              <a:lumMod val="40000"/>
              <a:lumOff val="60000"/>
              <a:alpha val="30196"/>
            </a:scheme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78" name="Espace réservé du texte 2">
            <a:extLst>
              <a:ext uri="{FF2B5EF4-FFF2-40B4-BE49-F238E27FC236}">
                <a16:creationId xmlns:a16="http://schemas.microsoft.com/office/drawing/2014/main" id="{25658252-E33B-E136-7EBE-B244FCC8E90D}"/>
              </a:ext>
            </a:extLst>
          </p:cNvPr>
          <p:cNvSpPr txBox="1">
            <a:spLocks/>
          </p:cNvSpPr>
          <p:nvPr/>
        </p:nvSpPr>
        <p:spPr>
          <a:xfrm>
            <a:off x="1051560" y="4285212"/>
            <a:ext cx="4572000" cy="1341347"/>
          </a:xfrm>
          <a:prstGeom prst="rect">
            <a:avLst/>
          </a:prstGeom>
          <a:solidFill>
            <a:schemeClr val="bg2">
              <a:lumMod val="40000"/>
              <a:lumOff val="60000"/>
              <a:alpha val="30196"/>
            </a:scheme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80" name="Espace réservé du texte 2">
            <a:extLst>
              <a:ext uri="{FF2B5EF4-FFF2-40B4-BE49-F238E27FC236}">
                <a16:creationId xmlns:a16="http://schemas.microsoft.com/office/drawing/2014/main" id="{52B4AA3A-460E-C4CC-25A0-80721BE82891}"/>
              </a:ext>
            </a:extLst>
          </p:cNvPr>
          <p:cNvSpPr txBox="1">
            <a:spLocks/>
          </p:cNvSpPr>
          <p:nvPr/>
        </p:nvSpPr>
        <p:spPr>
          <a:xfrm>
            <a:off x="5778657" y="1352707"/>
            <a:ext cx="2615536" cy="1301118"/>
          </a:xfrm>
          <a:prstGeom prst="rect">
            <a:avLst/>
          </a:prstGeom>
          <a:solidFill>
            <a:srgbClr val="A6C6CB">
              <a:alpha val="30196"/>
            </a:srgb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86" name="Espace réservé du texte 2">
            <a:extLst>
              <a:ext uri="{FF2B5EF4-FFF2-40B4-BE49-F238E27FC236}">
                <a16:creationId xmlns:a16="http://schemas.microsoft.com/office/drawing/2014/main" id="{B0B0FE86-5438-9BEE-5068-7585302BEDF3}"/>
              </a:ext>
            </a:extLst>
          </p:cNvPr>
          <p:cNvSpPr txBox="1">
            <a:spLocks/>
          </p:cNvSpPr>
          <p:nvPr/>
        </p:nvSpPr>
        <p:spPr>
          <a:xfrm>
            <a:off x="5778657" y="2829149"/>
            <a:ext cx="2615536" cy="1355982"/>
          </a:xfrm>
          <a:prstGeom prst="rect">
            <a:avLst/>
          </a:prstGeom>
          <a:solidFill>
            <a:schemeClr val="accent4">
              <a:lumMod val="20000"/>
              <a:lumOff val="80000"/>
              <a:alpha val="30196"/>
            </a:scheme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88" name="Espace réservé du texte 2">
            <a:extLst>
              <a:ext uri="{FF2B5EF4-FFF2-40B4-BE49-F238E27FC236}">
                <a16:creationId xmlns:a16="http://schemas.microsoft.com/office/drawing/2014/main" id="{35F20457-784D-E72D-25FE-6D6B31025EA8}"/>
              </a:ext>
            </a:extLst>
          </p:cNvPr>
          <p:cNvSpPr txBox="1">
            <a:spLocks/>
          </p:cNvSpPr>
          <p:nvPr/>
        </p:nvSpPr>
        <p:spPr>
          <a:xfrm>
            <a:off x="5778657" y="4306763"/>
            <a:ext cx="2615536" cy="1292186"/>
          </a:xfrm>
          <a:prstGeom prst="rect">
            <a:avLst/>
          </a:prstGeom>
          <a:solidFill>
            <a:schemeClr val="accent5">
              <a:lumMod val="20000"/>
              <a:lumOff val="80000"/>
              <a:alpha val="30196"/>
            </a:scheme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90" name="Espace réservé du texte 2">
            <a:extLst>
              <a:ext uri="{FF2B5EF4-FFF2-40B4-BE49-F238E27FC236}">
                <a16:creationId xmlns:a16="http://schemas.microsoft.com/office/drawing/2014/main" id="{22AD91AA-EAE4-E396-7D2F-A3C1EA2131F1}"/>
              </a:ext>
            </a:extLst>
          </p:cNvPr>
          <p:cNvSpPr txBox="1">
            <a:spLocks/>
          </p:cNvSpPr>
          <p:nvPr/>
        </p:nvSpPr>
        <p:spPr>
          <a:xfrm>
            <a:off x="1051560" y="5724361"/>
            <a:ext cx="10771632" cy="420408"/>
          </a:xfrm>
          <a:prstGeom prst="rect">
            <a:avLst/>
          </a:prstGeom>
          <a:solidFill>
            <a:schemeClr val="bg2">
              <a:lumMod val="40000"/>
              <a:lumOff val="60000"/>
              <a:alpha val="30196"/>
            </a:scheme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7E9B001C-3A08-579F-A731-18525ADB2563}"/>
              </a:ext>
            </a:extLst>
          </p:cNvPr>
          <p:cNvCxnSpPr>
            <a:cxnSpLocks/>
          </p:cNvCxnSpPr>
          <p:nvPr/>
        </p:nvCxnSpPr>
        <p:spPr>
          <a:xfrm>
            <a:off x="1086993" y="1499616"/>
            <a:ext cx="0" cy="950405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D3E5949-58A2-1D52-199D-01F6926DE172}"/>
              </a:ext>
            </a:extLst>
          </p:cNvPr>
          <p:cNvCxnSpPr>
            <a:cxnSpLocks/>
          </p:cNvCxnSpPr>
          <p:nvPr/>
        </p:nvCxnSpPr>
        <p:spPr>
          <a:xfrm>
            <a:off x="1060704" y="3017805"/>
            <a:ext cx="0" cy="95040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96153D7C-3CC6-2B35-221A-AE130D1024F5}"/>
              </a:ext>
            </a:extLst>
          </p:cNvPr>
          <p:cNvCxnSpPr>
            <a:cxnSpLocks/>
          </p:cNvCxnSpPr>
          <p:nvPr/>
        </p:nvCxnSpPr>
        <p:spPr>
          <a:xfrm>
            <a:off x="1060704" y="4466145"/>
            <a:ext cx="0" cy="95040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96A675AB-722A-AA40-15E4-EED3140C0FA4}"/>
              </a:ext>
            </a:extLst>
          </p:cNvPr>
          <p:cNvSpPr txBox="1"/>
          <p:nvPr/>
        </p:nvSpPr>
        <p:spPr>
          <a:xfrm>
            <a:off x="5975604" y="-1754"/>
            <a:ext cx="61622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fr-FR" sz="1100" b="1" u="sng" cap="all" dirty="0">
                <a:solidFill>
                  <a:srgbClr val="288494"/>
                </a:solidFill>
                <a:latin typeface="Montserrat" pitchFamily="2" charset="77"/>
              </a:rPr>
              <a:t>EN complément – ANALYSE TEXTUELLE SUR DONNées de forum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41816" y="365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900" b="1" u="sng" cap="all" dirty="0">
                <a:solidFill>
                  <a:srgbClr val="288494"/>
                </a:solidFill>
                <a:latin typeface="Montserrat" pitchFamily="2" charset="77"/>
              </a:rPr>
              <a:t>CONCLUSION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51560" y="402336"/>
            <a:ext cx="10771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enseignements sur la rupture conventionnelle individuelle</a:t>
            </a:r>
            <a:endParaRPr lang="en-US" sz="2100"/>
          </a:p>
        </p:txBody>
      </p:sp>
      <p:sp>
        <p:nvSpPr>
          <p:cNvPr id="4" name="Text 2"/>
          <p:cNvSpPr txBox="1"/>
          <p:nvPr/>
        </p:nvSpPr>
        <p:spPr>
          <a:xfrm>
            <a:off x="1051560" y="868680"/>
            <a:ext cx="10771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Signataires de 2019 et 2022 appariés à des sortants de CDI pour un autre motif, suivis jusqu'à six ans après la fin du contrat</a:t>
            </a:r>
            <a:endParaRPr lang="en-US" sz="1050"/>
          </a:p>
        </p:txBody>
      </p:sp>
      <p:sp>
        <p:nvSpPr>
          <p:cNvPr id="5" name="Puce message 1"/>
          <p:cNvSpPr/>
          <p:nvPr/>
        </p:nvSpPr>
        <p:spPr>
          <a:xfrm>
            <a:off x="1289304" y="1389888"/>
            <a:ext cx="365760" cy="36576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172" y="1476756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64792" y="1408176"/>
            <a:ext cx="4265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RETOUR EN EMPLOI SALARIÉ</a:t>
            </a:r>
            <a:endParaRPr lang="en-US" sz="850"/>
          </a:p>
        </p:txBody>
      </p:sp>
      <p:sp>
        <p:nvSpPr>
          <p:cNvPr id="8" name="Text 5"/>
          <p:cNvSpPr txBox="1"/>
          <p:nvPr/>
        </p:nvSpPr>
        <p:spPr>
          <a:xfrm>
            <a:off x="1764792" y="1609344"/>
            <a:ext cx="4265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retard faible et transitoire</a:t>
            </a:r>
            <a:endParaRPr lang="en-US" sz="1350"/>
          </a:p>
        </p:txBody>
      </p:sp>
      <p:sp>
        <p:nvSpPr>
          <p:cNvPr id="9" name="Text 6"/>
          <p:cNvSpPr txBox="1"/>
          <p:nvPr/>
        </p:nvSpPr>
        <p:spPr>
          <a:xfrm>
            <a:off x="1764792" y="1901952"/>
            <a:ext cx="4265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L'essentiel de l'écart brut tient au profil de ceux qui signent, et non au dispositif lui-même : une fois les profils comparables, l'écart se referme.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1764792" y="2505456"/>
            <a:ext cx="426567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1856232" y="2523744"/>
            <a:ext cx="408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− 2,4 pts au maximum  ·  écart résorbé vers 30 mois</a:t>
            </a:r>
            <a:endParaRPr lang="en-US" sz="900"/>
          </a:p>
        </p:txBody>
      </p:sp>
      <p:sp>
        <p:nvSpPr>
          <p:cNvPr id="12" name="Puce message 2"/>
          <p:cNvSpPr/>
          <p:nvPr/>
        </p:nvSpPr>
        <p:spPr>
          <a:xfrm>
            <a:off x="6835140" y="1389888"/>
            <a:ext cx="365760" cy="365760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47675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0628" y="1408176"/>
            <a:ext cx="4265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OCCUPE CE TEMPS</a:t>
            </a:r>
            <a:endParaRPr lang="en-US" sz="850"/>
          </a:p>
        </p:txBody>
      </p:sp>
      <p:sp>
        <p:nvSpPr>
          <p:cNvPr id="15" name="Text 11"/>
          <p:cNvSpPr txBox="1"/>
          <p:nvPr/>
        </p:nvSpPr>
        <p:spPr>
          <a:xfrm>
            <a:off x="7310628" y="1609344"/>
            <a:ext cx="4265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6FA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transitions, non de l'inactivité</a:t>
            </a:r>
            <a:endParaRPr lang="en-US" sz="1350"/>
          </a:p>
        </p:txBody>
      </p:sp>
      <p:sp>
        <p:nvSpPr>
          <p:cNvPr id="16" name="Text 12"/>
          <p:cNvSpPr txBox="1"/>
          <p:nvPr/>
        </p:nvSpPr>
        <p:spPr>
          <a:xfrm>
            <a:off x="7310628" y="1901952"/>
            <a:ext cx="4265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signataires créent plus souvent une activité, se forment plus tôt et acceptent moins de contrats courts ; dès la troisième année, ils occupent plus souvent un emploi durable.</a:t>
            </a:r>
            <a:endParaRPr lang="en-US" sz="1000"/>
          </a:p>
        </p:txBody>
      </p:sp>
      <p:sp>
        <p:nvSpPr>
          <p:cNvPr id="17" name="Shape 13"/>
          <p:cNvSpPr/>
          <p:nvPr/>
        </p:nvSpPr>
        <p:spPr>
          <a:xfrm>
            <a:off x="7310628" y="2505456"/>
            <a:ext cx="426567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 txBox="1"/>
          <p:nvPr/>
        </p:nvSpPr>
        <p:spPr>
          <a:xfrm>
            <a:off x="7402068" y="2523744"/>
            <a:ext cx="408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Non-salariat + 5 à + 6 pts  ·  emploi durable + 0,5 pt à 36 mois</a:t>
            </a:r>
            <a:endParaRPr lang="en-US" sz="900"/>
          </a:p>
        </p:txBody>
      </p:sp>
      <p:sp>
        <p:nvSpPr>
          <p:cNvPr id="19" name="Puce message 3"/>
          <p:cNvSpPr/>
          <p:nvPr/>
        </p:nvSpPr>
        <p:spPr>
          <a:xfrm>
            <a:off x="1289304" y="3291840"/>
            <a:ext cx="365760" cy="365760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172" y="3378708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64792" y="3310128"/>
            <a:ext cx="4265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FORME DE L'ÉCART</a:t>
            </a:r>
            <a:endParaRPr lang="en-US" sz="850"/>
          </a:p>
        </p:txBody>
      </p:sp>
      <p:sp>
        <p:nvSpPr>
          <p:cNvPr id="22" name="Text 17"/>
          <p:cNvSpPr txBox="1"/>
          <p:nvPr/>
        </p:nvSpPr>
        <p:spPr>
          <a:xfrm>
            <a:off x="1764792" y="3511296"/>
            <a:ext cx="4265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bifurcation minoritaire et choisie</a:t>
            </a:r>
            <a:endParaRPr lang="en-US" sz="1350"/>
          </a:p>
        </p:txBody>
      </p:sp>
      <p:sp>
        <p:nvSpPr>
          <p:cNvPr id="23" name="Text 18"/>
          <p:cNvSpPr txBox="1"/>
          <p:nvPr/>
        </p:nvSpPr>
        <p:spPr>
          <a:xfrm>
            <a:off x="1764792" y="3803904"/>
            <a:ext cx="4265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majorité suit le même parcours que les témoins. L'écart vient d'un report vers l'indépendance, choisi par des profils qui avaient d'aussi bonnes perspectives salariées.</a:t>
            </a:r>
            <a:endParaRPr lang="en-US" sz="1000"/>
          </a:p>
        </p:txBody>
      </p:sp>
      <p:sp>
        <p:nvSpPr>
          <p:cNvPr id="24" name="Shape 19"/>
          <p:cNvSpPr/>
          <p:nvPr/>
        </p:nvSpPr>
        <p:spPr>
          <a:xfrm>
            <a:off x="1764792" y="4407408"/>
            <a:ext cx="426567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 txBox="1"/>
          <p:nvPr/>
        </p:nvSpPr>
        <p:spPr>
          <a:xfrm>
            <a:off x="1856232" y="4425696"/>
            <a:ext cx="408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Parcours « à son compte » : 21 % contre 15 % des témoins</a:t>
            </a:r>
            <a:endParaRPr lang="en-US" sz="900"/>
          </a:p>
        </p:txBody>
      </p:sp>
      <p:sp>
        <p:nvSpPr>
          <p:cNvPr id="26" name="Puce message 4"/>
          <p:cNvSpPr/>
          <p:nvPr/>
        </p:nvSpPr>
        <p:spPr>
          <a:xfrm>
            <a:off x="6835140" y="3291840"/>
            <a:ext cx="365760" cy="36576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3378708"/>
            <a:ext cx="192024" cy="19202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10628" y="3310128"/>
            <a:ext cx="4265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738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RECOURS À L'ASSURANCE CHÔMAGE</a:t>
            </a:r>
            <a:endParaRPr lang="en-US" sz="850"/>
          </a:p>
        </p:txBody>
      </p:sp>
      <p:sp>
        <p:nvSpPr>
          <p:cNvPr id="29" name="Text 23"/>
          <p:cNvSpPr txBox="1"/>
          <p:nvPr/>
        </p:nvSpPr>
        <p:spPr>
          <a:xfrm>
            <a:off x="7310628" y="3511296"/>
            <a:ext cx="4265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surcoût circonscrit, puis inversé</a:t>
            </a:r>
            <a:endParaRPr lang="en-US" sz="1350"/>
          </a:p>
        </p:txBody>
      </p:sp>
      <p:sp>
        <p:nvSpPr>
          <p:cNvPr id="30" name="Text 24"/>
          <p:cNvSpPr txBox="1"/>
          <p:nvPr/>
        </p:nvSpPr>
        <p:spPr>
          <a:xfrm>
            <a:off x="7310628" y="3803904"/>
            <a:ext cx="4265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consommation est légèrement supérieure jusqu'à l'épuisement des droits, puis devient inférieure : les témoins enchaînent plus souvent des parcours instables avec retours à l'indemnisation.</a:t>
            </a:r>
            <a:endParaRPr lang="en-US" sz="1000"/>
          </a:p>
        </p:txBody>
      </p:sp>
      <p:sp>
        <p:nvSpPr>
          <p:cNvPr id="31" name="Shape 25"/>
          <p:cNvSpPr/>
          <p:nvPr/>
        </p:nvSpPr>
        <p:spPr>
          <a:xfrm>
            <a:off x="7310628" y="4407408"/>
            <a:ext cx="426567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 txBox="1"/>
          <p:nvPr/>
        </p:nvSpPr>
        <p:spPr>
          <a:xfrm>
            <a:off x="7402068" y="4425696"/>
            <a:ext cx="408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+ 5,8 jours à 24 mois  ·  − 10,7 jours à 72 mois</a:t>
            </a:r>
            <a:endParaRPr lang="en-US" sz="900"/>
          </a:p>
        </p:txBody>
      </p:sp>
      <p:sp>
        <p:nvSpPr>
          <p:cNvPr id="33" name="Puce synthèse"/>
          <p:cNvSpPr/>
          <p:nvPr/>
        </p:nvSpPr>
        <p:spPr>
          <a:xfrm>
            <a:off x="1289304" y="5367528"/>
            <a:ext cx="420624" cy="420624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9888" y="546811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837944" y="5212080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CELA DIT DE L'HYPOTHÈSE TESTÉE</a:t>
            </a:r>
            <a:endParaRPr lang="en-US" sz="900"/>
          </a:p>
        </p:txBody>
      </p:sp>
      <p:sp>
        <p:nvSpPr>
          <p:cNvPr id="36" name="Text 29"/>
          <p:cNvSpPr txBox="1"/>
          <p:nvPr/>
        </p:nvSpPr>
        <p:spPr>
          <a:xfrm>
            <a:off x="1837944" y="543153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L'hypothèse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selon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laquelle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signataires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solliciteraient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davantage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l'assurance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chômage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leur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départ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choisi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b="1" dirty="0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n'est</a:t>
            </a:r>
            <a:r>
              <a:rPr lang="en-US" sz="115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 </a:t>
            </a:r>
            <a:r>
              <a:rPr lang="en-US" sz="1150" b="1" dirty="0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vérifiée</a:t>
            </a:r>
            <a:r>
              <a:rPr lang="en-US" sz="115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sur le versant </a:t>
            </a:r>
            <a:r>
              <a:rPr lang="en-US" sz="1150" b="1" dirty="0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salarié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le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surcoût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circonscrit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aux deux premières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années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finance des transitions —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d'activité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formation,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meilleur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appariement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plutôt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périodes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prolongées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hors de </a:t>
            </a:r>
            <a:r>
              <a:rPr lang="en-US" sz="1150" dirty="0" err="1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l'emploi</a:t>
            </a:r>
            <a:r>
              <a:rPr lang="en-US" sz="11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39" name="Espace réservé du texte 2">
            <a:extLst>
              <a:ext uri="{FF2B5EF4-FFF2-40B4-BE49-F238E27FC236}">
                <a16:creationId xmlns:a16="http://schemas.microsoft.com/office/drawing/2014/main" id="{A7A26FF4-4D78-0CF0-2FA6-398BE1F66224}"/>
              </a:ext>
            </a:extLst>
          </p:cNvPr>
          <p:cNvSpPr txBox="1">
            <a:spLocks/>
          </p:cNvSpPr>
          <p:nvPr/>
        </p:nvSpPr>
        <p:spPr>
          <a:xfrm>
            <a:off x="1051560" y="1219548"/>
            <a:ext cx="5436326" cy="1779683"/>
          </a:xfrm>
          <a:prstGeom prst="rect">
            <a:avLst/>
          </a:prstGeom>
          <a:solidFill>
            <a:srgbClr val="FFEACC">
              <a:alpha val="10196"/>
            </a:srgb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41" name="Espace réservé du texte 2">
            <a:extLst>
              <a:ext uri="{FF2B5EF4-FFF2-40B4-BE49-F238E27FC236}">
                <a16:creationId xmlns:a16="http://schemas.microsoft.com/office/drawing/2014/main" id="{DEC97D98-FA2C-645C-165F-DC537D9968E6}"/>
              </a:ext>
            </a:extLst>
          </p:cNvPr>
          <p:cNvSpPr txBox="1">
            <a:spLocks/>
          </p:cNvSpPr>
          <p:nvPr/>
        </p:nvSpPr>
        <p:spPr>
          <a:xfrm>
            <a:off x="6755674" y="1237838"/>
            <a:ext cx="5067518" cy="1779683"/>
          </a:xfrm>
          <a:prstGeom prst="rect">
            <a:avLst/>
          </a:prstGeom>
          <a:solidFill>
            <a:schemeClr val="accent5">
              <a:lumMod val="20000"/>
              <a:lumOff val="80000"/>
              <a:alpha val="10196"/>
            </a:scheme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43" name="Espace réservé du texte 2">
            <a:extLst>
              <a:ext uri="{FF2B5EF4-FFF2-40B4-BE49-F238E27FC236}">
                <a16:creationId xmlns:a16="http://schemas.microsoft.com/office/drawing/2014/main" id="{D534E6BE-F5DF-019B-C1CC-CCEF1F490D43}"/>
              </a:ext>
            </a:extLst>
          </p:cNvPr>
          <p:cNvSpPr txBox="1">
            <a:spLocks/>
          </p:cNvSpPr>
          <p:nvPr/>
        </p:nvSpPr>
        <p:spPr>
          <a:xfrm>
            <a:off x="1235963" y="3197526"/>
            <a:ext cx="5110407" cy="1779683"/>
          </a:xfrm>
          <a:prstGeom prst="rect">
            <a:avLst/>
          </a:prstGeom>
          <a:solidFill>
            <a:schemeClr val="accent3">
              <a:alpha val="10196"/>
            </a:scheme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  <p:sp>
        <p:nvSpPr>
          <p:cNvPr id="45" name="Espace réservé du texte 2">
            <a:extLst>
              <a:ext uri="{FF2B5EF4-FFF2-40B4-BE49-F238E27FC236}">
                <a16:creationId xmlns:a16="http://schemas.microsoft.com/office/drawing/2014/main" id="{C54B61BC-2C7A-AF51-9A32-F23DA927D716}"/>
              </a:ext>
            </a:extLst>
          </p:cNvPr>
          <p:cNvSpPr txBox="1">
            <a:spLocks/>
          </p:cNvSpPr>
          <p:nvPr/>
        </p:nvSpPr>
        <p:spPr>
          <a:xfrm>
            <a:off x="6725303" y="3185511"/>
            <a:ext cx="5436326" cy="1779683"/>
          </a:xfrm>
          <a:prstGeom prst="rect">
            <a:avLst/>
          </a:prstGeom>
          <a:solidFill>
            <a:srgbClr val="FFEACC">
              <a:alpha val="10196"/>
            </a:srgb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endParaRPr lang="fr-FR">
              <a:solidFill>
                <a:srgbClr val="E8F2E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E06D20-7E68-AC72-7B98-DCC25351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 : coins arrondis 180">
            <a:extLst>
              <a:ext uri="{FF2B5EF4-FFF2-40B4-BE49-F238E27FC236}">
                <a16:creationId xmlns:a16="http://schemas.microsoft.com/office/drawing/2014/main" id="{24EA7CDB-5592-B641-91D3-49FB446CB94B}"/>
              </a:ext>
            </a:extLst>
          </p:cNvPr>
          <p:cNvSpPr/>
          <p:nvPr/>
        </p:nvSpPr>
        <p:spPr>
          <a:xfrm>
            <a:off x="8826273" y="5760058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DCBD59E0-5751-1FD1-176D-CDFED7E10A08}"/>
              </a:ext>
            </a:extLst>
          </p:cNvPr>
          <p:cNvSpPr txBox="1">
            <a:spLocks/>
          </p:cNvSpPr>
          <p:nvPr/>
        </p:nvSpPr>
        <p:spPr>
          <a:xfrm>
            <a:off x="6622759" y="1446123"/>
            <a:ext cx="5438989" cy="4099413"/>
          </a:xfrm>
          <a:prstGeom prst="rect">
            <a:avLst/>
          </a:prstGeom>
          <a:solidFill>
            <a:srgbClr val="F2F8F9">
              <a:alpha val="6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endParaRPr lang="fr-FR" b="0" noProof="0">
              <a:solidFill>
                <a:srgbClr val="E8F2E0"/>
              </a:solidFill>
            </a:endParaRP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F0ED9F0-7D93-CC6D-44AC-6940414B59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99945" y="133613"/>
            <a:ext cx="8061749" cy="199465"/>
          </a:xfrm>
        </p:spPr>
        <p:txBody>
          <a:bodyPr/>
          <a:lstStyle/>
          <a:p>
            <a:r>
              <a:rPr lang="fr-FR"/>
              <a:t>ESTIMATION CAUSALE À MOYEN TERME – EMPLOI DURABLE ET NON SALARIÉ</a:t>
            </a:r>
            <a:endParaRPr lang="fr-FR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2397E195-9375-693A-395C-E2928EE9D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1A910E1-5D5D-5E5A-2D01-61819272E7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7" y="406495"/>
            <a:ext cx="11372917" cy="432000"/>
          </a:xfrm>
        </p:spPr>
        <p:txBody>
          <a:bodyPr/>
          <a:lstStyle/>
          <a:p>
            <a:r>
              <a:rPr lang="fr-FR" spc="-40" noProof="0"/>
              <a:t>Derrière l’écart en emploi salarié : des emplois plus durables et des départs vers l’activité non salariée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D54B3DA-0CCF-D0C5-9455-E371458A14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467" y="935592"/>
            <a:ext cx="10967748" cy="196512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Au-dessus des témoins en emploi durable à partir de 27 mois (+0,5 pt), et jusqu'à 6 points de plus en activité non salariée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13C62B1E-84E0-B92D-D734-604B6EB02C7B}"/>
              </a:ext>
            </a:extLst>
          </p:cNvPr>
          <p:cNvSpPr/>
          <p:nvPr/>
        </p:nvSpPr>
        <p:spPr>
          <a:xfrm>
            <a:off x="938294" y="5801909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1F57A4E8-4644-F11E-9696-A6F35C31432B}"/>
              </a:ext>
            </a:extLst>
          </p:cNvPr>
          <p:cNvGrpSpPr/>
          <p:nvPr/>
        </p:nvGrpSpPr>
        <p:grpSpPr>
          <a:xfrm>
            <a:off x="863916" y="5729777"/>
            <a:ext cx="301154" cy="301154"/>
            <a:chOff x="1265826" y="-914400"/>
            <a:chExt cx="647641" cy="647641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D95A3A18-B862-72EF-D540-2FEDB2526FEB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22" name="Graphique 121" descr="Porte-documents avec un remplissage uni">
              <a:extLst>
                <a:ext uri="{FF2B5EF4-FFF2-40B4-BE49-F238E27FC236}">
                  <a16:creationId xmlns:a16="http://schemas.microsoft.com/office/drawing/2014/main" id="{26107A40-01CD-AE28-610A-FC367A2FE4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33261439-5E55-4DA5-E886-98EC34F8B881}"/>
              </a:ext>
            </a:extLst>
          </p:cNvPr>
          <p:cNvSpPr txBox="1"/>
          <p:nvPr/>
        </p:nvSpPr>
        <p:spPr>
          <a:xfrm>
            <a:off x="1192382" y="5760893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EMPLOI SALARIÉ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5E64D1DE-24E1-48E3-D14A-CAA49E098E21}"/>
              </a:ext>
            </a:extLst>
          </p:cNvPr>
          <p:cNvSpPr txBox="1"/>
          <p:nvPr/>
        </p:nvSpPr>
        <p:spPr>
          <a:xfrm>
            <a:off x="787858" y="5514409"/>
            <a:ext cx="2483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3 ANS, POUR 100 PERSONNES, 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6F9FACD3-5CED-B719-3178-0E1764DD2E90}"/>
              </a:ext>
            </a:extLst>
          </p:cNvPr>
          <p:cNvSpPr txBox="1"/>
          <p:nvPr/>
        </p:nvSpPr>
        <p:spPr>
          <a:xfrm>
            <a:off x="9083631" y="5712122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ACTIVITÉ NON SALARIÉE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F0F79DFA-2921-ACD6-AA14-246C36A4A595}"/>
              </a:ext>
            </a:extLst>
          </p:cNvPr>
          <p:cNvSpPr txBox="1"/>
          <p:nvPr/>
        </p:nvSpPr>
        <p:spPr>
          <a:xfrm rot="10800000" flipV="1">
            <a:off x="1746959" y="6063782"/>
            <a:ext cx="1229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 résorbe à 30 mois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EFCB9F3-944A-B83F-A4D1-835362C1C7C3}"/>
              </a:ext>
            </a:extLst>
          </p:cNvPr>
          <p:cNvSpPr txBox="1"/>
          <p:nvPr/>
        </p:nvSpPr>
        <p:spPr>
          <a:xfrm>
            <a:off x="7096086" y="1428919"/>
            <a:ext cx="4492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SUR LA CRÉATION D’ENTREPRISE PENDANT LE DROIT</a:t>
            </a:r>
          </a:p>
        </p:txBody>
      </p:sp>
      <p:pic>
        <p:nvPicPr>
          <p:cNvPr id="38" name="Graphique 37" descr="Badge avec un remplissage uni">
            <a:extLst>
              <a:ext uri="{FF2B5EF4-FFF2-40B4-BE49-F238E27FC236}">
                <a16:creationId xmlns:a16="http://schemas.microsoft.com/office/drawing/2014/main" id="{6120F8AA-06DC-6629-DC52-B5676E397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37351" y="1334972"/>
            <a:ext cx="285166" cy="285166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EC3EE10B-A0AE-9C41-EBA9-C97637ABC0E4}"/>
              </a:ext>
            </a:extLst>
          </p:cNvPr>
          <p:cNvSpPr txBox="1">
            <a:spLocks/>
          </p:cNvSpPr>
          <p:nvPr/>
        </p:nvSpPr>
        <p:spPr>
          <a:xfrm>
            <a:off x="945253" y="1446123"/>
            <a:ext cx="5438989" cy="4099413"/>
          </a:xfrm>
          <a:prstGeom prst="rect">
            <a:avLst/>
          </a:prstGeom>
          <a:solidFill>
            <a:srgbClr val="FFEACC">
              <a:alpha val="6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pic>
        <p:nvPicPr>
          <p:cNvPr id="26" name="Graphique 25" descr="Badge 1 avec un remplissage uni">
            <a:extLst>
              <a:ext uri="{FF2B5EF4-FFF2-40B4-BE49-F238E27FC236}">
                <a16:creationId xmlns:a16="http://schemas.microsoft.com/office/drawing/2014/main" id="{EA75543C-6711-9745-E422-A3E3F062B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3916" y="1350953"/>
            <a:ext cx="285166" cy="28516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AFB709E1-CDC5-A65A-07B6-0DEDDC776AE9}"/>
              </a:ext>
            </a:extLst>
          </p:cNvPr>
          <p:cNvSpPr txBox="1"/>
          <p:nvPr/>
        </p:nvSpPr>
        <p:spPr>
          <a:xfrm>
            <a:off x="2422798" y="1412851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EMPLOI DURABLE </a:t>
            </a:r>
          </a:p>
        </p:txBody>
      </p:sp>
      <p:grpSp>
        <p:nvGrpSpPr>
          <p:cNvPr id="204" name="Groupe 203">
            <a:extLst>
              <a:ext uri="{FF2B5EF4-FFF2-40B4-BE49-F238E27FC236}">
                <a16:creationId xmlns:a16="http://schemas.microsoft.com/office/drawing/2014/main" id="{2EB89358-DBE4-0443-4E94-BA3CB259BD55}"/>
              </a:ext>
            </a:extLst>
          </p:cNvPr>
          <p:cNvGrpSpPr/>
          <p:nvPr/>
        </p:nvGrpSpPr>
        <p:grpSpPr>
          <a:xfrm>
            <a:off x="1032058" y="1681204"/>
            <a:ext cx="5771218" cy="2733465"/>
            <a:chOff x="1053233" y="1951749"/>
            <a:chExt cx="5771218" cy="2733465"/>
          </a:xfrm>
        </p:grpSpPr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7F230D3B-5A83-5DBE-5902-420E8F394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4443" y="1951749"/>
              <a:ext cx="5120609" cy="2733465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8763D03-48A1-F52C-2EAF-6A86C7122FAE}"/>
                </a:ext>
              </a:extLst>
            </p:cNvPr>
            <p:cNvSpPr/>
            <p:nvPr/>
          </p:nvSpPr>
          <p:spPr>
            <a:xfrm>
              <a:off x="5225616" y="2015067"/>
              <a:ext cx="726451" cy="2277900"/>
            </a:xfrm>
            <a:prstGeom prst="rect">
              <a:avLst/>
            </a:prstGeom>
            <a:solidFill>
              <a:srgbClr val="7BBB5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69091D81-F7DA-8DCD-2BA3-8B49383E4D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6088" y="2793548"/>
              <a:ext cx="0" cy="92847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 : coins arrondis 63">
              <a:extLst>
                <a:ext uri="{FF2B5EF4-FFF2-40B4-BE49-F238E27FC236}">
                  <a16:creationId xmlns:a16="http://schemas.microsoft.com/office/drawing/2014/main" id="{61C68685-CA12-1840-6B78-639A58BE87F2}"/>
                </a:ext>
              </a:extLst>
            </p:cNvPr>
            <p:cNvSpPr/>
            <p:nvPr/>
          </p:nvSpPr>
          <p:spPr>
            <a:xfrm>
              <a:off x="4404341" y="3722017"/>
              <a:ext cx="1625600" cy="5056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BBB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AF919BC3-24B2-DD18-12FB-27073D4E909A}"/>
                </a:ext>
              </a:extLst>
            </p:cNvPr>
            <p:cNvSpPr txBox="1"/>
            <p:nvPr/>
          </p:nvSpPr>
          <p:spPr>
            <a:xfrm>
              <a:off x="3975192" y="3708236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AU-DESSUS DES TÉMOINS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9AC7B05C-D361-AD8F-FE19-43822C3B68B7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403174" y="3906974"/>
                  <a:ext cx="242127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just">
                    <a:defRPr/>
                  </a:pPr>
                  <a:r>
                    <a:rPr lang="fr-FR" sz="900" i="1" noProof="0">
                      <a:solidFill>
                        <a:prstClr val="black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Dès 27 mois (+ ~0,5 en p</a:t>
                  </a:r>
                  <a14:m>
                    <m:oMath xmlns:m="http://schemas.openxmlformats.org/officeDocument/2006/math">
                      <m:r>
                        <a:rPr lang="fr-FR" sz="9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fr-FR" sz="9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kumimoji="0" lang="fr-FR" sz="9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9AC7B05C-D361-AD8F-FE19-43822C3B6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4403174" y="3906974"/>
                  <a:ext cx="2421277" cy="230832"/>
                </a:xfrm>
                <a:prstGeom prst="rect">
                  <a:avLst/>
                </a:prstGeom>
                <a:blipFill>
                  <a:blip r:embed="rId7"/>
                  <a:stretch>
                    <a:fillRect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A2B7E5FB-4ADD-E09B-6399-A26F9DD11ACD}"/>
                </a:ext>
              </a:extLst>
            </p:cNvPr>
            <p:cNvCxnSpPr>
              <a:cxnSpLocks/>
            </p:cNvCxnSpPr>
            <p:nvPr/>
          </p:nvCxnSpPr>
          <p:spPr>
            <a:xfrm>
              <a:off x="3107355" y="3906974"/>
              <a:ext cx="328803" cy="230833"/>
            </a:xfrm>
            <a:prstGeom prst="straightConnector1">
              <a:avLst/>
            </a:prstGeom>
            <a:ln>
              <a:solidFill>
                <a:srgbClr val="FF9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 : coins arrondis 91">
              <a:extLst>
                <a:ext uri="{FF2B5EF4-FFF2-40B4-BE49-F238E27FC236}">
                  <a16:creationId xmlns:a16="http://schemas.microsoft.com/office/drawing/2014/main" id="{EC7B5B58-0B09-50B7-978A-C6617829AAE0}"/>
                </a:ext>
              </a:extLst>
            </p:cNvPr>
            <p:cNvSpPr/>
            <p:nvPr/>
          </p:nvSpPr>
          <p:spPr>
            <a:xfrm>
              <a:off x="1482382" y="3435203"/>
              <a:ext cx="1625600" cy="5056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9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8" name="ZoneTexte 87">
              <a:extLst>
                <a:ext uri="{FF2B5EF4-FFF2-40B4-BE49-F238E27FC236}">
                  <a16:creationId xmlns:a16="http://schemas.microsoft.com/office/drawing/2014/main" id="{EF983DE7-8755-00D3-97C4-6B97782A1EDC}"/>
                </a:ext>
              </a:extLst>
            </p:cNvPr>
            <p:cNvSpPr txBox="1"/>
            <p:nvPr/>
          </p:nvSpPr>
          <p:spPr>
            <a:xfrm>
              <a:off x="1053233" y="3411511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5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-1,8 PT D’ÉCART AU DÉPART</a:t>
              </a:r>
            </a:p>
          </p:txBody>
        </p: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D9F8362A-3D94-C7CC-9B92-86B8BAA84392}"/>
                </a:ext>
              </a:extLst>
            </p:cNvPr>
            <p:cNvSpPr txBox="1"/>
            <p:nvPr/>
          </p:nvSpPr>
          <p:spPr>
            <a:xfrm rot="10800000" flipV="1">
              <a:off x="1528310" y="3585187"/>
              <a:ext cx="2421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fr-FR" sz="900" i="1" noProof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Moins qu’en emploi salarié</a:t>
              </a:r>
              <a:endParaRPr kumimoji="0" lang="fr-FR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5" name="Groupe 204">
            <a:extLst>
              <a:ext uri="{FF2B5EF4-FFF2-40B4-BE49-F238E27FC236}">
                <a16:creationId xmlns:a16="http://schemas.microsoft.com/office/drawing/2014/main" id="{7555DD1B-C810-8337-4029-52E13649F440}"/>
              </a:ext>
            </a:extLst>
          </p:cNvPr>
          <p:cNvGrpSpPr/>
          <p:nvPr/>
        </p:nvGrpSpPr>
        <p:grpSpPr>
          <a:xfrm>
            <a:off x="6736151" y="1702403"/>
            <a:ext cx="5451233" cy="2743602"/>
            <a:chOff x="6772454" y="1951749"/>
            <a:chExt cx="5451233" cy="2743602"/>
          </a:xfrm>
        </p:grpSpPr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A81DFAE4-4EF2-4B22-1E45-0A7D19302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72454" y="1951749"/>
              <a:ext cx="5139599" cy="2743602"/>
            </a:xfrm>
            <a:prstGeom prst="rect">
              <a:avLst/>
            </a:prstGeom>
          </p:spPr>
        </p:pic>
        <p:sp>
          <p:nvSpPr>
            <p:cNvPr id="98" name="Rectangle : coins arrondis 97">
              <a:extLst>
                <a:ext uri="{FF2B5EF4-FFF2-40B4-BE49-F238E27FC236}">
                  <a16:creationId xmlns:a16="http://schemas.microsoft.com/office/drawing/2014/main" id="{3E400A7A-E01A-2CAB-940C-EC4C163E2839}"/>
                </a:ext>
              </a:extLst>
            </p:cNvPr>
            <p:cNvSpPr/>
            <p:nvPr/>
          </p:nvSpPr>
          <p:spPr>
            <a:xfrm>
              <a:off x="9533425" y="3688015"/>
              <a:ext cx="1625600" cy="5056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C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cxnSp>
          <p:nvCxnSpPr>
            <p:cNvPr id="100" name="Connecteur droit avec flèche 99">
              <a:extLst>
                <a:ext uri="{FF2B5EF4-FFF2-40B4-BE49-F238E27FC236}">
                  <a16:creationId xmlns:a16="http://schemas.microsoft.com/office/drawing/2014/main" id="{F0057099-FA46-0B9C-5C6F-3DA851ADCB8D}"/>
                </a:ext>
              </a:extLst>
            </p:cNvPr>
            <p:cNvCxnSpPr>
              <a:cxnSpLocks/>
            </p:cNvCxnSpPr>
            <p:nvPr/>
          </p:nvCxnSpPr>
          <p:spPr>
            <a:xfrm>
              <a:off x="9163649" y="3517424"/>
              <a:ext cx="328803" cy="230833"/>
            </a:xfrm>
            <a:prstGeom prst="straightConnector1">
              <a:avLst/>
            </a:prstGeom>
            <a:ln>
              <a:solidFill>
                <a:srgbClr val="007C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D4F7F58B-E13C-68FF-00A9-142132B0F51E}"/>
                </a:ext>
              </a:extLst>
            </p:cNvPr>
            <p:cNvSpPr txBox="1"/>
            <p:nvPr/>
          </p:nvSpPr>
          <p:spPr>
            <a:xfrm>
              <a:off x="9104276" y="3672802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rgbClr val="007C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+2 PT DÈS LE DÉPART</a:t>
              </a:r>
            </a:p>
          </p:txBody>
        </p:sp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82414C24-1AA4-E240-6203-7D52677704DD}"/>
                </a:ext>
              </a:extLst>
            </p:cNvPr>
            <p:cNvSpPr txBox="1"/>
            <p:nvPr/>
          </p:nvSpPr>
          <p:spPr>
            <a:xfrm rot="10800000" flipV="1">
              <a:off x="9802410" y="3855353"/>
              <a:ext cx="2421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fr-FR" sz="900" i="1" noProof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Hausse immédiate</a:t>
              </a:r>
              <a:endParaRPr kumimoji="0" lang="fr-FR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ED056EB-3DC4-D71B-BF63-93FF921911C3}"/>
              </a:ext>
            </a:extLst>
          </p:cNvPr>
          <p:cNvSpPr/>
          <p:nvPr/>
        </p:nvSpPr>
        <p:spPr>
          <a:xfrm>
            <a:off x="945253" y="4863067"/>
            <a:ext cx="5438989" cy="531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207" name="Groupe 206">
            <a:extLst>
              <a:ext uri="{FF2B5EF4-FFF2-40B4-BE49-F238E27FC236}">
                <a16:creationId xmlns:a16="http://schemas.microsoft.com/office/drawing/2014/main" id="{01AA639E-8144-243E-CE53-EB9EBC57DA0A}"/>
              </a:ext>
            </a:extLst>
          </p:cNvPr>
          <p:cNvGrpSpPr/>
          <p:nvPr/>
        </p:nvGrpSpPr>
        <p:grpSpPr>
          <a:xfrm>
            <a:off x="6182568" y="4858937"/>
            <a:ext cx="5879180" cy="684996"/>
            <a:chOff x="6116006" y="4770978"/>
            <a:chExt cx="5879180" cy="684996"/>
          </a:xfrm>
        </p:grpSpPr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DCF6FB6F-1797-C96E-3123-3751E21187E4}"/>
                </a:ext>
              </a:extLst>
            </p:cNvPr>
            <p:cNvSpPr txBox="1"/>
            <p:nvPr/>
          </p:nvSpPr>
          <p:spPr>
            <a:xfrm>
              <a:off x="6225051" y="4770978"/>
              <a:ext cx="45451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MESURE</a:t>
              </a:r>
              <a:r>
                <a:rPr lang="fr-FR" sz="10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 </a:t>
              </a:r>
              <a:r>
                <a:rPr lang="fr-FR" sz="10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début de l’activité non salariée déclarée à France Travail</a:t>
              </a:r>
            </a:p>
          </p:txBody>
        </p:sp>
        <p:grpSp>
          <p:nvGrpSpPr>
            <p:cNvPr id="151" name="Groupe 150">
              <a:extLst>
                <a:ext uri="{FF2B5EF4-FFF2-40B4-BE49-F238E27FC236}">
                  <a16:creationId xmlns:a16="http://schemas.microsoft.com/office/drawing/2014/main" id="{ECD062E7-AA34-A982-B27C-8CC154E30797}"/>
                </a:ext>
              </a:extLst>
            </p:cNvPr>
            <p:cNvGrpSpPr/>
            <p:nvPr/>
          </p:nvGrpSpPr>
          <p:grpSpPr>
            <a:xfrm>
              <a:off x="7754113" y="4998388"/>
              <a:ext cx="2971934" cy="153795"/>
              <a:chOff x="7762087" y="5010815"/>
              <a:chExt cx="2971934" cy="153795"/>
            </a:xfrm>
          </p:grpSpPr>
          <p:sp>
            <p:nvSpPr>
              <p:cNvPr id="135" name="Rectangle : coins arrondis 134">
                <a:extLst>
                  <a:ext uri="{FF2B5EF4-FFF2-40B4-BE49-F238E27FC236}">
                    <a16:creationId xmlns:a16="http://schemas.microsoft.com/office/drawing/2014/main" id="{5666C431-AC6F-5483-6B4F-E126F46A1944}"/>
                  </a:ext>
                </a:extLst>
              </p:cNvPr>
              <p:cNvSpPr/>
              <p:nvPr/>
            </p:nvSpPr>
            <p:spPr>
              <a:xfrm>
                <a:off x="7762087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9" name="Rectangle : coins arrondis 138">
                <a:extLst>
                  <a:ext uri="{FF2B5EF4-FFF2-40B4-BE49-F238E27FC236}">
                    <a16:creationId xmlns:a16="http://schemas.microsoft.com/office/drawing/2014/main" id="{7677077B-0C6B-F744-B626-6FA742756DFC}"/>
                  </a:ext>
                </a:extLst>
              </p:cNvPr>
              <p:cNvSpPr/>
              <p:nvPr/>
            </p:nvSpPr>
            <p:spPr>
              <a:xfrm>
                <a:off x="8169712" y="5010815"/>
                <a:ext cx="338216" cy="153795"/>
              </a:xfrm>
              <a:prstGeom prst="roundRect">
                <a:avLst/>
              </a:prstGeom>
              <a:solidFill>
                <a:schemeClr val="accent4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2" name="Rectangle : coins arrondis 141">
                <a:extLst>
                  <a:ext uri="{FF2B5EF4-FFF2-40B4-BE49-F238E27FC236}">
                    <a16:creationId xmlns:a16="http://schemas.microsoft.com/office/drawing/2014/main" id="{5C3C5D9F-E632-C0FD-88AB-AAE3EB213730}"/>
                  </a:ext>
                </a:extLst>
              </p:cNvPr>
              <p:cNvSpPr/>
              <p:nvPr/>
            </p:nvSpPr>
            <p:spPr>
              <a:xfrm>
                <a:off x="8610193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4" name="Rectangle : coins arrondis 143">
                <a:extLst>
                  <a:ext uri="{FF2B5EF4-FFF2-40B4-BE49-F238E27FC236}">
                    <a16:creationId xmlns:a16="http://schemas.microsoft.com/office/drawing/2014/main" id="{24F947AB-3F77-7F41-7E71-3C6BA16BF394}"/>
                  </a:ext>
                </a:extLst>
              </p:cNvPr>
              <p:cNvSpPr/>
              <p:nvPr/>
            </p:nvSpPr>
            <p:spPr>
              <a:xfrm>
                <a:off x="9050674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6" name="Rectangle : coins arrondis 145">
                <a:extLst>
                  <a:ext uri="{FF2B5EF4-FFF2-40B4-BE49-F238E27FC236}">
                    <a16:creationId xmlns:a16="http://schemas.microsoft.com/office/drawing/2014/main" id="{7E42779A-798A-D32B-E2EB-9F611C6763AA}"/>
                  </a:ext>
                </a:extLst>
              </p:cNvPr>
              <p:cNvSpPr/>
              <p:nvPr/>
            </p:nvSpPr>
            <p:spPr>
              <a:xfrm>
                <a:off x="9497439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8" name="Rectangle : coins arrondis 147">
                <a:extLst>
                  <a:ext uri="{FF2B5EF4-FFF2-40B4-BE49-F238E27FC236}">
                    <a16:creationId xmlns:a16="http://schemas.microsoft.com/office/drawing/2014/main" id="{436012BB-66DF-60D7-BE4B-21DC2F366D39}"/>
                  </a:ext>
                </a:extLst>
              </p:cNvPr>
              <p:cNvSpPr/>
              <p:nvPr/>
            </p:nvSpPr>
            <p:spPr>
              <a:xfrm>
                <a:off x="9946622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50" name="Rectangle : coins arrondis 149">
                <a:extLst>
                  <a:ext uri="{FF2B5EF4-FFF2-40B4-BE49-F238E27FC236}">
                    <a16:creationId xmlns:a16="http://schemas.microsoft.com/office/drawing/2014/main" id="{F5069249-042F-6F45-C3BE-28FEF9BD86BA}"/>
                  </a:ext>
                </a:extLst>
              </p:cNvPr>
              <p:cNvSpPr/>
              <p:nvPr/>
            </p:nvSpPr>
            <p:spPr>
              <a:xfrm>
                <a:off x="10395805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</p:grpSp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835E2CBB-F52E-2800-6744-AD007855D45C}"/>
                </a:ext>
              </a:extLst>
            </p:cNvPr>
            <p:cNvSpPr txBox="1"/>
            <p:nvPr/>
          </p:nvSpPr>
          <p:spPr>
            <a:xfrm>
              <a:off x="6123406" y="4945273"/>
              <a:ext cx="18675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BORNE HAUTE</a:t>
              </a:r>
            </a:p>
          </p:txBody>
        </p:sp>
        <p:sp>
          <p:nvSpPr>
            <p:cNvPr id="155" name="ZoneTexte 154">
              <a:extLst>
                <a:ext uri="{FF2B5EF4-FFF2-40B4-BE49-F238E27FC236}">
                  <a16:creationId xmlns:a16="http://schemas.microsoft.com/office/drawing/2014/main" id="{DF2B230A-47D5-3299-20E9-1D5882981D23}"/>
                </a:ext>
              </a:extLst>
            </p:cNvPr>
            <p:cNvSpPr txBox="1"/>
            <p:nvPr/>
          </p:nvSpPr>
          <p:spPr>
            <a:xfrm>
              <a:off x="6116006" y="5190839"/>
              <a:ext cx="18675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rgbClr val="007C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BORNE BASSE</a:t>
              </a:r>
            </a:p>
          </p:txBody>
        </p:sp>
        <p:grpSp>
          <p:nvGrpSpPr>
            <p:cNvPr id="156" name="Groupe 155">
              <a:extLst>
                <a:ext uri="{FF2B5EF4-FFF2-40B4-BE49-F238E27FC236}">
                  <a16:creationId xmlns:a16="http://schemas.microsoft.com/office/drawing/2014/main" id="{C872B58F-DBAB-4F61-27BF-C2F805AA3194}"/>
                </a:ext>
              </a:extLst>
            </p:cNvPr>
            <p:cNvGrpSpPr/>
            <p:nvPr/>
          </p:nvGrpSpPr>
          <p:grpSpPr>
            <a:xfrm>
              <a:off x="7754113" y="5269807"/>
              <a:ext cx="2971934" cy="153795"/>
              <a:chOff x="7762087" y="5010815"/>
              <a:chExt cx="2971934" cy="153795"/>
            </a:xfrm>
          </p:grpSpPr>
          <p:sp>
            <p:nvSpPr>
              <p:cNvPr id="157" name="Rectangle : coins arrondis 156">
                <a:extLst>
                  <a:ext uri="{FF2B5EF4-FFF2-40B4-BE49-F238E27FC236}">
                    <a16:creationId xmlns:a16="http://schemas.microsoft.com/office/drawing/2014/main" id="{76CC65CB-8EE2-28B0-7AC8-513BF36F8441}"/>
                  </a:ext>
                </a:extLst>
              </p:cNvPr>
              <p:cNvSpPr/>
              <p:nvPr/>
            </p:nvSpPr>
            <p:spPr>
              <a:xfrm>
                <a:off x="7762087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58" name="Rectangle : coins arrondis 157">
                <a:extLst>
                  <a:ext uri="{FF2B5EF4-FFF2-40B4-BE49-F238E27FC236}">
                    <a16:creationId xmlns:a16="http://schemas.microsoft.com/office/drawing/2014/main" id="{1AF69CB5-DB2C-5C0A-CA94-2B5FA559F507}"/>
                  </a:ext>
                </a:extLst>
              </p:cNvPr>
              <p:cNvSpPr/>
              <p:nvPr/>
            </p:nvSpPr>
            <p:spPr>
              <a:xfrm>
                <a:off x="8169712" y="5010815"/>
                <a:ext cx="338216" cy="153795"/>
              </a:xfrm>
              <a:prstGeom prst="roundRect">
                <a:avLst/>
              </a:prstGeom>
              <a:solidFill>
                <a:srgbClr val="007C80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59" name="Rectangle : coins arrondis 158">
                <a:extLst>
                  <a:ext uri="{FF2B5EF4-FFF2-40B4-BE49-F238E27FC236}">
                    <a16:creationId xmlns:a16="http://schemas.microsoft.com/office/drawing/2014/main" id="{0DD519C8-FBE4-0FB8-AF03-F645B38FB682}"/>
                  </a:ext>
                </a:extLst>
              </p:cNvPr>
              <p:cNvSpPr/>
              <p:nvPr/>
            </p:nvSpPr>
            <p:spPr>
              <a:xfrm>
                <a:off x="8610193" y="5010815"/>
                <a:ext cx="338216" cy="153795"/>
              </a:xfrm>
              <a:prstGeom prst="roundRect">
                <a:avLst/>
              </a:prstGeom>
              <a:solidFill>
                <a:srgbClr val="007C80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60" name="Rectangle : coins arrondis 159">
                <a:extLst>
                  <a:ext uri="{FF2B5EF4-FFF2-40B4-BE49-F238E27FC236}">
                    <a16:creationId xmlns:a16="http://schemas.microsoft.com/office/drawing/2014/main" id="{214F5F83-BD89-F29A-7AF3-F6281774C734}"/>
                  </a:ext>
                </a:extLst>
              </p:cNvPr>
              <p:cNvSpPr/>
              <p:nvPr/>
            </p:nvSpPr>
            <p:spPr>
              <a:xfrm>
                <a:off x="9050674" y="5010815"/>
                <a:ext cx="338216" cy="153795"/>
              </a:xfrm>
              <a:prstGeom prst="roundRect">
                <a:avLst/>
              </a:prstGeom>
              <a:solidFill>
                <a:srgbClr val="007C80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61" name="Rectangle : coins arrondis 160">
                <a:extLst>
                  <a:ext uri="{FF2B5EF4-FFF2-40B4-BE49-F238E27FC236}">
                    <a16:creationId xmlns:a16="http://schemas.microsoft.com/office/drawing/2014/main" id="{C18C38BD-FEFB-8397-72A3-823C5BD6533C}"/>
                  </a:ext>
                </a:extLst>
              </p:cNvPr>
              <p:cNvSpPr/>
              <p:nvPr/>
            </p:nvSpPr>
            <p:spPr>
              <a:xfrm>
                <a:off x="9497439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62" name="Rectangle : coins arrondis 161">
                <a:extLst>
                  <a:ext uri="{FF2B5EF4-FFF2-40B4-BE49-F238E27FC236}">
                    <a16:creationId xmlns:a16="http://schemas.microsoft.com/office/drawing/2014/main" id="{D2FE95AB-A2DA-4B5F-6BD6-2EC2C251A509}"/>
                  </a:ext>
                </a:extLst>
              </p:cNvPr>
              <p:cNvSpPr/>
              <p:nvPr/>
            </p:nvSpPr>
            <p:spPr>
              <a:xfrm>
                <a:off x="9946622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63" name="Rectangle : coins arrondis 162">
                <a:extLst>
                  <a:ext uri="{FF2B5EF4-FFF2-40B4-BE49-F238E27FC236}">
                    <a16:creationId xmlns:a16="http://schemas.microsoft.com/office/drawing/2014/main" id="{1338EC09-5264-8123-386D-448AC12F4396}"/>
                  </a:ext>
                </a:extLst>
              </p:cNvPr>
              <p:cNvSpPr/>
              <p:nvPr/>
            </p:nvSpPr>
            <p:spPr>
              <a:xfrm>
                <a:off x="10395805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</p:grpSp>
        <p:cxnSp>
          <p:nvCxnSpPr>
            <p:cNvPr id="165" name="Connecteur droit 164">
              <a:extLst>
                <a:ext uri="{FF2B5EF4-FFF2-40B4-BE49-F238E27FC236}">
                  <a16:creationId xmlns:a16="http://schemas.microsoft.com/office/drawing/2014/main" id="{CC3E400C-724C-CA20-AED1-2E946214C149}"/>
                </a:ext>
              </a:extLst>
            </p:cNvPr>
            <p:cNvCxnSpPr>
              <a:cxnSpLocks/>
            </p:cNvCxnSpPr>
            <p:nvPr/>
          </p:nvCxnSpPr>
          <p:spPr>
            <a:xfrm>
              <a:off x="9439184" y="4969263"/>
              <a:ext cx="0" cy="45433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eur droit avec flèche 167">
              <a:extLst>
                <a:ext uri="{FF2B5EF4-FFF2-40B4-BE49-F238E27FC236}">
                  <a16:creationId xmlns:a16="http://schemas.microsoft.com/office/drawing/2014/main" id="{6FDC5C4F-E824-A49E-CF05-5355937A8B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55573" y="5207655"/>
              <a:ext cx="13224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CE287183-A7AC-1AEB-C19A-51C1CD218833}"/>
                </a:ext>
              </a:extLst>
            </p:cNvPr>
            <p:cNvSpPr txBox="1"/>
            <p:nvPr/>
          </p:nvSpPr>
          <p:spPr>
            <a:xfrm>
              <a:off x="10770241" y="4871199"/>
              <a:ext cx="12249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Au-delà des dates confirmées quand la personne est indemnisée, les bornes divergent</a:t>
              </a:r>
            </a:p>
          </p:txBody>
        </p:sp>
      </p:grpSp>
      <p:sp>
        <p:nvSpPr>
          <p:cNvPr id="175" name="ZoneTexte 174">
            <a:extLst>
              <a:ext uri="{FF2B5EF4-FFF2-40B4-BE49-F238E27FC236}">
                <a16:creationId xmlns:a16="http://schemas.microsoft.com/office/drawing/2014/main" id="{5D1B9454-0560-0B57-88A8-32D84DB2E642}"/>
              </a:ext>
            </a:extLst>
          </p:cNvPr>
          <p:cNvSpPr txBox="1"/>
          <p:nvPr/>
        </p:nvSpPr>
        <p:spPr>
          <a:xfrm>
            <a:off x="910251" y="4859760"/>
            <a:ext cx="5473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QUALITÉ DE L’APPARIEMENT : </a:t>
            </a:r>
            <a:r>
              <a:rPr lang="fr-FR" sz="900" i="1" spc="-30" noProof="0">
                <a:latin typeface="Segoe UI" panose="020B0502040204020203" pitchFamily="34" charset="0"/>
                <a:cs typeface="Segoe UI" panose="020B0502040204020203" pitchFamily="34" charset="0"/>
              </a:rPr>
              <a:t>à moyen terme, les salariés sortis par RCI retrouvent des emplois plus stables. Au bout de trois ans, leur taux d'emploi salarié a rejoint celui des témoins, mais ils sont plus souvent en emploi durable (+0,5 pt), Ce profil est compatible avec une recherche plus sélective</a:t>
            </a:r>
            <a:endParaRPr lang="fr-FR" sz="9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9" name="Rectangle : coins arrondis 178">
            <a:extLst>
              <a:ext uri="{FF2B5EF4-FFF2-40B4-BE49-F238E27FC236}">
                <a16:creationId xmlns:a16="http://schemas.microsoft.com/office/drawing/2014/main" id="{66436959-0162-7F72-F5F5-F88D4FFBD191}"/>
              </a:ext>
            </a:extLst>
          </p:cNvPr>
          <p:cNvSpPr/>
          <p:nvPr/>
        </p:nvSpPr>
        <p:spPr>
          <a:xfrm>
            <a:off x="4882284" y="5765640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02F5F409-84A9-EE3A-D3D5-7632786BF730}"/>
              </a:ext>
            </a:extLst>
          </p:cNvPr>
          <p:cNvSpPr txBox="1"/>
          <p:nvPr/>
        </p:nvSpPr>
        <p:spPr>
          <a:xfrm>
            <a:off x="5139642" y="5727283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EMPLOI DURABLE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B4D90590-6DAB-6F91-AC00-94B45A109D60}"/>
              </a:ext>
            </a:extLst>
          </p:cNvPr>
          <p:cNvSpPr txBox="1"/>
          <p:nvPr/>
        </p:nvSpPr>
        <p:spPr>
          <a:xfrm rot="10800000" flipV="1">
            <a:off x="4885361" y="6022503"/>
            <a:ext cx="24212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Légèrement plus souvent en emploi stable</a:t>
            </a:r>
          </a:p>
        </p:txBody>
      </p: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9170035A-026C-4249-0B8E-CB4B0D40D899}"/>
              </a:ext>
            </a:extLst>
          </p:cNvPr>
          <p:cNvGrpSpPr/>
          <p:nvPr/>
        </p:nvGrpSpPr>
        <p:grpSpPr>
          <a:xfrm>
            <a:off x="4772201" y="5696342"/>
            <a:ext cx="301154" cy="301154"/>
            <a:chOff x="1265826" y="-914400"/>
            <a:chExt cx="647641" cy="647641"/>
          </a:xfrm>
        </p:grpSpPr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C0039E76-07BB-6F3E-9D7B-08FE8CAF626D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84" name="Graphique 183" descr="Sablier plein avec un remplissage uni">
              <a:extLst>
                <a:ext uri="{FF2B5EF4-FFF2-40B4-BE49-F238E27FC236}">
                  <a16:creationId xmlns:a16="http://schemas.microsoft.com/office/drawing/2014/main" id="{A8C2FBF7-A4D6-14D3-65AD-B5BC63E2FF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grpSp>
        <p:nvGrpSpPr>
          <p:cNvPr id="185" name="Groupe 184">
            <a:extLst>
              <a:ext uri="{FF2B5EF4-FFF2-40B4-BE49-F238E27FC236}">
                <a16:creationId xmlns:a16="http://schemas.microsoft.com/office/drawing/2014/main" id="{774A1489-D307-879C-A176-99A281A0241F}"/>
              </a:ext>
            </a:extLst>
          </p:cNvPr>
          <p:cNvGrpSpPr/>
          <p:nvPr/>
        </p:nvGrpSpPr>
        <p:grpSpPr>
          <a:xfrm>
            <a:off x="8739997" y="5684655"/>
            <a:ext cx="301154" cy="301154"/>
            <a:chOff x="1265826" y="-914400"/>
            <a:chExt cx="647641" cy="647641"/>
          </a:xfrm>
        </p:grpSpPr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50463E0D-E710-8975-14FA-C5668ACECEBA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87" name="Graphique 186" descr="Magasin avec un remplissage uni">
              <a:extLst>
                <a:ext uri="{FF2B5EF4-FFF2-40B4-BE49-F238E27FC236}">
                  <a16:creationId xmlns:a16="http://schemas.microsoft.com/office/drawing/2014/main" id="{A31B7774-4EB7-1C9C-628F-F03E9445E5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ZoneTexte 188">
                <a:extLst>
                  <a:ext uri="{FF2B5EF4-FFF2-40B4-BE49-F238E27FC236}">
                    <a16:creationId xmlns:a16="http://schemas.microsoft.com/office/drawing/2014/main" id="{9DFA0465-93E0-6854-87DB-D049BF734F32}"/>
                  </a:ext>
                </a:extLst>
              </p:cNvPr>
              <p:cNvSpPr txBox="1"/>
              <p:nvPr/>
            </p:nvSpPr>
            <p:spPr>
              <a:xfrm>
                <a:off x="3105164" y="6022503"/>
                <a:ext cx="108172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BBB5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~</m:t>
                    </m:r>
                  </m:oMath>
                </a14:m>
                <a:r>
                  <a:rPr kumimoji="0" lang="fr-FR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7BBB5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0 pts</a:t>
                </a:r>
                <a:endParaRPr lang="fr-FR" sz="1400" noProof="0">
                  <a:solidFill>
                    <a:srgbClr val="7BBB53"/>
                  </a:solidFill>
                </a:endParaRPr>
              </a:p>
            </p:txBody>
          </p:sp>
        </mc:Choice>
        <mc:Fallback xmlns="">
          <p:sp>
            <p:nvSpPr>
              <p:cNvPr id="189" name="ZoneTexte 188">
                <a:extLst>
                  <a:ext uri="{FF2B5EF4-FFF2-40B4-BE49-F238E27FC236}">
                    <a16:creationId xmlns:a16="http://schemas.microsoft.com/office/drawing/2014/main" id="{9DFA0465-93E0-6854-87DB-D049BF734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164" y="6022503"/>
                <a:ext cx="1081729" cy="307777"/>
              </a:xfrm>
              <a:prstGeom prst="rect">
                <a:avLst/>
              </a:prstGeom>
              <a:blipFill>
                <a:blip r:embed="rId11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F42D5886-4636-CF7F-BA04-A5549CAB63F4}"/>
                  </a:ext>
                </a:extLst>
              </p:cNvPr>
              <p:cNvSpPr txBox="1"/>
              <p:nvPr/>
            </p:nvSpPr>
            <p:spPr>
              <a:xfrm>
                <a:off x="7010600" y="5953665"/>
                <a:ext cx="108172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BBB5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</m:oMath>
                </a14:m>
                <a:r>
                  <a:rPr kumimoji="0" lang="fr-FR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7BBB5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0,5 pts</a:t>
                </a:r>
                <a:endParaRPr lang="fr-FR" sz="1400" noProof="0">
                  <a:solidFill>
                    <a:srgbClr val="7BBB53"/>
                  </a:solidFill>
                </a:endParaRPr>
              </a:p>
            </p:txBody>
          </p:sp>
        </mc:Choice>
        <mc:Fallback xmlns=""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F42D5886-4636-CF7F-BA04-A5549CAB6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600" y="5953665"/>
                <a:ext cx="1081729" cy="307777"/>
              </a:xfrm>
              <a:prstGeom prst="rect">
                <a:avLst/>
              </a:prstGeom>
              <a:blipFill>
                <a:blip r:embed="rId12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2" name="Groupe 191">
            <a:extLst>
              <a:ext uri="{FF2B5EF4-FFF2-40B4-BE49-F238E27FC236}">
                <a16:creationId xmlns:a16="http://schemas.microsoft.com/office/drawing/2014/main" id="{39E525E3-E55A-9496-E1E9-96E7CA00B168}"/>
              </a:ext>
            </a:extLst>
          </p:cNvPr>
          <p:cNvGrpSpPr/>
          <p:nvPr/>
        </p:nvGrpSpPr>
        <p:grpSpPr>
          <a:xfrm>
            <a:off x="9288205" y="5997496"/>
            <a:ext cx="1454953" cy="241787"/>
            <a:chOff x="6200461" y="1706211"/>
            <a:chExt cx="1454953" cy="241787"/>
          </a:xfrm>
        </p:grpSpPr>
        <p:pic>
          <p:nvPicPr>
            <p:cNvPr id="193" name="Graphique 192" descr="Utilisateur avec un remplissage uni">
              <a:extLst>
                <a:ext uri="{FF2B5EF4-FFF2-40B4-BE49-F238E27FC236}">
                  <a16:creationId xmlns:a16="http://schemas.microsoft.com/office/drawing/2014/main" id="{7E4C46A0-38AE-E00A-9E03-8F66AD5ADE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200461" y="1707316"/>
              <a:ext cx="230833" cy="230833"/>
            </a:xfrm>
            <a:prstGeom prst="rect">
              <a:avLst/>
            </a:prstGeom>
          </p:spPr>
        </p:pic>
        <p:pic>
          <p:nvPicPr>
            <p:cNvPr id="194" name="Graphique 193" descr="Utilisateur avec un remplissage uni">
              <a:extLst>
                <a:ext uri="{FF2B5EF4-FFF2-40B4-BE49-F238E27FC236}">
                  <a16:creationId xmlns:a16="http://schemas.microsoft.com/office/drawing/2014/main" id="{7585EA57-1538-A7A2-404C-48227DEAE9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447826" y="1707316"/>
              <a:ext cx="230833" cy="230833"/>
            </a:xfrm>
            <a:prstGeom prst="rect">
              <a:avLst/>
            </a:prstGeom>
          </p:spPr>
        </p:pic>
        <p:pic>
          <p:nvPicPr>
            <p:cNvPr id="195" name="Graphique 194" descr="Utilisateur avec un remplissage uni">
              <a:extLst>
                <a:ext uri="{FF2B5EF4-FFF2-40B4-BE49-F238E27FC236}">
                  <a16:creationId xmlns:a16="http://schemas.microsoft.com/office/drawing/2014/main" id="{ADFBEAC3-DE92-B886-785D-51E0D6FA39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700285" y="1706211"/>
              <a:ext cx="230833" cy="230833"/>
            </a:xfrm>
            <a:prstGeom prst="rect">
              <a:avLst/>
            </a:prstGeom>
          </p:spPr>
        </p:pic>
        <p:pic>
          <p:nvPicPr>
            <p:cNvPr id="196" name="Graphique 195" descr="Utilisateur avec un remplissage uni">
              <a:extLst>
                <a:ext uri="{FF2B5EF4-FFF2-40B4-BE49-F238E27FC236}">
                  <a16:creationId xmlns:a16="http://schemas.microsoft.com/office/drawing/2014/main" id="{5190BAC1-99C8-C4CE-F8D7-2E21A173F8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41717" y="1706211"/>
              <a:ext cx="230833" cy="230833"/>
            </a:xfrm>
            <a:prstGeom prst="rect">
              <a:avLst/>
            </a:prstGeom>
          </p:spPr>
        </p:pic>
        <p:pic>
          <p:nvPicPr>
            <p:cNvPr id="197" name="Graphique 196" descr="Utilisateur avec un remplissage uni">
              <a:extLst>
                <a:ext uri="{FF2B5EF4-FFF2-40B4-BE49-F238E27FC236}">
                  <a16:creationId xmlns:a16="http://schemas.microsoft.com/office/drawing/2014/main" id="{0C488405-A7AE-E1C9-8224-B5DD6A651C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83149" y="1706211"/>
              <a:ext cx="230833" cy="230833"/>
            </a:xfrm>
            <a:prstGeom prst="rect">
              <a:avLst/>
            </a:prstGeom>
          </p:spPr>
        </p:pic>
        <p:pic>
          <p:nvPicPr>
            <p:cNvPr id="198" name="Graphique 197" descr="Utilisateur avec un remplissage uni">
              <a:extLst>
                <a:ext uri="{FF2B5EF4-FFF2-40B4-BE49-F238E27FC236}">
                  <a16:creationId xmlns:a16="http://schemas.microsoft.com/office/drawing/2014/main" id="{66919402-1ED7-91D9-2BF1-DC394AFCA1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424581" y="1717165"/>
              <a:ext cx="230833" cy="230833"/>
            </a:xfrm>
            <a:prstGeom prst="rect">
              <a:avLst/>
            </a:prstGeom>
          </p:spPr>
        </p:pic>
      </p:grpSp>
      <p:sp>
        <p:nvSpPr>
          <p:cNvPr id="203" name="ZoneTexte 202">
            <a:extLst>
              <a:ext uri="{FF2B5EF4-FFF2-40B4-BE49-F238E27FC236}">
                <a16:creationId xmlns:a16="http://schemas.microsoft.com/office/drawing/2014/main" id="{1C569110-DEE7-6E26-E7DB-E9CDF09DD8F8}"/>
              </a:ext>
            </a:extLst>
          </p:cNvPr>
          <p:cNvSpPr txBox="1"/>
          <p:nvPr/>
        </p:nvSpPr>
        <p:spPr>
          <a:xfrm>
            <a:off x="11192805" y="5953665"/>
            <a:ext cx="108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noProof="0">
                <a:solidFill>
                  <a:srgbClr val="7BBB53"/>
                </a:solidFill>
              </a:rPr>
              <a:t>&lt;6</a:t>
            </a:r>
          </a:p>
        </p:txBody>
      </p:sp>
      <p:sp>
        <p:nvSpPr>
          <p:cNvPr id="209" name="ZoneTexte 208">
            <a:extLst>
              <a:ext uri="{FF2B5EF4-FFF2-40B4-BE49-F238E27FC236}">
                <a16:creationId xmlns:a16="http://schemas.microsoft.com/office/drawing/2014/main" id="{0D20D6AE-4124-E57D-71BC-E9DB22C9C8A3}"/>
              </a:ext>
            </a:extLst>
          </p:cNvPr>
          <p:cNvSpPr txBox="1"/>
          <p:nvPr/>
        </p:nvSpPr>
        <p:spPr>
          <a:xfrm>
            <a:off x="1092304" y="4392166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2" name="ZoneTexte 211">
            <a:extLst>
              <a:ext uri="{FF2B5EF4-FFF2-40B4-BE49-F238E27FC236}">
                <a16:creationId xmlns:a16="http://schemas.microsoft.com/office/drawing/2014/main" id="{E439A470-2206-EB7A-60A7-4885DCDCF6B3}"/>
              </a:ext>
            </a:extLst>
          </p:cNvPr>
          <p:cNvSpPr txBox="1"/>
          <p:nvPr/>
        </p:nvSpPr>
        <p:spPr>
          <a:xfrm>
            <a:off x="6731478" y="4400147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57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502920" cy="6172200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47472" y="320040"/>
            <a:ext cx="301752" cy="6172200"/>
          </a:xfrm>
          <a:prstGeom prst="rect">
            <a:avLst/>
          </a:prstGeom>
          <a:solidFill>
            <a:srgbClr val="3E8B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9224" y="320040"/>
            <a:ext cx="128016" cy="6172200"/>
          </a:xfrm>
          <a:prstGeom prst="rect">
            <a:avLst/>
          </a:prstGeom>
          <a:solidFill>
            <a:srgbClr val="C8DC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0" y="109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u="sng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PERSPECTIVES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9601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8BB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Prolonger l'analyse : de la consommation de droits à la dépense, et des trajectoires aux choix</a:t>
            </a:r>
            <a:endParaRPr lang="en-US" sz="1900"/>
          </a:p>
        </p:txBody>
      </p:sp>
      <p:sp>
        <p:nvSpPr>
          <p:cNvPr id="7" name="Text 5"/>
          <p:cNvSpPr txBox="1"/>
          <p:nvPr/>
        </p:nvSpPr>
        <p:spPr>
          <a:xfrm>
            <a:off x="960120" y="11887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Trois pistes pour </a:t>
            </a:r>
            <a:r>
              <a:rPr lang="en-US" sz="1300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compléter</a:t>
            </a:r>
            <a:r>
              <a:rPr lang="en-US" sz="130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l’étude</a:t>
            </a:r>
            <a:r>
              <a:rPr lang="en-US" sz="130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(incitation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discrète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venir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la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soutenance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stage (le 12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octobre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16h ) à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l’Unédic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! </a:t>
            </a:r>
            <a:endParaRPr lang="en-US" sz="13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96012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EF5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60120" y="1691640"/>
            <a:ext cx="3520440" cy="73152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143000" y="1965960"/>
            <a:ext cx="548640" cy="548640"/>
          </a:xfrm>
          <a:prstGeom prst="ellipse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211226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84048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00787A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/>
          </a:p>
        </p:txBody>
      </p:sp>
      <p:sp>
        <p:nvSpPr>
          <p:cNvPr id="13" name="Text 10"/>
          <p:cNvSpPr txBox="1"/>
          <p:nvPr/>
        </p:nvSpPr>
        <p:spPr>
          <a:xfrm>
            <a:off x="1143000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0787A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Estimer la dépense à long terme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14300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Les résultats portent sur des jours indemnisés, pas sur des montants.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143000" y="3977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6B728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CE QUE L'ON FERAIT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4300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Valoriser les jours indemnisés par l'allocation journalière de chacun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Comparer la dépense cumulée des RCI et de leurs témoins sur six ans (cohorte 2019)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143000" y="5166360"/>
            <a:ext cx="3154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1143000" y="5166360"/>
            <a:ext cx="54864" cy="731520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1307592" y="51937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87A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Traduire le point d'équilibre à 37 mois en euros pour l'assurance chômage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6344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1F7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4663440" y="1691640"/>
            <a:ext cx="3520440" cy="73152"/>
          </a:xfrm>
          <a:prstGeom prst="rect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846320" y="1965960"/>
            <a:ext cx="548640" cy="548640"/>
          </a:xfrm>
          <a:prstGeom prst="ellipse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112264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54380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8BBF3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/>
          </a:p>
        </p:txBody>
      </p:sp>
      <p:sp>
        <p:nvSpPr>
          <p:cNvPr id="25" name="Text 21"/>
          <p:cNvSpPr txBox="1"/>
          <p:nvPr/>
        </p:nvSpPr>
        <p:spPr>
          <a:xfrm>
            <a:off x="4846320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3E8B4F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Intégrer l'ARCE à côté de l'ARE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2"/>
          <p:cNvSpPr txBox="1"/>
          <p:nvPr/>
        </p:nvSpPr>
        <p:spPr>
          <a:xfrm>
            <a:off x="484632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Les créateurs d'entreprise peuvent percevoir leurs droits en capital (ARCE), absent des jours indemnisés.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4846320" y="3977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6B728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CE QUE L'ON FERAIT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484632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Mesurer le recours à l'ARCE des RCI et des témoins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Ajouter ces montants à la dépense d'ARE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846320" y="5166360"/>
            <a:ext cx="3154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4846320" y="5166360"/>
            <a:ext cx="54864" cy="731520"/>
          </a:xfrm>
          <a:prstGeom prst="rect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 txBox="1"/>
          <p:nvPr/>
        </p:nvSpPr>
        <p:spPr>
          <a:xfrm>
            <a:off x="5010912" y="51937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E8B4F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Ne pas sous-estimer la dépense des parcours d'installation à son compte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836676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5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9"/>
          <p:cNvSpPr/>
          <p:nvPr/>
        </p:nvSpPr>
        <p:spPr>
          <a:xfrm>
            <a:off x="8366760" y="1691640"/>
            <a:ext cx="3520440" cy="73152"/>
          </a:xfrm>
          <a:prstGeom prst="rect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0"/>
          <p:cNvSpPr/>
          <p:nvPr/>
        </p:nvSpPr>
        <p:spPr>
          <a:xfrm>
            <a:off x="8549640" y="1965960"/>
            <a:ext cx="548640" cy="548640"/>
          </a:xfrm>
          <a:prstGeom prst="ellipse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2112264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124712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F08A00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/>
          </a:p>
        </p:txBody>
      </p:sp>
      <p:sp>
        <p:nvSpPr>
          <p:cNvPr id="37" name="Text 32"/>
          <p:cNvSpPr txBox="1"/>
          <p:nvPr/>
        </p:nvSpPr>
        <p:spPr>
          <a:xfrm>
            <a:off x="8549640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08A0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Installation à son compte : choix ou contrainte ?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 33"/>
          <p:cNvSpPr txBox="1"/>
          <p:nvPr/>
        </p:nvSpPr>
        <p:spPr>
          <a:xfrm>
            <a:off x="854964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Les RCI sont surreprésentés dans la classe « installation à son compte ».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 34"/>
          <p:cNvSpPr txBox="1"/>
          <p:nvPr/>
        </p:nvSpPr>
        <p:spPr>
          <a:xfrm>
            <a:off x="8549640" y="3977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6B728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CE QUE L'ON FERAIT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 35"/>
          <p:cNvSpPr txBox="1"/>
          <p:nvPr/>
        </p:nvSpPr>
        <p:spPr>
          <a:xfrm>
            <a:off x="854964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Prédire le retour à l'emploi salarié à partir des caractéristiques individuelles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Appliquer ce modèle aux RCI installés à leur compte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8549640" y="5166360"/>
            <a:ext cx="3154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7"/>
          <p:cNvSpPr/>
          <p:nvPr/>
        </p:nvSpPr>
        <p:spPr>
          <a:xfrm>
            <a:off x="8549640" y="5166360"/>
            <a:ext cx="54864" cy="731520"/>
          </a:xfrm>
          <a:prstGeom prst="rect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8"/>
          <p:cNvSpPr txBox="1"/>
          <p:nvPr/>
        </p:nvSpPr>
        <p:spPr>
          <a:xfrm>
            <a:off x="8714232" y="51937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8A0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Savoir si leur profil leur permettait de retrouver un emploi salarié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40"/>
          <p:cNvSpPr txBox="1"/>
          <p:nvPr/>
        </p:nvSpPr>
        <p:spPr>
          <a:xfrm>
            <a:off x="10424160" y="6400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Unédic</a:t>
            </a:r>
            <a:endParaRPr lang="en-US"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Espace réservé du texte 2">
            <a:extLst>
              <a:ext uri="{FF2B5EF4-FFF2-40B4-BE49-F238E27FC236}">
                <a16:creationId xmlns:a16="http://schemas.microsoft.com/office/drawing/2014/main" id="{ADD30710-31EA-49DD-7310-7BCAC0A00D36}"/>
              </a:ext>
            </a:extLst>
          </p:cNvPr>
          <p:cNvSpPr txBox="1">
            <a:spLocks/>
          </p:cNvSpPr>
          <p:nvPr/>
        </p:nvSpPr>
        <p:spPr>
          <a:xfrm>
            <a:off x="7308195" y="3569799"/>
            <a:ext cx="4148110" cy="177373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defTabSz="457200">
              <a:lnSpc>
                <a:spcPct val="100000"/>
              </a:lnSpc>
              <a:buClrTx/>
              <a:defRPr/>
            </a:pPr>
            <a:r>
              <a:rPr lang="fr-FR" noProof="0">
                <a:solidFill>
                  <a:schemeClr val="accent3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B6E580E4-79F2-6167-B3D5-15BFE9532498}"/>
              </a:ext>
            </a:extLst>
          </p:cNvPr>
          <p:cNvSpPr txBox="1">
            <a:spLocks/>
          </p:cNvSpPr>
          <p:nvPr/>
        </p:nvSpPr>
        <p:spPr>
          <a:xfrm>
            <a:off x="879995" y="1413076"/>
            <a:ext cx="5537247" cy="3861657"/>
          </a:xfrm>
          <a:prstGeom prst="rect">
            <a:avLst/>
          </a:prstGeom>
          <a:solidFill>
            <a:srgbClr val="E6F2F2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529B921-0C59-CA2C-F223-1957AD2403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02081" y="8219"/>
            <a:ext cx="6822818" cy="131836"/>
          </a:xfrm>
        </p:spPr>
        <p:txBody>
          <a:bodyPr/>
          <a:lstStyle/>
          <a:p>
            <a:r>
              <a:rPr lang="fr-FR"/>
              <a:t>Revue de littérature</a:t>
            </a:r>
            <a:endParaRPr lang="fr-FR" noProof="0"/>
          </a:p>
          <a:p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1FCD9A-0B9B-085E-DEC7-FB3FCA3A58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3513" y="421623"/>
            <a:ext cx="10990655" cy="432000"/>
          </a:xfrm>
        </p:spPr>
        <p:txBody>
          <a:bodyPr/>
          <a:lstStyle/>
          <a:p>
            <a:pPr algn="just"/>
            <a:r>
              <a:rPr lang="fr-FR" sz="1600" noProof="0">
                <a:solidFill>
                  <a:schemeClr val="accent5"/>
                </a:solidFill>
              </a:rPr>
              <a:t>UN RETOUR PLUS LENT À L’EMPLOI SALARIÉ POUR LES ALLOCATAIRES SIGNATAIRES D’UNE RUPTURE CONVENTIONNELLE INDIVIDUELLE</a:t>
            </a:r>
          </a:p>
          <a:p>
            <a:endParaRPr lang="fr-FR" noProof="0">
              <a:highlight>
                <a:srgbClr val="FFFF00"/>
              </a:highlight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6161DD0-9583-DCDF-2A2C-283E02DB35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9072" y="959420"/>
            <a:ext cx="7885717" cy="301171"/>
          </a:xfrm>
        </p:spPr>
        <p:txBody>
          <a:bodyPr/>
          <a:lstStyle/>
          <a:p>
            <a:r>
              <a:rPr lang="fr-FR" sz="1200" noProof="0">
                <a:solidFill>
                  <a:schemeClr val="accent3"/>
                </a:solidFill>
              </a:rPr>
              <a:t> Le « retour à l’emploi plus lent » :  repose sur </a:t>
            </a:r>
            <a:r>
              <a:rPr lang="fr-FR" sz="1200">
                <a:solidFill>
                  <a:schemeClr val="accent3"/>
                </a:solidFill>
              </a:rPr>
              <a:t>des </a:t>
            </a:r>
            <a:r>
              <a:rPr lang="fr-FR" sz="1200" noProof="0">
                <a:solidFill>
                  <a:schemeClr val="accent3"/>
                </a:solidFill>
              </a:rPr>
              <a:t>hypothèses fortes</a:t>
            </a:r>
          </a:p>
          <a:p>
            <a:endParaRPr lang="fr-FR" noProof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A9E9212-B46E-C3C4-FF1F-C81A9FDD5ABA}"/>
              </a:ext>
            </a:extLst>
          </p:cNvPr>
          <p:cNvSpPr txBox="1"/>
          <p:nvPr/>
        </p:nvSpPr>
        <p:spPr>
          <a:xfrm>
            <a:off x="892759" y="4658817"/>
            <a:ext cx="55372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7 ; traitement DARES et DG Trésor</a:t>
            </a:r>
          </a:p>
          <a:p>
            <a:pPr algn="just"/>
            <a:r>
              <a:rPr lang="fr-FR" sz="10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 liée à une RCI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44D0240-C83E-C8E8-2E26-BA49C3D52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097" y="2084208"/>
            <a:ext cx="4737042" cy="215200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90268E7-BC1B-E870-DCE1-7F7FE7C8B91B}"/>
              </a:ext>
            </a:extLst>
          </p:cNvPr>
          <p:cNvSpPr txBox="1"/>
          <p:nvPr/>
        </p:nvSpPr>
        <p:spPr>
          <a:xfrm>
            <a:off x="974392" y="4296306"/>
            <a:ext cx="536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TAUX DE PRÉSENCE EN EMPLOI SALARIÉ DES ALLOCATAIRES DE L’ASSURANCE-CHÔMAGE À LA SUITE D’UNE FIN DE CONTRAT</a:t>
            </a:r>
          </a:p>
        </p:txBody>
      </p:sp>
      <p:sp>
        <p:nvSpPr>
          <p:cNvPr id="66" name="Flèche : bas 65">
            <a:extLst>
              <a:ext uri="{FF2B5EF4-FFF2-40B4-BE49-F238E27FC236}">
                <a16:creationId xmlns:a16="http://schemas.microsoft.com/office/drawing/2014/main" id="{CA5ADEAF-164B-6E67-1ABA-DA96AD8F7A4C}"/>
              </a:ext>
            </a:extLst>
          </p:cNvPr>
          <p:cNvSpPr/>
          <p:nvPr/>
        </p:nvSpPr>
        <p:spPr>
          <a:xfrm>
            <a:off x="7360631" y="3371131"/>
            <a:ext cx="484632" cy="704708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68" name="Flèche : bas 67">
            <a:extLst>
              <a:ext uri="{FF2B5EF4-FFF2-40B4-BE49-F238E27FC236}">
                <a16:creationId xmlns:a16="http://schemas.microsoft.com/office/drawing/2014/main" id="{FD0008D0-651F-FC30-299F-D7AE7030F73E}"/>
              </a:ext>
            </a:extLst>
          </p:cNvPr>
          <p:cNvSpPr/>
          <p:nvPr/>
        </p:nvSpPr>
        <p:spPr>
          <a:xfrm>
            <a:off x="8966035" y="3307079"/>
            <a:ext cx="484632" cy="768759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72" name="Flèche : bas 71">
            <a:extLst>
              <a:ext uri="{FF2B5EF4-FFF2-40B4-BE49-F238E27FC236}">
                <a16:creationId xmlns:a16="http://schemas.microsoft.com/office/drawing/2014/main" id="{8AF7BB06-F72B-76F2-0555-64837C661575}"/>
              </a:ext>
            </a:extLst>
          </p:cNvPr>
          <p:cNvSpPr/>
          <p:nvPr/>
        </p:nvSpPr>
        <p:spPr>
          <a:xfrm>
            <a:off x="10757071" y="3515898"/>
            <a:ext cx="484632" cy="586835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85" name="Flèche : bas 84">
            <a:extLst>
              <a:ext uri="{FF2B5EF4-FFF2-40B4-BE49-F238E27FC236}">
                <a16:creationId xmlns:a16="http://schemas.microsoft.com/office/drawing/2014/main" id="{9569EA42-D486-E086-9EE8-B746B28A84E1}"/>
              </a:ext>
            </a:extLst>
          </p:cNvPr>
          <p:cNvSpPr/>
          <p:nvPr/>
        </p:nvSpPr>
        <p:spPr>
          <a:xfrm>
            <a:off x="7355592" y="4851092"/>
            <a:ext cx="484632" cy="827331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87" name="Flèche : bas 86">
            <a:extLst>
              <a:ext uri="{FF2B5EF4-FFF2-40B4-BE49-F238E27FC236}">
                <a16:creationId xmlns:a16="http://schemas.microsoft.com/office/drawing/2014/main" id="{65BC5924-C057-F5D6-0D93-B976BAEDA581}"/>
              </a:ext>
            </a:extLst>
          </p:cNvPr>
          <p:cNvSpPr/>
          <p:nvPr/>
        </p:nvSpPr>
        <p:spPr>
          <a:xfrm>
            <a:off x="8995759" y="4840033"/>
            <a:ext cx="484632" cy="795474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89" name="Flèche : bas 88">
            <a:extLst>
              <a:ext uri="{FF2B5EF4-FFF2-40B4-BE49-F238E27FC236}">
                <a16:creationId xmlns:a16="http://schemas.microsoft.com/office/drawing/2014/main" id="{CEC46C39-26CB-BE15-4B56-EC085E190A39}"/>
              </a:ext>
            </a:extLst>
          </p:cNvPr>
          <p:cNvSpPr/>
          <p:nvPr/>
        </p:nvSpPr>
        <p:spPr>
          <a:xfrm>
            <a:off x="10761413" y="4851093"/>
            <a:ext cx="484632" cy="760317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pic>
        <p:nvPicPr>
          <p:cNvPr id="7" name="Graphique 6" descr="Badge 1 avec un remplissage uni">
            <a:extLst>
              <a:ext uri="{FF2B5EF4-FFF2-40B4-BE49-F238E27FC236}">
                <a16:creationId xmlns:a16="http://schemas.microsoft.com/office/drawing/2014/main" id="{BC508064-64C5-644F-D862-50ED21BCE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00236" y="1273793"/>
            <a:ext cx="285166" cy="28516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BBFC22D-80FC-F9E2-D968-9F852F93DBC3}"/>
              </a:ext>
            </a:extLst>
          </p:cNvPr>
          <p:cNvSpPr txBox="1"/>
          <p:nvPr/>
        </p:nvSpPr>
        <p:spPr>
          <a:xfrm>
            <a:off x="1305778" y="1494539"/>
            <a:ext cx="4702946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000" b="1" noProof="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 QUE MONTRE L’ÉTUDE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A0F88205-BA91-BC45-5FC1-52B24C02BC7C}"/>
              </a:ext>
            </a:extLst>
          </p:cNvPr>
          <p:cNvGrpSpPr/>
          <p:nvPr/>
        </p:nvGrpSpPr>
        <p:grpSpPr>
          <a:xfrm>
            <a:off x="1432113" y="1808528"/>
            <a:ext cx="4433011" cy="164592"/>
            <a:chOff x="502920" y="1938528"/>
            <a:chExt cx="4433011" cy="164592"/>
          </a:xfrm>
        </p:grpSpPr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42BE9E38-E050-B3CF-102B-D024BB4A655E}"/>
                </a:ext>
              </a:extLst>
            </p:cNvPr>
            <p:cNvSpPr/>
            <p:nvPr/>
          </p:nvSpPr>
          <p:spPr>
            <a:xfrm>
              <a:off x="502920" y="1993392"/>
              <a:ext cx="164592" cy="5486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258212A9-D726-1D18-8FD0-0A686F88C207}"/>
                </a:ext>
              </a:extLst>
            </p:cNvPr>
            <p:cNvSpPr txBox="1"/>
            <p:nvPr/>
          </p:nvSpPr>
          <p:spPr>
            <a:xfrm>
              <a:off x="722376" y="1938528"/>
              <a:ext cx="138074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Ensemble des allocataires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hape 6">
              <a:extLst>
                <a:ext uri="{FF2B5EF4-FFF2-40B4-BE49-F238E27FC236}">
                  <a16:creationId xmlns:a16="http://schemas.microsoft.com/office/drawing/2014/main" id="{CCCE51C0-F2A4-938D-1E5A-BECE1B09C180}"/>
                </a:ext>
              </a:extLst>
            </p:cNvPr>
            <p:cNvSpPr/>
            <p:nvPr/>
          </p:nvSpPr>
          <p:spPr>
            <a:xfrm>
              <a:off x="2157984" y="1993392"/>
              <a:ext cx="164592" cy="54864"/>
            </a:xfrm>
            <a:prstGeom prst="rect">
              <a:avLst/>
            </a:prstGeom>
            <a:solidFill>
              <a:srgbClr val="E8703A"/>
            </a:solidFill>
            <a:ln w="12700">
              <a:solidFill>
                <a:srgbClr val="E8703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6B998D3F-0D4E-2A40-6173-D1C1B93945B2}"/>
                </a:ext>
              </a:extLst>
            </p:cNvPr>
            <p:cNvSpPr txBox="1"/>
            <p:nvPr/>
          </p:nvSpPr>
          <p:spPr>
            <a:xfrm>
              <a:off x="2377440" y="1938528"/>
              <a:ext cx="138074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Taux attendu pour les RCI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F47F70C6-A734-1124-7656-ED37B0EE03A3}"/>
                </a:ext>
              </a:extLst>
            </p:cNvPr>
            <p:cNvSpPr/>
            <p:nvPr/>
          </p:nvSpPr>
          <p:spPr>
            <a:xfrm>
              <a:off x="3813048" y="1993392"/>
              <a:ext cx="164592" cy="54864"/>
            </a:xfrm>
            <a:prstGeom prst="rect">
              <a:avLst/>
            </a:prstGeom>
            <a:solidFill>
              <a:srgbClr val="6BAE94"/>
            </a:solidFill>
            <a:ln w="12700">
              <a:solidFill>
                <a:srgbClr val="6BAE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28D84800-0BC4-4934-8EDD-D80A36E6B294}"/>
                </a:ext>
              </a:extLst>
            </p:cNvPr>
            <p:cNvSpPr txBox="1"/>
            <p:nvPr/>
          </p:nvSpPr>
          <p:spPr>
            <a:xfrm>
              <a:off x="4032504" y="1938528"/>
              <a:ext cx="90342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Allocataires RCI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334BFFD1-CCCD-4E98-46D8-7E97AC0E3A13}"/>
              </a:ext>
            </a:extLst>
          </p:cNvPr>
          <p:cNvGrpSpPr/>
          <p:nvPr/>
        </p:nvGrpSpPr>
        <p:grpSpPr>
          <a:xfrm>
            <a:off x="3252836" y="2612179"/>
            <a:ext cx="1307592" cy="310896"/>
            <a:chOff x="2676016" y="2818151"/>
            <a:chExt cx="1307592" cy="310896"/>
          </a:xfrm>
        </p:grpSpPr>
        <p:sp>
          <p:nvSpPr>
            <p:cNvPr id="35" name="Ecart 9 points">
              <a:extLst>
                <a:ext uri="{FF2B5EF4-FFF2-40B4-BE49-F238E27FC236}">
                  <a16:creationId xmlns:a16="http://schemas.microsoft.com/office/drawing/2014/main" id="{D55505EE-1890-3F84-AB22-EF34F6A1762E}"/>
                </a:ext>
              </a:extLst>
            </p:cNvPr>
            <p:cNvSpPr/>
            <p:nvPr/>
          </p:nvSpPr>
          <p:spPr>
            <a:xfrm>
              <a:off x="2676016" y="2836439"/>
              <a:ext cx="0" cy="261987"/>
            </a:xfrm>
            <a:prstGeom prst="line">
              <a:avLst/>
            </a:prstGeom>
            <a:noFill/>
            <a:ln w="25400">
              <a:solidFill>
                <a:srgbClr val="D1603D"/>
              </a:solidFill>
              <a:prstDash val="solid"/>
              <a:headEnd type="triangle"/>
              <a:tailEnd type="triangle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Text 12">
              <a:extLst>
                <a:ext uri="{FF2B5EF4-FFF2-40B4-BE49-F238E27FC236}">
                  <a16:creationId xmlns:a16="http://schemas.microsoft.com/office/drawing/2014/main" id="{489120A2-44C5-E90A-DA37-CB423F2837FA}"/>
                </a:ext>
              </a:extLst>
            </p:cNvPr>
            <p:cNvSpPr txBox="1"/>
            <p:nvPr/>
          </p:nvSpPr>
          <p:spPr>
            <a:xfrm>
              <a:off x="2840608" y="2818151"/>
              <a:ext cx="1143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16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≈ 9 points</a:t>
              </a:r>
              <a:r>
                <a:rPr lang="en-US" sz="85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à 12 mois</a:t>
              </a:r>
              <a:endParaRPr lang="en-US" sz="1000"/>
            </a:p>
          </p:txBody>
        </p:sp>
      </p:grpSp>
      <p:sp>
        <p:nvSpPr>
          <p:cNvPr id="121" name="Espace réservé du texte 2">
            <a:extLst>
              <a:ext uri="{FF2B5EF4-FFF2-40B4-BE49-F238E27FC236}">
                <a16:creationId xmlns:a16="http://schemas.microsoft.com/office/drawing/2014/main" id="{CA70ED4D-0356-6547-49E4-F118444F8B3D}"/>
              </a:ext>
            </a:extLst>
          </p:cNvPr>
          <p:cNvSpPr txBox="1">
            <a:spLocks/>
          </p:cNvSpPr>
          <p:nvPr/>
        </p:nvSpPr>
        <p:spPr>
          <a:xfrm>
            <a:off x="6539734" y="1413075"/>
            <a:ext cx="5537247" cy="3861657"/>
          </a:xfrm>
          <a:prstGeom prst="rect">
            <a:avLst/>
          </a:prstGeom>
          <a:solidFill>
            <a:srgbClr val="E6F2F2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DBF8E984-357A-0ADE-3249-16B51060D912}"/>
              </a:ext>
            </a:extLst>
          </p:cNvPr>
          <p:cNvGrpSpPr/>
          <p:nvPr/>
        </p:nvGrpSpPr>
        <p:grpSpPr>
          <a:xfrm>
            <a:off x="6738893" y="2109391"/>
            <a:ext cx="5138928" cy="2734056"/>
            <a:chOff x="6565392" y="1682496"/>
            <a:chExt cx="5138928" cy="2734056"/>
          </a:xfrm>
        </p:grpSpPr>
        <p:sp>
          <p:nvSpPr>
            <p:cNvPr id="108" name="Text 14">
              <a:extLst>
                <a:ext uri="{FF2B5EF4-FFF2-40B4-BE49-F238E27FC236}">
                  <a16:creationId xmlns:a16="http://schemas.microsoft.com/office/drawing/2014/main" id="{C71FB4FF-B3B2-F5CA-BB49-B11B286618D6}"/>
                </a:ext>
              </a:extLst>
            </p:cNvPr>
            <p:cNvSpPr txBox="1"/>
            <p:nvPr/>
          </p:nvSpPr>
          <p:spPr>
            <a:xfrm>
              <a:off x="6565392" y="1682496"/>
              <a:ext cx="51206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buNone/>
              </a:pPr>
              <a:r>
                <a:rPr lang="en-US" sz="1200" b="1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Les allocataires signataires d'une RCI reviennent plus lentement en emploi salarié, au-delà de ce que laissent attendre leurs caractéristiques.</a:t>
              </a:r>
              <a:endParaRPr lang="en-US"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Shape 15">
              <a:extLst>
                <a:ext uri="{FF2B5EF4-FFF2-40B4-BE49-F238E27FC236}">
                  <a16:creationId xmlns:a16="http://schemas.microsoft.com/office/drawing/2014/main" id="{37E9BE3C-15D4-CA3C-2798-9786893E7A28}"/>
                </a:ext>
              </a:extLst>
            </p:cNvPr>
            <p:cNvSpPr/>
            <p:nvPr/>
          </p:nvSpPr>
          <p:spPr>
            <a:xfrm>
              <a:off x="6565392" y="2331720"/>
              <a:ext cx="5120640" cy="0"/>
            </a:xfrm>
            <a:prstGeom prst="line">
              <a:avLst/>
            </a:prstGeom>
            <a:noFill/>
            <a:ln w="12700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Text 16">
              <a:extLst>
                <a:ext uri="{FF2B5EF4-FFF2-40B4-BE49-F238E27FC236}">
                  <a16:creationId xmlns:a16="http://schemas.microsoft.com/office/drawing/2014/main" id="{D8ED1631-F99E-1AC0-4B08-D713A85083C6}"/>
                </a:ext>
              </a:extLst>
            </p:cNvPr>
            <p:cNvSpPr txBox="1"/>
            <p:nvPr/>
          </p:nvSpPr>
          <p:spPr>
            <a:xfrm>
              <a:off x="6565392" y="2423160"/>
              <a:ext cx="10972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9</a:t>
              </a:r>
              <a:r>
                <a:rPr lang="en-US" sz="1100" b="1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pts</a:t>
              </a:r>
              <a:endParaRPr lang="en-US" sz="2600"/>
            </a:p>
          </p:txBody>
        </p:sp>
        <p:sp>
          <p:nvSpPr>
            <p:cNvPr id="113" name="Text 17">
              <a:extLst>
                <a:ext uri="{FF2B5EF4-FFF2-40B4-BE49-F238E27FC236}">
                  <a16:creationId xmlns:a16="http://schemas.microsoft.com/office/drawing/2014/main" id="{FC78555D-381B-F2D7-52F2-DD0ACDDD27A5}"/>
                </a:ext>
              </a:extLst>
            </p:cNvPr>
            <p:cNvSpPr txBox="1"/>
            <p:nvPr/>
          </p:nvSpPr>
          <p:spPr>
            <a:xfrm>
              <a:off x="7772400" y="2404872"/>
              <a:ext cx="39319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d'écart de taux de présence en emploi salarié sur 12 mois, face au reste des allocataires</a:t>
              </a:r>
              <a:endParaRPr lang="en-US" sz="11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hape 18">
              <a:extLst>
                <a:ext uri="{FF2B5EF4-FFF2-40B4-BE49-F238E27FC236}">
                  <a16:creationId xmlns:a16="http://schemas.microsoft.com/office/drawing/2014/main" id="{5198D9AF-E67F-AC11-9EC9-A3884163FB9E}"/>
                </a:ext>
              </a:extLst>
            </p:cNvPr>
            <p:cNvSpPr/>
            <p:nvPr/>
          </p:nvSpPr>
          <p:spPr>
            <a:xfrm>
              <a:off x="6565392" y="3063240"/>
              <a:ext cx="5120640" cy="0"/>
            </a:xfrm>
            <a:prstGeom prst="line">
              <a:avLst/>
            </a:prstGeom>
            <a:noFill/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Text 19">
              <a:extLst>
                <a:ext uri="{FF2B5EF4-FFF2-40B4-BE49-F238E27FC236}">
                  <a16:creationId xmlns:a16="http://schemas.microsoft.com/office/drawing/2014/main" id="{2FBD2C2A-382B-3A84-D6EC-7643FF0B0A17}"/>
                </a:ext>
              </a:extLst>
            </p:cNvPr>
            <p:cNvSpPr txBox="1"/>
            <p:nvPr/>
          </p:nvSpPr>
          <p:spPr>
            <a:xfrm>
              <a:off x="6565392" y="3154680"/>
              <a:ext cx="10972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r>
                <a:rPr lang="en-US" sz="1100" b="1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pts</a:t>
              </a:r>
              <a:endParaRPr lang="en-US" sz="2600"/>
            </a:p>
          </p:txBody>
        </p:sp>
        <p:sp>
          <p:nvSpPr>
            <p:cNvPr id="116" name="Text 20">
              <a:extLst>
                <a:ext uri="{FF2B5EF4-FFF2-40B4-BE49-F238E27FC236}">
                  <a16:creationId xmlns:a16="http://schemas.microsoft.com/office/drawing/2014/main" id="{973BA887-BE8A-5AA1-3FB8-15BB8973FF60}"/>
                </a:ext>
              </a:extLst>
            </p:cNvPr>
            <p:cNvSpPr txBox="1"/>
            <p:nvPr/>
          </p:nvSpPr>
          <p:spPr>
            <a:xfrm>
              <a:off x="7772400" y="3136392"/>
              <a:ext cx="39319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noProof="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d'écart au taux attendu, en emploi salarié durable, 6 mois après la fin de leur contrat</a:t>
              </a:r>
              <a:endParaRPr lang="fr-FR" sz="110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Shape 21">
              <a:extLst>
                <a:ext uri="{FF2B5EF4-FFF2-40B4-BE49-F238E27FC236}">
                  <a16:creationId xmlns:a16="http://schemas.microsoft.com/office/drawing/2014/main" id="{0DD163E2-437A-246E-9A9C-BC86830A7E8E}"/>
                </a:ext>
              </a:extLst>
            </p:cNvPr>
            <p:cNvSpPr/>
            <p:nvPr/>
          </p:nvSpPr>
          <p:spPr>
            <a:xfrm>
              <a:off x="6565392" y="3794760"/>
              <a:ext cx="5120640" cy="0"/>
            </a:xfrm>
            <a:prstGeom prst="line">
              <a:avLst/>
            </a:prstGeom>
            <a:noFill/>
            <a:ln w="12700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Text 22">
              <a:extLst>
                <a:ext uri="{FF2B5EF4-FFF2-40B4-BE49-F238E27FC236}">
                  <a16:creationId xmlns:a16="http://schemas.microsoft.com/office/drawing/2014/main" id="{A146FE99-3C67-622E-C889-178C792A27BD}"/>
                </a:ext>
              </a:extLst>
            </p:cNvPr>
            <p:cNvSpPr txBox="1"/>
            <p:nvPr/>
          </p:nvSpPr>
          <p:spPr>
            <a:xfrm>
              <a:off x="6565392" y="3886200"/>
              <a:ext cx="10972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25</a:t>
              </a:r>
              <a:r>
                <a:rPr lang="en-US" sz="1100" b="1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%</a:t>
              </a:r>
              <a:endParaRPr lang="en-US" sz="2600"/>
            </a:p>
          </p:txBody>
        </p:sp>
        <p:sp>
          <p:nvSpPr>
            <p:cNvPr id="119" name="Text 23">
              <a:extLst>
                <a:ext uri="{FF2B5EF4-FFF2-40B4-BE49-F238E27FC236}">
                  <a16:creationId xmlns:a16="http://schemas.microsoft.com/office/drawing/2014/main" id="{CCAD27C9-FABC-1759-A501-ED58444CD01A}"/>
                </a:ext>
              </a:extLst>
            </p:cNvPr>
            <p:cNvSpPr txBox="1"/>
            <p:nvPr/>
          </p:nvSpPr>
          <p:spPr>
            <a:xfrm>
              <a:off x="7772400" y="3867912"/>
              <a:ext cx="39319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 cet écart attribué aux caractéristiques plus favorables des </a:t>
              </a:r>
              <a:r>
                <a:rPr lang="en-US" sz="1100" err="1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signataires</a:t>
              </a:r>
              <a:r>
                <a:rPr lang="en-US" sz="110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à 6 </a:t>
              </a:r>
              <a:r>
                <a:rPr lang="en-US" sz="1100" err="1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mois</a:t>
              </a:r>
              <a:r>
                <a:rPr lang="en-US" sz="110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de la fin du </a:t>
              </a:r>
              <a:r>
                <a:rPr lang="en-US" sz="1100" err="1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contrat</a:t>
              </a:r>
              <a:endParaRPr lang="en-US" sz="11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3" name="ZoneTexte 122">
            <a:extLst>
              <a:ext uri="{FF2B5EF4-FFF2-40B4-BE49-F238E27FC236}">
                <a16:creationId xmlns:a16="http://schemas.microsoft.com/office/drawing/2014/main" id="{B99F81E4-5843-3721-6529-CEFD5CEC3F0E}"/>
              </a:ext>
            </a:extLst>
          </p:cNvPr>
          <p:cNvSpPr txBox="1"/>
          <p:nvPr/>
        </p:nvSpPr>
        <p:spPr>
          <a:xfrm>
            <a:off x="6956884" y="1486472"/>
            <a:ext cx="4702946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000" b="1" noProof="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 QUE L’ÉTUDE CONCLUT</a:t>
            </a:r>
          </a:p>
        </p:txBody>
      </p:sp>
      <p:pic>
        <p:nvPicPr>
          <p:cNvPr id="125" name="Graphique 124" descr="Badge avec un remplissage uni">
            <a:extLst>
              <a:ext uri="{FF2B5EF4-FFF2-40B4-BE49-F238E27FC236}">
                <a16:creationId xmlns:a16="http://schemas.microsoft.com/office/drawing/2014/main" id="{218BF505-D492-F466-3EA0-75937AA3B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453727" y="1273793"/>
            <a:ext cx="285166" cy="285166"/>
          </a:xfrm>
          <a:prstGeom prst="rect">
            <a:avLst/>
          </a:prstGeom>
        </p:spPr>
      </p:pic>
      <p:sp>
        <p:nvSpPr>
          <p:cNvPr id="132" name="Text 27">
            <a:extLst>
              <a:ext uri="{FF2B5EF4-FFF2-40B4-BE49-F238E27FC236}">
                <a16:creationId xmlns:a16="http://schemas.microsoft.com/office/drawing/2014/main" id="{54175BF6-CD1E-27BC-A0BB-2C3AAEE07335}"/>
              </a:ext>
            </a:extLst>
          </p:cNvPr>
          <p:cNvSpPr txBox="1"/>
          <p:nvPr/>
        </p:nvSpPr>
        <p:spPr>
          <a:xfrm>
            <a:off x="980665" y="5597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39" name="Text 37">
            <a:extLst>
              <a:ext uri="{FF2B5EF4-FFF2-40B4-BE49-F238E27FC236}">
                <a16:creationId xmlns:a16="http://schemas.microsoft.com/office/drawing/2014/main" id="{9C67D203-96EF-E328-CB58-73BFF7DD6F6D}"/>
              </a:ext>
            </a:extLst>
          </p:cNvPr>
          <p:cNvSpPr txBox="1"/>
          <p:nvPr/>
        </p:nvSpPr>
        <p:spPr>
          <a:xfrm>
            <a:off x="6796249" y="5597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143" name="Text 42">
            <a:extLst>
              <a:ext uri="{FF2B5EF4-FFF2-40B4-BE49-F238E27FC236}">
                <a16:creationId xmlns:a16="http://schemas.microsoft.com/office/drawing/2014/main" id="{AEC7A1D8-1F61-5994-A5EF-1381FE1A4240}"/>
              </a:ext>
            </a:extLst>
          </p:cNvPr>
          <p:cNvSpPr txBox="1"/>
          <p:nvPr/>
        </p:nvSpPr>
        <p:spPr>
          <a:xfrm>
            <a:off x="9704041" y="5597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406694EF-14FD-5897-807B-464F060DADDF}"/>
              </a:ext>
            </a:extLst>
          </p:cNvPr>
          <p:cNvGrpSpPr/>
          <p:nvPr/>
        </p:nvGrpSpPr>
        <p:grpSpPr>
          <a:xfrm>
            <a:off x="1154467" y="5427216"/>
            <a:ext cx="10572612" cy="835481"/>
            <a:chOff x="942819" y="5440684"/>
            <a:chExt cx="10572612" cy="835481"/>
          </a:xfrm>
        </p:grpSpPr>
        <p:sp>
          <p:nvSpPr>
            <p:cNvPr id="149" name="Shape 25">
              <a:extLst>
                <a:ext uri="{FF2B5EF4-FFF2-40B4-BE49-F238E27FC236}">
                  <a16:creationId xmlns:a16="http://schemas.microsoft.com/office/drawing/2014/main" id="{73314D17-AD43-029F-4A98-6AD3423F8F4A}"/>
                </a:ext>
              </a:extLst>
            </p:cNvPr>
            <p:cNvSpPr/>
            <p:nvPr/>
          </p:nvSpPr>
          <p:spPr>
            <a:xfrm>
              <a:off x="3684069" y="5496053"/>
              <a:ext cx="2363814" cy="780112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pPr algn="ctr"/>
              <a:endParaRPr lang="fr-FR"/>
            </a:p>
          </p:txBody>
        </p:sp>
        <p:sp>
          <p:nvSpPr>
            <p:cNvPr id="151" name="Shape 25">
              <a:extLst>
                <a:ext uri="{FF2B5EF4-FFF2-40B4-BE49-F238E27FC236}">
                  <a16:creationId xmlns:a16="http://schemas.microsoft.com/office/drawing/2014/main" id="{EE567A2D-951E-FC23-5526-A6488FA815A3}"/>
                </a:ext>
              </a:extLst>
            </p:cNvPr>
            <p:cNvSpPr/>
            <p:nvPr/>
          </p:nvSpPr>
          <p:spPr>
            <a:xfrm>
              <a:off x="6479104" y="5496053"/>
              <a:ext cx="2363814" cy="780112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pPr algn="ctr"/>
              <a:endParaRPr lang="fr-FR"/>
            </a:p>
          </p:txBody>
        </p:sp>
        <p:sp>
          <p:nvSpPr>
            <p:cNvPr id="153" name="Shape 25">
              <a:extLst>
                <a:ext uri="{FF2B5EF4-FFF2-40B4-BE49-F238E27FC236}">
                  <a16:creationId xmlns:a16="http://schemas.microsoft.com/office/drawing/2014/main" id="{E8797B14-8489-3245-8B17-F440578D111B}"/>
                </a:ext>
              </a:extLst>
            </p:cNvPr>
            <p:cNvSpPr/>
            <p:nvPr/>
          </p:nvSpPr>
          <p:spPr>
            <a:xfrm>
              <a:off x="9151617" y="5496053"/>
              <a:ext cx="2363814" cy="780112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pPr algn="ctr"/>
              <a:endParaRPr lang="fr-FR"/>
            </a:p>
          </p:txBody>
        </p:sp>
        <p:sp>
          <p:nvSpPr>
            <p:cNvPr id="131" name="Shape 25">
              <a:extLst>
                <a:ext uri="{FF2B5EF4-FFF2-40B4-BE49-F238E27FC236}">
                  <a16:creationId xmlns:a16="http://schemas.microsoft.com/office/drawing/2014/main" id="{4787DE1C-214B-2A18-6D83-B9AF7CB19F29}"/>
                </a:ext>
              </a:extLst>
            </p:cNvPr>
            <p:cNvSpPr/>
            <p:nvPr/>
          </p:nvSpPr>
          <p:spPr>
            <a:xfrm>
              <a:off x="942819" y="5496053"/>
              <a:ext cx="2363814" cy="780112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pPr algn="ctr"/>
              <a:endParaRPr lang="fr-FR"/>
            </a:p>
          </p:txBody>
        </p:sp>
        <p:sp>
          <p:nvSpPr>
            <p:cNvPr id="133" name="Text 28">
              <a:extLst>
                <a:ext uri="{FF2B5EF4-FFF2-40B4-BE49-F238E27FC236}">
                  <a16:creationId xmlns:a16="http://schemas.microsoft.com/office/drawing/2014/main" id="{3DF2315C-70C6-7BEA-BFB3-8EF729019184}"/>
                </a:ext>
              </a:extLst>
            </p:cNvPr>
            <p:cNvSpPr txBox="1"/>
            <p:nvPr/>
          </p:nvSpPr>
          <p:spPr>
            <a:xfrm>
              <a:off x="981113" y="5480235"/>
              <a:ext cx="236381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chemeClr val="accent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groupe de comparaison hétérogène</a:t>
              </a:r>
              <a:endParaRPr lang="en-US" sz="1050">
                <a:solidFill>
                  <a:schemeClr val="accent4"/>
                </a:solidFill>
              </a:endParaRPr>
            </a:p>
          </p:txBody>
        </p:sp>
        <p:sp>
          <p:nvSpPr>
            <p:cNvPr id="134" name="Text 29">
              <a:extLst>
                <a:ext uri="{FF2B5EF4-FFF2-40B4-BE49-F238E27FC236}">
                  <a16:creationId xmlns:a16="http://schemas.microsoft.com/office/drawing/2014/main" id="{98B061A0-5825-C630-D20E-4A8C8C21A338}"/>
                </a:ext>
              </a:extLst>
            </p:cNvPr>
            <p:cNvSpPr txBox="1"/>
            <p:nvPr/>
          </p:nvSpPr>
          <p:spPr>
            <a:xfrm>
              <a:off x="1009543" y="5721837"/>
              <a:ext cx="2230367" cy="423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Le reste des allocataires sort de CDD, d'intérim ou de CDI : des trajectoires différentes par nature.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6" name="Text 33">
              <a:extLst>
                <a:ext uri="{FF2B5EF4-FFF2-40B4-BE49-F238E27FC236}">
                  <a16:creationId xmlns:a16="http://schemas.microsoft.com/office/drawing/2014/main" id="{726960E1-37F9-AD96-EF49-D675578BDE98}"/>
                </a:ext>
              </a:extLst>
            </p:cNvPr>
            <p:cNvSpPr txBox="1"/>
            <p:nvPr/>
          </p:nvSpPr>
          <p:spPr>
            <a:xfrm>
              <a:off x="3800359" y="5489933"/>
              <a:ext cx="2148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FF96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contrefactuel prédit, non observé</a:t>
              </a:r>
              <a:endParaRPr lang="en-US" sz="1050">
                <a:solidFill>
                  <a:srgbClr val="FF9600"/>
                </a:solidFill>
              </a:endParaRPr>
            </a:p>
          </p:txBody>
        </p:sp>
        <p:sp>
          <p:nvSpPr>
            <p:cNvPr id="137" name="Text 34">
              <a:extLst>
                <a:ext uri="{FF2B5EF4-FFF2-40B4-BE49-F238E27FC236}">
                  <a16:creationId xmlns:a16="http://schemas.microsoft.com/office/drawing/2014/main" id="{DAFC6BAA-AB4F-0FBD-B779-55556C445DBE}"/>
                </a:ext>
              </a:extLst>
            </p:cNvPr>
            <p:cNvSpPr txBox="1"/>
            <p:nvPr/>
          </p:nvSpPr>
          <p:spPr>
            <a:xfrm>
              <a:off x="3608676" y="5721837"/>
              <a:ext cx="25146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spc="-4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Le taux attendu vient d'un modèle additif estimé horizon par horizon, pas d'une comparaison entre personnes.</a:t>
              </a:r>
              <a:endParaRPr lang="en-US" sz="900" spc="-4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Text 38">
              <a:extLst>
                <a:ext uri="{FF2B5EF4-FFF2-40B4-BE49-F238E27FC236}">
                  <a16:creationId xmlns:a16="http://schemas.microsoft.com/office/drawing/2014/main" id="{7C7BFEAE-5247-5EAC-4DA9-3A3F995D6B19}"/>
                </a:ext>
              </a:extLst>
            </p:cNvPr>
            <p:cNvSpPr txBox="1"/>
            <p:nvPr/>
          </p:nvSpPr>
          <p:spPr>
            <a:xfrm>
              <a:off x="6586591" y="5477795"/>
              <a:ext cx="2148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FF960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Un écart tenu pour causal</a:t>
              </a:r>
              <a:endParaRPr lang="en-US" sz="1050">
                <a:solidFill>
                  <a:srgbClr val="FF96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1" name="Text 39">
              <a:extLst>
                <a:ext uri="{FF2B5EF4-FFF2-40B4-BE49-F238E27FC236}">
                  <a16:creationId xmlns:a16="http://schemas.microsoft.com/office/drawing/2014/main" id="{099F3F74-A9F6-5C60-4768-F916FEB29299}"/>
                </a:ext>
              </a:extLst>
            </p:cNvPr>
            <p:cNvSpPr txBox="1"/>
            <p:nvPr/>
          </p:nvSpPr>
          <p:spPr>
            <a:xfrm>
              <a:off x="6511858" y="5721837"/>
              <a:ext cx="229830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Un retard résiduel peut tenir au profil des signataires autant qu'à la rupture elle-même.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Text 43">
              <a:extLst>
                <a:ext uri="{FF2B5EF4-FFF2-40B4-BE49-F238E27FC236}">
                  <a16:creationId xmlns:a16="http://schemas.microsoft.com/office/drawing/2014/main" id="{46CB86F5-8726-20D9-AFB8-C61CBB782A47}"/>
                </a:ext>
              </a:extLst>
            </p:cNvPr>
            <p:cNvSpPr txBox="1"/>
            <p:nvPr/>
          </p:nvSpPr>
          <p:spPr>
            <a:xfrm>
              <a:off x="9259104" y="5440684"/>
              <a:ext cx="2148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FF960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Un seul type d'emploi mesuré</a:t>
              </a:r>
              <a:endParaRPr lang="en-US" sz="1050">
                <a:solidFill>
                  <a:srgbClr val="FF96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5" name="Text 44">
              <a:extLst>
                <a:ext uri="{FF2B5EF4-FFF2-40B4-BE49-F238E27FC236}">
                  <a16:creationId xmlns:a16="http://schemas.microsoft.com/office/drawing/2014/main" id="{7E281C7F-75AF-4812-B5F8-23B5F6F3A09F}"/>
                </a:ext>
              </a:extLst>
            </p:cNvPr>
            <p:cNvSpPr txBox="1"/>
            <p:nvPr/>
          </p:nvSpPr>
          <p:spPr>
            <a:xfrm>
              <a:off x="9269001" y="5721837"/>
              <a:ext cx="2077234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L'indicateur ne voit que le salariat : s'installer à son compte </a:t>
              </a:r>
            </a:p>
            <a:p>
              <a:pPr marL="0" indent="0" algn="ctr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est considéré comme un non-retour à l'emploi.</a:t>
              </a:r>
              <a:endParaRPr lang="fr-FR" sz="90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8659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5C3F35-07F1-7603-0D7A-D3EC3FF3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Espace réservé du texte 2">
            <a:extLst>
              <a:ext uri="{FF2B5EF4-FFF2-40B4-BE49-F238E27FC236}">
                <a16:creationId xmlns:a16="http://schemas.microsoft.com/office/drawing/2014/main" id="{AE9072C9-69BC-8BD2-B1EF-3E275985052C}"/>
              </a:ext>
            </a:extLst>
          </p:cNvPr>
          <p:cNvSpPr txBox="1">
            <a:spLocks/>
          </p:cNvSpPr>
          <p:nvPr/>
        </p:nvSpPr>
        <p:spPr>
          <a:xfrm>
            <a:off x="6431851" y="1374652"/>
            <a:ext cx="5380916" cy="4984780"/>
          </a:xfrm>
          <a:prstGeom prst="rect">
            <a:avLst/>
          </a:prstGeom>
          <a:solidFill>
            <a:srgbClr val="E8F2E0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1A70F1-7D45-726F-C94B-373FEE611B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464" y="1402429"/>
            <a:ext cx="5380916" cy="4957002"/>
          </a:xfrm>
          <a:solidFill>
            <a:srgbClr val="F2F8F9">
              <a:alpha val="3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4EE547-0050-BE9D-BE30-D03824B56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8" y="439504"/>
            <a:ext cx="11377532" cy="490862"/>
          </a:xfrm>
        </p:spPr>
        <p:txBody>
          <a:bodyPr/>
          <a:lstStyle/>
          <a:p>
            <a:r>
              <a:rPr lang="fr-FR" sz="1600" spc="-40" noProof="0"/>
              <a:t>DES EMPLOIS RETROUVÉS PLUS DURABLES, DES SALAIRES QUI PROGRESSENT PEU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C389B5-C96B-BFEE-D869-190C582753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468" y="675498"/>
            <a:ext cx="10563062" cy="432000"/>
          </a:xfrm>
        </p:spPr>
        <p:txBody>
          <a:bodyPr/>
          <a:lstStyle/>
          <a:p>
            <a:r>
              <a:rPr lang="fr-FR" sz="1200">
                <a:solidFill>
                  <a:schemeClr val="accent3"/>
                </a:solidFill>
              </a:rPr>
              <a:t>Les signataires de RCI reprennent plus souvent un emploi durable (+6 pts), mais moins de 3 sur 5 retrouvent leur salaire antérieur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44EE822-A016-B89D-A331-A1E693D32109}"/>
              </a:ext>
            </a:extLst>
          </p:cNvPr>
          <p:cNvSpPr txBox="1"/>
          <p:nvPr/>
        </p:nvSpPr>
        <p:spPr>
          <a:xfrm>
            <a:off x="914001" y="1413672"/>
            <a:ext cx="539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APRÈS UNE RUPTURE CONVENTIONNELLE INDIVIDUELLE, LE PREMIER EMPLOI SALARIÉ REPRIS EST LE PLUS SOUVENT DURABLE, À TOUS LES HORIZONS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396BB2C3-6EDA-464E-8E71-DF721CD636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50047" y="1944821"/>
            <a:ext cx="4156564" cy="1990467"/>
          </a:xfrm>
          <a:prstGeom prst="rect">
            <a:avLst/>
          </a:prstGeom>
          <a:ln>
            <a:solidFill>
              <a:srgbClr val="007C80"/>
            </a:solidFill>
            <a:prstDash val="dash"/>
          </a:ln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CD43A561-094B-D6F2-EA8C-49CDD93A5492}"/>
              </a:ext>
            </a:extLst>
          </p:cNvPr>
          <p:cNvSpPr txBox="1"/>
          <p:nvPr/>
        </p:nvSpPr>
        <p:spPr>
          <a:xfrm>
            <a:off x="1023313" y="3963795"/>
            <a:ext cx="504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b="1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 DE L’EMPLOI DURABLE PARMI LE PREMIER EMPLOI RETROUVÉ PAR GROUPE D’ALLOCATAIRES ET PAR DÉLAI DE REPRISE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BE0122E-9CE5-A177-5806-452E96B4B46B}"/>
              </a:ext>
            </a:extLst>
          </p:cNvPr>
          <p:cNvSpPr txBox="1"/>
          <p:nvPr/>
        </p:nvSpPr>
        <p:spPr>
          <a:xfrm>
            <a:off x="914001" y="4354183"/>
            <a:ext cx="53228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Lecture : 66% des premiers contrats repris par les signataires de RCI à un et trois mois après la rupture de leur contrat est un contrat d’emploi durable (CDI ou CDD de plus de 6 mois)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Minima sociaux, droits d’assurance chômage et parcours salariés (MiDAS)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AC2C2B6-CE0B-A691-5789-F7D89D571DCE}"/>
              </a:ext>
            </a:extLst>
          </p:cNvPr>
          <p:cNvSpPr txBox="1"/>
          <p:nvPr/>
        </p:nvSpPr>
        <p:spPr>
          <a:xfrm>
            <a:off x="6431849" y="1413672"/>
            <a:ext cx="5305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CETTE REPRISE NE S'ACCOMPAGNE QUE D'UNE FAIBLE HAUSSE DE SALAIRE, QUI STAGNE SUR TROIS ANS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425193A-58DE-1675-21EE-517FCC722AD9}"/>
              </a:ext>
            </a:extLst>
          </p:cNvPr>
          <p:cNvSpPr txBox="1"/>
          <p:nvPr/>
        </p:nvSpPr>
        <p:spPr>
          <a:xfrm>
            <a:off x="6431850" y="5348844"/>
            <a:ext cx="5334901" cy="928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t">
              <a:lnSpc>
                <a:spcPct val="119048"/>
              </a:lnSpc>
              <a:buNone/>
            </a:pPr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Lecture : À six mois de la fin du contrat, les allocataires ayant repris un emploi après une RCI enregistrent un rendement salarial médian de 1,05</a:t>
            </a:r>
          </a:p>
          <a:p>
            <a:pPr algn="just" fontAlgn="t">
              <a:lnSpc>
                <a:spcPct val="119048"/>
              </a:lnSpc>
              <a:buNone/>
            </a:pPr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Note : Le salaire analysé est le salaire de base, c’est-à-dire à l’exclusion des compléments de salaire (ex : prime d’ancienneté). Il correspond généralement à la première ligne du bulletin de paye d’un salarié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Minima sociaux, droits d’assurance chômage et parcours salariés (MiDAS) – Vague 8; traitement Unédic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6993E29-F9FA-66EF-2711-359AD3C18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954" y="2907374"/>
            <a:ext cx="4421211" cy="2129255"/>
          </a:xfrm>
          <a:prstGeom prst="rect">
            <a:avLst/>
          </a:prstGeom>
          <a:ln>
            <a:solidFill>
              <a:srgbClr val="B6D79C"/>
            </a:solidFill>
            <a:prstDash val="dash"/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7FE2EE5-BC6C-DBB8-6E44-ABED26430279}"/>
              </a:ext>
            </a:extLst>
          </p:cNvPr>
          <p:cNvSpPr txBox="1"/>
          <p:nvPr/>
        </p:nvSpPr>
        <p:spPr>
          <a:xfrm>
            <a:off x="6619237" y="5118012"/>
            <a:ext cx="50466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SALAIRE À L'HORIZON T RAPPORTÉ AU SALAIRE DU CONTRAT ROMPU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86D8E19-5DF6-BE78-5A8F-EAA8AD8CB925}"/>
              </a:ext>
            </a:extLst>
          </p:cNvPr>
          <p:cNvSpPr/>
          <p:nvPr/>
        </p:nvSpPr>
        <p:spPr>
          <a:xfrm>
            <a:off x="6431850" y="1866900"/>
            <a:ext cx="5380915" cy="82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D5F5AD9-8759-BA12-59CD-6FABD1EEFB2E}"/>
              </a:ext>
            </a:extLst>
          </p:cNvPr>
          <p:cNvGrpSpPr/>
          <p:nvPr/>
        </p:nvGrpSpPr>
        <p:grpSpPr>
          <a:xfrm>
            <a:off x="6369861" y="1927525"/>
            <a:ext cx="5367849" cy="763696"/>
            <a:chOff x="6476782" y="1914381"/>
            <a:chExt cx="5367849" cy="763696"/>
          </a:xfrm>
        </p:grpSpPr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A8A63BF6-1F26-887B-64F6-8E236E253BBB}"/>
                </a:ext>
              </a:extLst>
            </p:cNvPr>
            <p:cNvGrpSpPr/>
            <p:nvPr/>
          </p:nvGrpSpPr>
          <p:grpSpPr>
            <a:xfrm>
              <a:off x="6756905" y="1914381"/>
              <a:ext cx="1142071" cy="230833"/>
              <a:chOff x="6776402" y="1918113"/>
              <a:chExt cx="1142071" cy="230833"/>
            </a:xfrm>
          </p:grpSpPr>
          <p:pic>
            <p:nvPicPr>
              <p:cNvPr id="14" name="Graphique 13" descr="Utilisateur avec un remplissage uni">
                <a:extLst>
                  <a:ext uri="{FF2B5EF4-FFF2-40B4-BE49-F238E27FC236}">
                    <a16:creationId xmlns:a16="http://schemas.microsoft.com/office/drawing/2014/main" id="{33F8D250-8541-41C8-393F-BA9C441090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76402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17" name="Graphique 16" descr="Utilisateur avec un remplissage uni">
                <a:extLst>
                  <a:ext uri="{FF2B5EF4-FFF2-40B4-BE49-F238E27FC236}">
                    <a16:creationId xmlns:a16="http://schemas.microsoft.com/office/drawing/2014/main" id="{D1FF13BA-6963-2E96-3A45-8C91273E0E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001188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20" name="Graphique 19" descr="Utilisateur avec un remplissage uni">
                <a:extLst>
                  <a:ext uri="{FF2B5EF4-FFF2-40B4-BE49-F238E27FC236}">
                    <a16:creationId xmlns:a16="http://schemas.microsoft.com/office/drawing/2014/main" id="{39568383-545D-2ECA-5E34-6B61FEB3CC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232021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22" name="Graphique 21" descr="Utilisateur avec un remplissage uni">
                <a:extLst>
                  <a:ext uri="{FF2B5EF4-FFF2-40B4-BE49-F238E27FC236}">
                    <a16:creationId xmlns:a16="http://schemas.microsoft.com/office/drawing/2014/main" id="{F6B53348-55EA-FD97-2EB3-79C30064F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448789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24" name="Graphique 23" descr="Utilisateur avec un remplissage uni">
                <a:extLst>
                  <a:ext uri="{FF2B5EF4-FFF2-40B4-BE49-F238E27FC236}">
                    <a16:creationId xmlns:a16="http://schemas.microsoft.com/office/drawing/2014/main" id="{10D9A27C-7581-7388-19C6-7BD582E636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687640" y="1918113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8EA2FFAB-24F1-CE8D-71CB-1218E7DEC404}"/>
                </a:ext>
              </a:extLst>
            </p:cNvPr>
            <p:cNvSpPr txBox="1"/>
            <p:nvPr/>
          </p:nvSpPr>
          <p:spPr>
            <a:xfrm>
              <a:off x="6476782" y="2216412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MOINS DE 3 ALLOCATAIRES SUR 5 RETROUVENT LE SALAIRE DE LEUR CONTRAT ROMPU PAR RCI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31DFF3E-8344-2E85-0A05-70C2DB0E1A9F}"/>
                </a:ext>
              </a:extLst>
            </p:cNvPr>
            <p:cNvSpPr txBox="1"/>
            <p:nvPr/>
          </p:nvSpPr>
          <p:spPr>
            <a:xfrm>
              <a:off x="9057556" y="1914381"/>
              <a:ext cx="48530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fr-FR" sz="1600" b="1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7%</a:t>
              </a:r>
              <a:endParaRPr lang="fr-FR" sz="1600" noProof="0">
                <a:solidFill>
                  <a:schemeClr val="accent5"/>
                </a:solidFill>
              </a:endParaRP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3F76A055-268A-3470-DE93-DCC5027D404F}"/>
                </a:ext>
              </a:extLst>
            </p:cNvPr>
            <p:cNvSpPr txBox="1"/>
            <p:nvPr/>
          </p:nvSpPr>
          <p:spPr>
            <a:xfrm>
              <a:off x="8317945" y="2216412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GAIN SALARIAL MÉDIAN 30 MOIS APRÈS LA FIN DU CONTRAT ROMPU PAR RCI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099CE0D0-BA11-6253-06BD-1A4EC44EA6DF}"/>
                </a:ext>
              </a:extLst>
            </p:cNvPr>
            <p:cNvSpPr txBox="1"/>
            <p:nvPr/>
          </p:nvSpPr>
          <p:spPr>
            <a:xfrm>
              <a:off x="10611222" y="1914381"/>
              <a:ext cx="6990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fr-FR" sz="1600" b="1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10%</a:t>
              </a:r>
              <a:endParaRPr lang="fr-FR" sz="1600" noProof="0">
                <a:solidFill>
                  <a:schemeClr val="accent5"/>
                </a:solidFill>
              </a:endParaRP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A1C90AA9-CC9C-748D-C60D-AAA7EE1E8A6E}"/>
                </a:ext>
              </a:extLst>
            </p:cNvPr>
            <p:cNvSpPr txBox="1"/>
            <p:nvPr/>
          </p:nvSpPr>
          <p:spPr>
            <a:xfrm>
              <a:off x="10016181" y="2216411"/>
              <a:ext cx="1828450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fr-FR" sz="800" b="1" spc="-50" noProof="0">
                  <a:solidFill>
                    <a:schemeClr val="accent5"/>
                  </a:solidFill>
                  <a:latin typeface="Segoe UI"/>
                  <a:cs typeface="Segoe UI"/>
                </a:rPr>
                <a:t>DE GAIN SALARIAL MÉDIAN 30 MOIS APRÈS LA FIN DU CONTRAT ROMPU P</a:t>
              </a:r>
              <a:r>
                <a:rPr lang="fr-FR" sz="800" b="1" spc="-50">
                  <a:solidFill>
                    <a:schemeClr val="accent5"/>
                  </a:solidFill>
                  <a:latin typeface="Segoe UI"/>
                  <a:cs typeface="Segoe UI"/>
                </a:rPr>
                <a:t>OUR UN AUTRE MOTIF QUE LA RCI</a:t>
              </a:r>
              <a:endParaRPr lang="fr-FR" sz="800" b="1" spc="-50" noProof="0">
                <a:solidFill>
                  <a:schemeClr val="accent5"/>
                </a:solidFill>
                <a:latin typeface="Segoe UI"/>
                <a:cs typeface="Segoe UI"/>
              </a:endParaRP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CD957015-27A0-A46B-BF88-204361CE9AFD}"/>
              </a:ext>
            </a:extLst>
          </p:cNvPr>
          <p:cNvSpPr/>
          <p:nvPr/>
        </p:nvSpPr>
        <p:spPr>
          <a:xfrm>
            <a:off x="914001" y="5251876"/>
            <a:ext cx="5391728" cy="82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5C92241F-5A7D-8EB5-6C8C-C4A1824DEBC9}"/>
              </a:ext>
            </a:extLst>
          </p:cNvPr>
          <p:cNvGrpSpPr/>
          <p:nvPr/>
        </p:nvGrpSpPr>
        <p:grpSpPr>
          <a:xfrm>
            <a:off x="887062" y="5271047"/>
            <a:ext cx="5397712" cy="848105"/>
            <a:chOff x="982927" y="4913184"/>
            <a:chExt cx="5397712" cy="848105"/>
          </a:xfrm>
        </p:grpSpPr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F4CDE41F-0FA3-B46B-5E35-521195AFF46F}"/>
                </a:ext>
              </a:extLst>
            </p:cNvPr>
            <p:cNvGrpSpPr/>
            <p:nvPr/>
          </p:nvGrpSpPr>
          <p:grpSpPr>
            <a:xfrm>
              <a:off x="1326116" y="4913184"/>
              <a:ext cx="1142071" cy="230833"/>
              <a:chOff x="6776402" y="1918113"/>
              <a:chExt cx="1142071" cy="230833"/>
            </a:xfrm>
          </p:grpSpPr>
          <p:pic>
            <p:nvPicPr>
              <p:cNvPr id="46" name="Graphique 45" descr="Utilisateur avec un remplissage uni">
                <a:extLst>
                  <a:ext uri="{FF2B5EF4-FFF2-40B4-BE49-F238E27FC236}">
                    <a16:creationId xmlns:a16="http://schemas.microsoft.com/office/drawing/2014/main" id="{617B8FF4-DD96-0378-A215-A1604BF7E1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776402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47" name="Graphique 46" descr="Utilisateur avec un remplissage uni">
                <a:extLst>
                  <a:ext uri="{FF2B5EF4-FFF2-40B4-BE49-F238E27FC236}">
                    <a16:creationId xmlns:a16="http://schemas.microsoft.com/office/drawing/2014/main" id="{E519AC39-5685-DFC4-6FB7-0733B132D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01188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48" name="Graphique 47" descr="Utilisateur avec un remplissage uni">
                <a:extLst>
                  <a:ext uri="{FF2B5EF4-FFF2-40B4-BE49-F238E27FC236}">
                    <a16:creationId xmlns:a16="http://schemas.microsoft.com/office/drawing/2014/main" id="{947C116A-9779-5A06-7601-27F2CC29E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32021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49" name="Graphique 48" descr="Utilisateur avec un remplissage uni">
                <a:extLst>
                  <a:ext uri="{FF2B5EF4-FFF2-40B4-BE49-F238E27FC236}">
                    <a16:creationId xmlns:a16="http://schemas.microsoft.com/office/drawing/2014/main" id="{F78202C0-74E3-5A0F-535F-DBF6106D70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448789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0" name="Graphique 49" descr="Utilisateur avec un remplissage uni">
                <a:extLst>
                  <a:ext uri="{FF2B5EF4-FFF2-40B4-BE49-F238E27FC236}">
                    <a16:creationId xmlns:a16="http://schemas.microsoft.com/office/drawing/2014/main" id="{5D2430FF-0569-20B7-04B4-BBCAF3D482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687640" y="1918113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DD4EE2D4-4565-7BBA-26B4-AA68C9B19AAE}"/>
                </a:ext>
              </a:extLst>
            </p:cNvPr>
            <p:cNvSpPr txBox="1"/>
            <p:nvPr/>
          </p:nvSpPr>
          <p:spPr>
            <a:xfrm>
              <a:off x="982927" y="5299624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DE 3 REPRISES D'EMPLOI SUR 5 DANS LES 3 MOIS SUIVANT LA RCI SONT DURABLES</a:t>
              </a: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9229ED45-B5CD-F88B-7F6B-DB721AE6B3A1}"/>
                </a:ext>
              </a:extLst>
            </p:cNvPr>
            <p:cNvSpPr txBox="1"/>
            <p:nvPr/>
          </p:nvSpPr>
          <p:spPr>
            <a:xfrm>
              <a:off x="3434629" y="4913184"/>
              <a:ext cx="108172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fr-FR" sz="1600" b="1" i="0" u="none" strike="noStrike" kern="1200" cap="none" spc="0" normalizeH="0" baseline="0" noProof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6 pts</a:t>
              </a:r>
              <a:endParaRPr lang="fr-FR" sz="1600" noProof="0"/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8F0CBD21-7DAB-AD8F-F118-5D399D729942}"/>
                </a:ext>
              </a:extLst>
            </p:cNvPr>
            <p:cNvSpPr txBox="1"/>
            <p:nvPr/>
          </p:nvSpPr>
          <p:spPr>
            <a:xfrm>
              <a:off x="2848794" y="5299624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PAR RAPPORT AUX ALLOCATAIRES SORTIS DE CDI POUR UN AUTRE MOTIF</a:t>
              </a:r>
            </a:p>
          </p:txBody>
        </p:sp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A953993E-4EFC-5A7A-64A0-5BB29A6906CD}"/>
                </a:ext>
              </a:extLst>
            </p:cNvPr>
            <p:cNvGrpSpPr/>
            <p:nvPr/>
          </p:nvGrpSpPr>
          <p:grpSpPr>
            <a:xfrm>
              <a:off x="4861059" y="4913184"/>
              <a:ext cx="903220" cy="230833"/>
              <a:chOff x="6776402" y="1918113"/>
              <a:chExt cx="903220" cy="230833"/>
            </a:xfrm>
          </p:grpSpPr>
          <p:pic>
            <p:nvPicPr>
              <p:cNvPr id="62" name="Graphique 61" descr="Utilisateur avec un remplissage uni">
                <a:extLst>
                  <a:ext uri="{FF2B5EF4-FFF2-40B4-BE49-F238E27FC236}">
                    <a16:creationId xmlns:a16="http://schemas.microsoft.com/office/drawing/2014/main" id="{6CFFF6D2-57F6-5594-2BF6-06EC881D06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776402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3" name="Graphique 62" descr="Utilisateur avec un remplissage uni">
                <a:extLst>
                  <a:ext uri="{FF2B5EF4-FFF2-40B4-BE49-F238E27FC236}">
                    <a16:creationId xmlns:a16="http://schemas.microsoft.com/office/drawing/2014/main" id="{903CF9DB-8104-E8F5-3BFF-530CAFBA5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01188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4" name="Graphique 63" descr="Utilisateur avec un remplissage uni">
                <a:extLst>
                  <a:ext uri="{FF2B5EF4-FFF2-40B4-BE49-F238E27FC236}">
                    <a16:creationId xmlns:a16="http://schemas.microsoft.com/office/drawing/2014/main" id="{75399FA8-01F0-42DC-4C6B-0A955CFAC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32021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5" name="Graphique 64" descr="Utilisateur avec un remplissage uni">
                <a:extLst>
                  <a:ext uri="{FF2B5EF4-FFF2-40B4-BE49-F238E27FC236}">
                    <a16:creationId xmlns:a16="http://schemas.microsoft.com/office/drawing/2014/main" id="{FA36E8EC-27A5-9627-446A-FB08C7F32F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448789" y="1918113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E6825B14-843F-A9D5-542B-490EE7315836}"/>
                </a:ext>
              </a:extLst>
            </p:cNvPr>
            <p:cNvSpPr txBox="1"/>
            <p:nvPr/>
          </p:nvSpPr>
          <p:spPr>
            <a:xfrm>
              <a:off x="4552189" y="5299624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fr-FR" sz="8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 EMPLOIS REPRIS SUR 4 SONT DURABLES ENTRE 25 ET 30 MOIS APRÈS LA RCI</a:t>
              </a: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E908541E-4E4D-1265-D1AB-63B0115FA02D}"/>
              </a:ext>
            </a:extLst>
          </p:cNvPr>
          <p:cNvGrpSpPr/>
          <p:nvPr/>
        </p:nvGrpSpPr>
        <p:grpSpPr>
          <a:xfrm>
            <a:off x="864860" y="1236668"/>
            <a:ext cx="283438" cy="275968"/>
            <a:chOff x="2327336" y="-533713"/>
            <a:chExt cx="370487" cy="360722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9A6E25AC-841C-8438-8B85-764F34359A92}"/>
                </a:ext>
              </a:extLst>
            </p:cNvPr>
            <p:cNvSpPr/>
            <p:nvPr/>
          </p:nvSpPr>
          <p:spPr>
            <a:xfrm>
              <a:off x="2327336" y="-533713"/>
              <a:ext cx="370487" cy="360722"/>
            </a:xfrm>
            <a:prstGeom prst="ellipse">
              <a:avLst/>
            </a:prstGeom>
            <a:solidFill>
              <a:srgbClr val="CCE5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76" name="Graphique 75" descr="Lumières allumées avec un remplissage uni">
              <a:extLst>
                <a:ext uri="{FF2B5EF4-FFF2-40B4-BE49-F238E27FC236}">
                  <a16:creationId xmlns:a16="http://schemas.microsoft.com/office/drawing/2014/main" id="{516F52C7-AFA6-0B85-78D9-F40780A56A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91568" y="-454626"/>
              <a:ext cx="242022" cy="242022"/>
            </a:xfrm>
            <a:prstGeom prst="rect">
              <a:avLst/>
            </a:prstGeom>
          </p:spPr>
        </p:pic>
      </p:grp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BEFD0FC3-3281-ED5C-B7EB-A5EDBB7DE00E}"/>
              </a:ext>
            </a:extLst>
          </p:cNvPr>
          <p:cNvGrpSpPr/>
          <p:nvPr/>
        </p:nvGrpSpPr>
        <p:grpSpPr>
          <a:xfrm>
            <a:off x="6373484" y="1236668"/>
            <a:ext cx="283438" cy="275968"/>
            <a:chOff x="2327336" y="-533713"/>
            <a:chExt cx="370487" cy="360722"/>
          </a:xfrm>
        </p:grpSpPr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78961EB2-4B85-A42C-C29E-1B05E00AB55F}"/>
                </a:ext>
              </a:extLst>
            </p:cNvPr>
            <p:cNvSpPr/>
            <p:nvPr/>
          </p:nvSpPr>
          <p:spPr>
            <a:xfrm>
              <a:off x="2327336" y="-533713"/>
              <a:ext cx="370487" cy="36072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79" name="Graphique 78" descr="Puzzle avec un remplissage uni">
              <a:extLst>
                <a:ext uri="{FF2B5EF4-FFF2-40B4-BE49-F238E27FC236}">
                  <a16:creationId xmlns:a16="http://schemas.microsoft.com/office/drawing/2014/main" id="{243D3C43-276A-76E1-D0C7-B845438AF0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91568" y="-454626"/>
              <a:ext cx="242022" cy="242022"/>
            </a:xfrm>
            <a:prstGeom prst="rect">
              <a:avLst/>
            </a:prstGeom>
          </p:spPr>
        </p:pic>
      </p:grpSp>
      <p:sp>
        <p:nvSpPr>
          <p:cNvPr id="11" name="Espace réservé du texte 1">
            <a:extLst>
              <a:ext uri="{FF2B5EF4-FFF2-40B4-BE49-F238E27FC236}">
                <a16:creationId xmlns:a16="http://schemas.microsoft.com/office/drawing/2014/main" id="{069CF10A-BDAE-FD05-1A5C-8C6D3E59C4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85498" y="73391"/>
            <a:ext cx="8229349" cy="231285"/>
          </a:xfrm>
        </p:spPr>
        <p:txBody>
          <a:bodyPr/>
          <a:lstStyle/>
          <a:p>
            <a:r>
              <a:rPr lang="fr-FR" noProof="0"/>
              <a:t>PARTIE 1 : PROLONGEMENTs DESCRIPTIFS DE LA LITTérature</a:t>
            </a:r>
            <a:r>
              <a:rPr lang="fr-FR"/>
              <a:t> – qualité de l’appariement</a:t>
            </a:r>
            <a:endParaRPr lang="fr-FR" noProof="0"/>
          </a:p>
          <a:p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21504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9A9B28-6F55-8207-419B-544724AC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3B3089-660D-31DE-732C-AC6204D9A0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1409" y="352238"/>
            <a:ext cx="11377532" cy="490862"/>
          </a:xfrm>
        </p:spPr>
        <p:txBody>
          <a:bodyPr lIns="0" tIns="45720" rIns="0" bIns="45720" anchor="t"/>
          <a:lstStyle/>
          <a:p>
            <a:r>
              <a:rPr lang="fr-FR" sz="1600" spc="-40" noProof="0">
                <a:latin typeface="Montserrat"/>
              </a:rPr>
              <a:t>UN RETARD DEUX FOIS PLUS FAIBLE DÈS QUE L’ÉCART PEUT VARIER SELON LES PROFILS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ECEEFF-76D7-11B5-B850-3710690A8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1409" y="589164"/>
            <a:ext cx="11286092" cy="432000"/>
          </a:xfrm>
        </p:spPr>
        <p:txBody>
          <a:bodyPr/>
          <a:lstStyle/>
          <a:p>
            <a:r>
              <a:rPr lang="fr-FR" sz="1400" noProof="0">
                <a:solidFill>
                  <a:schemeClr val="accent3"/>
                </a:solidFill>
              </a:rPr>
              <a:t>L’écart entre le taux d’emploi salarié observé après une RCI et le taux attendu dépend fortement de la manière dont on le modélise</a:t>
            </a:r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372C7212-A42A-3D70-A669-95111E29C9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6623D92C-60E7-E955-4DBB-6AD3703AFD4A}"/>
              </a:ext>
            </a:extLst>
          </p:cNvPr>
          <p:cNvSpPr/>
          <p:nvPr/>
        </p:nvSpPr>
        <p:spPr>
          <a:xfrm>
            <a:off x="12077501" y="-457200"/>
            <a:ext cx="914400" cy="9144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90B47-F473-F74E-A95A-BA782C70BC38}"/>
              </a:ext>
            </a:extLst>
          </p:cNvPr>
          <p:cNvSpPr/>
          <p:nvPr/>
        </p:nvSpPr>
        <p:spPr>
          <a:xfrm flipV="1">
            <a:off x="989068" y="1302558"/>
            <a:ext cx="5498838" cy="42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AE00D1D1-A0AE-FCF8-3A30-9C30662149D9}"/>
              </a:ext>
            </a:extLst>
          </p:cNvPr>
          <p:cNvGrpSpPr/>
          <p:nvPr/>
        </p:nvGrpSpPr>
        <p:grpSpPr>
          <a:xfrm>
            <a:off x="4350181" y="4796219"/>
            <a:ext cx="5856475" cy="183762"/>
            <a:chOff x="891029" y="2187461"/>
            <a:chExt cx="5856475" cy="183762"/>
          </a:xfrm>
        </p:grpSpPr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CBB7330C-3826-3A4D-2E86-F008B363CE36}"/>
                </a:ext>
              </a:extLst>
            </p:cNvPr>
            <p:cNvSpPr txBox="1"/>
            <p:nvPr/>
          </p:nvSpPr>
          <p:spPr>
            <a:xfrm>
              <a:off x="1166012" y="2188343"/>
              <a:ext cx="2194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Taux observé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E9B372AF-C7D1-342C-03CA-7915B549C6B0}"/>
                </a:ext>
              </a:extLst>
            </p:cNvPr>
            <p:cNvCxnSpPr>
              <a:cxnSpLocks/>
            </p:cNvCxnSpPr>
            <p:nvPr/>
          </p:nvCxnSpPr>
          <p:spPr>
            <a:xfrm>
              <a:off x="891029" y="2279498"/>
              <a:ext cx="228600" cy="0"/>
            </a:xfrm>
            <a:prstGeom prst="line">
              <a:avLst/>
            </a:prstGeom>
            <a:ln w="57150">
              <a:solidFill>
                <a:srgbClr val="007C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53673A9B-3F6E-3BEF-1D4F-E6A888A64657}"/>
                </a:ext>
              </a:extLst>
            </p:cNvPr>
            <p:cNvCxnSpPr>
              <a:cxnSpLocks/>
            </p:cNvCxnSpPr>
            <p:nvPr/>
          </p:nvCxnSpPr>
          <p:spPr>
            <a:xfrm>
              <a:off x="2034692" y="2282073"/>
              <a:ext cx="2286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 8">
              <a:extLst>
                <a:ext uri="{FF2B5EF4-FFF2-40B4-BE49-F238E27FC236}">
                  <a16:creationId xmlns:a16="http://schemas.microsoft.com/office/drawing/2014/main" id="{B272E1CE-C3AD-81ED-1108-EAE9A121C4F7}"/>
                </a:ext>
              </a:extLst>
            </p:cNvPr>
            <p:cNvSpPr txBox="1"/>
            <p:nvPr/>
          </p:nvSpPr>
          <p:spPr>
            <a:xfrm>
              <a:off x="2332071" y="2187461"/>
              <a:ext cx="2194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Prédiction du modèle additif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AA765900-2361-1B16-11CA-81401BB40DE4}"/>
                </a:ext>
              </a:extLst>
            </p:cNvPr>
            <p:cNvCxnSpPr>
              <a:cxnSpLocks/>
            </p:cNvCxnSpPr>
            <p:nvPr/>
          </p:nvCxnSpPr>
          <p:spPr>
            <a:xfrm>
              <a:off x="3949875" y="2283715"/>
              <a:ext cx="228600" cy="0"/>
            </a:xfrm>
            <a:prstGeom prst="line">
              <a:avLst/>
            </a:prstGeom>
            <a:ln w="57150">
              <a:solidFill>
                <a:schemeClr val="bg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 5">
              <a:extLst>
                <a:ext uri="{FF2B5EF4-FFF2-40B4-BE49-F238E27FC236}">
                  <a16:creationId xmlns:a16="http://schemas.microsoft.com/office/drawing/2014/main" id="{ED0B18BA-C739-D8CF-99A0-9D4413EA96E7}"/>
                </a:ext>
              </a:extLst>
            </p:cNvPr>
            <p:cNvSpPr txBox="1"/>
            <p:nvPr/>
          </p:nvSpPr>
          <p:spPr>
            <a:xfrm>
              <a:off x="4178475" y="2233182"/>
              <a:ext cx="2569029" cy="45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Prédiction de la forêt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D6A8DE5F-0349-2787-2D1D-F480AA746865}"/>
              </a:ext>
            </a:extLst>
          </p:cNvPr>
          <p:cNvSpPr/>
          <p:nvPr/>
        </p:nvSpPr>
        <p:spPr>
          <a:xfrm rot="10800000" flipV="1">
            <a:off x="7220756" y="1202347"/>
            <a:ext cx="4856745" cy="362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0" name="Image 129">
            <a:extLst>
              <a:ext uri="{FF2B5EF4-FFF2-40B4-BE49-F238E27FC236}">
                <a16:creationId xmlns:a16="http://schemas.microsoft.com/office/drawing/2014/main" id="{20916E89-DB10-D6EF-FFB1-39B507811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106" y="1992168"/>
            <a:ext cx="4272976" cy="2193788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FBB18B7-F4DE-014D-1948-B824811AA9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8510" y="18939"/>
            <a:ext cx="8848990" cy="226998"/>
          </a:xfrm>
        </p:spPr>
        <p:txBody>
          <a:bodyPr/>
          <a:lstStyle/>
          <a:p>
            <a:r>
              <a:rPr lang="fr-FR"/>
              <a:t>PARTIE 1 : prolongements descriptifs des résultats de la littérature – LE RETOUR à l’emploi attendu</a:t>
            </a: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363CEFB-4353-E3D8-F120-646AA8BD26AE}"/>
              </a:ext>
            </a:extLst>
          </p:cNvPr>
          <p:cNvSpPr/>
          <p:nvPr/>
        </p:nvSpPr>
        <p:spPr>
          <a:xfrm flipH="1">
            <a:off x="4203414" y="1258090"/>
            <a:ext cx="34913" cy="4153107"/>
          </a:xfrm>
          <a:prstGeom prst="line">
            <a:avLst/>
          </a:prstGeom>
          <a:noFill/>
          <a:ln w="12700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C3776EBC-5A5A-58AD-352A-64D15F18026D}"/>
              </a:ext>
            </a:extLst>
          </p:cNvPr>
          <p:cNvSpPr/>
          <p:nvPr/>
        </p:nvSpPr>
        <p:spPr>
          <a:xfrm>
            <a:off x="8813189" y="1258088"/>
            <a:ext cx="32793" cy="4153106"/>
          </a:xfrm>
          <a:prstGeom prst="line">
            <a:avLst/>
          </a:prstGeom>
          <a:noFill/>
          <a:ln w="12700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2B98865-0CB3-0D69-DB77-31229C81834D}"/>
              </a:ext>
            </a:extLst>
          </p:cNvPr>
          <p:cNvSpPr txBox="1"/>
          <p:nvPr/>
        </p:nvSpPr>
        <p:spPr>
          <a:xfrm>
            <a:off x="989068" y="130273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CONCLUT L'ÉTUDE</a:t>
            </a:r>
            <a:endParaRPr lang="en-US" sz="1200">
              <a:solidFill>
                <a:schemeClr val="accent3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AE15229-8983-58BE-DC0E-38FBE23E835B}"/>
              </a:ext>
            </a:extLst>
          </p:cNvPr>
          <p:cNvSpPr txBox="1"/>
          <p:nvPr/>
        </p:nvSpPr>
        <p:spPr>
          <a:xfrm>
            <a:off x="989068" y="163621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D5DC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320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0A6BB522-7BB3-38BE-A1D6-45B270E28BF1}"/>
              </a:ext>
            </a:extLst>
          </p:cNvPr>
          <p:cNvSpPr txBox="1"/>
          <p:nvPr/>
        </p:nvSpPr>
        <p:spPr>
          <a:xfrm>
            <a:off x="1309108" y="178251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Les différences de caractéristiques des personnes et de leurs droits n'expliquent qu'une faible partie du retour moins rapide en emploi salarié après une RCI.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F6FB8F6B-39BA-F2D9-97F1-E4D61BCE34F1}"/>
              </a:ext>
            </a:extLst>
          </p:cNvPr>
          <p:cNvSpPr/>
          <p:nvPr/>
        </p:nvSpPr>
        <p:spPr>
          <a:xfrm>
            <a:off x="1065834" y="2769515"/>
            <a:ext cx="3017520" cy="0"/>
          </a:xfrm>
          <a:prstGeom prst="line">
            <a:avLst/>
          </a:prstGeom>
          <a:noFill/>
          <a:ln w="12700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D4E573B-8FDC-364D-EB6C-E654097D2C2A}"/>
              </a:ext>
            </a:extLst>
          </p:cNvPr>
          <p:cNvSpPr txBox="1"/>
          <p:nvPr/>
        </p:nvSpPr>
        <p:spPr>
          <a:xfrm>
            <a:off x="1065834" y="31750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Ce retard est mesuré avec une régression logistique additive : </a:t>
            </a:r>
            <a:r>
              <a:rPr lang="en-US" sz="1050" b="1">
                <a:solidFill>
                  <a:srgbClr val="8C9694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 même écart pour tous les profils.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049DFEB0-9538-8DA4-CFCC-8CDB2EFC2112}"/>
              </a:ext>
            </a:extLst>
          </p:cNvPr>
          <p:cNvSpPr txBox="1"/>
          <p:nvPr/>
        </p:nvSpPr>
        <p:spPr>
          <a:xfrm>
            <a:off x="1065834" y="4272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Nous l'estimons avec une forêt causale : </a:t>
            </a:r>
            <a:r>
              <a:rPr lang="en-US" sz="1050" b="1">
                <a:solidFill>
                  <a:srgbClr val="6FAF3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 écart propre à chaque profil.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CD97160-02DD-3E89-607A-E74A8092E3D8}"/>
              </a:ext>
            </a:extLst>
          </p:cNvPr>
          <p:cNvSpPr txBox="1"/>
          <p:nvPr/>
        </p:nvSpPr>
        <p:spPr>
          <a:xfrm>
            <a:off x="4448480" y="130255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 TAUX ATTENDU DE PRESENCE EN EMPLOI SALARIÉ SELON CHAQUE MODÈLE</a:t>
            </a:r>
            <a:endParaRPr lang="en-US" sz="1200">
              <a:solidFill>
                <a:schemeClr val="accent4"/>
              </a:solidFill>
            </a:endParaRP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395F3629-AD57-7ECD-AD3E-5680F12CC22F}"/>
              </a:ext>
            </a:extLst>
          </p:cNvPr>
          <p:cNvSpPr txBox="1"/>
          <p:nvPr/>
        </p:nvSpPr>
        <p:spPr>
          <a:xfrm>
            <a:off x="8778725" y="1234587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>
                <a:solidFill>
                  <a:srgbClr val="6FA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L'ÉCART QUI SUBSISTE, EN POINTS</a:t>
            </a:r>
            <a:endParaRPr lang="en-US" sz="120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804FC1A-3284-D42F-640A-84271D865189}"/>
              </a:ext>
            </a:extLst>
          </p:cNvPr>
          <p:cNvSpPr txBox="1"/>
          <p:nvPr/>
        </p:nvSpPr>
        <p:spPr>
          <a:xfrm>
            <a:off x="4268220" y="4252338"/>
            <a:ext cx="4465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Minima sociaux, droits d’assurance chômage et parcours salariés (MiDAS) – Vague 8 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04AAF551-8C57-3D18-2F39-0DB186F8DF91}"/>
              </a:ext>
            </a:extLst>
          </p:cNvPr>
          <p:cNvGrpSpPr/>
          <p:nvPr/>
        </p:nvGrpSpPr>
        <p:grpSpPr>
          <a:xfrm>
            <a:off x="8934846" y="1935455"/>
            <a:ext cx="3234095" cy="2337369"/>
            <a:chOff x="7918704" y="1737360"/>
            <a:chExt cx="4023360" cy="2907792"/>
          </a:xfrm>
        </p:grpSpPr>
        <p:sp>
          <p:nvSpPr>
            <p:cNvPr id="38" name="Shape 20">
              <a:extLst>
                <a:ext uri="{FF2B5EF4-FFF2-40B4-BE49-F238E27FC236}">
                  <a16:creationId xmlns:a16="http://schemas.microsoft.com/office/drawing/2014/main" id="{0411D172-81DF-9DA3-D344-4ACCBF703E4B}"/>
                </a:ext>
              </a:extLst>
            </p:cNvPr>
            <p:cNvSpPr/>
            <p:nvPr/>
          </p:nvSpPr>
          <p:spPr>
            <a:xfrm>
              <a:off x="7955280" y="1792224"/>
              <a:ext cx="118872" cy="11887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 21">
              <a:extLst>
                <a:ext uri="{FF2B5EF4-FFF2-40B4-BE49-F238E27FC236}">
                  <a16:creationId xmlns:a16="http://schemas.microsoft.com/office/drawing/2014/main" id="{80DDE1F0-104A-D527-5826-F4A2F4FD3858}"/>
                </a:ext>
              </a:extLst>
            </p:cNvPr>
            <p:cNvSpPr txBox="1"/>
            <p:nvPr/>
          </p:nvSpPr>
          <p:spPr>
            <a:xfrm>
              <a:off x="8129016" y="1737360"/>
              <a:ext cx="2103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Modèle additif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Shape 22">
              <a:extLst>
                <a:ext uri="{FF2B5EF4-FFF2-40B4-BE49-F238E27FC236}">
                  <a16:creationId xmlns:a16="http://schemas.microsoft.com/office/drawing/2014/main" id="{D1BA0CD1-122B-D361-903A-A0FCCB3FD538}"/>
                </a:ext>
              </a:extLst>
            </p:cNvPr>
            <p:cNvSpPr/>
            <p:nvPr/>
          </p:nvSpPr>
          <p:spPr>
            <a:xfrm>
              <a:off x="9464040" y="1792224"/>
              <a:ext cx="118872" cy="11887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23">
              <a:extLst>
                <a:ext uri="{FF2B5EF4-FFF2-40B4-BE49-F238E27FC236}">
                  <a16:creationId xmlns:a16="http://schemas.microsoft.com/office/drawing/2014/main" id="{4CEF0A63-F023-D020-B53B-E64CE21740ED}"/>
                </a:ext>
              </a:extLst>
            </p:cNvPr>
            <p:cNvSpPr txBox="1"/>
            <p:nvPr/>
          </p:nvSpPr>
          <p:spPr>
            <a:xfrm>
              <a:off x="9637776" y="1737360"/>
              <a:ext cx="2103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Écart variable selon le profil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Shape 24">
              <a:extLst>
                <a:ext uri="{FF2B5EF4-FFF2-40B4-BE49-F238E27FC236}">
                  <a16:creationId xmlns:a16="http://schemas.microsoft.com/office/drawing/2014/main" id="{EECBBD08-4042-EE60-C757-1B6CCB6E089F}"/>
                </a:ext>
              </a:extLst>
            </p:cNvPr>
            <p:cNvSpPr/>
            <p:nvPr/>
          </p:nvSpPr>
          <p:spPr>
            <a:xfrm>
              <a:off x="8028432" y="2404872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Shape 25">
              <a:extLst>
                <a:ext uri="{FF2B5EF4-FFF2-40B4-BE49-F238E27FC236}">
                  <a16:creationId xmlns:a16="http://schemas.microsoft.com/office/drawing/2014/main" id="{187B51E1-316C-C6E0-86EA-8796E0DA224F}"/>
                </a:ext>
              </a:extLst>
            </p:cNvPr>
            <p:cNvSpPr/>
            <p:nvPr/>
          </p:nvSpPr>
          <p:spPr>
            <a:xfrm>
              <a:off x="8028432" y="2706624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Shape 26">
              <a:extLst>
                <a:ext uri="{FF2B5EF4-FFF2-40B4-BE49-F238E27FC236}">
                  <a16:creationId xmlns:a16="http://schemas.microsoft.com/office/drawing/2014/main" id="{FD4ABBC7-F1CF-F1AC-3988-158C564DE740}"/>
                </a:ext>
              </a:extLst>
            </p:cNvPr>
            <p:cNvSpPr/>
            <p:nvPr/>
          </p:nvSpPr>
          <p:spPr>
            <a:xfrm>
              <a:off x="8028432" y="3008376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Shape 27">
              <a:extLst>
                <a:ext uri="{FF2B5EF4-FFF2-40B4-BE49-F238E27FC236}">
                  <a16:creationId xmlns:a16="http://schemas.microsoft.com/office/drawing/2014/main" id="{A6EF00BE-E998-8115-82CD-08325CF1E4E5}"/>
                </a:ext>
              </a:extLst>
            </p:cNvPr>
            <p:cNvSpPr/>
            <p:nvPr/>
          </p:nvSpPr>
          <p:spPr>
            <a:xfrm>
              <a:off x="8028432" y="3310128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Shape 28">
              <a:extLst>
                <a:ext uri="{FF2B5EF4-FFF2-40B4-BE49-F238E27FC236}">
                  <a16:creationId xmlns:a16="http://schemas.microsoft.com/office/drawing/2014/main" id="{0809798F-53C9-F39E-E102-435274130C33}"/>
                </a:ext>
              </a:extLst>
            </p:cNvPr>
            <p:cNvSpPr/>
            <p:nvPr/>
          </p:nvSpPr>
          <p:spPr>
            <a:xfrm>
              <a:off x="8028432" y="3611880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Shape 29">
              <a:extLst>
                <a:ext uri="{FF2B5EF4-FFF2-40B4-BE49-F238E27FC236}">
                  <a16:creationId xmlns:a16="http://schemas.microsoft.com/office/drawing/2014/main" id="{A3932589-1363-37DB-3022-F1EAD3BB48FA}"/>
                </a:ext>
              </a:extLst>
            </p:cNvPr>
            <p:cNvSpPr/>
            <p:nvPr/>
          </p:nvSpPr>
          <p:spPr>
            <a:xfrm>
              <a:off x="8028432" y="3913632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Shape 30">
              <a:extLst>
                <a:ext uri="{FF2B5EF4-FFF2-40B4-BE49-F238E27FC236}">
                  <a16:creationId xmlns:a16="http://schemas.microsoft.com/office/drawing/2014/main" id="{1B7F8C4F-B5D9-2931-4E58-4B52358412CD}"/>
                </a:ext>
              </a:extLst>
            </p:cNvPr>
            <p:cNvSpPr/>
            <p:nvPr/>
          </p:nvSpPr>
          <p:spPr>
            <a:xfrm>
              <a:off x="8028432" y="4215384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Shape 31">
              <a:extLst>
                <a:ext uri="{FF2B5EF4-FFF2-40B4-BE49-F238E27FC236}">
                  <a16:creationId xmlns:a16="http://schemas.microsoft.com/office/drawing/2014/main" id="{8C258DD5-882E-AC86-F48D-C84D93B03B44}"/>
                </a:ext>
              </a:extLst>
            </p:cNvPr>
            <p:cNvSpPr/>
            <p:nvPr/>
          </p:nvSpPr>
          <p:spPr>
            <a:xfrm>
              <a:off x="8028432" y="2103120"/>
              <a:ext cx="3721608" cy="0"/>
            </a:xfrm>
            <a:prstGeom prst="line">
              <a:avLst/>
            </a:prstGeom>
            <a:noFill/>
            <a:ln w="12700">
              <a:solidFill>
                <a:srgbClr val="B9C4C1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1627B25D-4DE2-4165-FC9F-2042D717BD24}"/>
                </a:ext>
              </a:extLst>
            </p:cNvPr>
            <p:cNvSpPr/>
            <p:nvPr/>
          </p:nvSpPr>
          <p:spPr>
            <a:xfrm>
              <a:off x="8302752" y="2103120"/>
              <a:ext cx="0" cy="1086307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Shape 33">
              <a:extLst>
                <a:ext uri="{FF2B5EF4-FFF2-40B4-BE49-F238E27FC236}">
                  <a16:creationId xmlns:a16="http://schemas.microsoft.com/office/drawing/2014/main" id="{6261F12A-5F45-8C0C-57C6-D9D20043D04B}"/>
                </a:ext>
              </a:extLst>
            </p:cNvPr>
            <p:cNvSpPr/>
            <p:nvPr/>
          </p:nvSpPr>
          <p:spPr>
            <a:xfrm>
              <a:off x="8220456" y="3107131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Text 34">
              <a:extLst>
                <a:ext uri="{FF2B5EF4-FFF2-40B4-BE49-F238E27FC236}">
                  <a16:creationId xmlns:a16="http://schemas.microsoft.com/office/drawing/2014/main" id="{DAC47ADD-CEB7-A55C-7869-920ADA51F897}"/>
                </a:ext>
              </a:extLst>
            </p:cNvPr>
            <p:cNvSpPr txBox="1"/>
            <p:nvPr/>
          </p:nvSpPr>
          <p:spPr>
            <a:xfrm>
              <a:off x="7918704" y="3088843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−3,6</a:t>
              </a:r>
              <a:endParaRPr lang="en-US" sz="850"/>
            </a:p>
          </p:txBody>
        </p:sp>
        <p:sp>
          <p:nvSpPr>
            <p:cNvPr id="61" name="Shape 35">
              <a:extLst>
                <a:ext uri="{FF2B5EF4-FFF2-40B4-BE49-F238E27FC236}">
                  <a16:creationId xmlns:a16="http://schemas.microsoft.com/office/drawing/2014/main" id="{FCC806D1-FFCE-1FC1-1EE9-C5D9E33AE93E}"/>
                </a:ext>
              </a:extLst>
            </p:cNvPr>
            <p:cNvSpPr/>
            <p:nvPr/>
          </p:nvSpPr>
          <p:spPr>
            <a:xfrm>
              <a:off x="8613648" y="2103120"/>
              <a:ext cx="0" cy="724205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Shape 36">
              <a:extLst>
                <a:ext uri="{FF2B5EF4-FFF2-40B4-BE49-F238E27FC236}">
                  <a16:creationId xmlns:a16="http://schemas.microsoft.com/office/drawing/2014/main" id="{52092560-2D01-03B7-A462-5F2D61031DA0}"/>
                </a:ext>
              </a:extLst>
            </p:cNvPr>
            <p:cNvSpPr/>
            <p:nvPr/>
          </p:nvSpPr>
          <p:spPr>
            <a:xfrm>
              <a:off x="8531352" y="2745029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Text 37">
              <a:extLst>
                <a:ext uri="{FF2B5EF4-FFF2-40B4-BE49-F238E27FC236}">
                  <a16:creationId xmlns:a16="http://schemas.microsoft.com/office/drawing/2014/main" id="{7A81C32C-AA77-8996-42FF-1B06ED42459F}"/>
                </a:ext>
              </a:extLst>
            </p:cNvPr>
            <p:cNvSpPr txBox="1"/>
            <p:nvPr/>
          </p:nvSpPr>
          <p:spPr>
            <a:xfrm>
              <a:off x="8723376" y="2726741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−2,4</a:t>
              </a:r>
              <a:endParaRPr lang="en-US" sz="850"/>
            </a:p>
          </p:txBody>
        </p:sp>
        <p:sp>
          <p:nvSpPr>
            <p:cNvPr id="64" name="Text 38">
              <a:extLst>
                <a:ext uri="{FF2B5EF4-FFF2-40B4-BE49-F238E27FC236}">
                  <a16:creationId xmlns:a16="http://schemas.microsoft.com/office/drawing/2014/main" id="{7925F9D6-08EB-37AC-AAEA-E05A45822E12}"/>
                </a:ext>
              </a:extLst>
            </p:cNvPr>
            <p:cNvSpPr txBox="1"/>
            <p:nvPr/>
          </p:nvSpPr>
          <p:spPr>
            <a:xfrm>
              <a:off x="809244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M+1</a:t>
              </a:r>
              <a:endParaRPr lang="en-US" sz="950"/>
            </a:p>
          </p:txBody>
        </p:sp>
        <p:sp>
          <p:nvSpPr>
            <p:cNvPr id="68" name="Shape 39">
              <a:extLst>
                <a:ext uri="{FF2B5EF4-FFF2-40B4-BE49-F238E27FC236}">
                  <a16:creationId xmlns:a16="http://schemas.microsoft.com/office/drawing/2014/main" id="{E11F95C1-6CDC-6A56-03A5-1FCB1CE53D5A}"/>
                </a:ext>
              </a:extLst>
            </p:cNvPr>
            <p:cNvSpPr/>
            <p:nvPr/>
          </p:nvSpPr>
          <p:spPr>
            <a:xfrm>
              <a:off x="9034272" y="2103120"/>
              <a:ext cx="0" cy="2142439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Shape 40">
              <a:extLst>
                <a:ext uri="{FF2B5EF4-FFF2-40B4-BE49-F238E27FC236}">
                  <a16:creationId xmlns:a16="http://schemas.microsoft.com/office/drawing/2014/main" id="{B18B3BB4-BF0E-A529-EA23-6666B3A3A1B7}"/>
                </a:ext>
              </a:extLst>
            </p:cNvPr>
            <p:cNvSpPr/>
            <p:nvPr/>
          </p:nvSpPr>
          <p:spPr>
            <a:xfrm>
              <a:off x="8951976" y="4163263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 41">
              <a:extLst>
                <a:ext uri="{FF2B5EF4-FFF2-40B4-BE49-F238E27FC236}">
                  <a16:creationId xmlns:a16="http://schemas.microsoft.com/office/drawing/2014/main" id="{C2BABADB-D711-41B9-025D-95E5A242D5BD}"/>
                </a:ext>
              </a:extLst>
            </p:cNvPr>
            <p:cNvSpPr txBox="1"/>
            <p:nvPr/>
          </p:nvSpPr>
          <p:spPr>
            <a:xfrm>
              <a:off x="8650224" y="4144975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−7,1</a:t>
              </a:r>
              <a:endParaRPr lang="en-US" sz="850"/>
            </a:p>
          </p:txBody>
        </p:sp>
        <p:sp>
          <p:nvSpPr>
            <p:cNvPr id="79" name="Shape 42">
              <a:extLst>
                <a:ext uri="{FF2B5EF4-FFF2-40B4-BE49-F238E27FC236}">
                  <a16:creationId xmlns:a16="http://schemas.microsoft.com/office/drawing/2014/main" id="{A0B3C794-5AE9-F285-CBB1-65AC826B5ECE}"/>
                </a:ext>
              </a:extLst>
            </p:cNvPr>
            <p:cNvSpPr/>
            <p:nvPr/>
          </p:nvSpPr>
          <p:spPr>
            <a:xfrm>
              <a:off x="9345168" y="2103120"/>
              <a:ext cx="0" cy="1267358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Shape 43">
              <a:extLst>
                <a:ext uri="{FF2B5EF4-FFF2-40B4-BE49-F238E27FC236}">
                  <a16:creationId xmlns:a16="http://schemas.microsoft.com/office/drawing/2014/main" id="{9B4ACDD6-CF6D-5ACE-5B7C-B7BDDD55F471}"/>
                </a:ext>
              </a:extLst>
            </p:cNvPr>
            <p:cNvSpPr/>
            <p:nvPr/>
          </p:nvSpPr>
          <p:spPr>
            <a:xfrm>
              <a:off x="9262872" y="3288182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Text 44">
              <a:extLst>
                <a:ext uri="{FF2B5EF4-FFF2-40B4-BE49-F238E27FC236}">
                  <a16:creationId xmlns:a16="http://schemas.microsoft.com/office/drawing/2014/main" id="{16AFD021-C93C-DDB7-BAA0-17F038EB6E49}"/>
                </a:ext>
              </a:extLst>
            </p:cNvPr>
            <p:cNvSpPr txBox="1"/>
            <p:nvPr/>
          </p:nvSpPr>
          <p:spPr>
            <a:xfrm>
              <a:off x="9454896" y="3269894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−4,2</a:t>
              </a:r>
              <a:endParaRPr lang="en-US" sz="850"/>
            </a:p>
          </p:txBody>
        </p:sp>
        <p:sp>
          <p:nvSpPr>
            <p:cNvPr id="82" name="Text 45">
              <a:extLst>
                <a:ext uri="{FF2B5EF4-FFF2-40B4-BE49-F238E27FC236}">
                  <a16:creationId xmlns:a16="http://schemas.microsoft.com/office/drawing/2014/main" id="{47166811-E89E-6E1B-D6E1-A033577FF5B9}"/>
                </a:ext>
              </a:extLst>
            </p:cNvPr>
            <p:cNvSpPr txBox="1"/>
            <p:nvPr/>
          </p:nvSpPr>
          <p:spPr>
            <a:xfrm>
              <a:off x="882396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M+6</a:t>
              </a:r>
              <a:endParaRPr lang="en-US" sz="950"/>
            </a:p>
          </p:txBody>
        </p:sp>
        <p:sp>
          <p:nvSpPr>
            <p:cNvPr id="83" name="Shape 46">
              <a:extLst>
                <a:ext uri="{FF2B5EF4-FFF2-40B4-BE49-F238E27FC236}">
                  <a16:creationId xmlns:a16="http://schemas.microsoft.com/office/drawing/2014/main" id="{E7B50DB4-2BED-B2F2-BB1C-9711737CEED1}"/>
                </a:ext>
              </a:extLst>
            </p:cNvPr>
            <p:cNvSpPr/>
            <p:nvPr/>
          </p:nvSpPr>
          <p:spPr>
            <a:xfrm>
              <a:off x="9765792" y="2103120"/>
              <a:ext cx="0" cy="1961388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Shape 47">
              <a:extLst>
                <a:ext uri="{FF2B5EF4-FFF2-40B4-BE49-F238E27FC236}">
                  <a16:creationId xmlns:a16="http://schemas.microsoft.com/office/drawing/2014/main" id="{F0AF813D-DDBA-51FB-F629-76D811957A84}"/>
                </a:ext>
              </a:extLst>
            </p:cNvPr>
            <p:cNvSpPr/>
            <p:nvPr/>
          </p:nvSpPr>
          <p:spPr>
            <a:xfrm>
              <a:off x="9683496" y="3982212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 48">
              <a:extLst>
                <a:ext uri="{FF2B5EF4-FFF2-40B4-BE49-F238E27FC236}">
                  <a16:creationId xmlns:a16="http://schemas.microsoft.com/office/drawing/2014/main" id="{D0F1E6F4-3489-F1E1-9E87-C74F4B52C3FB}"/>
                </a:ext>
              </a:extLst>
            </p:cNvPr>
            <p:cNvSpPr txBox="1"/>
            <p:nvPr/>
          </p:nvSpPr>
          <p:spPr>
            <a:xfrm>
              <a:off x="9381744" y="3963924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−6,5</a:t>
              </a:r>
              <a:endParaRPr lang="en-US" sz="850"/>
            </a:p>
          </p:txBody>
        </p:sp>
        <p:sp>
          <p:nvSpPr>
            <p:cNvPr id="86" name="Shape 49">
              <a:extLst>
                <a:ext uri="{FF2B5EF4-FFF2-40B4-BE49-F238E27FC236}">
                  <a16:creationId xmlns:a16="http://schemas.microsoft.com/office/drawing/2014/main" id="{A22E2094-A518-AF72-BE82-1D50CD02DE12}"/>
                </a:ext>
              </a:extLst>
            </p:cNvPr>
            <p:cNvSpPr/>
            <p:nvPr/>
          </p:nvSpPr>
          <p:spPr>
            <a:xfrm>
              <a:off x="10076688" y="2103120"/>
              <a:ext cx="0" cy="1146658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Shape 50">
              <a:extLst>
                <a:ext uri="{FF2B5EF4-FFF2-40B4-BE49-F238E27FC236}">
                  <a16:creationId xmlns:a16="http://schemas.microsoft.com/office/drawing/2014/main" id="{C5DFDA1E-523C-1AEA-159D-55ED7F3EC316}"/>
                </a:ext>
              </a:extLst>
            </p:cNvPr>
            <p:cNvSpPr/>
            <p:nvPr/>
          </p:nvSpPr>
          <p:spPr>
            <a:xfrm>
              <a:off x="9994392" y="3167482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Text 51">
              <a:extLst>
                <a:ext uri="{FF2B5EF4-FFF2-40B4-BE49-F238E27FC236}">
                  <a16:creationId xmlns:a16="http://schemas.microsoft.com/office/drawing/2014/main" id="{1103A276-7393-CD81-0F6A-9BEF2ED5F8D7}"/>
                </a:ext>
              </a:extLst>
            </p:cNvPr>
            <p:cNvSpPr txBox="1"/>
            <p:nvPr/>
          </p:nvSpPr>
          <p:spPr>
            <a:xfrm>
              <a:off x="10186416" y="3149194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−3,8</a:t>
              </a:r>
              <a:endParaRPr lang="en-US" sz="850"/>
            </a:p>
          </p:txBody>
        </p:sp>
        <p:sp>
          <p:nvSpPr>
            <p:cNvPr id="90" name="Text 52">
              <a:extLst>
                <a:ext uri="{FF2B5EF4-FFF2-40B4-BE49-F238E27FC236}">
                  <a16:creationId xmlns:a16="http://schemas.microsoft.com/office/drawing/2014/main" id="{23DCFFF6-3774-4EA2-24C7-18C997F447B7}"/>
                </a:ext>
              </a:extLst>
            </p:cNvPr>
            <p:cNvSpPr txBox="1"/>
            <p:nvPr/>
          </p:nvSpPr>
          <p:spPr>
            <a:xfrm>
              <a:off x="955548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M+12</a:t>
              </a:r>
              <a:endParaRPr lang="en-US" sz="950"/>
            </a:p>
          </p:txBody>
        </p:sp>
        <p:sp>
          <p:nvSpPr>
            <p:cNvPr id="91" name="Shape 53">
              <a:extLst>
                <a:ext uri="{FF2B5EF4-FFF2-40B4-BE49-F238E27FC236}">
                  <a16:creationId xmlns:a16="http://schemas.microsoft.com/office/drawing/2014/main" id="{ABF4B509-A84C-ECB8-5DB1-E0CCAE6808F5}"/>
                </a:ext>
              </a:extLst>
            </p:cNvPr>
            <p:cNvSpPr/>
            <p:nvPr/>
          </p:nvSpPr>
          <p:spPr>
            <a:xfrm>
              <a:off x="10497312" y="2103120"/>
              <a:ext cx="0" cy="1297534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Shape 54">
              <a:extLst>
                <a:ext uri="{FF2B5EF4-FFF2-40B4-BE49-F238E27FC236}">
                  <a16:creationId xmlns:a16="http://schemas.microsoft.com/office/drawing/2014/main" id="{30CB1B30-A1CB-46AF-CC09-DE118424C8D4}"/>
                </a:ext>
              </a:extLst>
            </p:cNvPr>
            <p:cNvSpPr/>
            <p:nvPr/>
          </p:nvSpPr>
          <p:spPr>
            <a:xfrm>
              <a:off x="10415016" y="3318358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Text 55">
              <a:extLst>
                <a:ext uri="{FF2B5EF4-FFF2-40B4-BE49-F238E27FC236}">
                  <a16:creationId xmlns:a16="http://schemas.microsoft.com/office/drawing/2014/main" id="{16850848-FC8C-1758-F832-99814B1414B2}"/>
                </a:ext>
              </a:extLst>
            </p:cNvPr>
            <p:cNvSpPr txBox="1"/>
            <p:nvPr/>
          </p:nvSpPr>
          <p:spPr>
            <a:xfrm>
              <a:off x="10113264" y="3300070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−4,3</a:t>
              </a:r>
              <a:endParaRPr lang="en-US" sz="850"/>
            </a:p>
          </p:txBody>
        </p:sp>
        <p:sp>
          <p:nvSpPr>
            <p:cNvPr id="95" name="Shape 56">
              <a:extLst>
                <a:ext uri="{FF2B5EF4-FFF2-40B4-BE49-F238E27FC236}">
                  <a16:creationId xmlns:a16="http://schemas.microsoft.com/office/drawing/2014/main" id="{49F44AB9-5AAC-FA4B-629E-C619A9E1BE6D}"/>
                </a:ext>
              </a:extLst>
            </p:cNvPr>
            <p:cNvSpPr/>
            <p:nvPr/>
          </p:nvSpPr>
          <p:spPr>
            <a:xfrm>
              <a:off x="10808208" y="2103120"/>
              <a:ext cx="0" cy="663854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Shape 57">
              <a:extLst>
                <a:ext uri="{FF2B5EF4-FFF2-40B4-BE49-F238E27FC236}">
                  <a16:creationId xmlns:a16="http://schemas.microsoft.com/office/drawing/2014/main" id="{A439488C-6446-688C-EC43-35DCCDBE315E}"/>
                </a:ext>
              </a:extLst>
            </p:cNvPr>
            <p:cNvSpPr/>
            <p:nvPr/>
          </p:nvSpPr>
          <p:spPr>
            <a:xfrm>
              <a:off x="10725912" y="2684678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 58">
              <a:extLst>
                <a:ext uri="{FF2B5EF4-FFF2-40B4-BE49-F238E27FC236}">
                  <a16:creationId xmlns:a16="http://schemas.microsoft.com/office/drawing/2014/main" id="{D76D8934-45C2-9FCD-EECC-20ABD2DDB007}"/>
                </a:ext>
              </a:extLst>
            </p:cNvPr>
            <p:cNvSpPr txBox="1"/>
            <p:nvPr/>
          </p:nvSpPr>
          <p:spPr>
            <a:xfrm>
              <a:off x="10917936" y="2666390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−2,2</a:t>
              </a:r>
              <a:endParaRPr lang="en-US" sz="850"/>
            </a:p>
          </p:txBody>
        </p:sp>
        <p:sp>
          <p:nvSpPr>
            <p:cNvPr id="101" name="Text 59">
              <a:extLst>
                <a:ext uri="{FF2B5EF4-FFF2-40B4-BE49-F238E27FC236}">
                  <a16:creationId xmlns:a16="http://schemas.microsoft.com/office/drawing/2014/main" id="{AE1B237C-DA9E-7D7C-C3C0-D94DD5058348}"/>
                </a:ext>
              </a:extLst>
            </p:cNvPr>
            <p:cNvSpPr txBox="1"/>
            <p:nvPr/>
          </p:nvSpPr>
          <p:spPr>
            <a:xfrm>
              <a:off x="1028700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M+24</a:t>
              </a:r>
              <a:endParaRPr lang="en-US" sz="950"/>
            </a:p>
          </p:txBody>
        </p:sp>
        <p:sp>
          <p:nvSpPr>
            <p:cNvPr id="103" name="Shape 60">
              <a:extLst>
                <a:ext uri="{FF2B5EF4-FFF2-40B4-BE49-F238E27FC236}">
                  <a16:creationId xmlns:a16="http://schemas.microsoft.com/office/drawing/2014/main" id="{E4BCAFC6-EA13-EF1E-CF10-28D9305DCBBF}"/>
                </a:ext>
              </a:extLst>
            </p:cNvPr>
            <p:cNvSpPr/>
            <p:nvPr/>
          </p:nvSpPr>
          <p:spPr>
            <a:xfrm>
              <a:off x="11228832" y="2103120"/>
              <a:ext cx="0" cy="754380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Shape 61">
              <a:extLst>
                <a:ext uri="{FF2B5EF4-FFF2-40B4-BE49-F238E27FC236}">
                  <a16:creationId xmlns:a16="http://schemas.microsoft.com/office/drawing/2014/main" id="{B83FC891-22D2-6E6A-287D-B7159B608152}"/>
                </a:ext>
              </a:extLst>
            </p:cNvPr>
            <p:cNvSpPr/>
            <p:nvPr/>
          </p:nvSpPr>
          <p:spPr>
            <a:xfrm>
              <a:off x="11146536" y="2775204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Text 62">
              <a:extLst>
                <a:ext uri="{FF2B5EF4-FFF2-40B4-BE49-F238E27FC236}">
                  <a16:creationId xmlns:a16="http://schemas.microsoft.com/office/drawing/2014/main" id="{4A8FD0CA-3BB4-D51C-8AF6-977E18F9AFE4}"/>
                </a:ext>
              </a:extLst>
            </p:cNvPr>
            <p:cNvSpPr txBox="1"/>
            <p:nvPr/>
          </p:nvSpPr>
          <p:spPr>
            <a:xfrm>
              <a:off x="11263431" y="2804007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−2,5</a:t>
              </a:r>
              <a:endParaRPr lang="en-US" sz="850"/>
            </a:p>
          </p:txBody>
        </p:sp>
        <p:sp>
          <p:nvSpPr>
            <p:cNvPr id="107" name="Shape 63">
              <a:extLst>
                <a:ext uri="{FF2B5EF4-FFF2-40B4-BE49-F238E27FC236}">
                  <a16:creationId xmlns:a16="http://schemas.microsoft.com/office/drawing/2014/main" id="{B75AD3E9-CC6C-4439-D970-D9DFECDDD544}"/>
                </a:ext>
              </a:extLst>
            </p:cNvPr>
            <p:cNvSpPr/>
            <p:nvPr/>
          </p:nvSpPr>
          <p:spPr>
            <a:xfrm>
              <a:off x="11539728" y="2103120"/>
              <a:ext cx="0" cy="211226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Shape 64">
              <a:extLst>
                <a:ext uri="{FF2B5EF4-FFF2-40B4-BE49-F238E27FC236}">
                  <a16:creationId xmlns:a16="http://schemas.microsoft.com/office/drawing/2014/main" id="{5E7AF2A6-CD57-766F-6364-A72CBF3493F7}"/>
                </a:ext>
              </a:extLst>
            </p:cNvPr>
            <p:cNvSpPr/>
            <p:nvPr/>
          </p:nvSpPr>
          <p:spPr>
            <a:xfrm>
              <a:off x="11457432" y="2232050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Text 65">
              <a:extLst>
                <a:ext uri="{FF2B5EF4-FFF2-40B4-BE49-F238E27FC236}">
                  <a16:creationId xmlns:a16="http://schemas.microsoft.com/office/drawing/2014/main" id="{27811CF5-3BCC-BF99-1187-FEBA682154E7}"/>
                </a:ext>
              </a:extLst>
            </p:cNvPr>
            <p:cNvSpPr txBox="1"/>
            <p:nvPr/>
          </p:nvSpPr>
          <p:spPr>
            <a:xfrm>
              <a:off x="11649456" y="2213762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−0,7</a:t>
              </a:r>
              <a:endParaRPr lang="en-US" sz="850"/>
            </a:p>
          </p:txBody>
        </p:sp>
        <p:sp>
          <p:nvSpPr>
            <p:cNvPr id="112" name="Text 66">
              <a:extLst>
                <a:ext uri="{FF2B5EF4-FFF2-40B4-BE49-F238E27FC236}">
                  <a16:creationId xmlns:a16="http://schemas.microsoft.com/office/drawing/2014/main" id="{4DAB7E54-AFE1-6425-0FB3-F3410548F0E0}"/>
                </a:ext>
              </a:extLst>
            </p:cNvPr>
            <p:cNvSpPr txBox="1"/>
            <p:nvPr/>
          </p:nvSpPr>
          <p:spPr>
            <a:xfrm>
              <a:off x="1101852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M+36</a:t>
              </a:r>
              <a:endParaRPr lang="en-US" sz="950"/>
            </a:p>
          </p:txBody>
        </p:sp>
      </p:grpSp>
      <p:sp>
        <p:nvSpPr>
          <p:cNvPr id="115" name="Espace réservé du texte 2">
            <a:extLst>
              <a:ext uri="{FF2B5EF4-FFF2-40B4-BE49-F238E27FC236}">
                <a16:creationId xmlns:a16="http://schemas.microsoft.com/office/drawing/2014/main" id="{8330526C-5A84-996E-ED32-ACC9E4B86B5D}"/>
              </a:ext>
            </a:extLst>
          </p:cNvPr>
          <p:cNvSpPr txBox="1">
            <a:spLocks/>
          </p:cNvSpPr>
          <p:nvPr/>
        </p:nvSpPr>
        <p:spPr>
          <a:xfrm>
            <a:off x="913895" y="1187718"/>
            <a:ext cx="3252531" cy="4223476"/>
          </a:xfrm>
          <a:prstGeom prst="rect">
            <a:avLst/>
          </a:prstGeom>
          <a:solidFill>
            <a:srgbClr val="E6F2F2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19" name="Espace réservé du texte 2">
            <a:extLst>
              <a:ext uri="{FF2B5EF4-FFF2-40B4-BE49-F238E27FC236}">
                <a16:creationId xmlns:a16="http://schemas.microsoft.com/office/drawing/2014/main" id="{EA94DB03-C81F-C963-D76A-C723865C7F6A}"/>
              </a:ext>
            </a:extLst>
          </p:cNvPr>
          <p:cNvSpPr txBox="1">
            <a:spLocks/>
          </p:cNvSpPr>
          <p:nvPr/>
        </p:nvSpPr>
        <p:spPr>
          <a:xfrm>
            <a:off x="8943923" y="1149927"/>
            <a:ext cx="3192225" cy="4261268"/>
          </a:xfrm>
          <a:prstGeom prst="rect">
            <a:avLst/>
          </a:prstGeom>
          <a:solidFill>
            <a:srgbClr val="E5F1DD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21" name="Espace réservé du texte 2">
            <a:extLst>
              <a:ext uri="{FF2B5EF4-FFF2-40B4-BE49-F238E27FC236}">
                <a16:creationId xmlns:a16="http://schemas.microsoft.com/office/drawing/2014/main" id="{CDE29461-F24A-B4BA-80F2-58E1695E549F}"/>
              </a:ext>
            </a:extLst>
          </p:cNvPr>
          <p:cNvSpPr txBox="1">
            <a:spLocks/>
          </p:cNvSpPr>
          <p:nvPr/>
        </p:nvSpPr>
        <p:spPr>
          <a:xfrm rot="5400000">
            <a:off x="4405413" y="1068569"/>
            <a:ext cx="4223479" cy="4461782"/>
          </a:xfrm>
          <a:prstGeom prst="rect">
            <a:avLst/>
          </a:prstGeom>
          <a:solidFill>
            <a:srgbClr val="FFEACC">
              <a:alpha val="34902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AD4BFA5-8096-EFBD-96CC-300388782FBC}"/>
              </a:ext>
            </a:extLst>
          </p:cNvPr>
          <p:cNvSpPr/>
          <p:nvPr/>
        </p:nvSpPr>
        <p:spPr>
          <a:xfrm>
            <a:off x="10830345" y="2024368"/>
            <a:ext cx="547907" cy="2227961"/>
          </a:xfrm>
          <a:prstGeom prst="rect">
            <a:avLst/>
          </a:prstGeom>
          <a:solidFill>
            <a:srgbClr val="FF9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0F57790B-C1E6-2C82-25B7-362DAA075EDE}"/>
              </a:ext>
            </a:extLst>
          </p:cNvPr>
          <p:cNvCxnSpPr>
            <a:cxnSpLocks/>
          </p:cNvCxnSpPr>
          <p:nvPr/>
        </p:nvCxnSpPr>
        <p:spPr>
          <a:xfrm flipH="1">
            <a:off x="10933219" y="4317010"/>
            <a:ext cx="172760" cy="245242"/>
          </a:xfrm>
          <a:prstGeom prst="straightConnector1">
            <a:avLst/>
          </a:prstGeom>
          <a:ln w="28575"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08D4634-F841-FACD-8531-29AACEFD4AFD}"/>
              </a:ext>
            </a:extLst>
          </p:cNvPr>
          <p:cNvSpPr/>
          <p:nvPr/>
        </p:nvSpPr>
        <p:spPr>
          <a:xfrm>
            <a:off x="8943922" y="4612545"/>
            <a:ext cx="3234201" cy="439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2,1 des 4,3 points d’écart de retard tenaient en fait à des profils que le modèle additif ne pouvait pas distinguer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35CD200-4BED-4F4B-CAD4-945E213A12BF}"/>
              </a:ext>
            </a:extLst>
          </p:cNvPr>
          <p:cNvSpPr/>
          <p:nvPr/>
        </p:nvSpPr>
        <p:spPr>
          <a:xfrm>
            <a:off x="943689" y="5599910"/>
            <a:ext cx="11192459" cy="523220"/>
          </a:xfrm>
          <a:prstGeom prst="rect">
            <a:avLst/>
          </a:prstGeom>
          <a:noFill/>
          <a:ln w="3175">
            <a:solidFill>
              <a:srgbClr val="007C8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E7C385D8-48BB-EA9C-BCD5-F80001635C5B}"/>
              </a:ext>
            </a:extLst>
          </p:cNvPr>
          <p:cNvSpPr txBox="1"/>
          <p:nvPr/>
        </p:nvSpPr>
        <p:spPr>
          <a:xfrm>
            <a:off x="989067" y="5671855"/>
            <a:ext cx="11088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>
                <a:latin typeface="Segoe UI" panose="020B0502040204020203" pitchFamily="34" charset="0"/>
                <a:cs typeface="Segoe UI" panose="020B0502040204020203" pitchFamily="34" charset="0"/>
              </a:rPr>
              <a:t>Ce que la littérature attribue au dispositif n'est qu'un résidu de modèle.</a:t>
            </a:r>
            <a:r>
              <a:rPr lang="fr-FR" sz="1000">
                <a:latin typeface="Segoe UI" panose="020B0502040204020203" pitchFamily="34" charset="0"/>
                <a:cs typeface="Segoe UI" panose="020B0502040204020203" pitchFamily="34" charset="0"/>
              </a:rPr>
              <a:t> Il fond de moitié dès qu'on laisse l'écart varier selon les profils. Pour parler d'effet, il faut un groupe de comparaison construit</a:t>
            </a:r>
          </a:p>
        </p:txBody>
      </p:sp>
      <p:pic>
        <p:nvPicPr>
          <p:cNvPr id="143" name="Graphique 142" descr="Idée avec un remplissage uni">
            <a:extLst>
              <a:ext uri="{FF2B5EF4-FFF2-40B4-BE49-F238E27FC236}">
                <a16:creationId xmlns:a16="http://schemas.microsoft.com/office/drawing/2014/main" id="{B8FF0391-5C35-A516-0AA7-79FCE26D1C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4051" y="5440250"/>
            <a:ext cx="230032" cy="23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36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502920" cy="6172200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47472" y="320040"/>
            <a:ext cx="301752" cy="6172200"/>
          </a:xfrm>
          <a:prstGeom prst="rect">
            <a:avLst/>
          </a:prstGeom>
          <a:solidFill>
            <a:srgbClr val="3E8B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9224" y="320040"/>
            <a:ext cx="128016" cy="6172200"/>
          </a:xfrm>
          <a:prstGeom prst="rect">
            <a:avLst/>
          </a:prstGeom>
          <a:solidFill>
            <a:srgbClr val="C8DC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4572000" y="1097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u="sng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PARTIE 3 : TRAJECTOIRES À LONG TERME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96012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8BB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RCI : SORTIE COÛTEUSE, OU TRANSITION PROFESSIONNELLE EFFICACE ?</a:t>
            </a:r>
            <a:endParaRPr lang="en-US" sz="2000"/>
          </a:p>
        </p:txBody>
      </p:sp>
      <p:sp>
        <p:nvSpPr>
          <p:cNvPr id="7" name="Text 5"/>
          <p:cNvSpPr txBox="1"/>
          <p:nvPr/>
        </p:nvSpPr>
        <p:spPr>
          <a:xfrm>
            <a:off x="960120" y="8412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Partie 3 sur 3  ·  Données MiDAS, fins de contrat 2019 et 2022 suivies jusqu'en décembre 2025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09728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QUESTION</a:t>
            </a:r>
            <a:endParaRPr lang="en-US" sz="900"/>
          </a:p>
        </p:txBody>
      </p:sp>
      <p:sp>
        <p:nvSpPr>
          <p:cNvPr id="9" name="Text 7"/>
          <p:cNvSpPr txBox="1"/>
          <p:nvPr/>
        </p:nvSpPr>
        <p:spPr>
          <a:xfrm>
            <a:off x="397764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FAISONS</a:t>
            </a:r>
            <a:endParaRPr lang="en-US" sz="900"/>
          </a:p>
        </p:txBody>
      </p:sp>
      <p:sp>
        <p:nvSpPr>
          <p:cNvPr id="10" name="Text 8"/>
          <p:cNvSpPr txBox="1"/>
          <p:nvPr/>
        </p:nvSpPr>
        <p:spPr>
          <a:xfrm>
            <a:off x="859536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ÇA PERMET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960120" y="1536192"/>
            <a:ext cx="11018520" cy="1463040"/>
          </a:xfrm>
          <a:prstGeom prst="roundRect">
            <a:avLst>
              <a:gd name="adj" fmla="val 9375"/>
            </a:avLst>
          </a:prstGeom>
          <a:solidFill>
            <a:srgbClr val="EEF5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097280" y="1645920"/>
            <a:ext cx="384048" cy="384048"/>
          </a:xfrm>
          <a:prstGeom prst="ellipse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0972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1097280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retard de présence en emploi résiste-t-il à une comparaison plus juste et à une mesure plus large ?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3840480" y="1719072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458200" y="1719072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3977640" y="1673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Prolongements descriptifs</a:t>
            </a:r>
            <a:endParaRPr lang="en-US" sz="1250"/>
          </a:p>
        </p:txBody>
      </p:sp>
      <p:sp>
        <p:nvSpPr>
          <p:cNvPr id="18" name="Text 16"/>
          <p:cNvSpPr txBox="1"/>
          <p:nvPr/>
        </p:nvSpPr>
        <p:spPr>
          <a:xfrm>
            <a:off x="3977640" y="199339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Comparer les RCI à des sortants de CDI indemnisés pour un autre motif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Réestimer le retour attendu à l'emploi par un modèle non additif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Regarder la qualité du premier emploi repris et les salaires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8595360" y="1645920"/>
            <a:ext cx="438912" cy="438912"/>
          </a:xfrm>
          <a:prstGeom prst="ellipse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1755648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595360" y="217627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Comparer ce qui est comparable, et regarder au-delà du seul retour à l'emploi salarié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914400" y="1508760"/>
            <a:ext cx="11109960" cy="1517904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960120" y="3108960"/>
            <a:ext cx="11018520" cy="1463040"/>
          </a:xfrm>
          <a:prstGeom prst="roundRect">
            <a:avLst>
              <a:gd name="adj" fmla="val 9375"/>
            </a:avLst>
          </a:prstGeom>
          <a:solidFill>
            <a:srgbClr val="F1F7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1097280" y="3218688"/>
            <a:ext cx="384048" cy="384048"/>
          </a:xfrm>
          <a:prstGeom prst="ellipse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 txBox="1"/>
          <p:nvPr/>
        </p:nvSpPr>
        <p:spPr>
          <a:xfrm>
            <a:off x="10972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/>
          </a:p>
        </p:txBody>
      </p:sp>
      <p:sp>
        <p:nvSpPr>
          <p:cNvPr id="26" name="Text 23"/>
          <p:cNvSpPr txBox="1"/>
          <p:nvPr/>
        </p:nvSpPr>
        <p:spPr>
          <a:xfrm>
            <a:off x="1097280" y="367588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E8B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mode de rupture change-t-il vraiment les trajectoires, à profil comparable, et ses effets durent-ils ?</a:t>
            </a:r>
            <a:endParaRPr lang="en-US" sz="1200"/>
          </a:p>
        </p:txBody>
      </p:sp>
      <p:sp>
        <p:nvSpPr>
          <p:cNvPr id="27" name="Shape 24"/>
          <p:cNvSpPr/>
          <p:nvPr/>
        </p:nvSpPr>
        <p:spPr>
          <a:xfrm>
            <a:off x="3840480" y="3291840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8458200" y="3291840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 txBox="1"/>
          <p:nvPr/>
        </p:nvSpPr>
        <p:spPr>
          <a:xfrm>
            <a:off x="397764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E8B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Appariement et étude d'événements</a:t>
            </a:r>
            <a:endParaRPr lang="en-US" sz="1250"/>
          </a:p>
        </p:txBody>
      </p:sp>
      <p:sp>
        <p:nvSpPr>
          <p:cNvPr id="30" name="Text 27"/>
          <p:cNvSpPr txBox="1"/>
          <p:nvPr/>
        </p:nvSpPr>
        <p:spPr>
          <a:xfrm>
            <a:off x="3977640" y="3566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Apparier chaque RCI à un sortant de CDI de même profil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Suivre les trajectoires mois par mois avant et après la rupture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Estimer l'effet à moyen terme (cohorte 2022, 3 ans) et à long terme (cohorte 2019, 6 ans)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Mesurer la consommation de droits au-delà du premier droit</a:t>
            </a:r>
            <a:endParaRPr lang="en-US" sz="1000"/>
          </a:p>
        </p:txBody>
      </p:sp>
      <p:sp>
        <p:nvSpPr>
          <p:cNvPr id="31" name="Shape 28"/>
          <p:cNvSpPr/>
          <p:nvPr/>
        </p:nvSpPr>
        <p:spPr>
          <a:xfrm>
            <a:off x="8595360" y="3218688"/>
            <a:ext cx="438912" cy="438912"/>
          </a:xfrm>
          <a:prstGeom prst="ellipse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3328416"/>
            <a:ext cx="219456" cy="219456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595360" y="3749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Isoler ce qui tient à la rupture, et non au profil ni à la conjoncture, et suivre ses effets au-delà du premier droit</a:t>
            </a:r>
            <a:endParaRPr lang="en-US" sz="1100"/>
          </a:p>
        </p:txBody>
      </p:sp>
      <p:sp>
        <p:nvSpPr>
          <p:cNvPr id="34" name="Shape 30"/>
          <p:cNvSpPr/>
          <p:nvPr/>
        </p:nvSpPr>
        <p:spPr>
          <a:xfrm>
            <a:off x="914400" y="3081528"/>
            <a:ext cx="11109960" cy="1517904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1"/>
          <p:cNvSpPr/>
          <p:nvPr/>
        </p:nvSpPr>
        <p:spPr>
          <a:xfrm>
            <a:off x="960120" y="4681728"/>
            <a:ext cx="11018520" cy="1463040"/>
          </a:xfrm>
          <a:prstGeom prst="roundRect">
            <a:avLst>
              <a:gd name="adj" fmla="val 9375"/>
            </a:avLst>
          </a:prstGeom>
          <a:solidFill>
            <a:srgbClr val="FFF5E8"/>
          </a:solidFill>
          <a:ln w="31750">
            <a:solidFill>
              <a:srgbClr val="F08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2"/>
          <p:cNvSpPr/>
          <p:nvPr/>
        </p:nvSpPr>
        <p:spPr>
          <a:xfrm>
            <a:off x="1097280" y="4791456"/>
            <a:ext cx="384048" cy="384048"/>
          </a:xfrm>
          <a:prstGeom prst="ellipse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 txBox="1"/>
          <p:nvPr/>
        </p:nvSpPr>
        <p:spPr>
          <a:xfrm>
            <a:off x="109728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/>
          </a:p>
        </p:txBody>
      </p:sp>
      <p:sp>
        <p:nvSpPr>
          <p:cNvPr id="38" name="Text 34"/>
          <p:cNvSpPr txBox="1"/>
          <p:nvPr/>
        </p:nvSpPr>
        <p:spPr>
          <a:xfrm>
            <a:off x="1097280" y="524865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 cache l'effet moyen ?</a:t>
            </a:r>
            <a:endParaRPr lang="en-US" sz="1200"/>
          </a:p>
        </p:txBody>
      </p:sp>
      <p:sp>
        <p:nvSpPr>
          <p:cNvPr id="39" name="Shape 35"/>
          <p:cNvSpPr/>
          <p:nvPr/>
        </p:nvSpPr>
        <p:spPr>
          <a:xfrm>
            <a:off x="3840480" y="4864608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6"/>
          <p:cNvSpPr/>
          <p:nvPr/>
        </p:nvSpPr>
        <p:spPr>
          <a:xfrm>
            <a:off x="8458200" y="4864608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7"/>
          <p:cNvSpPr txBox="1"/>
          <p:nvPr/>
        </p:nvSpPr>
        <p:spPr>
          <a:xfrm>
            <a:off x="3977640" y="4818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de séquences</a:t>
            </a:r>
            <a:endParaRPr lang="en-US" sz="1250"/>
          </a:p>
        </p:txBody>
      </p:sp>
      <p:sp>
        <p:nvSpPr>
          <p:cNvPr id="42" name="Text 38"/>
          <p:cNvSpPr txBox="1"/>
          <p:nvPr/>
        </p:nvSpPr>
        <p:spPr>
          <a:xfrm>
            <a:off x="3977640" y="513892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Reconstituer les parcours mensuels sur plus de cinq ans, emploi comme hors emploi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Classer les trajectoires en profils types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Comparer RCI et témoins à l'intérieur de chaque profil</a:t>
            </a:r>
            <a:endParaRPr lang="en-US" sz="1000"/>
          </a:p>
        </p:txBody>
      </p:sp>
      <p:sp>
        <p:nvSpPr>
          <p:cNvPr id="43" name="Shape 39"/>
          <p:cNvSpPr/>
          <p:nvPr/>
        </p:nvSpPr>
        <p:spPr>
          <a:xfrm>
            <a:off x="8595360" y="4791456"/>
            <a:ext cx="438912" cy="438912"/>
          </a:xfrm>
          <a:prstGeom prst="ellipse">
            <a:avLst/>
          </a:prstGeom>
          <a:solidFill>
            <a:srgbClr val="F5C4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4901184"/>
            <a:ext cx="219456" cy="219456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8595360" y="532180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Faire apparaître la diversité des parcours derrière la moyenne</a:t>
            </a:r>
            <a:endParaRPr lang="en-US" sz="1100"/>
          </a:p>
        </p:txBody>
      </p:sp>
      <p:sp>
        <p:nvSpPr>
          <p:cNvPr id="46" name="Shape 41"/>
          <p:cNvSpPr/>
          <p:nvPr/>
        </p:nvSpPr>
        <p:spPr>
          <a:xfrm>
            <a:off x="960120" y="6263640"/>
            <a:ext cx="11018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6309360"/>
            <a:ext cx="182880" cy="182880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371600" y="62819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MiDAS</a:t>
            </a:r>
            <a:r>
              <a:rPr lang="en-US" sz="95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appariement Dares, Cnaf et France Travail, 2017-2025</a:t>
            </a:r>
            <a:endParaRPr lang="en-US" sz="95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6309360"/>
            <a:ext cx="201168" cy="18288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5852160" y="6281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E8B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Cohorte 2019</a:t>
            </a:r>
            <a:r>
              <a:rPr lang="en-US" sz="95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six ans de recul</a:t>
            </a:r>
            <a:endParaRPr lang="en-US" sz="95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6309360"/>
            <a:ext cx="201168" cy="18288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869680" y="6281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Cohorte 2022</a:t>
            </a:r>
            <a:r>
              <a:rPr lang="en-US" sz="95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hors période Covid-19</a:t>
            </a:r>
            <a:endParaRPr lang="en-US" sz="950"/>
          </a:p>
        </p:txBody>
      </p:sp>
      <p:sp>
        <p:nvSpPr>
          <p:cNvPr id="53" name="Shape 45"/>
          <p:cNvSpPr/>
          <p:nvPr/>
        </p:nvSpPr>
        <p:spPr>
          <a:xfrm>
            <a:off x="914400" y="6236208"/>
            <a:ext cx="11109960" cy="32918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46"/>
          <p:cNvSpPr txBox="1"/>
          <p:nvPr/>
        </p:nvSpPr>
        <p:spPr>
          <a:xfrm>
            <a:off x="96012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APPARIEMENTS SUR LE MARCHÉ DU TRAVAIL ET RUPTURES CONVENTIONNELLES</a:t>
            </a:r>
            <a:endParaRPr lang="en-US" sz="900"/>
          </a:p>
        </p:txBody>
      </p:sp>
      <p:sp>
        <p:nvSpPr>
          <p:cNvPr id="55" name="Text 47"/>
          <p:cNvSpPr txBox="1"/>
          <p:nvPr/>
        </p:nvSpPr>
        <p:spPr>
          <a:xfrm>
            <a:off x="10424160" y="6473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Unédic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e_vert_16_9">
  <a:themeElements>
    <a:clrScheme name="Charte ligne graphique 2021">
      <a:dk1>
        <a:sysClr val="windowText" lastClr="000000"/>
      </a:dk1>
      <a:lt1>
        <a:sysClr val="window" lastClr="FFFFFF"/>
      </a:lt1>
      <a:dk2>
        <a:srgbClr val="707982"/>
      </a:dk2>
      <a:lt2>
        <a:srgbClr val="9BA6B2"/>
      </a:lt2>
      <a:accent1>
        <a:srgbClr val="6B368A"/>
      </a:accent1>
      <a:accent2>
        <a:srgbClr val="E30045"/>
      </a:accent2>
      <a:accent3>
        <a:srgbClr val="007C80"/>
      </a:accent3>
      <a:accent4>
        <a:srgbClr val="FF9600"/>
      </a:accent4>
      <a:accent5>
        <a:srgbClr val="7BBB53"/>
      </a:accent5>
      <a:accent6>
        <a:srgbClr val="00A6C3"/>
      </a:accent6>
      <a:hlink>
        <a:srgbClr val="6FABB2"/>
      </a:hlink>
      <a:folHlink>
        <a:srgbClr val="6B368A"/>
      </a:folHlink>
    </a:clrScheme>
    <a:fontScheme name="Unédic">
      <a:majorFont>
        <a:latin typeface="Montserrat"/>
        <a:ea typeface=""/>
        <a:cs typeface=""/>
      </a:majorFont>
      <a:minorFont>
        <a:latin typeface="Source Sans Pro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_vert_16_9" id="{FFF3C14D-78D7-4C9C-9FF1-2C86A633FC29}" vid="{D370BA40-5609-475F-ACA0-86274D865AFA}"/>
    </a:ext>
  </a:extLst>
</a:theme>
</file>

<file path=ppt/theme/theme2.xml><?xml version="1.0" encoding="utf-8"?>
<a:theme xmlns:a="http://schemas.openxmlformats.org/drawingml/2006/main" name="1.SUITE VERTE">
  <a:themeElements>
    <a:clrScheme name="Charte ligne graphique 2021">
      <a:dk1>
        <a:sysClr val="windowText" lastClr="000000"/>
      </a:dk1>
      <a:lt1>
        <a:sysClr val="window" lastClr="FFFFFF"/>
      </a:lt1>
      <a:dk2>
        <a:srgbClr val="707982"/>
      </a:dk2>
      <a:lt2>
        <a:srgbClr val="9BA6B2"/>
      </a:lt2>
      <a:accent1>
        <a:srgbClr val="6B368A"/>
      </a:accent1>
      <a:accent2>
        <a:srgbClr val="E30045"/>
      </a:accent2>
      <a:accent3>
        <a:srgbClr val="007C80"/>
      </a:accent3>
      <a:accent4>
        <a:srgbClr val="FF9600"/>
      </a:accent4>
      <a:accent5>
        <a:srgbClr val="7BBB53"/>
      </a:accent5>
      <a:accent6>
        <a:srgbClr val="00A6C3"/>
      </a:accent6>
      <a:hlink>
        <a:srgbClr val="6FABB2"/>
      </a:hlink>
      <a:folHlink>
        <a:srgbClr val="6B368A"/>
      </a:folHlink>
    </a:clrScheme>
    <a:fontScheme name="Unédic">
      <a:majorFont>
        <a:latin typeface="Montserrat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b PPT Unedic vert OK" id="{D094EB0B-C931-C84E-B8DE-A465671A60FF}" vid="{7629F21A-BD1C-844F-BC8B-F209114110B0}"/>
    </a:ext>
  </a:extLst>
</a:theme>
</file>

<file path=ppt/theme/theme3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.INTERMEDIAIRE VER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édic">
      <a:majorFont>
        <a:latin typeface="Montserrat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dcb22d5-5dff-40e2-94a8-bdb4298f3331}" enabled="0" method="" siteId="{4dcb22d5-5dff-40e2-94a8-bdb4298f33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Modèle_EXTERNE</Template>
  <TotalTime>0</TotalTime>
  <Words>8513</Words>
  <Application>Microsoft Office PowerPoint</Application>
  <PresentationFormat>Grand écran</PresentationFormat>
  <Paragraphs>1156</Paragraphs>
  <Slides>29</Slides>
  <Notes>17</Notes>
  <HiddenSlides>6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29</vt:i4>
      </vt:variant>
    </vt:vector>
  </HeadingPairs>
  <TitlesOfParts>
    <vt:vector size="44" baseType="lpstr">
      <vt:lpstr>Aptos</vt:lpstr>
      <vt:lpstr>Arial</vt:lpstr>
      <vt:lpstr>Calibri</vt:lpstr>
      <vt:lpstr>Cambria</vt:lpstr>
      <vt:lpstr>Cambria Math</vt:lpstr>
      <vt:lpstr>Courier New</vt:lpstr>
      <vt:lpstr>Montserrat</vt:lpstr>
      <vt:lpstr>Montserrat Medium</vt:lpstr>
      <vt:lpstr>Montserrat SemiBold</vt:lpstr>
      <vt:lpstr>Segoe UI</vt:lpstr>
      <vt:lpstr>Wingdings</vt:lpstr>
      <vt:lpstr>Modele_vert_16_9</vt:lpstr>
      <vt:lpstr>1.SUITE VERTE</vt:lpstr>
      <vt:lpstr>Conception personnalisée</vt:lpstr>
      <vt:lpstr>1.INTERMEDIAIRE VERT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CONART Isabelle</dc:creator>
  <cp:lastModifiedBy>BREMBILLA Laurent</cp:lastModifiedBy>
  <cp:revision>2</cp:revision>
  <cp:lastPrinted>2026-10-12T12:30:34Z</cp:lastPrinted>
  <dcterms:created xsi:type="dcterms:W3CDTF">2025-03-03T10:22:42Z</dcterms:created>
  <dcterms:modified xsi:type="dcterms:W3CDTF">2026-10-15T12:05:32Z</dcterms:modified>
</cp:coreProperties>
</file>