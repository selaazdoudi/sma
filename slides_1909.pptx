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comments/modernComment_10F_7D45DB35.xml" ContentType="application/vnd.ms-powerpoint.comments+xml"/>
  <Override PartName="/ppt/comments/modernComment_102_B64F71B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6" r:id="rId1"/>
    <p:sldMasterId id="2147483687" r:id="rId2"/>
    <p:sldMasterId id="2147483722" r:id="rId3"/>
    <p:sldMasterId id="2147483717" r:id="rId4"/>
  </p:sldMasterIdLst>
  <p:sldIdLst>
    <p:sldId id="256" r:id="rId5"/>
    <p:sldId id="271" r:id="rId6"/>
    <p:sldId id="258" r:id="rId7"/>
    <p:sldId id="257" r:id="rId8"/>
    <p:sldId id="273" r:id="rId9"/>
    <p:sldId id="262" r:id="rId10"/>
    <p:sldId id="261" r:id="rId11"/>
    <p:sldId id="274" r:id="rId12"/>
    <p:sldId id="260" r:id="rId13"/>
    <p:sldId id="275" r:id="rId14"/>
    <p:sldId id="264" r:id="rId15"/>
    <p:sldId id="263" r:id="rId16"/>
    <p:sldId id="272" r:id="rId17"/>
    <p:sldId id="266" r:id="rId18"/>
    <p:sldId id="267" r:id="rId19"/>
    <p:sldId id="268" r:id="rId20"/>
    <p:sldId id="269" r:id="rId21"/>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21523DF-8796-45EC-B5ED-4E503E1F0E63}">
          <p14:sldIdLst>
            <p14:sldId id="256"/>
          </p14:sldIdLst>
        </p14:section>
        <p14:section name="introduction" id="{0625C36A-E498-445E-8511-0B5E5D12FD91}">
          <p14:sldIdLst>
            <p14:sldId id="271"/>
            <p14:sldId id="258"/>
            <p14:sldId id="257"/>
          </p14:sldIdLst>
        </p14:section>
        <p14:section name="Extension DARES" id="{B46AD496-F498-4B71-8E7E-5DEBD37A3222}">
          <p14:sldIdLst>
            <p14:sldId id="273"/>
            <p14:sldId id="262"/>
            <p14:sldId id="261"/>
            <p14:sldId id="274"/>
            <p14:sldId id="260"/>
            <p14:sldId id="275"/>
            <p14:sldId id="264"/>
            <p14:sldId id="263"/>
            <p14:sldId id="272"/>
          </p14:sldIdLst>
        </p14:section>
        <p14:section name="long-terme" id="{2806E7E5-3382-4A10-BEE5-AACE3D9349E5}">
          <p14:sldIdLst>
            <p14:sldId id="266"/>
            <p14:sldId id="267"/>
            <p14:sldId id="268"/>
          </p14:sldIdLst>
        </p14:section>
        <p14:section name="analyse de séquences" id="{A0E0A2FC-AFAF-4B1E-9117-AE6CA9C71CEA}">
          <p14:sldIdLst>
            <p14:sldId id="269"/>
          </p14:sldIdLst>
        </p14:section>
      </p14:sectionLst>
    </p:ext>
    <p:ext uri="{EFAFB233-063F-42B5-8137-9DF3F51BA10A}">
      <p15:sldGuideLst xmlns:p15="http://schemas.microsoft.com/office/powerpoint/2012/main">
        <p15:guide id="2" pos="1323">
          <p15:clr>
            <a:srgbClr val="A4A3A4"/>
          </p15:clr>
        </p15:guide>
        <p15:guide id="3" orient="horz" pos="1502">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40DDF8-E3B7-174B-EF84-64590914434C}" name="EL AAZDOUDI Salma" initials="SE" userId="S::selaazdoudi@unedic.fr::28d60433-ec6b-4bfb-8161-9f29ac0c4d9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A898D"/>
    <a:srgbClr val="007C80"/>
    <a:srgbClr val="CCE5E6"/>
    <a:srgbClr val="B6D79C"/>
    <a:srgbClr val="E8F2E0"/>
    <a:srgbClr val="F2F8F9"/>
    <a:srgbClr val="E6F2F2"/>
    <a:srgbClr val="FFFFFF"/>
    <a:srgbClr val="A6C6CB"/>
    <a:srgbClr val="D1E5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93BBFA-6F59-40BC-B489-017AE0431D00}" v="1829" dt="2026-09-19T12:34:34.11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guide pos="1323"/>
        <p:guide orient="horz" pos="15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omments/modernComment_10F_7D45DB35.xml><?xml version="1.0" encoding="utf-8"?>
<p188:cmLst xmlns:a="http://schemas.openxmlformats.org/drawingml/2006/main" xmlns:r="http://schemas.openxmlformats.org/officeDocument/2006/relationships" xmlns:p188="http://schemas.microsoft.com/office/powerpoint/2018/8/main">
  <p188:cm id="{A32A5F80-658C-467E-BB87-A00D0129485A}" authorId="{A540DDF8-E3B7-174B-EF84-64590914434C}" created="2026-09-14T15:19:57.231">
    <pc:sldMkLst xmlns:pc="http://schemas.microsoft.com/office/powerpoint/2013/main/command">
      <pc:docMk/>
      <pc:sldMk cId="2101730101" sldId="271"/>
    </pc:sldMkLst>
    <p188:txBody>
      <a:bodyPr/>
      <a:lstStyle/>
      <a:p>
        <a:r>
          <a:rPr lang="fr-FR"/>
          <a:t>Transition avec la revue de littérature; c’est plutôt alimenté par une étude en particulier</a:t>
        </a:r>
      </a:p>
    </p188:txBody>
  </p188:cm>
</p188:cmLst>
</file>

<file path=ppt/comments/modernComment_102_B64F71B2.xml><?xml version="1.0" encoding="utf-8"?>
<p188:cmLst xmlns:a="http://schemas.openxmlformats.org/drawingml/2006/main" xmlns:r="http://schemas.openxmlformats.org/officeDocument/2006/relationships" xmlns:p188="http://schemas.microsoft.com/office/powerpoint/2018/8/main">
  <p188:cm id="{9337B901-3C1B-4A18-83CE-CA3773183851}" authorId="{A540DDF8-E3B7-174B-EF84-64590914434C}" created="2026-08-04T08:55:17.107">
    <ac:txMkLst xmlns:ac="http://schemas.microsoft.com/office/drawing/2013/main/command">
      <pc:docMk xmlns:pc="http://schemas.microsoft.com/office/powerpoint/2013/main/command"/>
      <pc:sldMk xmlns:pc="http://schemas.microsoft.com/office/powerpoint/2013/main/command" cId="3058659762" sldId="258"/>
      <ac:spMk id="51" creationId="{E11FDD24-C8D9-FD37-CE14-9B65815D2FAC}"/>
      <ac:txMk cp="655" len="74">
        <ac:context len="731" hash="3410738779"/>
      </ac:txMk>
    </ac:txMkLst>
    <p188:txBody>
      <a:bodyPr/>
      <a:lstStyle/>
      <a:p>
        <a:r>
          <a:rPr lang="fr-FR"/>
          <a:t>La justification de ca, c’est mon NLP mais c’est aussi les travaux qui montrent que les ruptures conventionnelles sont parfois des substituts aux licenciements ou aux démissions</a:t>
        </a:r>
      </a:p>
    </p188:txBody>
  </p188:cm>
  <p188:cm id="{8F57B1EE-CD87-4E04-9BB4-39D6972729AD}" authorId="{A540DDF8-E3B7-174B-EF84-64590914434C}" created="2026-09-15T05:47:00.112">
    <ac:deMkLst xmlns:ac="http://schemas.microsoft.com/office/drawing/2013/main/command">
      <pc:docMk xmlns:pc="http://schemas.microsoft.com/office/powerpoint/2013/main/command"/>
      <pc:sldMk xmlns:pc="http://schemas.microsoft.com/office/powerpoint/2013/main/command" cId="3058659762" sldId="258"/>
      <ac:spMk id="16" creationId="{C62EA3E9-7737-AB93-6630-921297D263B7}"/>
    </ac:deMkLst>
    <p188:txBody>
      <a:bodyPr/>
      <a:lstStyle/>
      <a:p>
        <a:r>
          <a:rPr lang="fr-FR"/>
          <a:t>Décharger la slide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1 Titre général vert">
    <p:spTree>
      <p:nvGrpSpPr>
        <p:cNvPr id="1" name=""/>
        <p:cNvGrpSpPr/>
        <p:nvPr/>
      </p:nvGrpSpPr>
      <p:grpSpPr>
        <a:xfrm>
          <a:off x="0" y="0"/>
          <a:ext cx="0" cy="0"/>
          <a:chOff x="0" y="0"/>
          <a:chExt cx="0" cy="0"/>
        </a:xfrm>
      </p:grpSpPr>
      <p:sp>
        <p:nvSpPr>
          <p:cNvPr id="10" name="Espace réservé du texte 9">
            <a:extLst>
              <a:ext uri="{FF2B5EF4-FFF2-40B4-BE49-F238E27FC236}">
                <a16:creationId xmlns:a16="http://schemas.microsoft.com/office/drawing/2014/main" id="{BD3473EF-F8FA-7745-A335-18295E13AF2C}"/>
              </a:ext>
            </a:extLst>
          </p:cNvPr>
          <p:cNvSpPr>
            <a:spLocks noGrp="1"/>
          </p:cNvSpPr>
          <p:nvPr>
            <p:ph type="body" sz="quarter" idx="11" hasCustomPrompt="1"/>
          </p:nvPr>
        </p:nvSpPr>
        <p:spPr>
          <a:xfrm>
            <a:off x="4319999" y="3917302"/>
            <a:ext cx="7296000" cy="278727"/>
          </a:xfrm>
          <a:prstGeom prst="rect">
            <a:avLst/>
          </a:prstGeom>
        </p:spPr>
        <p:txBody>
          <a:bodyPr/>
          <a:lstStyle>
            <a:lvl1pPr marL="0" indent="0">
              <a:buNone/>
              <a:defRPr sz="1600" b="1" i="0">
                <a:solidFill>
                  <a:srgbClr val="288494"/>
                </a:solidFill>
                <a:latin typeface="Montserrat SemiBold" pitchFamily="2" charset="77"/>
              </a:defRPr>
            </a:lvl1pPr>
            <a:lvl2pPr marL="457200" indent="0">
              <a:buNone/>
              <a:defRPr sz="1600" b="1" i="0">
                <a:solidFill>
                  <a:srgbClr val="288494"/>
                </a:solidFill>
                <a:latin typeface="Montserrat" pitchFamily="2" charset="77"/>
              </a:defRPr>
            </a:lvl2pPr>
            <a:lvl3pPr marL="914400" indent="0">
              <a:buNone/>
              <a:defRPr sz="1600" b="1" i="0">
                <a:solidFill>
                  <a:srgbClr val="288494"/>
                </a:solidFill>
                <a:latin typeface="Montserrat" pitchFamily="2" charset="77"/>
              </a:defRPr>
            </a:lvl3pPr>
            <a:lvl4pPr marL="1371600" indent="0">
              <a:buNone/>
              <a:defRPr sz="1600" b="1" i="0">
                <a:solidFill>
                  <a:srgbClr val="288494"/>
                </a:solidFill>
                <a:latin typeface="Montserrat" pitchFamily="2" charset="77"/>
              </a:defRPr>
            </a:lvl4pPr>
            <a:lvl5pPr marL="1828800" indent="0">
              <a:buNone/>
              <a:defRPr sz="1600" b="1" i="0">
                <a:solidFill>
                  <a:srgbClr val="288494"/>
                </a:solidFill>
                <a:latin typeface="Montserrat" pitchFamily="2" charset="77"/>
              </a:defRPr>
            </a:lvl5pPr>
          </a:lstStyle>
          <a:p>
            <a:pPr lvl="0"/>
            <a:r>
              <a:rPr lang="fr-FR" sz="1600" b="1">
                <a:solidFill>
                  <a:srgbClr val="007B7B"/>
                </a:solidFill>
                <a:latin typeface="Montserrat SemiBold" pitchFamily="2" charset="77"/>
              </a:rPr>
              <a:t>Cliquez pour modifier le sous-titre sur une ligne</a:t>
            </a:r>
            <a:endParaRPr lang="fr-FR"/>
          </a:p>
        </p:txBody>
      </p:sp>
      <p:sp>
        <p:nvSpPr>
          <p:cNvPr id="12" name="Espace réservé du texte 11">
            <a:extLst>
              <a:ext uri="{FF2B5EF4-FFF2-40B4-BE49-F238E27FC236}">
                <a16:creationId xmlns:a16="http://schemas.microsoft.com/office/drawing/2014/main" id="{42E26800-083F-6A43-A967-8ED2A654B374}"/>
              </a:ext>
            </a:extLst>
          </p:cNvPr>
          <p:cNvSpPr>
            <a:spLocks noGrp="1" noChangeAspect="1"/>
          </p:cNvSpPr>
          <p:nvPr>
            <p:ph type="body" sz="quarter" idx="12" hasCustomPrompt="1"/>
          </p:nvPr>
        </p:nvSpPr>
        <p:spPr>
          <a:xfrm>
            <a:off x="4320000" y="2520000"/>
            <a:ext cx="7296000" cy="1341786"/>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a:t>Cliquez pour modifier le titre général </a:t>
            </a:r>
          </a:p>
        </p:txBody>
      </p:sp>
      <p:sp>
        <p:nvSpPr>
          <p:cNvPr id="5" name="Espace réservé du texte 5">
            <a:extLst>
              <a:ext uri="{FF2B5EF4-FFF2-40B4-BE49-F238E27FC236}">
                <a16:creationId xmlns:a16="http://schemas.microsoft.com/office/drawing/2014/main" id="{AFCDC171-826A-4D03-85A9-40C6B454F24B}"/>
              </a:ext>
            </a:extLst>
          </p:cNvPr>
          <p:cNvSpPr txBox="1">
            <a:spLocks/>
          </p:cNvSpPr>
          <p:nvPr/>
        </p:nvSpPr>
        <p:spPr>
          <a:xfrm>
            <a:off x="1962151"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200" baseline="0"/>
          </a:p>
        </p:txBody>
      </p:sp>
    </p:spTree>
    <p:extLst>
      <p:ext uri="{BB962C8B-B14F-4D97-AF65-F5344CB8AC3E}">
        <p14:creationId xmlns:p14="http://schemas.microsoft.com/office/powerpoint/2010/main" val="130181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1.2 Sommaire">
    <p:spTree>
      <p:nvGrpSpPr>
        <p:cNvPr id="1" name=""/>
        <p:cNvGrpSpPr/>
        <p:nvPr/>
      </p:nvGrpSpPr>
      <p:grpSpPr>
        <a:xfrm>
          <a:off x="0" y="0"/>
          <a:ext cx="0" cy="0"/>
          <a:chOff x="0" y="0"/>
          <a:chExt cx="0" cy="0"/>
        </a:xfrm>
      </p:grpSpPr>
      <p:sp>
        <p:nvSpPr>
          <p:cNvPr id="3" name="Espace réservé du texte 5">
            <a:extLst>
              <a:ext uri="{FF2B5EF4-FFF2-40B4-BE49-F238E27FC236}">
                <a16:creationId xmlns:a16="http://schemas.microsoft.com/office/drawing/2014/main" id="{F6705296-0273-4C7A-B163-213993253081}"/>
              </a:ext>
            </a:extLst>
          </p:cNvPr>
          <p:cNvSpPr txBox="1">
            <a:spLocks/>
          </p:cNvSpPr>
          <p:nvPr/>
        </p:nvSpPr>
        <p:spPr>
          <a:xfrm>
            <a:off x="1195532"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a:p>
        </p:txBody>
      </p:sp>
      <p:sp>
        <p:nvSpPr>
          <p:cNvPr id="4" name="Espace réservé du texte 3">
            <a:extLst>
              <a:ext uri="{FF2B5EF4-FFF2-40B4-BE49-F238E27FC236}">
                <a16:creationId xmlns:a16="http://schemas.microsoft.com/office/drawing/2014/main" id="{632BCAFD-C2F1-4FF8-9DCF-B1FC26CEACBB}"/>
              </a:ext>
            </a:extLst>
          </p:cNvPr>
          <p:cNvSpPr txBox="1">
            <a:spLocks/>
          </p:cNvSpPr>
          <p:nvPr/>
        </p:nvSpPr>
        <p:spPr>
          <a:xfrm>
            <a:off x="2047271" y="6399898"/>
            <a:ext cx="5891384" cy="27000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a:t>APPARIEMENTS SUR LE MARCHE DU TRAVAIL ET RUPTURES CONVENTIONNELLES</a:t>
            </a:r>
          </a:p>
        </p:txBody>
      </p:sp>
      <p:sp>
        <p:nvSpPr>
          <p:cNvPr id="5" name="Espace réservé du texte 11">
            <a:extLst>
              <a:ext uri="{FF2B5EF4-FFF2-40B4-BE49-F238E27FC236}">
                <a16:creationId xmlns:a16="http://schemas.microsoft.com/office/drawing/2014/main" id="{D7EFED49-3569-4317-AF67-4FAB52C93AAB}"/>
              </a:ext>
            </a:extLst>
          </p:cNvPr>
          <p:cNvSpPr>
            <a:spLocks noGrp="1" noChangeAspect="1"/>
          </p:cNvSpPr>
          <p:nvPr>
            <p:ph type="body" sz="quarter" idx="12" hasCustomPrompt="1"/>
          </p:nvPr>
        </p:nvSpPr>
        <p:spPr>
          <a:xfrm>
            <a:off x="2666691" y="749495"/>
            <a:ext cx="7296000" cy="634609"/>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a:t>sommaire</a:t>
            </a:r>
          </a:p>
        </p:txBody>
      </p:sp>
      <p:sp>
        <p:nvSpPr>
          <p:cNvPr id="12" name="Espace réservé du texte 11">
            <a:extLst>
              <a:ext uri="{FF2B5EF4-FFF2-40B4-BE49-F238E27FC236}">
                <a16:creationId xmlns:a16="http://schemas.microsoft.com/office/drawing/2014/main" id="{F271A1EE-ED42-4910-A21C-6671394F86AF}"/>
              </a:ext>
            </a:extLst>
          </p:cNvPr>
          <p:cNvSpPr>
            <a:spLocks noGrp="1"/>
          </p:cNvSpPr>
          <p:nvPr>
            <p:ph type="body" sz="quarter" idx="13" hasCustomPrompt="1"/>
          </p:nvPr>
        </p:nvSpPr>
        <p:spPr>
          <a:xfrm>
            <a:off x="2998788" y="1458478"/>
            <a:ext cx="6062662" cy="2817957"/>
          </a:xfrm>
          <a:prstGeom prst="rect">
            <a:avLst/>
          </a:prstGeom>
        </p:spPr>
        <p:txBody>
          <a:bodyPr/>
          <a:lstStyle>
            <a:lvl1pPr marL="285750" indent="-285750">
              <a:buClr>
                <a:srgbClr val="007C80"/>
              </a:buClr>
              <a:buFont typeface="Wingdings" panose="05000000000000000000" pitchFamily="2" charset="2"/>
              <a:buChar char="§"/>
              <a:defRPr sz="1600" b="1" baseline="0">
                <a:solidFill>
                  <a:srgbClr val="94C43E"/>
                </a:solidFill>
                <a:latin typeface="Montserrat SemiBold"/>
              </a:defRPr>
            </a:lvl1pPr>
            <a:lvl2pPr marL="0" indent="-342900">
              <a:buClr>
                <a:srgbClr val="288494"/>
              </a:buClr>
              <a:buFont typeface="Wingdings" panose="05000000000000000000" pitchFamily="2" charset="2"/>
              <a:buChar char="§"/>
              <a:defRPr sz="1600" b="1" baseline="0">
                <a:solidFill>
                  <a:srgbClr val="94C43E"/>
                </a:solidFill>
                <a:latin typeface="Montserrat"/>
              </a:defRPr>
            </a:lvl2pPr>
            <a:lvl3pPr marL="803275" indent="-174625">
              <a:buClr>
                <a:srgbClr val="007B80"/>
              </a:buClr>
              <a:buFont typeface="Courier New" panose="02070309020205020404" pitchFamily="49" charset="0"/>
              <a:buChar char="o"/>
              <a:defRPr sz="1400" b="0">
                <a:latin typeface="+mj-lt"/>
              </a:defRPr>
            </a:lvl3pPr>
            <a:lvl4pPr marL="1255713" indent="-174625">
              <a:buClr>
                <a:srgbClr val="007B80"/>
              </a:buClr>
              <a:buFont typeface="Montserrat" panose="00000500000000000000" pitchFamily="2" charset="0"/>
              <a:buChar char="−"/>
              <a:defRPr sz="1400">
                <a:latin typeface="+mj-lt"/>
              </a:defRPr>
            </a:lvl4pPr>
          </a:lstStyle>
          <a:p>
            <a:pPr lvl="1"/>
            <a:r>
              <a:rPr lang="fr-FR"/>
              <a:t>Premier niveau</a:t>
            </a:r>
          </a:p>
          <a:p>
            <a:pPr lvl="2"/>
            <a:r>
              <a:rPr lang="fr-FR"/>
              <a:t>Deuxième niveau </a:t>
            </a:r>
          </a:p>
          <a:p>
            <a:pPr lvl="3"/>
            <a:r>
              <a:rPr lang="fr-FR"/>
              <a:t>Troisième niveau</a:t>
            </a:r>
          </a:p>
        </p:txBody>
      </p:sp>
    </p:spTree>
    <p:extLst>
      <p:ext uri="{BB962C8B-B14F-4D97-AF65-F5344CB8AC3E}">
        <p14:creationId xmlns:p14="http://schemas.microsoft.com/office/powerpoint/2010/main" val="876674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2 décision ver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7802B9C-C956-416F-B474-BEE5F39CCBFC}"/>
              </a:ext>
            </a:extLst>
          </p:cNvPr>
          <p:cNvSpPr/>
          <p:nvPr/>
        </p:nvSpPr>
        <p:spPr>
          <a:xfrm>
            <a:off x="2305051" y="485775"/>
            <a:ext cx="9401174" cy="5904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texte 11">
            <a:extLst>
              <a:ext uri="{FF2B5EF4-FFF2-40B4-BE49-F238E27FC236}">
                <a16:creationId xmlns:a16="http://schemas.microsoft.com/office/drawing/2014/main" id="{D7EFED49-3569-4317-AF67-4FAB52C93AAB}"/>
              </a:ext>
            </a:extLst>
          </p:cNvPr>
          <p:cNvSpPr>
            <a:spLocks noGrp="1" noChangeAspect="1"/>
          </p:cNvSpPr>
          <p:nvPr>
            <p:ph type="body" sz="quarter" idx="12" hasCustomPrompt="1"/>
          </p:nvPr>
        </p:nvSpPr>
        <p:spPr>
          <a:xfrm>
            <a:off x="4320000" y="2520000"/>
            <a:ext cx="7296000" cy="909000"/>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a:t>Cliquez pour modifier le titre général </a:t>
            </a:r>
          </a:p>
        </p:txBody>
      </p:sp>
      <p:sp>
        <p:nvSpPr>
          <p:cNvPr id="12" name="Espace réservé du texte 11">
            <a:extLst>
              <a:ext uri="{FF2B5EF4-FFF2-40B4-BE49-F238E27FC236}">
                <a16:creationId xmlns:a16="http://schemas.microsoft.com/office/drawing/2014/main" id="{F271A1EE-ED42-4910-A21C-6671394F86AF}"/>
              </a:ext>
            </a:extLst>
          </p:cNvPr>
          <p:cNvSpPr>
            <a:spLocks noGrp="1"/>
          </p:cNvSpPr>
          <p:nvPr>
            <p:ph type="body" sz="quarter" idx="13"/>
          </p:nvPr>
        </p:nvSpPr>
        <p:spPr>
          <a:xfrm>
            <a:off x="4319588" y="3629024"/>
            <a:ext cx="6062662" cy="1933575"/>
          </a:xfrm>
          <a:prstGeom prst="rect">
            <a:avLst/>
          </a:prstGeom>
        </p:spPr>
        <p:txBody>
          <a:bodyPr/>
          <a:lstStyle>
            <a:lvl1pPr marL="0" indent="0">
              <a:buNone/>
              <a:defRPr sz="1600" b="1" baseline="0">
                <a:solidFill>
                  <a:srgbClr val="94C43E"/>
                </a:solidFill>
                <a:latin typeface="Montserrat SemiBold"/>
              </a:defRPr>
            </a:lvl1pPr>
            <a:lvl2pPr marL="0" indent="-342900">
              <a:buClr>
                <a:srgbClr val="288494"/>
              </a:buClr>
              <a:buFont typeface="Wingdings" panose="05000000000000000000" pitchFamily="2" charset="2"/>
              <a:buChar char="§"/>
              <a:defRPr sz="1600" baseline="0">
                <a:solidFill>
                  <a:schemeClr val="tx1"/>
                </a:solidFill>
                <a:latin typeface="Montserrat"/>
              </a:defRPr>
            </a:lvl2pPr>
            <a:lvl3pPr marL="914400" indent="0">
              <a:buNone/>
              <a:defRPr/>
            </a:lvl3pPr>
          </a:lstStyle>
          <a:p>
            <a:pPr lvl="0"/>
            <a:r>
              <a:rPr lang="fr-FR"/>
              <a:t>Cliquez pour modifier les styles du texte du masque</a:t>
            </a:r>
          </a:p>
          <a:p>
            <a:pPr lvl="1"/>
            <a:r>
              <a:rPr lang="fr-FR"/>
              <a:t>Deuxième niveau</a:t>
            </a:r>
          </a:p>
        </p:txBody>
      </p:sp>
      <p:pic>
        <p:nvPicPr>
          <p:cNvPr id="15" name="Image 14">
            <a:extLst>
              <a:ext uri="{FF2B5EF4-FFF2-40B4-BE49-F238E27FC236}">
                <a16:creationId xmlns:a16="http://schemas.microsoft.com/office/drawing/2014/main" id="{E5C88442-CEDE-4E22-933D-1EA3C0E24CC6}"/>
              </a:ext>
            </a:extLst>
          </p:cNvPr>
          <p:cNvPicPr>
            <a:picLocks noChangeAspect="1"/>
          </p:cNvPicPr>
          <p:nvPr/>
        </p:nvPicPr>
        <p:blipFill>
          <a:blip r:embed="rId2"/>
          <a:stretch>
            <a:fillRect/>
          </a:stretch>
        </p:blipFill>
        <p:spPr>
          <a:xfrm>
            <a:off x="10794911" y="6331436"/>
            <a:ext cx="801076" cy="277256"/>
          </a:xfrm>
          <a:prstGeom prst="rect">
            <a:avLst/>
          </a:prstGeom>
        </p:spPr>
      </p:pic>
      <p:sp>
        <p:nvSpPr>
          <p:cNvPr id="8" name="Espace réservé du texte 5">
            <a:extLst>
              <a:ext uri="{FF2B5EF4-FFF2-40B4-BE49-F238E27FC236}">
                <a16:creationId xmlns:a16="http://schemas.microsoft.com/office/drawing/2014/main" id="{E86287E5-C557-4296-A64B-EE802E8A5349}"/>
              </a:ext>
            </a:extLst>
          </p:cNvPr>
          <p:cNvSpPr txBox="1">
            <a:spLocks/>
          </p:cNvSpPr>
          <p:nvPr/>
        </p:nvSpPr>
        <p:spPr>
          <a:xfrm>
            <a:off x="1195532"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a:p>
        </p:txBody>
      </p:sp>
      <p:sp>
        <p:nvSpPr>
          <p:cNvPr id="9" name="Espace réservé du texte 3">
            <a:extLst>
              <a:ext uri="{FF2B5EF4-FFF2-40B4-BE49-F238E27FC236}">
                <a16:creationId xmlns:a16="http://schemas.microsoft.com/office/drawing/2014/main" id="{BE632298-F531-407F-B597-7345E250F3BE}"/>
              </a:ext>
            </a:extLst>
          </p:cNvPr>
          <p:cNvSpPr txBox="1">
            <a:spLocks/>
          </p:cNvSpPr>
          <p:nvPr/>
        </p:nvSpPr>
        <p:spPr>
          <a:xfrm>
            <a:off x="2047270" y="6399898"/>
            <a:ext cx="5780547" cy="27000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a:t>APPARIEMENTS SUR LE MARCHE DU TRAVAIL ET RUPTURES CONVENTIONNELLES</a:t>
            </a:r>
          </a:p>
        </p:txBody>
      </p:sp>
    </p:spTree>
    <p:extLst>
      <p:ext uri="{BB962C8B-B14F-4D97-AF65-F5344CB8AC3E}">
        <p14:creationId xmlns:p14="http://schemas.microsoft.com/office/powerpoint/2010/main" val="1703368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3 Décision ve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C16D2A-790C-4CD3-9F4E-BFC27B626C72}"/>
              </a:ext>
            </a:extLst>
          </p:cNvPr>
          <p:cNvSpPr/>
          <p:nvPr/>
        </p:nvSpPr>
        <p:spPr>
          <a:xfrm>
            <a:off x="2305051" y="485775"/>
            <a:ext cx="9401174" cy="5904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texte 11">
            <a:extLst>
              <a:ext uri="{FF2B5EF4-FFF2-40B4-BE49-F238E27FC236}">
                <a16:creationId xmlns:a16="http://schemas.microsoft.com/office/drawing/2014/main" id="{D7EFED49-3569-4317-AF67-4FAB52C93AAB}"/>
              </a:ext>
            </a:extLst>
          </p:cNvPr>
          <p:cNvSpPr>
            <a:spLocks noGrp="1" noChangeAspect="1"/>
          </p:cNvSpPr>
          <p:nvPr>
            <p:ph type="body" sz="quarter" idx="12" hasCustomPrompt="1"/>
          </p:nvPr>
        </p:nvSpPr>
        <p:spPr>
          <a:xfrm>
            <a:off x="4320000" y="2520000"/>
            <a:ext cx="7296000" cy="909000"/>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a:t>Cliquez pour modifier le titre général </a:t>
            </a:r>
          </a:p>
        </p:txBody>
      </p:sp>
      <p:sp>
        <p:nvSpPr>
          <p:cNvPr id="12" name="Espace réservé du texte 11">
            <a:extLst>
              <a:ext uri="{FF2B5EF4-FFF2-40B4-BE49-F238E27FC236}">
                <a16:creationId xmlns:a16="http://schemas.microsoft.com/office/drawing/2014/main" id="{F271A1EE-ED42-4910-A21C-6671394F86AF}"/>
              </a:ext>
            </a:extLst>
          </p:cNvPr>
          <p:cNvSpPr>
            <a:spLocks noGrp="1"/>
          </p:cNvSpPr>
          <p:nvPr>
            <p:ph type="body" sz="quarter" idx="13"/>
          </p:nvPr>
        </p:nvSpPr>
        <p:spPr>
          <a:xfrm>
            <a:off x="4319588" y="3629025"/>
            <a:ext cx="6062662" cy="409576"/>
          </a:xfrm>
          <a:prstGeom prst="rect">
            <a:avLst/>
          </a:prstGeom>
        </p:spPr>
        <p:txBody>
          <a:bodyPr/>
          <a:lstStyle>
            <a:lvl1pPr marL="0" indent="0">
              <a:buNone/>
              <a:defRPr sz="1600" b="1" baseline="0">
                <a:solidFill>
                  <a:srgbClr val="94C43E"/>
                </a:solidFill>
                <a:latin typeface="Montserrat SemiBold"/>
              </a:defRPr>
            </a:lvl1pPr>
            <a:lvl2pPr marL="0" indent="-342900">
              <a:buClr>
                <a:srgbClr val="288494"/>
              </a:buClr>
              <a:buFont typeface="Wingdings" panose="05000000000000000000" pitchFamily="2" charset="2"/>
              <a:buChar char="§"/>
              <a:defRPr sz="1600" baseline="0">
                <a:solidFill>
                  <a:schemeClr val="tx1"/>
                </a:solidFill>
                <a:latin typeface="Montserrat"/>
              </a:defRPr>
            </a:lvl2pPr>
            <a:lvl3pPr marL="914400" indent="0">
              <a:buNone/>
              <a:defRPr/>
            </a:lvl3pPr>
          </a:lstStyle>
          <a:p>
            <a:pPr lvl="0"/>
            <a:r>
              <a:rPr lang="fr-FR"/>
              <a:t>Cliquez pour modifier les styles du texte du masque</a:t>
            </a:r>
          </a:p>
        </p:txBody>
      </p:sp>
      <p:sp>
        <p:nvSpPr>
          <p:cNvPr id="6" name="Espace réservé du texte 5">
            <a:extLst>
              <a:ext uri="{FF2B5EF4-FFF2-40B4-BE49-F238E27FC236}">
                <a16:creationId xmlns:a16="http://schemas.microsoft.com/office/drawing/2014/main" id="{3DBD48E9-4A52-4C99-9261-4C8210B83A6D}"/>
              </a:ext>
            </a:extLst>
          </p:cNvPr>
          <p:cNvSpPr>
            <a:spLocks noGrp="1"/>
          </p:cNvSpPr>
          <p:nvPr>
            <p:ph type="body" sz="quarter" idx="14"/>
          </p:nvPr>
        </p:nvSpPr>
        <p:spPr>
          <a:xfrm>
            <a:off x="4319588" y="4781550"/>
            <a:ext cx="6062662" cy="1009650"/>
          </a:xfrm>
          <a:prstGeom prst="rect">
            <a:avLst/>
          </a:prstGeom>
        </p:spPr>
        <p:txBody>
          <a:bodyPr/>
          <a:lstStyle>
            <a:lvl1pPr marL="0" indent="0">
              <a:buNone/>
              <a:defRPr sz="1400" b="1" i="1" baseline="0">
                <a:solidFill>
                  <a:sysClr val="windowText" lastClr="000000"/>
                </a:solidFill>
                <a:latin typeface="Montserrat"/>
              </a:defRPr>
            </a:lvl1pPr>
          </a:lstStyle>
          <a:p>
            <a:pPr lvl="0"/>
            <a:r>
              <a:rPr lang="fr-FR"/>
              <a:t>Cliquez pour modifier les styles du texte du masque</a:t>
            </a:r>
          </a:p>
        </p:txBody>
      </p:sp>
      <p:pic>
        <p:nvPicPr>
          <p:cNvPr id="9" name="Image 8">
            <a:extLst>
              <a:ext uri="{FF2B5EF4-FFF2-40B4-BE49-F238E27FC236}">
                <a16:creationId xmlns:a16="http://schemas.microsoft.com/office/drawing/2014/main" id="{641B2A71-F8E8-48B9-8C31-1C0EDF7DBD47}"/>
              </a:ext>
            </a:extLst>
          </p:cNvPr>
          <p:cNvPicPr>
            <a:picLocks noChangeAspect="1"/>
          </p:cNvPicPr>
          <p:nvPr/>
        </p:nvPicPr>
        <p:blipFill>
          <a:blip r:embed="rId2"/>
          <a:stretch>
            <a:fillRect/>
          </a:stretch>
        </p:blipFill>
        <p:spPr>
          <a:xfrm>
            <a:off x="10794911" y="6331436"/>
            <a:ext cx="801076" cy="277256"/>
          </a:xfrm>
          <a:prstGeom prst="rect">
            <a:avLst/>
          </a:prstGeom>
        </p:spPr>
      </p:pic>
      <p:sp>
        <p:nvSpPr>
          <p:cNvPr id="10" name="Espace réservé du texte 5">
            <a:extLst>
              <a:ext uri="{FF2B5EF4-FFF2-40B4-BE49-F238E27FC236}">
                <a16:creationId xmlns:a16="http://schemas.microsoft.com/office/drawing/2014/main" id="{CF3BD7F6-B735-4C24-BC16-BEC4C7E23708}"/>
              </a:ext>
            </a:extLst>
          </p:cNvPr>
          <p:cNvSpPr txBox="1">
            <a:spLocks/>
          </p:cNvSpPr>
          <p:nvPr/>
        </p:nvSpPr>
        <p:spPr>
          <a:xfrm>
            <a:off x="1195532"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a:p>
        </p:txBody>
      </p:sp>
      <p:sp>
        <p:nvSpPr>
          <p:cNvPr id="11" name="Espace réservé du texte 3">
            <a:extLst>
              <a:ext uri="{FF2B5EF4-FFF2-40B4-BE49-F238E27FC236}">
                <a16:creationId xmlns:a16="http://schemas.microsoft.com/office/drawing/2014/main" id="{ED9FEEFE-1B79-4ED9-88CF-482F1C03D9A0}"/>
              </a:ext>
            </a:extLst>
          </p:cNvPr>
          <p:cNvSpPr txBox="1">
            <a:spLocks/>
          </p:cNvSpPr>
          <p:nvPr/>
        </p:nvSpPr>
        <p:spPr>
          <a:xfrm>
            <a:off x="2047271" y="6399898"/>
            <a:ext cx="6023002" cy="27000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a:t>APPARIEMENTS SUR LE MARCHE DU TRAVAIL ET RUPTURES CONVENTIONNELLES</a:t>
            </a:r>
          </a:p>
        </p:txBody>
      </p:sp>
    </p:spTree>
    <p:extLst>
      <p:ext uri="{BB962C8B-B14F-4D97-AF65-F5344CB8AC3E}">
        <p14:creationId xmlns:p14="http://schemas.microsoft.com/office/powerpoint/2010/main" val="76405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1 Titre souligné vert">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52632E56-09F5-974D-B745-4083A4342DF3}"/>
              </a:ext>
            </a:extLst>
          </p:cNvPr>
          <p:cNvSpPr>
            <a:spLocks noGrp="1"/>
          </p:cNvSpPr>
          <p:nvPr>
            <p:ph type="body" sz="quarter" idx="13" hasCustomPrompt="1"/>
          </p:nvPr>
        </p:nvSpPr>
        <p:spPr>
          <a:xfrm>
            <a:off x="1680000" y="2520000"/>
            <a:ext cx="9120000" cy="2160000"/>
          </a:xfrm>
          <a:prstGeom prst="rect">
            <a:avLst/>
          </a:prstGeom>
        </p:spPr>
        <p:txBody>
          <a:bodyPr/>
          <a:lstStyle>
            <a:lvl1pPr marL="0" indent="0">
              <a:buNone/>
              <a:defRPr sz="2500" b="1" i="0" u="sng" cap="all" baseline="0">
                <a:solidFill>
                  <a:srgbClr val="288494"/>
                </a:solidFill>
                <a:latin typeface="Montserrat" pitchFamily="2" charset="77"/>
              </a:defRPr>
            </a:lvl1pPr>
            <a:lvl2pPr marL="457200" indent="0">
              <a:buNone/>
              <a:defRPr sz="2500" b="1" i="0" u="sng" cap="all" baseline="0">
                <a:solidFill>
                  <a:srgbClr val="288494"/>
                </a:solidFill>
                <a:latin typeface="Montserrat" pitchFamily="2" charset="77"/>
              </a:defRPr>
            </a:lvl2pPr>
            <a:lvl3pPr marL="914400" indent="0">
              <a:buNone/>
              <a:defRPr sz="2500" b="1" i="0" u="sng" cap="all" baseline="0">
                <a:solidFill>
                  <a:srgbClr val="288494"/>
                </a:solidFill>
                <a:latin typeface="Montserrat" pitchFamily="2" charset="77"/>
              </a:defRPr>
            </a:lvl3pPr>
            <a:lvl4pPr marL="1371600" indent="0">
              <a:buNone/>
              <a:defRPr sz="2500" b="1" i="0" u="sng" cap="all" baseline="0">
                <a:solidFill>
                  <a:srgbClr val="288494"/>
                </a:solidFill>
                <a:latin typeface="Montserrat" pitchFamily="2" charset="77"/>
              </a:defRPr>
            </a:lvl4pPr>
            <a:lvl5pPr marL="1828800" indent="0">
              <a:buNone/>
              <a:defRPr sz="2500" b="1" i="0" u="sng" cap="all" baseline="0">
                <a:solidFill>
                  <a:srgbClr val="288494"/>
                </a:solidFill>
                <a:latin typeface="Montserrat" pitchFamily="2" charset="77"/>
              </a:defRPr>
            </a:lvl5pPr>
          </a:lstStyle>
          <a:p>
            <a:pPr lvl="0"/>
            <a:r>
              <a:rPr lang="fr-FR"/>
              <a:t>Cliquez pour modifier </a:t>
            </a:r>
            <a:br>
              <a:rPr lang="fr-FR"/>
            </a:br>
            <a:r>
              <a:rPr lang="fr-FR"/>
              <a:t>le titre souligné</a:t>
            </a:r>
          </a:p>
        </p:txBody>
      </p:sp>
    </p:spTree>
    <p:extLst>
      <p:ext uri="{BB962C8B-B14F-4D97-AF65-F5344CB8AC3E}">
        <p14:creationId xmlns:p14="http://schemas.microsoft.com/office/powerpoint/2010/main" val="3344013361"/>
      </p:ext>
    </p:extLst>
  </p:cSld>
  <p:clrMapOvr>
    <a:masterClrMapping/>
  </p:clrMapOvr>
  <p:extLst>
    <p:ext uri="{DCECCB84-F9BA-43D5-87BE-67443E8EF086}">
      <p15:sldGuideLst xmlns:p15="http://schemas.microsoft.com/office/powerpoint/2012/main">
        <p15:guide id="1" orient="horz" pos="2160">
          <p15:clr>
            <a:srgbClr val="FBAE40"/>
          </p15:clr>
        </p15:guide>
        <p15:guide id="2" pos="10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2 Tourne texte vert 1 colonn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a:t>Cliquez pour modifier le rappel de titre</a:t>
            </a:r>
            <a:endParaRPr lang="fr-FR"/>
          </a:p>
          <a:p>
            <a:pPr lvl="0"/>
            <a:endParaRPr lang="fr-FR"/>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2" y="1782002"/>
            <a:ext cx="10174817"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a:t> Texte</a:t>
            </a:r>
          </a:p>
          <a:p>
            <a:pPr lvl="1"/>
            <a:r>
              <a:rPr lang="fr-FR"/>
              <a:t>Deuxième niveau</a:t>
            </a:r>
          </a:p>
          <a:p>
            <a:pPr lvl="2"/>
            <a:r>
              <a:rPr lang="fr-FR"/>
              <a:t>Troisième niveau </a:t>
            </a:r>
          </a:p>
          <a:p>
            <a:pPr lvl="3"/>
            <a:r>
              <a:rPr lang="fr-FR"/>
              <a:t>Quatrième niveau</a:t>
            </a:r>
          </a:p>
          <a:p>
            <a:pPr lvl="4"/>
            <a:r>
              <a:rPr lang="fr-FR"/>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a:t>Cliquez pour modifier le Titre 2</a:t>
            </a:r>
          </a:p>
        </p:txBody>
      </p:sp>
    </p:spTree>
    <p:extLst>
      <p:ext uri="{BB962C8B-B14F-4D97-AF65-F5344CB8AC3E}">
        <p14:creationId xmlns:p14="http://schemas.microsoft.com/office/powerpoint/2010/main" val="294911369"/>
      </p:ext>
    </p:extLst>
  </p:cSld>
  <p:clrMapOvr>
    <a:masterClrMapping/>
  </p:clrMapOvr>
  <p:extLst>
    <p:ext uri="{DCECCB84-F9BA-43D5-87BE-67443E8EF086}">
      <p15:sldGuideLst xmlns:p15="http://schemas.microsoft.com/office/powerpoint/2012/main">
        <p15:guide id="1" orient="horz" pos="2160">
          <p15:clr>
            <a:srgbClr val="FBAE40"/>
          </p15:clr>
        </p15:guide>
        <p15:guide id="2" pos="86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3 Tourne texte vert 2 colonnes">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a:t>Cliquez pour modifier le rappel de titre</a:t>
            </a:r>
            <a:endParaRPr lang="fr-FR"/>
          </a:p>
          <a:p>
            <a:pPr lvl="0"/>
            <a:endParaRPr lang="fr-FR"/>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2" y="1782002"/>
            <a:ext cx="4875447"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a:t> Texte</a:t>
            </a:r>
          </a:p>
          <a:p>
            <a:pPr lvl="1"/>
            <a:r>
              <a:rPr lang="fr-FR"/>
              <a:t>Deuxième niveau</a:t>
            </a:r>
          </a:p>
          <a:p>
            <a:pPr lvl="2"/>
            <a:r>
              <a:rPr lang="fr-FR"/>
              <a:t>Troisième niveau </a:t>
            </a:r>
          </a:p>
          <a:p>
            <a:pPr lvl="3"/>
            <a:r>
              <a:rPr lang="fr-FR"/>
              <a:t>Quatrième niveau</a:t>
            </a:r>
          </a:p>
          <a:p>
            <a:pPr lvl="4"/>
            <a:r>
              <a:rPr lang="fr-FR"/>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a:t>Cliquez pour modifier le Titre 2</a:t>
            </a:r>
          </a:p>
        </p:txBody>
      </p:sp>
      <p:sp>
        <p:nvSpPr>
          <p:cNvPr id="11" name="Espace réservé du texte 15">
            <a:extLst>
              <a:ext uri="{FF2B5EF4-FFF2-40B4-BE49-F238E27FC236}">
                <a16:creationId xmlns:a16="http://schemas.microsoft.com/office/drawing/2014/main" id="{76291061-F0AC-4EA8-BB1A-8FEE743DE4AE}"/>
              </a:ext>
            </a:extLst>
          </p:cNvPr>
          <p:cNvSpPr>
            <a:spLocks noGrp="1"/>
          </p:cNvSpPr>
          <p:nvPr>
            <p:ph type="body" sz="quarter" idx="19" hasCustomPrompt="1"/>
          </p:nvPr>
        </p:nvSpPr>
        <p:spPr>
          <a:xfrm>
            <a:off x="6692139" y="1792094"/>
            <a:ext cx="4875447"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a:t> Texte</a:t>
            </a:r>
          </a:p>
          <a:p>
            <a:pPr lvl="1"/>
            <a:r>
              <a:rPr lang="fr-FR"/>
              <a:t>Deuxième niveau</a:t>
            </a:r>
          </a:p>
          <a:p>
            <a:pPr lvl="2"/>
            <a:r>
              <a:rPr lang="fr-FR"/>
              <a:t>Troisième niveau </a:t>
            </a:r>
          </a:p>
          <a:p>
            <a:pPr lvl="3"/>
            <a:r>
              <a:rPr lang="fr-FR"/>
              <a:t>Quatrième niveau</a:t>
            </a:r>
          </a:p>
          <a:p>
            <a:pPr lvl="4"/>
            <a:r>
              <a:rPr lang="fr-FR"/>
              <a:t>Cinquième niveau</a:t>
            </a:r>
          </a:p>
        </p:txBody>
      </p:sp>
    </p:spTree>
    <p:extLst>
      <p:ext uri="{BB962C8B-B14F-4D97-AF65-F5344CB8AC3E}">
        <p14:creationId xmlns:p14="http://schemas.microsoft.com/office/powerpoint/2010/main" val="370987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4 Tourne texte vert 1 colonne + imag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a:t>Cliquez pour modifier le rappel de titre</a:t>
            </a:r>
            <a:endParaRPr lang="fr-FR"/>
          </a:p>
          <a:p>
            <a:pPr lvl="0"/>
            <a:endParaRPr lang="fr-FR"/>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3" y="1782002"/>
            <a:ext cx="4703998"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a:t> Texte</a:t>
            </a:r>
          </a:p>
          <a:p>
            <a:pPr lvl="1"/>
            <a:r>
              <a:rPr lang="fr-FR"/>
              <a:t>Deuxième niveau</a:t>
            </a:r>
          </a:p>
          <a:p>
            <a:pPr lvl="2"/>
            <a:r>
              <a:rPr lang="fr-FR"/>
              <a:t>Troisième niveau </a:t>
            </a:r>
          </a:p>
          <a:p>
            <a:pPr lvl="3"/>
            <a:r>
              <a:rPr lang="fr-FR"/>
              <a:t>Quatrième niveau</a:t>
            </a:r>
          </a:p>
          <a:p>
            <a:pPr lvl="4"/>
            <a:r>
              <a:rPr lang="fr-FR"/>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a:t>Cliquez pour modifier le Titre 2</a:t>
            </a:r>
          </a:p>
        </p:txBody>
      </p:sp>
      <p:sp>
        <p:nvSpPr>
          <p:cNvPr id="5" name="Espace réservé pour une image  4">
            <a:extLst>
              <a:ext uri="{FF2B5EF4-FFF2-40B4-BE49-F238E27FC236}">
                <a16:creationId xmlns:a16="http://schemas.microsoft.com/office/drawing/2014/main" id="{3E20860D-BF9C-40AE-BD82-A81434691C97}"/>
              </a:ext>
            </a:extLst>
          </p:cNvPr>
          <p:cNvSpPr>
            <a:spLocks noGrp="1"/>
          </p:cNvSpPr>
          <p:nvPr>
            <p:ph type="pic" sz="quarter" idx="19"/>
          </p:nvPr>
        </p:nvSpPr>
        <p:spPr>
          <a:xfrm>
            <a:off x="6610350" y="1782001"/>
            <a:ext cx="4956469" cy="4402136"/>
          </a:xfrm>
          <a:prstGeom prst="rect">
            <a:avLst/>
          </a:prstGeom>
        </p:spPr>
        <p:txBody>
          <a:bodyPr/>
          <a:lstStyle>
            <a:lvl1pPr marL="0" indent="0">
              <a:buNone/>
              <a:defRPr sz="1200" baseline="0">
                <a:latin typeface="Montserrat"/>
              </a:defRPr>
            </a:lvl1pPr>
          </a:lstStyle>
          <a:p>
            <a:endParaRPr lang="fr-FR"/>
          </a:p>
        </p:txBody>
      </p:sp>
    </p:spTree>
    <p:extLst>
      <p:ext uri="{BB962C8B-B14F-4D97-AF65-F5344CB8AC3E}">
        <p14:creationId xmlns:p14="http://schemas.microsoft.com/office/powerpoint/2010/main" val="102768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5 Tourne texte vert 1 colonne + graph">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a:t>Cliquez pour modifier le rappel de titre</a:t>
            </a:r>
            <a:endParaRPr lang="fr-FR"/>
          </a:p>
          <a:p>
            <a:pPr lvl="0"/>
            <a:endParaRPr lang="fr-FR"/>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3" y="1782002"/>
            <a:ext cx="4703998"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a:t> Texte</a:t>
            </a:r>
          </a:p>
          <a:p>
            <a:pPr lvl="1"/>
            <a:r>
              <a:rPr lang="fr-FR"/>
              <a:t>Deuxième niveau</a:t>
            </a:r>
          </a:p>
          <a:p>
            <a:pPr lvl="2"/>
            <a:r>
              <a:rPr lang="fr-FR"/>
              <a:t>Troisième niveau </a:t>
            </a:r>
          </a:p>
          <a:p>
            <a:pPr lvl="3"/>
            <a:r>
              <a:rPr lang="fr-FR"/>
              <a:t>Quatrième niveau</a:t>
            </a:r>
          </a:p>
          <a:p>
            <a:pPr lvl="4"/>
            <a:r>
              <a:rPr lang="fr-FR"/>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a:t>Cliquez pour modifier le Titre 2</a:t>
            </a:r>
          </a:p>
        </p:txBody>
      </p:sp>
      <p:sp>
        <p:nvSpPr>
          <p:cNvPr id="3" name="Espace réservé du graphique 2">
            <a:extLst>
              <a:ext uri="{FF2B5EF4-FFF2-40B4-BE49-F238E27FC236}">
                <a16:creationId xmlns:a16="http://schemas.microsoft.com/office/drawing/2014/main" id="{E2889781-9365-4ED8-899E-093A459F2DF8}"/>
              </a:ext>
            </a:extLst>
          </p:cNvPr>
          <p:cNvSpPr>
            <a:spLocks noGrp="1"/>
          </p:cNvSpPr>
          <p:nvPr>
            <p:ph type="chart" sz="quarter" idx="19"/>
          </p:nvPr>
        </p:nvSpPr>
        <p:spPr>
          <a:xfrm>
            <a:off x="6619875" y="1782764"/>
            <a:ext cx="4948238" cy="4401376"/>
          </a:xfrm>
          <a:prstGeom prst="rect">
            <a:avLst/>
          </a:prstGeom>
        </p:spPr>
        <p:txBody>
          <a:bodyPr/>
          <a:lstStyle>
            <a:lvl1pPr marL="0" indent="0">
              <a:buNone/>
              <a:defRPr sz="1200" baseline="0">
                <a:latin typeface="Montserrat"/>
              </a:defRPr>
            </a:lvl1pPr>
          </a:lstStyle>
          <a:p>
            <a:endParaRPr lang="fr-FR"/>
          </a:p>
        </p:txBody>
      </p:sp>
    </p:spTree>
    <p:extLst>
      <p:ext uri="{BB962C8B-B14F-4D97-AF65-F5344CB8AC3E}">
        <p14:creationId xmlns:p14="http://schemas.microsoft.com/office/powerpoint/2010/main" val="3774822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vertical et texte">
    <p:spTree>
      <p:nvGrpSpPr>
        <p:cNvPr id="1" name=""/>
        <p:cNvGrpSpPr/>
        <p:nvPr/>
      </p:nvGrpSpPr>
      <p:grpSpPr>
        <a:xfrm>
          <a:off x="0" y="0"/>
          <a:ext cx="0" cy="0"/>
          <a:chOff x="0" y="0"/>
          <a:chExt cx="0" cy="0"/>
        </a:xfrm>
      </p:grpSpPr>
      <p:sp>
        <p:nvSpPr>
          <p:cNvPr id="7" name="Espace réservé du texte 10">
            <a:extLst>
              <a:ext uri="{FF2B5EF4-FFF2-40B4-BE49-F238E27FC236}">
                <a16:creationId xmlns:a16="http://schemas.microsoft.com/office/drawing/2014/main" id="{EB4F6664-172E-40F3-958E-ED6548518F6A}"/>
              </a:ext>
            </a:extLst>
          </p:cNvPr>
          <p:cNvSpPr>
            <a:spLocks noGrp="1"/>
          </p:cNvSpPr>
          <p:nvPr>
            <p:ph type="body" sz="quarter" idx="17" hasCustomPrompt="1"/>
          </p:nvPr>
        </p:nvSpPr>
        <p:spPr>
          <a:xfrm>
            <a:off x="5209309" y="2029617"/>
            <a:ext cx="2059709" cy="1230819"/>
          </a:xfrm>
          <a:prstGeom prst="rect">
            <a:avLst/>
          </a:prstGeom>
        </p:spPr>
        <p:txBody>
          <a:bodyPr lIns="0" rIns="0"/>
          <a:lstStyle>
            <a:lvl1pPr marL="0" indent="0">
              <a:spcBef>
                <a:spcPts val="0"/>
              </a:spcBef>
              <a:spcAft>
                <a:spcPts val="0"/>
              </a:spcAft>
              <a:buFontTx/>
              <a:buNone/>
              <a:defRPr sz="1200" b="1" i="0">
                <a:solidFill>
                  <a:srgbClr val="007B80"/>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a:t>TEXTE SUR UNE OU PLUSIEURS LIGNES </a:t>
            </a:r>
          </a:p>
        </p:txBody>
      </p:sp>
      <p:sp>
        <p:nvSpPr>
          <p:cNvPr id="10" name="Espace réservé du texte 10">
            <a:extLst>
              <a:ext uri="{FF2B5EF4-FFF2-40B4-BE49-F238E27FC236}">
                <a16:creationId xmlns:a16="http://schemas.microsoft.com/office/drawing/2014/main" id="{9A1CAA16-D3C0-4203-B293-F2251739BE13}"/>
              </a:ext>
            </a:extLst>
          </p:cNvPr>
          <p:cNvSpPr>
            <a:spLocks noGrp="1"/>
          </p:cNvSpPr>
          <p:nvPr>
            <p:ph type="body" sz="quarter" idx="19" hasCustomPrompt="1"/>
          </p:nvPr>
        </p:nvSpPr>
        <p:spPr>
          <a:xfrm>
            <a:off x="5209309" y="3428999"/>
            <a:ext cx="2059709" cy="468745"/>
          </a:xfrm>
          <a:prstGeom prst="rect">
            <a:avLst/>
          </a:prstGeom>
        </p:spPr>
        <p:txBody>
          <a:bodyPr lIns="0" rIns="0"/>
          <a:lstStyle>
            <a:lvl1pPr marL="0" indent="0">
              <a:spcBef>
                <a:spcPts val="0"/>
              </a:spcBef>
              <a:spcAft>
                <a:spcPts val="0"/>
              </a:spcAft>
              <a:buFontTx/>
              <a:buNone/>
              <a:defRPr sz="1000" b="1" i="0">
                <a:solidFill>
                  <a:srgbClr val="7D8790"/>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a:t>Date</a:t>
            </a:r>
          </a:p>
          <a:p>
            <a:pPr lvl="0"/>
            <a:r>
              <a:rPr lang="fr-FR"/>
              <a:t> </a:t>
            </a:r>
          </a:p>
        </p:txBody>
      </p:sp>
    </p:spTree>
    <p:extLst>
      <p:ext uri="{BB962C8B-B14F-4D97-AF65-F5344CB8AC3E}">
        <p14:creationId xmlns:p14="http://schemas.microsoft.com/office/powerpoint/2010/main" val="3267151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1.1 Photo1">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AA4A7B4F-3438-4F08-A057-7D9980BF7A25}"/>
              </a:ext>
            </a:extLst>
          </p:cNvPr>
          <p:cNvSpPr>
            <a:spLocks noGrp="1"/>
          </p:cNvSpPr>
          <p:nvPr>
            <p:ph sz="quarter" idx="10" hasCustomPrompt="1"/>
          </p:nvPr>
        </p:nvSpPr>
        <p:spPr>
          <a:xfrm>
            <a:off x="669925" y="6416166"/>
            <a:ext cx="4759325" cy="230187"/>
          </a:xfrm>
          <a:prstGeom prst="rect">
            <a:avLst/>
          </a:prstGeom>
        </p:spPr>
        <p:txBody>
          <a:bodyPr/>
          <a:lstStyle>
            <a:lvl1pPr marL="0" indent="0">
              <a:buNone/>
              <a:defRPr sz="1500" cap="all" baseline="0">
                <a:solidFill>
                  <a:srgbClr val="288494"/>
                </a:solidFill>
                <a:latin typeface="Montserrat"/>
              </a:defRPr>
            </a:lvl1pPr>
          </a:lstStyle>
          <a:p>
            <a:pPr lvl="0"/>
            <a:r>
              <a:rPr lang="fr-FR"/>
              <a:t>Cliquer pour modifier le titre du document + date</a:t>
            </a:r>
          </a:p>
        </p:txBody>
      </p:sp>
    </p:spTree>
    <p:extLst>
      <p:ext uri="{BB962C8B-B14F-4D97-AF65-F5344CB8AC3E}">
        <p14:creationId xmlns:p14="http://schemas.microsoft.com/office/powerpoint/2010/main" val="1003383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1.1 Photo1">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AA4A7B4F-3438-4F08-A057-7D9980BF7A25}"/>
              </a:ext>
            </a:extLst>
          </p:cNvPr>
          <p:cNvSpPr>
            <a:spLocks noGrp="1"/>
          </p:cNvSpPr>
          <p:nvPr>
            <p:ph sz="quarter" idx="10" hasCustomPrompt="1"/>
          </p:nvPr>
        </p:nvSpPr>
        <p:spPr>
          <a:xfrm>
            <a:off x="669925" y="6416166"/>
            <a:ext cx="4759325" cy="230187"/>
          </a:xfrm>
          <a:prstGeom prst="rect">
            <a:avLst/>
          </a:prstGeom>
        </p:spPr>
        <p:txBody>
          <a:bodyPr/>
          <a:lstStyle>
            <a:lvl1pPr marL="0" indent="0">
              <a:buNone/>
              <a:defRPr sz="1500" cap="all" baseline="0">
                <a:solidFill>
                  <a:srgbClr val="288494"/>
                </a:solidFill>
                <a:latin typeface="Montserrat"/>
              </a:defRPr>
            </a:lvl1pPr>
          </a:lstStyle>
          <a:p>
            <a:pPr lvl="0"/>
            <a:r>
              <a:rPr lang="fr-FR"/>
              <a:t>Cliquer pour modifier le titre du document + date</a:t>
            </a:r>
          </a:p>
        </p:txBody>
      </p:sp>
      <p:pic>
        <p:nvPicPr>
          <p:cNvPr id="3" name="Image 2" descr="Une image contenant personne, intérieur, cuisine&#10;&#10;Description générée automatiquement">
            <a:extLst>
              <a:ext uri="{FF2B5EF4-FFF2-40B4-BE49-F238E27FC236}">
                <a16:creationId xmlns:a16="http://schemas.microsoft.com/office/drawing/2014/main" id="{6315B33C-7102-4FAA-A822-F28C71EF63BB}"/>
              </a:ext>
            </a:extLst>
          </p:cNvPr>
          <p:cNvPicPr>
            <a:picLocks noChangeAspect="1"/>
          </p:cNvPicPr>
          <p:nvPr/>
        </p:nvPicPr>
        <p:blipFill rotWithShape="1">
          <a:blip r:embed="rId2"/>
          <a:srcRect l="687" b="539"/>
          <a:stretch/>
        </p:blipFill>
        <p:spPr>
          <a:xfrm>
            <a:off x="757382" y="239355"/>
            <a:ext cx="11439816" cy="6176811"/>
          </a:xfrm>
          <a:prstGeom prst="rect">
            <a:avLst/>
          </a:prstGeom>
        </p:spPr>
      </p:pic>
    </p:spTree>
    <p:extLst>
      <p:ext uri="{BB962C8B-B14F-4D97-AF65-F5344CB8AC3E}">
        <p14:creationId xmlns:p14="http://schemas.microsoft.com/office/powerpoint/2010/main" val="28223533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image" Target="../media/image4.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Image 4" descr="Une image contenant texte, clipart&#10;&#10;Description générée automatiquement">
            <a:extLst>
              <a:ext uri="{FF2B5EF4-FFF2-40B4-BE49-F238E27FC236}">
                <a16:creationId xmlns:a16="http://schemas.microsoft.com/office/drawing/2014/main" id="{64F429DF-6382-49B1-9055-56B60B058CC9}"/>
              </a:ext>
            </a:extLst>
          </p:cNvPr>
          <p:cNvPicPr>
            <a:picLocks noChangeAspect="1"/>
          </p:cNvPicPr>
          <p:nvPr/>
        </p:nvPicPr>
        <p:blipFill>
          <a:blip r:embed="rId6"/>
          <a:stretch>
            <a:fillRect/>
          </a:stretch>
        </p:blipFill>
        <p:spPr>
          <a:xfrm>
            <a:off x="10303492" y="5958037"/>
            <a:ext cx="1390472" cy="435008"/>
          </a:xfrm>
          <a:prstGeom prst="rect">
            <a:avLst/>
          </a:prstGeom>
        </p:spPr>
      </p:pic>
      <p:pic>
        <p:nvPicPr>
          <p:cNvPr id="4" name="Image 3">
            <a:extLst>
              <a:ext uri="{FF2B5EF4-FFF2-40B4-BE49-F238E27FC236}">
                <a16:creationId xmlns:a16="http://schemas.microsoft.com/office/drawing/2014/main" id="{A59E2912-B5C1-4EF5-A904-AAF644CF88D7}"/>
              </a:ext>
            </a:extLst>
          </p:cNvPr>
          <p:cNvPicPr>
            <a:picLocks noChangeAspect="1"/>
          </p:cNvPicPr>
          <p:nvPr/>
        </p:nvPicPr>
        <p:blipFill>
          <a:blip r:embed="rId7"/>
          <a:stretch>
            <a:fillRect/>
          </a:stretch>
        </p:blipFill>
        <p:spPr>
          <a:xfrm>
            <a:off x="473948" y="0"/>
            <a:ext cx="1945127" cy="6592824"/>
          </a:xfrm>
          <a:prstGeom prst="rect">
            <a:avLst/>
          </a:prstGeom>
        </p:spPr>
      </p:pic>
    </p:spTree>
    <p:extLst>
      <p:ext uri="{BB962C8B-B14F-4D97-AF65-F5344CB8AC3E}">
        <p14:creationId xmlns:p14="http://schemas.microsoft.com/office/powerpoint/2010/main" val="1008429683"/>
      </p:ext>
    </p:extLst>
  </p:cSld>
  <p:clrMap bg1="lt1" tx1="dk1" bg2="lt2" tx2="dk2" accent1="accent1" accent2="accent2" accent3="accent3" accent4="accent4" accent5="accent5" accent6="accent6" hlink="hlink" folHlink="folHlink"/>
  <p:sldLayoutIdLst>
    <p:sldLayoutId id="2147483678" r:id="rId1"/>
    <p:sldLayoutId id="2147483720" r:id="rId2"/>
    <p:sldLayoutId id="2147483679" r:id="rId3"/>
    <p:sldLayoutId id="214748371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3D83A37C-B7FA-473B-9146-E1E9061B523C}"/>
              </a:ext>
            </a:extLst>
          </p:cNvPr>
          <p:cNvPicPr>
            <a:picLocks noChangeAspect="1"/>
          </p:cNvPicPr>
          <p:nvPr/>
        </p:nvPicPr>
        <p:blipFill>
          <a:blip r:embed="rId7"/>
          <a:stretch>
            <a:fillRect/>
          </a:stretch>
        </p:blipFill>
        <p:spPr>
          <a:xfrm>
            <a:off x="0" y="0"/>
            <a:ext cx="863600" cy="6644640"/>
          </a:xfrm>
          <a:prstGeom prst="rect">
            <a:avLst/>
          </a:prstGeom>
        </p:spPr>
      </p:pic>
      <p:sp>
        <p:nvSpPr>
          <p:cNvPr id="6" name="Espace réservé du numéro de diapositive 6">
            <a:extLst>
              <a:ext uri="{FF2B5EF4-FFF2-40B4-BE49-F238E27FC236}">
                <a16:creationId xmlns:a16="http://schemas.microsoft.com/office/drawing/2014/main" id="{516D163E-05D1-4EB9-82C4-B297DEA30976}"/>
              </a:ext>
            </a:extLst>
          </p:cNvPr>
          <p:cNvSpPr txBox="1">
            <a:spLocks/>
          </p:cNvSpPr>
          <p:nvPr/>
        </p:nvSpPr>
        <p:spPr>
          <a:xfrm>
            <a:off x="9008533" y="6426155"/>
            <a:ext cx="2960865" cy="365125"/>
          </a:xfrm>
          <a:prstGeom prst="rect">
            <a:avLst/>
          </a:prstGeom>
        </p:spPr>
        <p:txBody>
          <a:bodyPr vert="horz" lIns="91440" tIns="45720" rIns="91440" bIns="45720" rtlCol="0" anchor="b"/>
          <a:lstStyle>
            <a:defPPr>
              <a:defRPr lang="fr-FR"/>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C9AD9AF-5BF8-DF45-AA8D-09654B44B213}" type="slidenum">
              <a:rPr lang="fr-FR" sz="800" smtClean="0">
                <a:solidFill>
                  <a:schemeClr val="bg1"/>
                </a:solidFill>
              </a:rPr>
              <a:pPr/>
              <a:t>‹N°›</a:t>
            </a:fld>
            <a:endParaRPr lang="fr-FR" sz="800">
              <a:solidFill>
                <a:schemeClr val="bg1"/>
              </a:solidFill>
            </a:endParaRPr>
          </a:p>
        </p:txBody>
      </p:sp>
      <p:sp>
        <p:nvSpPr>
          <p:cNvPr id="7" name="Espace réservé du texte 5">
            <a:extLst>
              <a:ext uri="{FF2B5EF4-FFF2-40B4-BE49-F238E27FC236}">
                <a16:creationId xmlns:a16="http://schemas.microsoft.com/office/drawing/2014/main" id="{7FF8D6CB-B41A-4398-B35E-9FA2A5E7378F}"/>
              </a:ext>
            </a:extLst>
          </p:cNvPr>
          <p:cNvSpPr txBox="1">
            <a:spLocks/>
          </p:cNvSpPr>
          <p:nvPr/>
        </p:nvSpPr>
        <p:spPr>
          <a:xfrm>
            <a:off x="-129208" y="6418655"/>
            <a:ext cx="455117" cy="225985"/>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a:p>
        </p:txBody>
      </p:sp>
      <p:sp>
        <p:nvSpPr>
          <p:cNvPr id="9" name="Espace réservé du texte 3">
            <a:extLst>
              <a:ext uri="{FF2B5EF4-FFF2-40B4-BE49-F238E27FC236}">
                <a16:creationId xmlns:a16="http://schemas.microsoft.com/office/drawing/2014/main" id="{CCC935A5-CEDF-45C3-8F90-37B5399BCB91}"/>
              </a:ext>
            </a:extLst>
          </p:cNvPr>
          <p:cNvSpPr txBox="1">
            <a:spLocks/>
          </p:cNvSpPr>
          <p:nvPr/>
        </p:nvSpPr>
        <p:spPr>
          <a:xfrm>
            <a:off x="596013" y="6430728"/>
            <a:ext cx="5908696" cy="27725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a:t>APPARIEMENTS SUR LE MARCHE DU TRAVAIL ET RUPTURES CONVENTIONNELLES</a:t>
            </a:r>
          </a:p>
        </p:txBody>
      </p:sp>
      <p:pic>
        <p:nvPicPr>
          <p:cNvPr id="8" name="Image 7">
            <a:extLst>
              <a:ext uri="{FF2B5EF4-FFF2-40B4-BE49-F238E27FC236}">
                <a16:creationId xmlns:a16="http://schemas.microsoft.com/office/drawing/2014/main" id="{C1C86AAC-1462-447B-AF1B-448A6DBA5607}"/>
              </a:ext>
            </a:extLst>
          </p:cNvPr>
          <p:cNvPicPr>
            <a:picLocks noChangeAspect="1"/>
          </p:cNvPicPr>
          <p:nvPr/>
        </p:nvPicPr>
        <p:blipFill>
          <a:blip r:embed="rId8"/>
          <a:stretch>
            <a:fillRect/>
          </a:stretch>
        </p:blipFill>
        <p:spPr>
          <a:xfrm>
            <a:off x="10794911" y="6331436"/>
            <a:ext cx="801076" cy="277256"/>
          </a:xfrm>
          <a:prstGeom prst="rect">
            <a:avLst/>
          </a:prstGeom>
        </p:spPr>
      </p:pic>
    </p:spTree>
    <p:extLst>
      <p:ext uri="{BB962C8B-B14F-4D97-AF65-F5344CB8AC3E}">
        <p14:creationId xmlns:p14="http://schemas.microsoft.com/office/powerpoint/2010/main" val="947577500"/>
      </p:ext>
    </p:extLst>
  </p:cSld>
  <p:clrMap bg1="lt1" tx1="dk1" bg2="lt2" tx2="dk2" accent1="accent1" accent2="accent2" accent3="accent3" accent4="accent4" accent5="accent5" accent6="accent6" hlink="hlink" folHlink="folHlink"/>
  <p:sldLayoutIdLst>
    <p:sldLayoutId id="2147483688" r:id="rId1"/>
    <p:sldLayoutId id="2147483693" r:id="rId2"/>
    <p:sldLayoutId id="2147483715" r:id="rId3"/>
    <p:sldLayoutId id="2147483712" r:id="rId4"/>
    <p:sldLayoutId id="214748371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49" name="Image 6">
            <a:extLst>
              <a:ext uri="{FF2B5EF4-FFF2-40B4-BE49-F238E27FC236}">
                <a16:creationId xmlns:a16="http://schemas.microsoft.com/office/drawing/2014/main" id="{564D14E1-C67F-4B45-979A-D17188B0EC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28018"/>
            <a:ext cx="2743200" cy="300196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90D57099-274D-4043-A811-C506D471195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9" name="Rectangle 5">
            <a:extLst>
              <a:ext uri="{FF2B5EF4-FFF2-40B4-BE49-F238E27FC236}">
                <a16:creationId xmlns:a16="http://schemas.microsoft.com/office/drawing/2014/main" id="{F203C0E7-B220-4404-88A2-F64B54B9C0D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6">
            <a:extLst>
              <a:ext uri="{FF2B5EF4-FFF2-40B4-BE49-F238E27FC236}">
                <a16:creationId xmlns:a16="http://schemas.microsoft.com/office/drawing/2014/main" id="{9BC93307-3C0A-4E14-9339-7E40321C297B}"/>
              </a:ext>
            </a:extLst>
          </p:cNvPr>
          <p:cNvSpPr>
            <a:spLocks noChangeArrowheads="1"/>
          </p:cNvSpPr>
          <p:nvPr/>
        </p:nvSpPr>
        <p:spPr bwMode="auto">
          <a:xfrm>
            <a:off x="0" y="3459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587004048"/>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201DE24A-92A0-4D19-92BD-8E2BFD7EE667}"/>
              </a:ext>
            </a:extLst>
          </p:cNvPr>
          <p:cNvPicPr>
            <a:picLocks noChangeAspect="1"/>
          </p:cNvPicPr>
          <p:nvPr/>
        </p:nvPicPr>
        <p:blipFill>
          <a:blip r:embed="rId4"/>
          <a:stretch>
            <a:fillRect/>
          </a:stretch>
        </p:blipFill>
        <p:spPr>
          <a:xfrm>
            <a:off x="0" y="0"/>
            <a:ext cx="863600" cy="6644640"/>
          </a:xfrm>
          <a:prstGeom prst="rect">
            <a:avLst/>
          </a:prstGeom>
        </p:spPr>
      </p:pic>
    </p:spTree>
    <p:extLst>
      <p:ext uri="{BB962C8B-B14F-4D97-AF65-F5344CB8AC3E}">
        <p14:creationId xmlns:p14="http://schemas.microsoft.com/office/powerpoint/2010/main" val="36558310"/>
      </p:ext>
    </p:extLst>
  </p:cSld>
  <p:clrMap bg1="lt1" tx1="dk1" bg2="lt2" tx2="dk2" accent1="accent1" accent2="accent2" accent3="accent3" accent4="accent4" accent5="accent5" accent6="accent6" hlink="hlink" folHlink="folHlink"/>
  <p:sldLayoutIdLst>
    <p:sldLayoutId id="2147483719" r:id="rId1"/>
    <p:sldLayoutId id="214748372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microsoft.com/office/2018/10/relationships/comments" Target="../comments/modernComment_10F_7D45DB35.xml"/><Relationship Id="rId1" Type="http://schemas.openxmlformats.org/officeDocument/2006/relationships/slideLayout" Target="../slideLayouts/slideLayout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02_B64F71B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sv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svg"/><Relationship Id="rId2"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image" Target="../media/image39.svg"/><Relationship Id="rId5" Type="http://schemas.openxmlformats.org/officeDocument/2006/relationships/image" Target="../media/image38.svg"/><Relationship Id="rId10" Type="http://schemas.openxmlformats.org/officeDocument/2006/relationships/image" Target="../media/image29.svg"/><Relationship Id="rId4" Type="http://schemas.openxmlformats.org/officeDocument/2006/relationships/image" Target="../media/image37.svg"/><Relationship Id="rId9" Type="http://schemas.openxmlformats.org/officeDocument/2006/relationships/image" Target="../media/image30.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svg"/><Relationship Id="rId1" Type="http://schemas.openxmlformats.org/officeDocument/2006/relationships/slideLayout" Target="../slideLayouts/slideLayout6.xml"/><Relationship Id="rId6" Type="http://schemas.openxmlformats.org/officeDocument/2006/relationships/image" Target="../media/image47.svg"/><Relationship Id="rId11" Type="http://schemas.openxmlformats.org/officeDocument/2006/relationships/image" Target="../media/image50.svg"/><Relationship Id="rId5" Type="http://schemas.openxmlformats.org/officeDocument/2006/relationships/image" Target="../media/image46.svg"/><Relationship Id="rId10" Type="http://schemas.openxmlformats.org/officeDocument/2006/relationships/image" Target="../media/image49.svg"/><Relationship Id="rId4" Type="http://schemas.openxmlformats.org/officeDocument/2006/relationships/image" Target="../media/image45.svg"/><Relationship Id="rId9" Type="http://schemas.openxmlformats.org/officeDocument/2006/relationships/image" Target="../media/image41.sv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3.svg"/><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3.svg"/><Relationship Id="rId1" Type="http://schemas.openxmlformats.org/officeDocument/2006/relationships/slideLayout" Target="../slideLayouts/slideLayout6.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D058EDC-C932-4F07-7D17-8F9979A979B0}"/>
              </a:ext>
            </a:extLst>
          </p:cNvPr>
          <p:cNvSpPr>
            <a:spLocks noGrp="1"/>
          </p:cNvSpPr>
          <p:nvPr>
            <p:ph type="body" sz="quarter" idx="12"/>
          </p:nvPr>
        </p:nvSpPr>
        <p:spPr/>
        <p:txBody>
          <a:bodyPr/>
          <a:lstStyle/>
          <a:p>
            <a:r>
              <a:rPr lang="fr-FR">
                <a:highlight>
                  <a:srgbClr val="FFFF00"/>
                </a:highlight>
              </a:rPr>
              <a:t>APPARIEMENTS SUR LE MARCHé DU TRAVAIL ET RUPTURES CONVENTIONNELLES</a:t>
            </a:r>
          </a:p>
        </p:txBody>
      </p:sp>
      <p:sp>
        <p:nvSpPr>
          <p:cNvPr id="5" name="Espace réservé du texte 4">
            <a:extLst>
              <a:ext uri="{FF2B5EF4-FFF2-40B4-BE49-F238E27FC236}">
                <a16:creationId xmlns:a16="http://schemas.microsoft.com/office/drawing/2014/main" id="{44C17BBC-C7EE-1C08-C35E-D8E5A69B6676}"/>
              </a:ext>
            </a:extLst>
          </p:cNvPr>
          <p:cNvSpPr>
            <a:spLocks noGrp="1"/>
          </p:cNvSpPr>
          <p:nvPr>
            <p:ph type="body" sz="quarter" idx="11"/>
          </p:nvPr>
        </p:nvSpPr>
        <p:spPr/>
        <p:txBody>
          <a:bodyPr/>
          <a:lstStyle/>
          <a:p>
            <a:r>
              <a:rPr lang="fr-FR"/>
              <a:t>TRAVAUX DE STAGE (JUIN 2025 – SEPTEMBRE 2025) </a:t>
            </a:r>
          </a:p>
        </p:txBody>
      </p:sp>
    </p:spTree>
    <p:extLst>
      <p:ext uri="{BB962C8B-B14F-4D97-AF65-F5344CB8AC3E}">
        <p14:creationId xmlns:p14="http://schemas.microsoft.com/office/powerpoint/2010/main" val="1466619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CC825-B4CF-8BC0-4F8B-02E7632E5F7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4705CE1-57A7-69FE-D714-4490601B3CD2}"/>
              </a:ext>
            </a:extLst>
          </p:cNvPr>
          <p:cNvSpPr>
            <a:spLocks noGrp="1"/>
          </p:cNvSpPr>
          <p:nvPr>
            <p:ph type="body" sz="quarter" idx="15"/>
          </p:nvPr>
        </p:nvSpPr>
        <p:spPr>
          <a:xfrm>
            <a:off x="3668937" y="81375"/>
            <a:ext cx="8061749" cy="199465"/>
          </a:xfrm>
        </p:spPr>
        <p:txBody>
          <a:bodyPr/>
          <a:lstStyle/>
          <a:p>
            <a:r>
              <a:rPr lang="fr-FR"/>
              <a:t>APPARIEMENTS SUR LE MARCHé DU TRAVAIL ET RUPTURES CONVENTIONNELLES</a:t>
            </a:r>
          </a:p>
          <a:p>
            <a:endParaRPr lang="fr-FR"/>
          </a:p>
        </p:txBody>
      </p:sp>
      <p:sp>
        <p:nvSpPr>
          <p:cNvPr id="16" name="Espace réservé du texte 3">
            <a:extLst>
              <a:ext uri="{FF2B5EF4-FFF2-40B4-BE49-F238E27FC236}">
                <a16:creationId xmlns:a16="http://schemas.microsoft.com/office/drawing/2014/main" id="{F59D043A-F154-3394-01DE-20BD6AE7CECB}"/>
              </a:ext>
            </a:extLst>
          </p:cNvPr>
          <p:cNvSpPr>
            <a:spLocks noGrp="1"/>
          </p:cNvSpPr>
          <p:nvPr>
            <p:ph type="body" sz="quarter" idx="17"/>
          </p:nvPr>
        </p:nvSpPr>
        <p:spPr>
          <a:xfrm>
            <a:off x="888522" y="333842"/>
            <a:ext cx="10176000" cy="292870"/>
          </a:xfrm>
        </p:spPr>
        <p:txBody>
          <a:bodyPr/>
          <a:lstStyle/>
          <a:p>
            <a:r>
              <a:rPr lang="fr-FR"/>
              <a:t>LES RUPTURES CONVENTIONNELLES DANS LE DÉBAT PUBLIC</a:t>
            </a:r>
          </a:p>
        </p:txBody>
      </p:sp>
      <p:sp>
        <p:nvSpPr>
          <p:cNvPr id="18" name="Espace réservé du texte 4">
            <a:extLst>
              <a:ext uri="{FF2B5EF4-FFF2-40B4-BE49-F238E27FC236}">
                <a16:creationId xmlns:a16="http://schemas.microsoft.com/office/drawing/2014/main" id="{8362BA61-379D-9517-362A-BFD2C701CBC0}"/>
              </a:ext>
            </a:extLst>
          </p:cNvPr>
          <p:cNvSpPr>
            <a:spLocks noGrp="1"/>
          </p:cNvSpPr>
          <p:nvPr>
            <p:ph type="body" sz="quarter" idx="18"/>
          </p:nvPr>
        </p:nvSpPr>
        <p:spPr>
          <a:xfrm>
            <a:off x="831225" y="633952"/>
            <a:ext cx="10985372" cy="432000"/>
          </a:xfrm>
        </p:spPr>
        <p:txBody>
          <a:bodyPr/>
          <a:lstStyle/>
          <a:p>
            <a:r>
              <a:rPr lang="fr-FR">
                <a:solidFill>
                  <a:schemeClr val="accent3"/>
                </a:solidFill>
                <a:highlight>
                  <a:srgbClr val="FFFF00"/>
                </a:highlight>
              </a:rPr>
              <a:t>« Un retour à l’emploi plus lent » :  un chiffre repris partout, une lecture à interroger</a:t>
            </a:r>
          </a:p>
          <a:p>
            <a:endParaRPr lang="fr-FR"/>
          </a:p>
        </p:txBody>
      </p:sp>
      <p:sp>
        <p:nvSpPr>
          <p:cNvPr id="3" name="Espace réservé du texte 2">
            <a:extLst>
              <a:ext uri="{FF2B5EF4-FFF2-40B4-BE49-F238E27FC236}">
                <a16:creationId xmlns:a16="http://schemas.microsoft.com/office/drawing/2014/main" id="{DD9030DD-B2C9-98CF-64AD-0E06308A683A}"/>
              </a:ext>
            </a:extLst>
          </p:cNvPr>
          <p:cNvSpPr>
            <a:spLocks noGrp="1"/>
          </p:cNvSpPr>
          <p:nvPr>
            <p:ph type="body" sz="quarter" idx="16"/>
          </p:nvPr>
        </p:nvSpPr>
        <p:spPr>
          <a:xfrm>
            <a:off x="831225" y="1161388"/>
            <a:ext cx="5145297" cy="5227802"/>
          </a:xfrm>
          <a:solidFill>
            <a:srgbClr val="E8F2E0"/>
          </a:solidFill>
          <a:ln>
            <a:solidFill>
              <a:srgbClr val="FFFFFF"/>
            </a:solidFill>
          </a:ln>
        </p:spPr>
        <p:txBody>
          <a:bodyPr/>
          <a:lstStyle/>
          <a:p>
            <a:r>
              <a:rPr lang="fr-FR" b="0"/>
              <a:t>​</a:t>
            </a:r>
            <a:br>
              <a:rPr lang="fr-FR"/>
            </a:br>
            <a:endParaRPr lang="fr-FR">
              <a:solidFill>
                <a:srgbClr val="E8F2E0"/>
              </a:solidFill>
            </a:endParaRPr>
          </a:p>
        </p:txBody>
      </p:sp>
      <p:grpSp>
        <p:nvGrpSpPr>
          <p:cNvPr id="23" name="Groupe 22">
            <a:extLst>
              <a:ext uri="{FF2B5EF4-FFF2-40B4-BE49-F238E27FC236}">
                <a16:creationId xmlns:a16="http://schemas.microsoft.com/office/drawing/2014/main" id="{2435C784-37E1-DC18-FAD0-2326782F5B0F}"/>
              </a:ext>
            </a:extLst>
          </p:cNvPr>
          <p:cNvGrpSpPr/>
          <p:nvPr/>
        </p:nvGrpSpPr>
        <p:grpSpPr>
          <a:xfrm>
            <a:off x="1060591" y="1765140"/>
            <a:ext cx="4903395" cy="2962794"/>
            <a:chOff x="1175657" y="2124433"/>
            <a:chExt cx="4903395" cy="2962794"/>
          </a:xfrm>
        </p:grpSpPr>
        <p:sp>
          <p:nvSpPr>
            <p:cNvPr id="21" name="Rectangle 20">
              <a:extLst>
                <a:ext uri="{FF2B5EF4-FFF2-40B4-BE49-F238E27FC236}">
                  <a16:creationId xmlns:a16="http://schemas.microsoft.com/office/drawing/2014/main" id="{431D7696-8C05-86EF-05E2-A2D8C358B1BD}"/>
                </a:ext>
              </a:extLst>
            </p:cNvPr>
            <p:cNvSpPr/>
            <p:nvPr/>
          </p:nvSpPr>
          <p:spPr>
            <a:xfrm>
              <a:off x="1175657" y="2124433"/>
              <a:ext cx="4771381" cy="2962794"/>
            </a:xfrm>
            <a:prstGeom prst="rect">
              <a:avLst/>
            </a:prstGeom>
            <a:solidFill>
              <a:schemeClr val="bg1"/>
            </a:solidFill>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grpSp>
          <p:nvGrpSpPr>
            <p:cNvPr id="17" name="Groupe 16">
              <a:extLst>
                <a:ext uri="{FF2B5EF4-FFF2-40B4-BE49-F238E27FC236}">
                  <a16:creationId xmlns:a16="http://schemas.microsoft.com/office/drawing/2014/main" id="{2AAC2E93-14DD-B385-8A61-53079078BE9E}"/>
                </a:ext>
              </a:extLst>
            </p:cNvPr>
            <p:cNvGrpSpPr/>
            <p:nvPr/>
          </p:nvGrpSpPr>
          <p:grpSpPr>
            <a:xfrm>
              <a:off x="1258822" y="2265384"/>
              <a:ext cx="4820230" cy="2152223"/>
              <a:chOff x="1251107" y="2125852"/>
              <a:chExt cx="4820230" cy="2152223"/>
            </a:xfrm>
          </p:grpSpPr>
          <p:pic>
            <p:nvPicPr>
              <p:cNvPr id="22" name="Image 21">
                <a:extLst>
                  <a:ext uri="{FF2B5EF4-FFF2-40B4-BE49-F238E27FC236}">
                    <a16:creationId xmlns:a16="http://schemas.microsoft.com/office/drawing/2014/main" id="{D6590371-49CA-B8EB-C23B-55B128320630}"/>
                  </a:ext>
                </a:extLst>
              </p:cNvPr>
              <p:cNvPicPr>
                <a:picLocks noChangeAspect="1"/>
              </p:cNvPicPr>
              <p:nvPr/>
            </p:nvPicPr>
            <p:blipFill>
              <a:blip r:embed="rId3"/>
              <a:stretch>
                <a:fillRect/>
              </a:stretch>
            </p:blipFill>
            <p:spPr>
              <a:xfrm>
                <a:off x="2539056" y="3033868"/>
                <a:ext cx="3227807" cy="630942"/>
              </a:xfrm>
              <a:prstGeom prst="rect">
                <a:avLst/>
              </a:prstGeom>
            </p:spPr>
          </p:pic>
          <p:pic>
            <p:nvPicPr>
              <p:cNvPr id="6" name="Image 5">
                <a:extLst>
                  <a:ext uri="{FF2B5EF4-FFF2-40B4-BE49-F238E27FC236}">
                    <a16:creationId xmlns:a16="http://schemas.microsoft.com/office/drawing/2014/main" id="{A3BB6922-72C4-2A05-DA72-511D9E1AAFD6}"/>
                  </a:ext>
                </a:extLst>
              </p:cNvPr>
              <p:cNvPicPr>
                <a:picLocks noChangeAspect="1"/>
              </p:cNvPicPr>
              <p:nvPr/>
            </p:nvPicPr>
            <p:blipFill>
              <a:blip r:embed="rId4"/>
              <a:stretch>
                <a:fillRect/>
              </a:stretch>
            </p:blipFill>
            <p:spPr>
              <a:xfrm>
                <a:off x="1251107" y="3720862"/>
                <a:ext cx="3341330" cy="478710"/>
              </a:xfrm>
              <a:prstGeom prst="rect">
                <a:avLst/>
              </a:prstGeom>
            </p:spPr>
          </p:pic>
          <p:pic>
            <p:nvPicPr>
              <p:cNvPr id="8" name="Image 7">
                <a:extLst>
                  <a:ext uri="{FF2B5EF4-FFF2-40B4-BE49-F238E27FC236}">
                    <a16:creationId xmlns:a16="http://schemas.microsoft.com/office/drawing/2014/main" id="{7665F358-21FB-168E-61A0-E87A834044AD}"/>
                  </a:ext>
                </a:extLst>
              </p:cNvPr>
              <p:cNvPicPr>
                <a:picLocks noChangeAspect="1"/>
              </p:cNvPicPr>
              <p:nvPr/>
            </p:nvPicPr>
            <p:blipFill>
              <a:blip r:embed="rId5"/>
              <a:stretch>
                <a:fillRect/>
              </a:stretch>
            </p:blipFill>
            <p:spPr>
              <a:xfrm>
                <a:off x="4857461" y="3820094"/>
                <a:ext cx="909402" cy="218044"/>
              </a:xfrm>
              <a:prstGeom prst="rect">
                <a:avLst/>
              </a:prstGeom>
            </p:spPr>
          </p:pic>
          <p:sp>
            <p:nvSpPr>
              <p:cNvPr id="10" name="ZoneTexte 9">
                <a:extLst>
                  <a:ext uri="{FF2B5EF4-FFF2-40B4-BE49-F238E27FC236}">
                    <a16:creationId xmlns:a16="http://schemas.microsoft.com/office/drawing/2014/main" id="{734AE574-3C9D-4B7A-447F-45F45D4A73E8}"/>
                  </a:ext>
                </a:extLst>
              </p:cNvPr>
              <p:cNvSpPr txBox="1"/>
              <p:nvPr/>
            </p:nvSpPr>
            <p:spPr>
              <a:xfrm>
                <a:off x="4813498" y="4062631"/>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22/07/2025</a:t>
                </a:r>
              </a:p>
            </p:txBody>
          </p:sp>
          <p:pic>
            <p:nvPicPr>
              <p:cNvPr id="12" name="Image 11">
                <a:extLst>
                  <a:ext uri="{FF2B5EF4-FFF2-40B4-BE49-F238E27FC236}">
                    <a16:creationId xmlns:a16="http://schemas.microsoft.com/office/drawing/2014/main" id="{07481C60-8CE3-1F82-0F9C-CC86AD3CF713}"/>
                  </a:ext>
                </a:extLst>
              </p:cNvPr>
              <p:cNvPicPr>
                <a:picLocks noChangeAspect="1"/>
              </p:cNvPicPr>
              <p:nvPr/>
            </p:nvPicPr>
            <p:blipFill>
              <a:blip r:embed="rId6"/>
              <a:stretch>
                <a:fillRect/>
              </a:stretch>
            </p:blipFill>
            <p:spPr>
              <a:xfrm>
                <a:off x="1317894" y="3151390"/>
                <a:ext cx="1022112" cy="268978"/>
              </a:xfrm>
              <a:prstGeom prst="rect">
                <a:avLst/>
              </a:prstGeom>
            </p:spPr>
          </p:pic>
          <p:sp>
            <p:nvSpPr>
              <p:cNvPr id="14" name="ZoneTexte 13">
                <a:extLst>
                  <a:ext uri="{FF2B5EF4-FFF2-40B4-BE49-F238E27FC236}">
                    <a16:creationId xmlns:a16="http://schemas.microsoft.com/office/drawing/2014/main" id="{2547A34B-3095-AF9B-CD8B-3BFA91B43CE5}"/>
                  </a:ext>
                </a:extLst>
              </p:cNvPr>
              <p:cNvSpPr txBox="1"/>
              <p:nvPr/>
            </p:nvSpPr>
            <p:spPr>
              <a:xfrm>
                <a:off x="1317894" y="3421305"/>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16/07/2026</a:t>
                </a:r>
              </a:p>
            </p:txBody>
          </p:sp>
          <p:pic>
            <p:nvPicPr>
              <p:cNvPr id="7" name="Image 6">
                <a:extLst>
                  <a:ext uri="{FF2B5EF4-FFF2-40B4-BE49-F238E27FC236}">
                    <a16:creationId xmlns:a16="http://schemas.microsoft.com/office/drawing/2014/main" id="{D61C9E2E-3E24-0B67-3335-3789A1B1426F}"/>
                  </a:ext>
                </a:extLst>
              </p:cNvPr>
              <p:cNvPicPr>
                <a:picLocks noChangeAspect="1"/>
              </p:cNvPicPr>
              <p:nvPr/>
            </p:nvPicPr>
            <p:blipFill>
              <a:blip r:embed="rId7"/>
              <a:stretch>
                <a:fillRect/>
              </a:stretch>
            </p:blipFill>
            <p:spPr>
              <a:xfrm>
                <a:off x="1251107" y="2125852"/>
                <a:ext cx="3227808" cy="725044"/>
              </a:xfrm>
              <a:prstGeom prst="rect">
                <a:avLst/>
              </a:prstGeom>
            </p:spPr>
          </p:pic>
          <p:pic>
            <p:nvPicPr>
              <p:cNvPr id="11" name="Image 10">
                <a:extLst>
                  <a:ext uri="{FF2B5EF4-FFF2-40B4-BE49-F238E27FC236}">
                    <a16:creationId xmlns:a16="http://schemas.microsoft.com/office/drawing/2014/main" id="{13B4229F-78D6-1AC2-95DA-F775C058C83E}"/>
                  </a:ext>
                </a:extLst>
              </p:cNvPr>
              <p:cNvPicPr>
                <a:picLocks noChangeAspect="1"/>
              </p:cNvPicPr>
              <p:nvPr/>
            </p:nvPicPr>
            <p:blipFill>
              <a:blip r:embed="rId8"/>
              <a:stretch>
                <a:fillRect/>
              </a:stretch>
            </p:blipFill>
            <p:spPr>
              <a:xfrm>
                <a:off x="4592437" y="2308436"/>
                <a:ext cx="1214528" cy="337143"/>
              </a:xfrm>
              <a:prstGeom prst="rect">
                <a:avLst/>
              </a:prstGeom>
            </p:spPr>
          </p:pic>
          <p:sp>
            <p:nvSpPr>
              <p:cNvPr id="15" name="ZoneTexte 14">
                <a:extLst>
                  <a:ext uri="{FF2B5EF4-FFF2-40B4-BE49-F238E27FC236}">
                    <a16:creationId xmlns:a16="http://schemas.microsoft.com/office/drawing/2014/main" id="{3DBD61C4-A13D-8B7E-1E88-39903204B329}"/>
                  </a:ext>
                </a:extLst>
              </p:cNvPr>
              <p:cNvSpPr txBox="1"/>
              <p:nvPr/>
            </p:nvSpPr>
            <p:spPr>
              <a:xfrm>
                <a:off x="4779319" y="2701841"/>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07/11/2025</a:t>
                </a:r>
              </a:p>
            </p:txBody>
          </p:sp>
        </p:grpSp>
      </p:grpSp>
      <p:sp>
        <p:nvSpPr>
          <p:cNvPr id="25" name="ZoneTexte 24">
            <a:extLst>
              <a:ext uri="{FF2B5EF4-FFF2-40B4-BE49-F238E27FC236}">
                <a16:creationId xmlns:a16="http://schemas.microsoft.com/office/drawing/2014/main" id="{48096EAA-FF74-FDEA-53E6-9FDA95A03B59}"/>
              </a:ext>
            </a:extLst>
          </p:cNvPr>
          <p:cNvSpPr txBox="1"/>
          <p:nvPr/>
        </p:nvSpPr>
        <p:spPr>
          <a:xfrm>
            <a:off x="811619" y="4765975"/>
            <a:ext cx="5216650" cy="246221"/>
          </a:xfrm>
          <a:prstGeom prst="rect">
            <a:avLst/>
          </a:prstGeom>
          <a:noFill/>
        </p:spPr>
        <p:txBody>
          <a:bodyPr wrap="square" rtlCol="0">
            <a:spAutoFit/>
          </a:bodyPr>
          <a:lstStyle/>
          <a:p>
            <a:pPr algn="ctr"/>
            <a:r>
              <a:rPr lang="fr-FR" sz="1000" b="1" spc="-30">
                <a:solidFill>
                  <a:schemeClr val="accent3"/>
                </a:solidFill>
                <a:latin typeface="Segoe UI" panose="020B0502040204020203" pitchFamily="34" charset="0"/>
                <a:cs typeface="Segoe UI" panose="020B0502040204020203" pitchFamily="34" charset="0"/>
              </a:rPr>
              <a:t>COUVERTURE PRESSE DES RUPTURES CONVENTIONNELLES</a:t>
            </a:r>
          </a:p>
        </p:txBody>
      </p:sp>
      <p:sp>
        <p:nvSpPr>
          <p:cNvPr id="4" name="Espace réservé du texte 2">
            <a:extLst>
              <a:ext uri="{FF2B5EF4-FFF2-40B4-BE49-F238E27FC236}">
                <a16:creationId xmlns:a16="http://schemas.microsoft.com/office/drawing/2014/main" id="{E028046E-4C45-70E9-E55E-561E7E764A45}"/>
              </a:ext>
            </a:extLst>
          </p:cNvPr>
          <p:cNvSpPr txBox="1">
            <a:spLocks/>
          </p:cNvSpPr>
          <p:nvPr/>
        </p:nvSpPr>
        <p:spPr>
          <a:xfrm>
            <a:off x="1143756" y="1281491"/>
            <a:ext cx="4552379" cy="337870"/>
          </a:xfrm>
          <a:prstGeom prst="rect">
            <a:avLst/>
          </a:prstGeom>
          <a:solidFill>
            <a:srgbClr val="FFFFFF"/>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sp>
        <p:nvSpPr>
          <p:cNvPr id="35" name="Rectangle 34">
            <a:extLst>
              <a:ext uri="{FF2B5EF4-FFF2-40B4-BE49-F238E27FC236}">
                <a16:creationId xmlns:a16="http://schemas.microsoft.com/office/drawing/2014/main" id="{D419F3BF-9A00-6F69-1903-C57A4B99A66C}"/>
              </a:ext>
            </a:extLst>
          </p:cNvPr>
          <p:cNvSpPr/>
          <p:nvPr/>
        </p:nvSpPr>
        <p:spPr>
          <a:xfrm>
            <a:off x="1060590" y="5147932"/>
            <a:ext cx="4771381" cy="902138"/>
          </a:xfrm>
          <a:prstGeom prst="rect">
            <a:avLst/>
          </a:prstGeom>
          <a:ln>
            <a:prstDash val="sysDot"/>
          </a:ln>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39" name="ZoneTexte 38">
            <a:extLst>
              <a:ext uri="{FF2B5EF4-FFF2-40B4-BE49-F238E27FC236}">
                <a16:creationId xmlns:a16="http://schemas.microsoft.com/office/drawing/2014/main" id="{516B1210-6A32-793C-4C02-4721E04FB8B2}"/>
              </a:ext>
            </a:extLst>
          </p:cNvPr>
          <p:cNvSpPr txBox="1"/>
          <p:nvPr/>
        </p:nvSpPr>
        <p:spPr>
          <a:xfrm>
            <a:off x="1074827" y="5188862"/>
            <a:ext cx="4690231" cy="1200329"/>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fr-FR" sz="900">
                <a:latin typeface="Segoe UI"/>
                <a:cs typeface="Segoe UI"/>
              </a:rPr>
              <a:t>Avec 515000 signatures en 2024, les RCI représentent entre 8 et 21% des fins de CDI.</a:t>
            </a:r>
          </a:p>
          <a:p>
            <a:pPr marL="171450" indent="-171450">
              <a:buFont typeface="Arial" panose="020B0604020202020204" pitchFamily="34" charset="0"/>
              <a:buChar char="•"/>
            </a:pPr>
            <a:r>
              <a:rPr lang="fr-FR" sz="900">
                <a:latin typeface="Segoe UI" panose="020B0502040204020203" pitchFamily="34" charset="0"/>
                <a:cs typeface="Segoe UI" panose="020B0502040204020203" pitchFamily="34" charset="0"/>
              </a:rPr>
              <a:t>72% des RCI ont donné lieu à une ouverture de droits à l’ARE en 2024, représentant 26% des dépenses d’allocation (9,4 Md €) (</a:t>
            </a:r>
            <a:r>
              <a:rPr lang="fr-FR" sz="900">
                <a:highlight>
                  <a:srgbClr val="FFFF00"/>
                </a:highlight>
                <a:latin typeface="Segoe UI" panose="020B0502040204020203" pitchFamily="34" charset="0"/>
                <a:cs typeface="Segoe UI" panose="020B0502040204020203" pitchFamily="34" charset="0"/>
              </a:rPr>
              <a:t>Unédic, 2026</a:t>
            </a:r>
            <a:r>
              <a:rPr lang="fr-FR" sz="90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r>
              <a:rPr lang="fr-FR" sz="900">
                <a:latin typeface="Segoe UI" panose="020B0502040204020203" pitchFamily="34" charset="0"/>
                <a:cs typeface="Segoe UI" panose="020B0502040204020203" pitchFamily="34" charset="0"/>
              </a:rPr>
              <a:t>Dispositif volontaire</a:t>
            </a:r>
            <a:r>
              <a:rPr lang="fr-FR" sz="900" b="1">
                <a:solidFill>
                  <a:schemeClr val="accent3"/>
                </a:solidFill>
                <a:latin typeface="Segoe UI" panose="020B0502040204020203" pitchFamily="34" charset="0"/>
                <a:cs typeface="Segoe UI" panose="020B0502040204020203" pitchFamily="34" charset="0"/>
              </a:rPr>
              <a:t>*</a:t>
            </a:r>
            <a:r>
              <a:rPr lang="fr-FR" sz="900">
                <a:latin typeface="Segoe UI" panose="020B0502040204020203" pitchFamily="34" charset="0"/>
                <a:cs typeface="Segoe UI" panose="020B0502040204020203" pitchFamily="34" charset="0"/>
              </a:rPr>
              <a:t> et dépenses en hausse : les allocataires indemnisés après une RCI sont </a:t>
            </a:r>
            <a:r>
              <a:rPr lang="fr-FR" sz="900" b="1">
                <a:solidFill>
                  <a:schemeClr val="accent3"/>
                </a:solidFill>
                <a:latin typeface="Segoe UI" panose="020B0502040204020203" pitchFamily="34" charset="0"/>
                <a:cs typeface="Segoe UI" panose="020B0502040204020203" pitchFamily="34" charset="0"/>
              </a:rPr>
              <a:t>stigmatisés</a:t>
            </a:r>
            <a:r>
              <a:rPr lang="fr-FR" sz="900">
                <a:latin typeface="Segoe UI" panose="020B0502040204020203" pitchFamily="34" charset="0"/>
                <a:cs typeface="Segoe UI" panose="020B0502040204020203" pitchFamily="34" charset="0"/>
              </a:rPr>
              <a:t> dans le débat public.</a:t>
            </a:r>
          </a:p>
          <a:p>
            <a:pPr marL="171450" indent="-171450">
              <a:buFont typeface="Arial" panose="020B0604020202020204" pitchFamily="34" charset="0"/>
              <a:buChar char="•"/>
            </a:pPr>
            <a:endParaRPr lang="fr-FR" sz="900">
              <a:latin typeface="Segoe UI" panose="020B0502040204020203" pitchFamily="34" charset="0"/>
              <a:cs typeface="Segoe UI" panose="020B0502040204020203" pitchFamily="34" charset="0"/>
            </a:endParaRPr>
          </a:p>
          <a:p>
            <a:endParaRPr lang="fr-FR" sz="900">
              <a:latin typeface="Segoe UI" panose="020B0502040204020203" pitchFamily="34" charset="0"/>
              <a:cs typeface="Segoe UI" panose="020B0502040204020203" pitchFamily="34" charset="0"/>
            </a:endParaRPr>
          </a:p>
          <a:p>
            <a:endParaRPr lang="fr-FR" sz="900">
              <a:latin typeface="Segoe UI" panose="020B0502040204020203" pitchFamily="34" charset="0"/>
              <a:cs typeface="Segoe UI" panose="020B0502040204020203" pitchFamily="34" charset="0"/>
            </a:endParaRPr>
          </a:p>
        </p:txBody>
      </p:sp>
      <p:sp>
        <p:nvSpPr>
          <p:cNvPr id="40" name="Espace réservé du texte 2">
            <a:extLst>
              <a:ext uri="{FF2B5EF4-FFF2-40B4-BE49-F238E27FC236}">
                <a16:creationId xmlns:a16="http://schemas.microsoft.com/office/drawing/2014/main" id="{6DDEC6E4-DCA6-87CB-9F11-340CD7064EF6}"/>
              </a:ext>
            </a:extLst>
          </p:cNvPr>
          <p:cNvSpPr txBox="1">
            <a:spLocks/>
          </p:cNvSpPr>
          <p:nvPr/>
        </p:nvSpPr>
        <p:spPr>
          <a:xfrm>
            <a:off x="6377682" y="1162451"/>
            <a:ext cx="5145297" cy="2438945"/>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sp>
        <p:nvSpPr>
          <p:cNvPr id="42" name="ZoneTexte 41">
            <a:extLst>
              <a:ext uri="{FF2B5EF4-FFF2-40B4-BE49-F238E27FC236}">
                <a16:creationId xmlns:a16="http://schemas.microsoft.com/office/drawing/2014/main" id="{4E000CE7-D085-F19F-24F9-D268D73DA238}"/>
              </a:ext>
            </a:extLst>
          </p:cNvPr>
          <p:cNvSpPr txBox="1"/>
          <p:nvPr/>
        </p:nvSpPr>
        <p:spPr>
          <a:xfrm>
            <a:off x="1060591" y="4932580"/>
            <a:ext cx="5498837" cy="200055"/>
          </a:xfrm>
          <a:prstGeom prst="rect">
            <a:avLst/>
          </a:prstGeom>
          <a:noFill/>
        </p:spPr>
        <p:txBody>
          <a:bodyPr wrap="square" rtlCol="0">
            <a:spAutoFit/>
          </a:bodyPr>
          <a:lstStyle/>
          <a:p>
            <a:pPr algn="just"/>
            <a:r>
              <a:rPr lang="fr-FR" sz="700" i="1" spc="-20">
                <a:latin typeface="Segoe UI" panose="020B0502040204020203" pitchFamily="34" charset="0"/>
                <a:cs typeface="Segoe UI" panose="020B0502040204020203" pitchFamily="34" charset="0"/>
              </a:rPr>
              <a:t>Champ : Presse sérieuse </a:t>
            </a:r>
          </a:p>
        </p:txBody>
      </p:sp>
      <p:pic>
        <p:nvPicPr>
          <p:cNvPr id="44" name="Image 43">
            <a:extLst>
              <a:ext uri="{FF2B5EF4-FFF2-40B4-BE49-F238E27FC236}">
                <a16:creationId xmlns:a16="http://schemas.microsoft.com/office/drawing/2014/main" id="{1B974A22-ECA7-46D0-907A-63061DDBDA59}"/>
              </a:ext>
            </a:extLst>
          </p:cNvPr>
          <p:cNvPicPr>
            <a:picLocks noChangeAspect="1"/>
          </p:cNvPicPr>
          <p:nvPr/>
        </p:nvPicPr>
        <p:blipFill>
          <a:blip r:embed="rId9"/>
          <a:stretch>
            <a:fillRect/>
          </a:stretch>
        </p:blipFill>
        <p:spPr>
          <a:xfrm>
            <a:off x="2029516" y="4174525"/>
            <a:ext cx="3661937" cy="350061"/>
          </a:xfrm>
          <a:prstGeom prst="rect">
            <a:avLst/>
          </a:prstGeom>
        </p:spPr>
      </p:pic>
      <p:pic>
        <p:nvPicPr>
          <p:cNvPr id="50" name="Image 49" descr="Le Monde, mode d'emploi - Identité visuelle - un projet réalisé avec  Nicolas Queffēlec, brand &amp; interactive designer">
            <a:extLst>
              <a:ext uri="{FF2B5EF4-FFF2-40B4-BE49-F238E27FC236}">
                <a16:creationId xmlns:a16="http://schemas.microsoft.com/office/drawing/2014/main" id="{C6DBAD50-A4B4-F345-C703-F7F4944FCA70}"/>
              </a:ext>
            </a:extLst>
          </p:cNvPr>
          <p:cNvPicPr>
            <a:picLocks noChangeAspect="1"/>
          </p:cNvPicPr>
          <p:nvPr/>
        </p:nvPicPr>
        <p:blipFill>
          <a:blip r:embed="rId10"/>
          <a:stretch>
            <a:fillRect/>
          </a:stretch>
        </p:blipFill>
        <p:spPr>
          <a:xfrm>
            <a:off x="1253986" y="4020740"/>
            <a:ext cx="609190" cy="610203"/>
          </a:xfrm>
          <a:prstGeom prst="rect">
            <a:avLst/>
          </a:prstGeom>
        </p:spPr>
      </p:pic>
      <p:sp>
        <p:nvSpPr>
          <p:cNvPr id="52" name="ZoneTexte 51">
            <a:extLst>
              <a:ext uri="{FF2B5EF4-FFF2-40B4-BE49-F238E27FC236}">
                <a16:creationId xmlns:a16="http://schemas.microsoft.com/office/drawing/2014/main" id="{174EACE2-A817-EBFC-5289-8DA330723BB3}"/>
              </a:ext>
            </a:extLst>
          </p:cNvPr>
          <p:cNvSpPr txBox="1"/>
          <p:nvPr/>
        </p:nvSpPr>
        <p:spPr>
          <a:xfrm>
            <a:off x="1206644" y="4476614"/>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12/11/2025</a:t>
            </a:r>
          </a:p>
        </p:txBody>
      </p:sp>
      <p:sp>
        <p:nvSpPr>
          <p:cNvPr id="56" name="ZoneTexte 55">
            <a:extLst>
              <a:ext uri="{FF2B5EF4-FFF2-40B4-BE49-F238E27FC236}">
                <a16:creationId xmlns:a16="http://schemas.microsoft.com/office/drawing/2014/main" id="{33CB063A-11B4-1B3D-4D50-C7761A6D8447}"/>
              </a:ext>
            </a:extLst>
          </p:cNvPr>
          <p:cNvSpPr txBox="1"/>
          <p:nvPr/>
        </p:nvSpPr>
        <p:spPr>
          <a:xfrm>
            <a:off x="906734" y="6061980"/>
            <a:ext cx="5020352" cy="415498"/>
          </a:xfrm>
          <a:prstGeom prst="rect">
            <a:avLst/>
          </a:prstGeom>
          <a:noFill/>
        </p:spPr>
        <p:txBody>
          <a:bodyPr wrap="square" rtlCol="0">
            <a:spAutoFit/>
          </a:bodyPr>
          <a:lstStyle/>
          <a:p>
            <a:pPr algn="just"/>
            <a:r>
              <a:rPr lang="fr-FR" sz="700" i="1" spc="-20">
                <a:latin typeface="Segoe UI" panose="020B0502040204020203" pitchFamily="34" charset="0"/>
                <a:cs typeface="Segoe UI" panose="020B0502040204020203" pitchFamily="34" charset="0"/>
              </a:rPr>
              <a:t>*</a:t>
            </a:r>
            <a:r>
              <a:rPr lang="fr-FR" sz="700" i="1" spc="-20">
                <a:highlight>
                  <a:srgbClr val="FFFF00"/>
                </a:highlight>
                <a:latin typeface="Segoe UI" panose="020B0502040204020203" pitchFamily="34" charset="0"/>
                <a:cs typeface="Segoe UI" panose="020B0502040204020203" pitchFamily="34" charset="0"/>
              </a:rPr>
              <a:t>Carry et.al (2025</a:t>
            </a:r>
            <a:r>
              <a:rPr lang="fr-FR" sz="700" i="1" spc="-20">
                <a:latin typeface="Segoe UI" panose="020B0502040204020203" pitchFamily="34" charset="0"/>
                <a:cs typeface="Segoe UI" panose="020B0502040204020203" pitchFamily="34" charset="0"/>
              </a:rPr>
              <a:t>) examinent  le caractère contraint des RCI et montrent que 24% des RCI se seraient substituées à des licenciements pour motif personnel</a:t>
            </a:r>
          </a:p>
          <a:p>
            <a:pPr marL="171450" indent="-171450" algn="just">
              <a:buFont typeface="Arial" panose="020B0604020202020204" pitchFamily="34" charset="0"/>
              <a:buChar char="•"/>
            </a:pPr>
            <a:endParaRPr lang="fr-FR" sz="700" i="1" spc="-20">
              <a:latin typeface="Segoe UI" panose="020B0502040204020203" pitchFamily="34" charset="0"/>
              <a:cs typeface="Segoe UI" panose="020B0502040204020203" pitchFamily="34" charset="0"/>
            </a:endParaRPr>
          </a:p>
        </p:txBody>
      </p:sp>
      <p:sp>
        <p:nvSpPr>
          <p:cNvPr id="58" name="Espace réservé du texte 2">
            <a:extLst>
              <a:ext uri="{FF2B5EF4-FFF2-40B4-BE49-F238E27FC236}">
                <a16:creationId xmlns:a16="http://schemas.microsoft.com/office/drawing/2014/main" id="{03A01A14-DFA2-4E37-FF92-B7DCA1977868}"/>
              </a:ext>
            </a:extLst>
          </p:cNvPr>
          <p:cNvSpPr txBox="1">
            <a:spLocks/>
          </p:cNvSpPr>
          <p:nvPr/>
        </p:nvSpPr>
        <p:spPr>
          <a:xfrm>
            <a:off x="6421205" y="3896644"/>
            <a:ext cx="5092223" cy="2492541"/>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sp>
        <p:nvSpPr>
          <p:cNvPr id="60" name="ZoneTexte 59">
            <a:extLst>
              <a:ext uri="{FF2B5EF4-FFF2-40B4-BE49-F238E27FC236}">
                <a16:creationId xmlns:a16="http://schemas.microsoft.com/office/drawing/2014/main" id="{53AC1822-B6D2-1DDF-32E4-9E1FFA36621B}"/>
              </a:ext>
            </a:extLst>
          </p:cNvPr>
          <p:cNvSpPr txBox="1"/>
          <p:nvPr/>
        </p:nvSpPr>
        <p:spPr>
          <a:xfrm>
            <a:off x="1060590" y="1265380"/>
            <a:ext cx="4771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LE DÉBAT PUBLIC ASSOCIE LA RCI À UN CHÔMAGE CHOISI FINANCÉ PAR L’ASSURANCE CHÔMAGE</a:t>
            </a:r>
          </a:p>
        </p:txBody>
      </p:sp>
      <p:sp>
        <p:nvSpPr>
          <p:cNvPr id="64" name="Espace réservé du texte 2">
            <a:extLst>
              <a:ext uri="{FF2B5EF4-FFF2-40B4-BE49-F238E27FC236}">
                <a16:creationId xmlns:a16="http://schemas.microsoft.com/office/drawing/2014/main" id="{150F4A09-6D78-83E3-DA7C-21242DF75CA9}"/>
              </a:ext>
            </a:extLst>
          </p:cNvPr>
          <p:cNvSpPr txBox="1">
            <a:spLocks/>
          </p:cNvSpPr>
          <p:nvPr/>
        </p:nvSpPr>
        <p:spPr>
          <a:xfrm>
            <a:off x="6559428" y="1281491"/>
            <a:ext cx="4771381" cy="337870"/>
          </a:xfrm>
          <a:prstGeom prst="rect">
            <a:avLst/>
          </a:prstGeom>
          <a:solidFill>
            <a:srgbClr val="FFFFFF"/>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sp>
        <p:nvSpPr>
          <p:cNvPr id="66" name="ZoneTexte 65">
            <a:extLst>
              <a:ext uri="{FF2B5EF4-FFF2-40B4-BE49-F238E27FC236}">
                <a16:creationId xmlns:a16="http://schemas.microsoft.com/office/drawing/2014/main" id="{9A3A7332-168B-257A-B22A-03C8AC69F398}"/>
              </a:ext>
            </a:extLst>
          </p:cNvPr>
          <p:cNvSpPr txBox="1"/>
          <p:nvPr/>
        </p:nvSpPr>
        <p:spPr>
          <a:xfrm>
            <a:off x="6566459" y="1262111"/>
            <a:ext cx="4771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DANS UN CONTEXTE DE RECHERCHE D’ÉCONOMIE BUDGÉTAIRE, LES RCI SONT REGULIÈREMENT CIBLÉES PAR LE GOUVERNEMENT</a:t>
            </a:r>
          </a:p>
        </p:txBody>
      </p:sp>
      <p:sp>
        <p:nvSpPr>
          <p:cNvPr id="74" name="Espace réservé du texte 2">
            <a:extLst>
              <a:ext uri="{FF2B5EF4-FFF2-40B4-BE49-F238E27FC236}">
                <a16:creationId xmlns:a16="http://schemas.microsoft.com/office/drawing/2014/main" id="{C1094209-4392-B672-5599-B3929D59632C}"/>
              </a:ext>
            </a:extLst>
          </p:cNvPr>
          <p:cNvSpPr txBox="1">
            <a:spLocks/>
          </p:cNvSpPr>
          <p:nvPr/>
        </p:nvSpPr>
        <p:spPr>
          <a:xfrm>
            <a:off x="6648306" y="3987971"/>
            <a:ext cx="4771381" cy="337870"/>
          </a:xfrm>
          <a:prstGeom prst="rect">
            <a:avLst/>
          </a:prstGeom>
          <a:solidFill>
            <a:srgbClr val="FFFFFF"/>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cxnSp>
        <p:nvCxnSpPr>
          <p:cNvPr id="75" name="Connecteur droit 74">
            <a:extLst>
              <a:ext uri="{FF2B5EF4-FFF2-40B4-BE49-F238E27FC236}">
                <a16:creationId xmlns:a16="http://schemas.microsoft.com/office/drawing/2014/main" id="{88D93BC2-C554-C6F9-AC05-6C7466203F07}"/>
              </a:ext>
            </a:extLst>
          </p:cNvPr>
          <p:cNvCxnSpPr>
            <a:cxnSpLocks/>
          </p:cNvCxnSpPr>
          <p:nvPr/>
        </p:nvCxnSpPr>
        <p:spPr>
          <a:xfrm>
            <a:off x="6176192" y="1161388"/>
            <a:ext cx="0" cy="5227802"/>
          </a:xfrm>
          <a:prstGeom prst="line">
            <a:avLst/>
          </a:prstGeom>
          <a:ln w="28575"/>
        </p:spPr>
        <p:style>
          <a:lnRef idx="3">
            <a:schemeClr val="accent3"/>
          </a:lnRef>
          <a:fillRef idx="0">
            <a:schemeClr val="accent3"/>
          </a:fillRef>
          <a:effectRef idx="2">
            <a:schemeClr val="accent3"/>
          </a:effectRef>
          <a:fontRef idx="minor">
            <a:schemeClr val="tx1"/>
          </a:fontRef>
        </p:style>
      </p:cxnSp>
      <p:cxnSp>
        <p:nvCxnSpPr>
          <p:cNvPr id="78" name="Connecteur droit 77">
            <a:extLst>
              <a:ext uri="{FF2B5EF4-FFF2-40B4-BE49-F238E27FC236}">
                <a16:creationId xmlns:a16="http://schemas.microsoft.com/office/drawing/2014/main" id="{87BAF79F-48B6-0477-96CA-6BA3AF37842F}"/>
              </a:ext>
            </a:extLst>
          </p:cNvPr>
          <p:cNvCxnSpPr>
            <a:cxnSpLocks/>
          </p:cNvCxnSpPr>
          <p:nvPr/>
        </p:nvCxnSpPr>
        <p:spPr>
          <a:xfrm flipH="1">
            <a:off x="6402434" y="3749020"/>
            <a:ext cx="5120545" cy="0"/>
          </a:xfrm>
          <a:prstGeom prst="line">
            <a:avLst/>
          </a:prstGeom>
          <a:ln w="28575"/>
        </p:spPr>
        <p:style>
          <a:lnRef idx="3">
            <a:schemeClr val="accent3"/>
          </a:lnRef>
          <a:fillRef idx="0">
            <a:schemeClr val="accent3"/>
          </a:fillRef>
          <a:effectRef idx="2">
            <a:schemeClr val="accent3"/>
          </a:effectRef>
          <a:fontRef idx="minor">
            <a:schemeClr val="tx1"/>
          </a:fontRef>
        </p:style>
      </p:cxnSp>
      <p:cxnSp>
        <p:nvCxnSpPr>
          <p:cNvPr id="86" name="Connecteur droit 85">
            <a:extLst>
              <a:ext uri="{FF2B5EF4-FFF2-40B4-BE49-F238E27FC236}">
                <a16:creationId xmlns:a16="http://schemas.microsoft.com/office/drawing/2014/main" id="{8DD2CB15-BF0A-4D14-B461-5A3D14FF4699}"/>
              </a:ext>
            </a:extLst>
          </p:cNvPr>
          <p:cNvCxnSpPr>
            <a:cxnSpLocks/>
          </p:cNvCxnSpPr>
          <p:nvPr/>
        </p:nvCxnSpPr>
        <p:spPr>
          <a:xfrm flipH="1">
            <a:off x="6500493" y="2630012"/>
            <a:ext cx="4885635" cy="0"/>
          </a:xfrm>
          <a:prstGeom prst="line">
            <a:avLst/>
          </a:prstGeom>
          <a:ln w="28575"/>
        </p:spPr>
        <p:style>
          <a:lnRef idx="3">
            <a:schemeClr val="accent3"/>
          </a:lnRef>
          <a:fillRef idx="0">
            <a:schemeClr val="accent3"/>
          </a:fillRef>
          <a:effectRef idx="2">
            <a:schemeClr val="accent3"/>
          </a:effectRef>
          <a:fontRef idx="minor">
            <a:schemeClr val="tx1"/>
          </a:fontRef>
        </p:style>
      </p:cxnSp>
      <p:sp>
        <p:nvSpPr>
          <p:cNvPr id="88" name="Ellipse 87">
            <a:extLst>
              <a:ext uri="{FF2B5EF4-FFF2-40B4-BE49-F238E27FC236}">
                <a16:creationId xmlns:a16="http://schemas.microsoft.com/office/drawing/2014/main" id="{2B8D6F3C-0410-69B8-9E60-E2E3C47EEB82}"/>
              </a:ext>
            </a:extLst>
          </p:cNvPr>
          <p:cNvSpPr/>
          <p:nvPr/>
        </p:nvSpPr>
        <p:spPr>
          <a:xfrm>
            <a:off x="6706880" y="2534672"/>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ZoneTexte 91">
            <a:extLst>
              <a:ext uri="{FF2B5EF4-FFF2-40B4-BE49-F238E27FC236}">
                <a16:creationId xmlns:a16="http://schemas.microsoft.com/office/drawing/2014/main" id="{5D69315A-5F35-CB62-0E13-4B01989C5887}"/>
              </a:ext>
            </a:extLst>
          </p:cNvPr>
          <p:cNvSpPr txBox="1"/>
          <p:nvPr/>
        </p:nvSpPr>
        <p:spPr>
          <a:xfrm>
            <a:off x="6384927" y="2688636"/>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15/07/2025</a:t>
            </a:r>
          </a:p>
        </p:txBody>
      </p:sp>
      <p:sp>
        <p:nvSpPr>
          <p:cNvPr id="94" name="ZoneTexte 93">
            <a:extLst>
              <a:ext uri="{FF2B5EF4-FFF2-40B4-BE49-F238E27FC236}">
                <a16:creationId xmlns:a16="http://schemas.microsoft.com/office/drawing/2014/main" id="{CF05D39D-B90F-F37C-8989-43D83F04DB32}"/>
              </a:ext>
            </a:extLst>
          </p:cNvPr>
          <p:cNvSpPr txBox="1"/>
          <p:nvPr/>
        </p:nvSpPr>
        <p:spPr>
          <a:xfrm>
            <a:off x="6137296" y="1818153"/>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A. PANOSYAN-BOUVET</a:t>
            </a:r>
          </a:p>
        </p:txBody>
      </p:sp>
      <p:sp>
        <p:nvSpPr>
          <p:cNvPr id="96" name="ZoneTexte 95">
            <a:extLst>
              <a:ext uri="{FF2B5EF4-FFF2-40B4-BE49-F238E27FC236}">
                <a16:creationId xmlns:a16="http://schemas.microsoft.com/office/drawing/2014/main" id="{1AA4B554-6953-6C8F-76B8-F4AFC03A1AF0}"/>
              </a:ext>
            </a:extLst>
          </p:cNvPr>
          <p:cNvSpPr txBox="1"/>
          <p:nvPr/>
        </p:nvSpPr>
        <p:spPr>
          <a:xfrm>
            <a:off x="6414661" y="1925058"/>
            <a:ext cx="1374927" cy="646331"/>
          </a:xfrm>
          <a:prstGeom prst="rect">
            <a:avLst/>
          </a:prstGeom>
          <a:noFill/>
        </p:spPr>
        <p:txBody>
          <a:bodyPr wrap="square" rtlCol="0">
            <a:spAutoFit/>
          </a:bodyPr>
          <a:lstStyle/>
          <a:p>
            <a:pPr algn="just"/>
            <a:r>
              <a:rPr lang="fr-FR" sz="600" i="1">
                <a:solidFill>
                  <a:schemeClr val="accent3"/>
                </a:solidFill>
                <a:latin typeface="+mj-lt"/>
                <a:cs typeface="Segoe UI" panose="020B0502040204020203" pitchFamily="34" charset="0"/>
              </a:rPr>
              <a:t>« Quelqu’un qui est en RCI, c’est un choix contrairement au licenciement. Alors, il faut regarder les conditions d’indemnisation du dispositif à l’assurance-chômage »</a:t>
            </a:r>
          </a:p>
        </p:txBody>
      </p:sp>
      <p:sp>
        <p:nvSpPr>
          <p:cNvPr id="98" name="Ellipse 97">
            <a:extLst>
              <a:ext uri="{FF2B5EF4-FFF2-40B4-BE49-F238E27FC236}">
                <a16:creationId xmlns:a16="http://schemas.microsoft.com/office/drawing/2014/main" id="{6F01E5C2-EA38-081F-C446-1F815D8524EA}"/>
              </a:ext>
            </a:extLst>
          </p:cNvPr>
          <p:cNvSpPr/>
          <p:nvPr/>
        </p:nvSpPr>
        <p:spPr>
          <a:xfrm>
            <a:off x="8213988" y="2535778"/>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ZoneTexte 99">
            <a:extLst>
              <a:ext uri="{FF2B5EF4-FFF2-40B4-BE49-F238E27FC236}">
                <a16:creationId xmlns:a16="http://schemas.microsoft.com/office/drawing/2014/main" id="{75D69A3D-B08F-E440-8A34-BB53D7EA5D00}"/>
              </a:ext>
            </a:extLst>
          </p:cNvPr>
          <p:cNvSpPr txBox="1"/>
          <p:nvPr/>
        </p:nvSpPr>
        <p:spPr>
          <a:xfrm>
            <a:off x="7826567" y="2352961"/>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08/08/2025</a:t>
            </a:r>
          </a:p>
        </p:txBody>
      </p:sp>
      <p:sp>
        <p:nvSpPr>
          <p:cNvPr id="102" name="ZoneTexte 101">
            <a:extLst>
              <a:ext uri="{FF2B5EF4-FFF2-40B4-BE49-F238E27FC236}">
                <a16:creationId xmlns:a16="http://schemas.microsoft.com/office/drawing/2014/main" id="{21781417-28C4-0153-1E4C-08248CBBC7F4}"/>
              </a:ext>
            </a:extLst>
          </p:cNvPr>
          <p:cNvSpPr txBox="1"/>
          <p:nvPr/>
        </p:nvSpPr>
        <p:spPr>
          <a:xfrm>
            <a:off x="7220449" y="2690138"/>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LETTRE DE CADRAGE DE F.BAYROU</a:t>
            </a:r>
          </a:p>
        </p:txBody>
      </p:sp>
      <p:sp>
        <p:nvSpPr>
          <p:cNvPr id="104" name="ZoneTexte 103">
            <a:extLst>
              <a:ext uri="{FF2B5EF4-FFF2-40B4-BE49-F238E27FC236}">
                <a16:creationId xmlns:a16="http://schemas.microsoft.com/office/drawing/2014/main" id="{4911BCE5-413D-701B-33B4-4E731333F75A}"/>
              </a:ext>
            </a:extLst>
          </p:cNvPr>
          <p:cNvSpPr txBox="1"/>
          <p:nvPr/>
        </p:nvSpPr>
        <p:spPr>
          <a:xfrm>
            <a:off x="7426229" y="2940527"/>
            <a:ext cx="1607768" cy="553998"/>
          </a:xfrm>
          <a:prstGeom prst="rect">
            <a:avLst/>
          </a:prstGeom>
          <a:noFill/>
        </p:spPr>
        <p:txBody>
          <a:bodyPr wrap="square" rtlCol="0">
            <a:spAutoFit/>
          </a:bodyPr>
          <a:lstStyle/>
          <a:p>
            <a:pPr algn="just"/>
            <a:r>
              <a:rPr lang="fr-FR" sz="600">
                <a:solidFill>
                  <a:schemeClr val="accent3"/>
                </a:solidFill>
                <a:latin typeface="+mj-lt"/>
                <a:cs typeface="Segoe UI" panose="020B0502040204020203" pitchFamily="34" charset="0"/>
              </a:rPr>
              <a:t>Demandant 2 à 2,5 Md€ d’économies à l’AC, souhaitant </a:t>
            </a:r>
            <a:r>
              <a:rPr lang="fr-FR" sz="600" i="1">
                <a:solidFill>
                  <a:schemeClr val="accent3"/>
                </a:solidFill>
                <a:latin typeface="+mj-lt"/>
                <a:cs typeface="Segoe UI" panose="020B0502040204020203" pitchFamily="34" charset="0"/>
              </a:rPr>
              <a:t>« durcir les règles concernant les chômeurs ayant conclu une RCI » et </a:t>
            </a:r>
            <a:r>
              <a:rPr lang="fr-FR" sz="600" i="1">
                <a:solidFill>
                  <a:schemeClr val="accent3"/>
                </a:solidFill>
                <a:cs typeface="Segoe UI" panose="020B0502040204020203" pitchFamily="34" charset="0"/>
              </a:rPr>
              <a:t>«</a:t>
            </a:r>
            <a:r>
              <a:rPr lang="fr-FR" sz="600" i="1">
                <a:solidFill>
                  <a:schemeClr val="accent3"/>
                </a:solidFill>
                <a:latin typeface="+mj-lt"/>
                <a:cs typeface="Segoe UI" panose="020B0502040204020203" pitchFamily="34" charset="0"/>
              </a:rPr>
              <a:t>renforcer les incitations «»</a:t>
            </a:r>
          </a:p>
        </p:txBody>
      </p:sp>
      <p:sp>
        <p:nvSpPr>
          <p:cNvPr id="106" name="Ellipse 105">
            <a:extLst>
              <a:ext uri="{FF2B5EF4-FFF2-40B4-BE49-F238E27FC236}">
                <a16:creationId xmlns:a16="http://schemas.microsoft.com/office/drawing/2014/main" id="{5C793EB4-DFC6-72C6-E8A4-000A75151FA9}"/>
              </a:ext>
            </a:extLst>
          </p:cNvPr>
          <p:cNvSpPr/>
          <p:nvPr/>
        </p:nvSpPr>
        <p:spPr>
          <a:xfrm>
            <a:off x="9655628" y="2538315"/>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ZoneTexte 107">
            <a:extLst>
              <a:ext uri="{FF2B5EF4-FFF2-40B4-BE49-F238E27FC236}">
                <a16:creationId xmlns:a16="http://schemas.microsoft.com/office/drawing/2014/main" id="{361A62A5-C4A1-A670-7915-F84DBEC63E52}"/>
              </a:ext>
            </a:extLst>
          </p:cNvPr>
          <p:cNvSpPr txBox="1"/>
          <p:nvPr/>
        </p:nvSpPr>
        <p:spPr>
          <a:xfrm>
            <a:off x="9310229" y="2674316"/>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29/11/2025</a:t>
            </a:r>
          </a:p>
        </p:txBody>
      </p:sp>
      <p:sp>
        <p:nvSpPr>
          <p:cNvPr id="110" name="ZoneTexte 109">
            <a:extLst>
              <a:ext uri="{FF2B5EF4-FFF2-40B4-BE49-F238E27FC236}">
                <a16:creationId xmlns:a16="http://schemas.microsoft.com/office/drawing/2014/main" id="{B494BCE5-ACA2-59ED-B60D-4B195C777803}"/>
              </a:ext>
            </a:extLst>
          </p:cNvPr>
          <p:cNvSpPr txBox="1"/>
          <p:nvPr/>
        </p:nvSpPr>
        <p:spPr>
          <a:xfrm>
            <a:off x="8664527" y="1798309"/>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LE GOUVERNEMENT LECORNU</a:t>
            </a:r>
          </a:p>
        </p:txBody>
      </p:sp>
      <p:sp>
        <p:nvSpPr>
          <p:cNvPr id="112" name="ZoneTexte 111">
            <a:extLst>
              <a:ext uri="{FF2B5EF4-FFF2-40B4-BE49-F238E27FC236}">
                <a16:creationId xmlns:a16="http://schemas.microsoft.com/office/drawing/2014/main" id="{9E609F00-90BE-16F4-24E8-E44C99528084}"/>
              </a:ext>
            </a:extLst>
          </p:cNvPr>
          <p:cNvSpPr txBox="1"/>
          <p:nvPr/>
        </p:nvSpPr>
        <p:spPr>
          <a:xfrm>
            <a:off x="8825470" y="1915492"/>
            <a:ext cx="1607768" cy="553998"/>
          </a:xfrm>
          <a:prstGeom prst="rect">
            <a:avLst/>
          </a:prstGeom>
          <a:noFill/>
        </p:spPr>
        <p:txBody>
          <a:bodyPr wrap="square" rtlCol="0">
            <a:spAutoFit/>
          </a:bodyPr>
          <a:lstStyle/>
          <a:p>
            <a:pPr algn="just"/>
            <a:r>
              <a:rPr lang="fr-FR" sz="600" i="1">
                <a:solidFill>
                  <a:schemeClr val="accent3"/>
                </a:solidFill>
                <a:latin typeface="+mj-lt"/>
                <a:cs typeface="Segoe UI" panose="020B0502040204020203" pitchFamily="34" charset="0"/>
              </a:rPr>
              <a:t>Adresse une nouvelle lettre de cadrage ciblée sur les  seules RCI  avec un objectif d’     «  au moins 400 millions d’euros d’économies par an »</a:t>
            </a:r>
          </a:p>
        </p:txBody>
      </p:sp>
      <p:sp>
        <p:nvSpPr>
          <p:cNvPr id="114" name="Ellipse 113">
            <a:extLst>
              <a:ext uri="{FF2B5EF4-FFF2-40B4-BE49-F238E27FC236}">
                <a16:creationId xmlns:a16="http://schemas.microsoft.com/office/drawing/2014/main" id="{4BD0EE1B-1CC2-9B7A-ECCF-55C4AC7E9B7A}"/>
              </a:ext>
            </a:extLst>
          </p:cNvPr>
          <p:cNvSpPr/>
          <p:nvPr/>
        </p:nvSpPr>
        <p:spPr>
          <a:xfrm>
            <a:off x="10923998" y="2545858"/>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ZoneTexte 115">
            <a:extLst>
              <a:ext uri="{FF2B5EF4-FFF2-40B4-BE49-F238E27FC236}">
                <a16:creationId xmlns:a16="http://schemas.microsoft.com/office/drawing/2014/main" id="{1CC35EF3-6F87-AAAB-F9DA-6698C2173A61}"/>
              </a:ext>
            </a:extLst>
          </p:cNvPr>
          <p:cNvSpPr txBox="1"/>
          <p:nvPr/>
        </p:nvSpPr>
        <p:spPr>
          <a:xfrm>
            <a:off x="10527527" y="2347695"/>
            <a:ext cx="1257839" cy="215444"/>
          </a:xfrm>
          <a:prstGeom prst="rect">
            <a:avLst/>
          </a:prstGeom>
          <a:noFill/>
        </p:spPr>
        <p:txBody>
          <a:bodyPr wrap="square" rtlCol="0">
            <a:spAutoFit/>
          </a:bodyPr>
          <a:lstStyle/>
          <a:p>
            <a:pPr algn="just"/>
            <a:r>
              <a:rPr lang="fr-FR" sz="800" b="1">
                <a:solidFill>
                  <a:schemeClr val="accent3"/>
                </a:solidFill>
                <a:latin typeface="+mj-lt"/>
                <a:cs typeface="Segoe UI" panose="020B0502040204020203" pitchFamily="34" charset="0"/>
              </a:rPr>
              <a:t>LE 16/12/2025</a:t>
            </a:r>
          </a:p>
        </p:txBody>
      </p:sp>
      <p:sp>
        <p:nvSpPr>
          <p:cNvPr id="118" name="ZoneTexte 117">
            <a:extLst>
              <a:ext uri="{FF2B5EF4-FFF2-40B4-BE49-F238E27FC236}">
                <a16:creationId xmlns:a16="http://schemas.microsoft.com/office/drawing/2014/main" id="{07F1DCC5-5CC8-2918-9C1F-4EE83889FFBB}"/>
              </a:ext>
            </a:extLst>
          </p:cNvPr>
          <p:cNvSpPr txBox="1"/>
          <p:nvPr/>
        </p:nvSpPr>
        <p:spPr>
          <a:xfrm>
            <a:off x="10043323" y="2704577"/>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LFSS 2026</a:t>
            </a:r>
          </a:p>
        </p:txBody>
      </p:sp>
      <p:sp>
        <p:nvSpPr>
          <p:cNvPr id="120" name="ZoneTexte 119">
            <a:extLst>
              <a:ext uri="{FF2B5EF4-FFF2-40B4-BE49-F238E27FC236}">
                <a16:creationId xmlns:a16="http://schemas.microsoft.com/office/drawing/2014/main" id="{1498516A-C16A-9F14-1312-4405C4817E99}"/>
              </a:ext>
            </a:extLst>
          </p:cNvPr>
          <p:cNvSpPr txBox="1"/>
          <p:nvPr/>
        </p:nvSpPr>
        <p:spPr>
          <a:xfrm>
            <a:off x="10292822" y="2892672"/>
            <a:ext cx="1257839" cy="553998"/>
          </a:xfrm>
          <a:prstGeom prst="rect">
            <a:avLst/>
          </a:prstGeom>
          <a:noFill/>
        </p:spPr>
        <p:txBody>
          <a:bodyPr wrap="square" rtlCol="0">
            <a:spAutoFit/>
          </a:bodyPr>
          <a:lstStyle/>
          <a:p>
            <a:pPr algn="just"/>
            <a:r>
              <a:rPr lang="fr-FR" sz="600">
                <a:solidFill>
                  <a:schemeClr val="accent3"/>
                </a:solidFill>
                <a:latin typeface="+mj-lt"/>
                <a:cs typeface="Segoe UI" panose="020B0502040204020203" pitchFamily="34" charset="0"/>
              </a:rPr>
              <a:t>Contribution patronale de 30% à 40% </a:t>
            </a:r>
            <a:endParaRPr lang="fr-FR" sz="600" i="1">
              <a:solidFill>
                <a:schemeClr val="accent3"/>
              </a:solidFill>
              <a:latin typeface="+mj-lt"/>
              <a:cs typeface="Segoe UI" panose="020B0502040204020203" pitchFamily="34" charset="0"/>
            </a:endParaRPr>
          </a:p>
          <a:p>
            <a:pPr algn="just"/>
            <a:r>
              <a:rPr lang="fr-FR" sz="600">
                <a:solidFill>
                  <a:schemeClr val="accent3"/>
                </a:solidFill>
                <a:latin typeface="+mj-lt"/>
                <a:cs typeface="Segoe UI" panose="020B0502040204020203" pitchFamily="34" charset="0"/>
              </a:rPr>
              <a:t>pour les ruptures dont la date d’effet intervient à partir du 1</a:t>
            </a:r>
            <a:r>
              <a:rPr lang="fr-FR" sz="600" baseline="30000">
                <a:solidFill>
                  <a:schemeClr val="accent3"/>
                </a:solidFill>
                <a:latin typeface="+mj-lt"/>
                <a:cs typeface="Segoe UI" panose="020B0502040204020203" pitchFamily="34" charset="0"/>
              </a:rPr>
              <a:t>er</a:t>
            </a:r>
            <a:r>
              <a:rPr lang="fr-FR" sz="600">
                <a:solidFill>
                  <a:schemeClr val="accent3"/>
                </a:solidFill>
                <a:latin typeface="+mj-lt"/>
                <a:cs typeface="Segoe UI" panose="020B0502040204020203" pitchFamily="34" charset="0"/>
              </a:rPr>
              <a:t> janvier 2026</a:t>
            </a:r>
          </a:p>
        </p:txBody>
      </p:sp>
      <p:sp>
        <p:nvSpPr>
          <p:cNvPr id="122" name="ZoneTexte 121">
            <a:extLst>
              <a:ext uri="{FF2B5EF4-FFF2-40B4-BE49-F238E27FC236}">
                <a16:creationId xmlns:a16="http://schemas.microsoft.com/office/drawing/2014/main" id="{3C6EC4F2-B8B5-679A-FC75-78DF9A40E92D}"/>
              </a:ext>
            </a:extLst>
          </p:cNvPr>
          <p:cNvSpPr txBox="1"/>
          <p:nvPr/>
        </p:nvSpPr>
        <p:spPr>
          <a:xfrm>
            <a:off x="6614747" y="3956851"/>
            <a:ext cx="4771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b="1">
                <a:solidFill>
                  <a:schemeClr val="accent3"/>
                </a:solidFill>
              </a:rPr>
              <a:t>EN CONSÉQUENCE, LES DROITS À L'ARE APRÈS UNE RCI SONT RÉDUITS POUR LA PREMIÈRE FOIS DEPUIS 2008</a:t>
            </a:r>
            <a:endPar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endParaRPr>
          </a:p>
        </p:txBody>
      </p:sp>
      <p:sp>
        <p:nvSpPr>
          <p:cNvPr id="124" name="Rectangle 123">
            <a:extLst>
              <a:ext uri="{FF2B5EF4-FFF2-40B4-BE49-F238E27FC236}">
                <a16:creationId xmlns:a16="http://schemas.microsoft.com/office/drawing/2014/main" id="{7BB0C046-19EC-7099-9CD8-09C7AE553C0A}"/>
              </a:ext>
            </a:extLst>
          </p:cNvPr>
          <p:cNvSpPr/>
          <p:nvPr/>
        </p:nvSpPr>
        <p:spPr>
          <a:xfrm>
            <a:off x="6658343" y="4430393"/>
            <a:ext cx="4771381" cy="408973"/>
          </a:xfrm>
          <a:prstGeom prst="rect">
            <a:avLst/>
          </a:prstGeom>
          <a:ln>
            <a:prstDash val="sysDot"/>
          </a:ln>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26" name="ZoneTexte 125">
            <a:extLst>
              <a:ext uri="{FF2B5EF4-FFF2-40B4-BE49-F238E27FC236}">
                <a16:creationId xmlns:a16="http://schemas.microsoft.com/office/drawing/2014/main" id="{4EEA80B4-B3B7-9A24-BE65-A4455983F2D7}"/>
              </a:ext>
            </a:extLst>
          </p:cNvPr>
          <p:cNvSpPr txBox="1"/>
          <p:nvPr/>
        </p:nvSpPr>
        <p:spPr>
          <a:xfrm>
            <a:off x="6650351" y="4447117"/>
            <a:ext cx="4714205" cy="507831"/>
          </a:xfrm>
          <a:prstGeom prst="rect">
            <a:avLst/>
          </a:prstGeom>
          <a:noFill/>
        </p:spPr>
        <p:txBody>
          <a:bodyPr wrap="square" rtlCol="0">
            <a:spAutoFit/>
          </a:bodyPr>
          <a:lstStyle/>
          <a:p>
            <a:pPr algn="just"/>
            <a:r>
              <a:rPr lang="fr-FR" sz="900">
                <a:latin typeface="Segoe UI" panose="020B0502040204020203" pitchFamily="34" charset="0"/>
                <a:cs typeface="Segoe UI" panose="020B0502040204020203" pitchFamily="34" charset="0"/>
              </a:rPr>
              <a:t>Les partenaires sociaux signent l’avenant n°3 au protocole du 10 novembre 2023 (signé par le patronat MEDEF, CPME, U2P et par la CFDT, CFTC; la CGT et CFE-CGG s’y opposent.</a:t>
            </a:r>
          </a:p>
          <a:p>
            <a:endParaRPr lang="fr-FR" sz="900">
              <a:latin typeface="Segoe UI" panose="020B0502040204020203" pitchFamily="34" charset="0"/>
              <a:cs typeface="Segoe UI" panose="020B0502040204020203" pitchFamily="34" charset="0"/>
            </a:endParaRPr>
          </a:p>
        </p:txBody>
      </p:sp>
      <p:sp>
        <p:nvSpPr>
          <p:cNvPr id="145" name="ZoneTexte 144">
            <a:extLst>
              <a:ext uri="{FF2B5EF4-FFF2-40B4-BE49-F238E27FC236}">
                <a16:creationId xmlns:a16="http://schemas.microsoft.com/office/drawing/2014/main" id="{1E00CD5D-31AE-C8B1-817C-3D23DEB771AF}"/>
              </a:ext>
            </a:extLst>
          </p:cNvPr>
          <p:cNvSpPr txBox="1"/>
          <p:nvPr/>
        </p:nvSpPr>
        <p:spPr>
          <a:xfrm>
            <a:off x="8074383" y="5648681"/>
            <a:ext cx="1929655" cy="184666"/>
          </a:xfrm>
          <a:prstGeom prst="rect">
            <a:avLst/>
          </a:prstGeom>
          <a:noFill/>
        </p:spPr>
        <p:txBody>
          <a:bodyPr wrap="square" rtlCol="0">
            <a:spAutoFit/>
          </a:bodyPr>
          <a:lstStyle/>
          <a:p>
            <a:pPr algn="ctr"/>
            <a:r>
              <a:rPr lang="fr-FR" sz="600" b="1">
                <a:solidFill>
                  <a:schemeClr val="accent3"/>
                </a:solidFill>
                <a:latin typeface="+mj-lt"/>
                <a:cs typeface="Segoe UI" panose="020B0502040204020203" pitchFamily="34" charset="0"/>
              </a:rPr>
              <a:t>DEPUIS LE 1</a:t>
            </a:r>
            <a:r>
              <a:rPr lang="fr-FR" sz="600" b="1" baseline="30000">
                <a:solidFill>
                  <a:schemeClr val="accent3"/>
                </a:solidFill>
                <a:latin typeface="+mj-lt"/>
                <a:cs typeface="Segoe UI" panose="020B0502040204020203" pitchFamily="34" charset="0"/>
              </a:rPr>
              <a:t>ER</a:t>
            </a:r>
            <a:r>
              <a:rPr lang="fr-FR" sz="600" b="1">
                <a:solidFill>
                  <a:schemeClr val="accent3"/>
                </a:solidFill>
                <a:latin typeface="+mj-lt"/>
                <a:cs typeface="Segoe UI" panose="020B0502040204020203" pitchFamily="34" charset="0"/>
              </a:rPr>
              <a:t> SEPTEMBRE 2026</a:t>
            </a:r>
          </a:p>
        </p:txBody>
      </p:sp>
      <p:grpSp>
        <p:nvGrpSpPr>
          <p:cNvPr id="150" name="Groupe 149">
            <a:extLst>
              <a:ext uri="{FF2B5EF4-FFF2-40B4-BE49-F238E27FC236}">
                <a16:creationId xmlns:a16="http://schemas.microsoft.com/office/drawing/2014/main" id="{E6B51A8C-7C07-0FBB-8085-8F247B410AAE}"/>
              </a:ext>
            </a:extLst>
          </p:cNvPr>
          <p:cNvGrpSpPr/>
          <p:nvPr/>
        </p:nvGrpSpPr>
        <p:grpSpPr>
          <a:xfrm>
            <a:off x="5924356" y="4963562"/>
            <a:ext cx="2508554" cy="1276826"/>
            <a:chOff x="6082990" y="5043661"/>
            <a:chExt cx="2521232" cy="1283279"/>
          </a:xfrm>
        </p:grpSpPr>
        <p:pic>
          <p:nvPicPr>
            <p:cNvPr id="129" name="Graphique 128" descr="Calendrier journalier avec un remplissage uni">
              <a:extLst>
                <a:ext uri="{FF2B5EF4-FFF2-40B4-BE49-F238E27FC236}">
                  <a16:creationId xmlns:a16="http://schemas.microsoft.com/office/drawing/2014/main" id="{A8C21800-0590-F7F0-1387-6CB85638DC7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75186" y="5043661"/>
              <a:ext cx="345262" cy="345262"/>
            </a:xfrm>
            <a:prstGeom prst="rect">
              <a:avLst/>
            </a:prstGeom>
          </p:spPr>
        </p:pic>
        <p:sp>
          <p:nvSpPr>
            <p:cNvPr id="131" name="ZoneTexte 130">
              <a:extLst>
                <a:ext uri="{FF2B5EF4-FFF2-40B4-BE49-F238E27FC236}">
                  <a16:creationId xmlns:a16="http://schemas.microsoft.com/office/drawing/2014/main" id="{38FE2B78-9B77-0503-B76C-B6DF26358ABF}"/>
                </a:ext>
              </a:extLst>
            </p:cNvPr>
            <p:cNvSpPr txBox="1"/>
            <p:nvPr/>
          </p:nvSpPr>
          <p:spPr>
            <a:xfrm>
              <a:off x="6082990" y="5470137"/>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18 mois</a:t>
              </a:r>
            </a:p>
          </p:txBody>
        </p:sp>
        <p:pic>
          <p:nvPicPr>
            <p:cNvPr id="133" name="Graphique 132" descr="Utilisateurs avec un remplissage uni">
              <a:extLst>
                <a:ext uri="{FF2B5EF4-FFF2-40B4-BE49-F238E27FC236}">
                  <a16:creationId xmlns:a16="http://schemas.microsoft.com/office/drawing/2014/main" id="{0EAEAB9A-3279-61A2-3D57-5E3322FB42B5}"/>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7746485" y="5043661"/>
              <a:ext cx="345262" cy="345262"/>
            </a:xfrm>
            <a:prstGeom prst="rect">
              <a:avLst/>
            </a:prstGeom>
          </p:spPr>
        </p:pic>
        <p:sp>
          <p:nvSpPr>
            <p:cNvPr id="135" name="ZoneTexte 134">
              <a:extLst>
                <a:ext uri="{FF2B5EF4-FFF2-40B4-BE49-F238E27FC236}">
                  <a16:creationId xmlns:a16="http://schemas.microsoft.com/office/drawing/2014/main" id="{E45C8AFB-72D0-7A5E-A911-CEFE66396958}"/>
                </a:ext>
              </a:extLst>
            </p:cNvPr>
            <p:cNvSpPr txBox="1"/>
            <p:nvPr/>
          </p:nvSpPr>
          <p:spPr>
            <a:xfrm>
              <a:off x="7353455" y="5470137"/>
              <a:ext cx="1131322"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Moins de 55 ans</a:t>
              </a:r>
            </a:p>
          </p:txBody>
        </p:sp>
        <p:sp>
          <p:nvSpPr>
            <p:cNvPr id="137" name="ZoneTexte 136">
              <a:extLst>
                <a:ext uri="{FF2B5EF4-FFF2-40B4-BE49-F238E27FC236}">
                  <a16:creationId xmlns:a16="http://schemas.microsoft.com/office/drawing/2014/main" id="{2CD11764-EF3F-B901-44F4-3E6D23B6C405}"/>
                </a:ext>
              </a:extLst>
            </p:cNvPr>
            <p:cNvSpPr txBox="1"/>
            <p:nvPr/>
          </p:nvSpPr>
          <p:spPr>
            <a:xfrm>
              <a:off x="7353455" y="5673013"/>
              <a:ext cx="1131322"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De 55 à 56 ans</a:t>
              </a:r>
            </a:p>
          </p:txBody>
        </p:sp>
        <p:sp>
          <p:nvSpPr>
            <p:cNvPr id="139" name="ZoneTexte 138">
              <a:extLst>
                <a:ext uri="{FF2B5EF4-FFF2-40B4-BE49-F238E27FC236}">
                  <a16:creationId xmlns:a16="http://schemas.microsoft.com/office/drawing/2014/main" id="{364DEEE7-11B0-154E-FF58-B773D544270A}"/>
                </a:ext>
              </a:extLst>
            </p:cNvPr>
            <p:cNvSpPr txBox="1"/>
            <p:nvPr/>
          </p:nvSpPr>
          <p:spPr>
            <a:xfrm>
              <a:off x="6421254" y="5673013"/>
              <a:ext cx="1253126"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22,5 mois</a:t>
              </a:r>
            </a:p>
          </p:txBody>
        </p:sp>
        <p:sp>
          <p:nvSpPr>
            <p:cNvPr id="141" name="ZoneTexte 140">
              <a:extLst>
                <a:ext uri="{FF2B5EF4-FFF2-40B4-BE49-F238E27FC236}">
                  <a16:creationId xmlns:a16="http://schemas.microsoft.com/office/drawing/2014/main" id="{3715885F-07B5-CEE7-DF38-A977AC1DE50E}"/>
                </a:ext>
              </a:extLst>
            </p:cNvPr>
            <p:cNvSpPr txBox="1"/>
            <p:nvPr/>
          </p:nvSpPr>
          <p:spPr>
            <a:xfrm>
              <a:off x="6295082" y="5926529"/>
              <a:ext cx="1505470"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27 mois</a:t>
              </a:r>
            </a:p>
          </p:txBody>
        </p:sp>
        <p:sp>
          <p:nvSpPr>
            <p:cNvPr id="143" name="ZoneTexte 142">
              <a:extLst>
                <a:ext uri="{FF2B5EF4-FFF2-40B4-BE49-F238E27FC236}">
                  <a16:creationId xmlns:a16="http://schemas.microsoft.com/office/drawing/2014/main" id="{363CFC64-6698-0F40-63A9-3D23CADC0A95}"/>
                </a:ext>
              </a:extLst>
            </p:cNvPr>
            <p:cNvSpPr txBox="1"/>
            <p:nvPr/>
          </p:nvSpPr>
          <p:spPr>
            <a:xfrm>
              <a:off x="7234010" y="5926529"/>
              <a:ext cx="1370212"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Moins de 57 ans</a:t>
              </a:r>
            </a:p>
          </p:txBody>
        </p:sp>
        <p:sp>
          <p:nvSpPr>
            <p:cNvPr id="147" name="ZoneTexte 146">
              <a:extLst>
                <a:ext uri="{FF2B5EF4-FFF2-40B4-BE49-F238E27FC236}">
                  <a16:creationId xmlns:a16="http://schemas.microsoft.com/office/drawing/2014/main" id="{EC0DBA46-807A-2593-D4F1-B8756C2B0A68}"/>
                </a:ext>
              </a:extLst>
            </p:cNvPr>
            <p:cNvSpPr txBox="1"/>
            <p:nvPr/>
          </p:nvSpPr>
          <p:spPr>
            <a:xfrm>
              <a:off x="6500493" y="6126885"/>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AVANT</a:t>
              </a:r>
            </a:p>
          </p:txBody>
        </p:sp>
      </p:grpSp>
      <p:cxnSp>
        <p:nvCxnSpPr>
          <p:cNvPr id="149" name="Connecteur droit avec flèche 148">
            <a:extLst>
              <a:ext uri="{FF2B5EF4-FFF2-40B4-BE49-F238E27FC236}">
                <a16:creationId xmlns:a16="http://schemas.microsoft.com/office/drawing/2014/main" id="{C49EA7D4-8D9A-F08E-2844-3A44A558F163}"/>
              </a:ext>
            </a:extLst>
          </p:cNvPr>
          <p:cNvCxnSpPr>
            <a:cxnSpLocks/>
          </p:cNvCxnSpPr>
          <p:nvPr/>
        </p:nvCxnSpPr>
        <p:spPr>
          <a:xfrm>
            <a:off x="8676183" y="5542369"/>
            <a:ext cx="72437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151" name="Groupe 150">
            <a:extLst>
              <a:ext uri="{FF2B5EF4-FFF2-40B4-BE49-F238E27FC236}">
                <a16:creationId xmlns:a16="http://schemas.microsoft.com/office/drawing/2014/main" id="{C1A6BAF7-6317-278B-31E2-37DADD5A376E}"/>
              </a:ext>
            </a:extLst>
          </p:cNvPr>
          <p:cNvGrpSpPr/>
          <p:nvPr/>
        </p:nvGrpSpPr>
        <p:grpSpPr>
          <a:xfrm>
            <a:off x="9091928" y="4939884"/>
            <a:ext cx="2401787" cy="829407"/>
            <a:chOff x="6082990" y="5043661"/>
            <a:chExt cx="2401787" cy="829407"/>
          </a:xfrm>
        </p:grpSpPr>
        <p:pic>
          <p:nvPicPr>
            <p:cNvPr id="152" name="Graphique 151" descr="Calendrier mensuel avec un remplissage uni">
              <a:extLst>
                <a:ext uri="{FF2B5EF4-FFF2-40B4-BE49-F238E27FC236}">
                  <a16:creationId xmlns:a16="http://schemas.microsoft.com/office/drawing/2014/main" id="{F4C95120-F24B-64F9-B493-DDE4D2EEDAFB}"/>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875186" y="5043661"/>
              <a:ext cx="345262" cy="345262"/>
            </a:xfrm>
            <a:prstGeom prst="rect">
              <a:avLst/>
            </a:prstGeom>
          </p:spPr>
        </p:pic>
        <p:sp>
          <p:nvSpPr>
            <p:cNvPr id="153" name="ZoneTexte 152">
              <a:extLst>
                <a:ext uri="{FF2B5EF4-FFF2-40B4-BE49-F238E27FC236}">
                  <a16:creationId xmlns:a16="http://schemas.microsoft.com/office/drawing/2014/main" id="{86E18AE5-0069-F407-29B9-BF459B05918B}"/>
                </a:ext>
              </a:extLst>
            </p:cNvPr>
            <p:cNvSpPr txBox="1"/>
            <p:nvPr/>
          </p:nvSpPr>
          <p:spPr>
            <a:xfrm>
              <a:off x="6082990" y="5470137"/>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15 mois</a:t>
              </a:r>
            </a:p>
          </p:txBody>
        </p:sp>
        <p:pic>
          <p:nvPicPr>
            <p:cNvPr id="154" name="Graphique 153" descr="Utilisateurs avec un remplissage uni">
              <a:extLst>
                <a:ext uri="{FF2B5EF4-FFF2-40B4-BE49-F238E27FC236}">
                  <a16:creationId xmlns:a16="http://schemas.microsoft.com/office/drawing/2014/main" id="{C50A6B91-EF00-23FB-221F-F16DB583E0E3}"/>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7746485" y="5043661"/>
              <a:ext cx="345262" cy="345262"/>
            </a:xfrm>
            <a:prstGeom prst="rect">
              <a:avLst/>
            </a:prstGeom>
          </p:spPr>
        </p:pic>
        <p:sp>
          <p:nvSpPr>
            <p:cNvPr id="155" name="ZoneTexte 154">
              <a:extLst>
                <a:ext uri="{FF2B5EF4-FFF2-40B4-BE49-F238E27FC236}">
                  <a16:creationId xmlns:a16="http://schemas.microsoft.com/office/drawing/2014/main" id="{BAE3188A-55C3-9EBA-DCB9-1BC29A10BB49}"/>
                </a:ext>
              </a:extLst>
            </p:cNvPr>
            <p:cNvSpPr txBox="1"/>
            <p:nvPr/>
          </p:nvSpPr>
          <p:spPr>
            <a:xfrm>
              <a:off x="7353455" y="5470137"/>
              <a:ext cx="1131322"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Moins de 55 ans</a:t>
              </a:r>
            </a:p>
          </p:txBody>
        </p:sp>
        <p:sp>
          <p:nvSpPr>
            <p:cNvPr id="156" name="ZoneTexte 155">
              <a:extLst>
                <a:ext uri="{FF2B5EF4-FFF2-40B4-BE49-F238E27FC236}">
                  <a16:creationId xmlns:a16="http://schemas.microsoft.com/office/drawing/2014/main" id="{E5E9E9E7-4E4B-C0CE-E3EF-1737846FCCD6}"/>
                </a:ext>
              </a:extLst>
            </p:cNvPr>
            <p:cNvSpPr txBox="1"/>
            <p:nvPr/>
          </p:nvSpPr>
          <p:spPr>
            <a:xfrm>
              <a:off x="7353455" y="5673013"/>
              <a:ext cx="1131322"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Plus de 55 ans </a:t>
              </a:r>
            </a:p>
          </p:txBody>
        </p:sp>
        <p:sp>
          <p:nvSpPr>
            <p:cNvPr id="157" name="ZoneTexte 156">
              <a:extLst>
                <a:ext uri="{FF2B5EF4-FFF2-40B4-BE49-F238E27FC236}">
                  <a16:creationId xmlns:a16="http://schemas.microsoft.com/office/drawing/2014/main" id="{AF6F1595-5DE4-D838-B1CF-E19D37B0E007}"/>
                </a:ext>
              </a:extLst>
            </p:cNvPr>
            <p:cNvSpPr txBox="1"/>
            <p:nvPr/>
          </p:nvSpPr>
          <p:spPr>
            <a:xfrm>
              <a:off x="6421254" y="5673013"/>
              <a:ext cx="1253126"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20,5 mois</a:t>
              </a:r>
            </a:p>
          </p:txBody>
        </p:sp>
      </p:grpSp>
      <p:sp>
        <p:nvSpPr>
          <p:cNvPr id="166" name="ZoneTexte 165">
            <a:extLst>
              <a:ext uri="{FF2B5EF4-FFF2-40B4-BE49-F238E27FC236}">
                <a16:creationId xmlns:a16="http://schemas.microsoft.com/office/drawing/2014/main" id="{32C8725A-94FF-AA2E-8003-0632B5CF24D7}"/>
              </a:ext>
            </a:extLst>
          </p:cNvPr>
          <p:cNvSpPr txBox="1"/>
          <p:nvPr/>
        </p:nvSpPr>
        <p:spPr>
          <a:xfrm>
            <a:off x="9763837" y="6058892"/>
            <a:ext cx="1929655" cy="200055"/>
          </a:xfrm>
          <a:prstGeom prst="rect">
            <a:avLst/>
          </a:prstGeom>
          <a:noFill/>
        </p:spPr>
        <p:txBody>
          <a:bodyPr wrap="square" rtlCol="0">
            <a:spAutoFit/>
          </a:bodyPr>
          <a:lstStyle/>
          <a:p>
            <a:pPr algn="ctr"/>
            <a:r>
              <a:rPr lang="fr-FR" sz="700" b="1">
                <a:solidFill>
                  <a:schemeClr val="accent3"/>
                </a:solidFill>
                <a:latin typeface="+mj-lt"/>
                <a:cs typeface="Segoe UI" panose="020B0502040204020203" pitchFamily="34" charset="0"/>
              </a:rPr>
              <a:t>APRÈS</a:t>
            </a:r>
          </a:p>
        </p:txBody>
      </p:sp>
    </p:spTree>
    <p:extLst>
      <p:ext uri="{BB962C8B-B14F-4D97-AF65-F5344CB8AC3E}">
        <p14:creationId xmlns:p14="http://schemas.microsoft.com/office/powerpoint/2010/main" val="210173010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Espace réservé du texte 2">
            <a:extLst>
              <a:ext uri="{FF2B5EF4-FFF2-40B4-BE49-F238E27FC236}">
                <a16:creationId xmlns:a16="http://schemas.microsoft.com/office/drawing/2014/main" id="{ADD30710-31EA-49DD-7310-7BCAC0A00D36}"/>
              </a:ext>
            </a:extLst>
          </p:cNvPr>
          <p:cNvSpPr txBox="1">
            <a:spLocks/>
          </p:cNvSpPr>
          <p:nvPr/>
        </p:nvSpPr>
        <p:spPr>
          <a:xfrm>
            <a:off x="7308195" y="3569799"/>
            <a:ext cx="4148110" cy="177373"/>
          </a:xfrm>
          <a:prstGeom prst="rect">
            <a:avLst/>
          </a:prstGeom>
          <a:solidFill>
            <a:schemeClr val="bg1"/>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r>
              <a:rPr lang="fr-FR">
                <a:solidFill>
                  <a:schemeClr val="accent3"/>
                </a:solidFill>
                <a:highlight>
                  <a:srgbClr val="FFFF00"/>
                </a:highlight>
                <a:latin typeface="Segoe UI" panose="020B0502040204020203" pitchFamily="34" charset="0"/>
                <a:cs typeface="Segoe UI" panose="020B0502040204020203" pitchFamily="34" charset="0"/>
              </a:rPr>
              <a:t> </a:t>
            </a:r>
          </a:p>
        </p:txBody>
      </p:sp>
      <p:sp>
        <p:nvSpPr>
          <p:cNvPr id="22" name="Espace réservé du texte 2">
            <a:extLst>
              <a:ext uri="{FF2B5EF4-FFF2-40B4-BE49-F238E27FC236}">
                <a16:creationId xmlns:a16="http://schemas.microsoft.com/office/drawing/2014/main" id="{B6E580E4-79F2-6167-B3D5-15BFE9532498}"/>
              </a:ext>
            </a:extLst>
          </p:cNvPr>
          <p:cNvSpPr txBox="1">
            <a:spLocks/>
          </p:cNvSpPr>
          <p:nvPr/>
        </p:nvSpPr>
        <p:spPr>
          <a:xfrm>
            <a:off x="878793" y="1413076"/>
            <a:ext cx="5537247" cy="3475224"/>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sp>
        <p:nvSpPr>
          <p:cNvPr id="2" name="Espace réservé du texte 1">
            <a:extLst>
              <a:ext uri="{FF2B5EF4-FFF2-40B4-BE49-F238E27FC236}">
                <a16:creationId xmlns:a16="http://schemas.microsoft.com/office/drawing/2014/main" id="{8529B921-0C59-CA2C-F223-1957AD2403BF}"/>
              </a:ext>
            </a:extLst>
          </p:cNvPr>
          <p:cNvSpPr>
            <a:spLocks noGrp="1"/>
          </p:cNvSpPr>
          <p:nvPr>
            <p:ph type="body" sz="quarter" idx="15"/>
          </p:nvPr>
        </p:nvSpPr>
        <p:spPr>
          <a:xfrm>
            <a:off x="4745182" y="360000"/>
            <a:ext cx="6822818" cy="131836"/>
          </a:xfrm>
        </p:spPr>
        <p:txBody>
          <a:bodyPr/>
          <a:lstStyle/>
          <a:p>
            <a:r>
              <a:rPr lang="fr-FR"/>
              <a:t>APPARIEMENTS SUR LE Marché DU TRAVAIL ET RUPTURES CONVENTIONNELLES</a:t>
            </a:r>
          </a:p>
          <a:p>
            <a:endParaRPr lang="fr-FR"/>
          </a:p>
        </p:txBody>
      </p:sp>
      <p:sp>
        <p:nvSpPr>
          <p:cNvPr id="4" name="Espace réservé du texte 3">
            <a:extLst>
              <a:ext uri="{FF2B5EF4-FFF2-40B4-BE49-F238E27FC236}">
                <a16:creationId xmlns:a16="http://schemas.microsoft.com/office/drawing/2014/main" id="{901FCD9A-0B9B-085E-DEC7-FB3FCA3A5840}"/>
              </a:ext>
            </a:extLst>
          </p:cNvPr>
          <p:cNvSpPr>
            <a:spLocks noGrp="1"/>
          </p:cNvSpPr>
          <p:nvPr>
            <p:ph type="body" sz="quarter" idx="17"/>
          </p:nvPr>
        </p:nvSpPr>
        <p:spPr>
          <a:xfrm>
            <a:off x="874688" y="581287"/>
            <a:ext cx="10990655" cy="432000"/>
          </a:xfrm>
        </p:spPr>
        <p:txBody>
          <a:bodyPr/>
          <a:lstStyle/>
          <a:p>
            <a:pPr algn="just"/>
            <a:r>
              <a:rPr lang="fr-FR" sz="1600">
                <a:solidFill>
                  <a:schemeClr val="accent5"/>
                </a:solidFill>
              </a:rPr>
              <a:t>REVUE DE LITTÉRATURE : UN RETOUR PLUS LENT À L’EMPLOI SALARIÉ POUR LES ALLOCATAIRES SIGNATAIRES D’UNE RUPTURE CONVENTIONNELLE INDIVIDUELLE</a:t>
            </a:r>
          </a:p>
          <a:p>
            <a:endParaRPr lang="fr-FR">
              <a:highlight>
                <a:srgbClr val="FFFF00"/>
              </a:highlight>
            </a:endParaRPr>
          </a:p>
        </p:txBody>
      </p:sp>
      <p:sp>
        <p:nvSpPr>
          <p:cNvPr id="5" name="Espace réservé du texte 4">
            <a:extLst>
              <a:ext uri="{FF2B5EF4-FFF2-40B4-BE49-F238E27FC236}">
                <a16:creationId xmlns:a16="http://schemas.microsoft.com/office/drawing/2014/main" id="{B6161DD0-9583-DCDF-2A2C-283E02DB3524}"/>
              </a:ext>
            </a:extLst>
          </p:cNvPr>
          <p:cNvSpPr>
            <a:spLocks noGrp="1"/>
          </p:cNvSpPr>
          <p:nvPr>
            <p:ph type="body" sz="quarter" idx="18"/>
          </p:nvPr>
        </p:nvSpPr>
        <p:spPr>
          <a:xfrm>
            <a:off x="907761" y="1059131"/>
            <a:ext cx="7885717" cy="301171"/>
          </a:xfrm>
        </p:spPr>
        <p:txBody>
          <a:bodyPr/>
          <a:lstStyle/>
          <a:p>
            <a:r>
              <a:rPr lang="fr-FR">
                <a:solidFill>
                  <a:schemeClr val="accent3"/>
                </a:solidFill>
              </a:rPr>
              <a:t> Le « retour à l’emploi plus lent » :  repose sur trois hypothèses fortes</a:t>
            </a:r>
          </a:p>
          <a:p>
            <a:endParaRPr lang="fr-FR"/>
          </a:p>
        </p:txBody>
      </p:sp>
      <p:sp>
        <p:nvSpPr>
          <p:cNvPr id="32" name="ZoneTexte 31">
            <a:extLst>
              <a:ext uri="{FF2B5EF4-FFF2-40B4-BE49-F238E27FC236}">
                <a16:creationId xmlns:a16="http://schemas.microsoft.com/office/drawing/2014/main" id="{1A9E9212-B46E-C3C4-FF1F-C81A9FDD5ABA}"/>
              </a:ext>
            </a:extLst>
          </p:cNvPr>
          <p:cNvSpPr txBox="1"/>
          <p:nvPr/>
        </p:nvSpPr>
        <p:spPr>
          <a:xfrm>
            <a:off x="975609" y="4413742"/>
            <a:ext cx="5440431" cy="415498"/>
          </a:xfrm>
          <a:prstGeom prst="rect">
            <a:avLst/>
          </a:prstGeom>
          <a:noFill/>
        </p:spPr>
        <p:txBody>
          <a:bodyPr wrap="square" rtlCol="0">
            <a:spAutoFit/>
          </a:bodyPr>
          <a:lstStyle/>
          <a:p>
            <a:pPr algn="just"/>
            <a:r>
              <a:rPr lang="fr-FR" sz="700" i="1">
                <a:latin typeface="Segoe UI" panose="020B0502040204020203" pitchFamily="34" charset="0"/>
                <a:cs typeface="Segoe UI" panose="020B0502040204020203" pitchFamily="34" charset="0"/>
              </a:rPr>
              <a:t>Source : Minima sociaux, droits d’assurance chômage et parcours salariés (MiDAS) – Vague 7 ; traitement DARES et DG Trésor</a:t>
            </a:r>
          </a:p>
          <a:p>
            <a:pPr algn="just"/>
            <a:r>
              <a:rPr lang="fr-FR" sz="700" i="1">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 liée à une RCI</a:t>
            </a:r>
          </a:p>
        </p:txBody>
      </p:sp>
      <p:sp>
        <p:nvSpPr>
          <p:cNvPr id="8" name="ZoneTexte 7">
            <a:extLst>
              <a:ext uri="{FF2B5EF4-FFF2-40B4-BE49-F238E27FC236}">
                <a16:creationId xmlns:a16="http://schemas.microsoft.com/office/drawing/2014/main" id="{F0D83E1B-2A33-81BD-DA39-2741447AF12B}"/>
              </a:ext>
            </a:extLst>
          </p:cNvPr>
          <p:cNvSpPr txBox="1"/>
          <p:nvPr/>
        </p:nvSpPr>
        <p:spPr>
          <a:xfrm>
            <a:off x="893880" y="1463251"/>
            <a:ext cx="5440431" cy="55399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SELON LA DARES, LE TAUX DE PRESENCE EN EMPLOI SALARIE DES ALLOCATAIRES RCI EST INFERIEUR DE 9 POINTS EN MOYENNE PAR RAPPORT AU RESTE DES ALLOCATAIRES DANS L’ANNÉE QUI SUIT LA FIN DE CONTRAT</a:t>
            </a:r>
          </a:p>
        </p:txBody>
      </p:sp>
      <p:pic>
        <p:nvPicPr>
          <p:cNvPr id="12" name="Image 11">
            <a:extLst>
              <a:ext uri="{FF2B5EF4-FFF2-40B4-BE49-F238E27FC236}">
                <a16:creationId xmlns:a16="http://schemas.microsoft.com/office/drawing/2014/main" id="{D44D0240-C83E-C8E8-2E26-BA49C3D52F9B}"/>
              </a:ext>
            </a:extLst>
          </p:cNvPr>
          <p:cNvPicPr>
            <a:picLocks noChangeAspect="1"/>
          </p:cNvPicPr>
          <p:nvPr/>
        </p:nvPicPr>
        <p:blipFill>
          <a:blip r:embed="rId3"/>
          <a:stretch>
            <a:fillRect/>
          </a:stretch>
        </p:blipFill>
        <p:spPr>
          <a:xfrm>
            <a:off x="1536746" y="2042963"/>
            <a:ext cx="4135986" cy="1878952"/>
          </a:xfrm>
          <a:prstGeom prst="rect">
            <a:avLst/>
          </a:prstGeom>
        </p:spPr>
      </p:pic>
      <p:sp>
        <p:nvSpPr>
          <p:cNvPr id="15" name="ZoneTexte 14">
            <a:extLst>
              <a:ext uri="{FF2B5EF4-FFF2-40B4-BE49-F238E27FC236}">
                <a16:creationId xmlns:a16="http://schemas.microsoft.com/office/drawing/2014/main" id="{890268E7-BC1B-E870-DCE1-7F7FE7C8B91B}"/>
              </a:ext>
            </a:extLst>
          </p:cNvPr>
          <p:cNvSpPr txBox="1"/>
          <p:nvPr/>
        </p:nvSpPr>
        <p:spPr>
          <a:xfrm>
            <a:off x="1399702" y="3966211"/>
            <a:ext cx="4410074" cy="400110"/>
          </a:xfrm>
          <a:prstGeom prst="rect">
            <a:avLst/>
          </a:prstGeom>
          <a:noFill/>
        </p:spPr>
        <p:txBody>
          <a:bodyPr wrap="square" rtlCol="0">
            <a:spAutoFit/>
          </a:bodyPr>
          <a:lstStyle/>
          <a:p>
            <a:pPr algn="ctr"/>
            <a:r>
              <a:rPr lang="fr-FR" sz="1000" b="1" spc="-30">
                <a:solidFill>
                  <a:schemeClr val="accent3"/>
                </a:solidFill>
                <a:latin typeface="Segoe UI" panose="020B0502040204020203" pitchFamily="34" charset="0"/>
                <a:cs typeface="Segoe UI" panose="020B0502040204020203" pitchFamily="34" charset="0"/>
              </a:rPr>
              <a:t>TAUX DE PRÉSENCE EN EMPLOI SALARIÉ DES ALLOCATAIRES DE L’ASSURANCE-CHÔMAGE À LA SUITE D’UNE FIN DE CONTRAT</a:t>
            </a:r>
          </a:p>
        </p:txBody>
      </p:sp>
      <p:cxnSp>
        <p:nvCxnSpPr>
          <p:cNvPr id="26" name="Connecteur droit 25">
            <a:extLst>
              <a:ext uri="{FF2B5EF4-FFF2-40B4-BE49-F238E27FC236}">
                <a16:creationId xmlns:a16="http://schemas.microsoft.com/office/drawing/2014/main" id="{6A5D7B02-942C-19EF-E16C-B2DCCBBE218D}"/>
              </a:ext>
            </a:extLst>
          </p:cNvPr>
          <p:cNvCxnSpPr>
            <a:cxnSpLocks/>
          </p:cNvCxnSpPr>
          <p:nvPr/>
        </p:nvCxnSpPr>
        <p:spPr>
          <a:xfrm>
            <a:off x="6530123" y="1413075"/>
            <a:ext cx="0" cy="4964865"/>
          </a:xfrm>
          <a:prstGeom prst="line">
            <a:avLst/>
          </a:prstGeom>
          <a:ln w="12700">
            <a:prstDash val="sysDot"/>
          </a:ln>
        </p:spPr>
        <p:style>
          <a:lnRef idx="3">
            <a:schemeClr val="accent3"/>
          </a:lnRef>
          <a:fillRef idx="0">
            <a:schemeClr val="accent3"/>
          </a:fillRef>
          <a:effectRef idx="2">
            <a:schemeClr val="accent3"/>
          </a:effectRef>
          <a:fontRef idx="minor">
            <a:schemeClr val="tx1"/>
          </a:fontRef>
        </p:style>
      </p:cxnSp>
      <p:sp>
        <p:nvSpPr>
          <p:cNvPr id="34" name="Espace réservé du texte 2">
            <a:extLst>
              <a:ext uri="{FF2B5EF4-FFF2-40B4-BE49-F238E27FC236}">
                <a16:creationId xmlns:a16="http://schemas.microsoft.com/office/drawing/2014/main" id="{FD9622BF-AAC3-F86F-695A-BA844AAF99BD}"/>
              </a:ext>
            </a:extLst>
          </p:cNvPr>
          <p:cNvSpPr txBox="1">
            <a:spLocks/>
          </p:cNvSpPr>
          <p:nvPr/>
        </p:nvSpPr>
        <p:spPr>
          <a:xfrm>
            <a:off x="6678727" y="1413075"/>
            <a:ext cx="5186619" cy="1894005"/>
          </a:xfrm>
          <a:prstGeom prst="rect">
            <a:avLst/>
          </a:prstGeom>
          <a:solidFill>
            <a:srgbClr val="E8F2E0"/>
          </a:solidFill>
          <a:ln>
            <a:solidFill>
              <a:srgbClr val="FFFFFF"/>
            </a:solidFill>
          </a:ln>
        </p:spPr>
        <p:txBody>
          <a:bodyPr lIns="0" tIns="0" rIns="0" bIns="0" numCol="1" anchor="t"/>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endParaRPr lang="fr-FR">
              <a:solidFill>
                <a:schemeClr val="accent3"/>
              </a:solidFill>
              <a:highlight>
                <a:srgbClr val="FFFF00"/>
              </a:highlight>
              <a:latin typeface="Segoe UI" panose="020B0502040204020203" pitchFamily="34" charset="0"/>
              <a:cs typeface="Segoe UI" panose="020B0502040204020203" pitchFamily="34" charset="0"/>
            </a:endParaRPr>
          </a:p>
        </p:txBody>
      </p:sp>
      <p:grpSp>
        <p:nvGrpSpPr>
          <p:cNvPr id="53" name="Groupe 52">
            <a:extLst>
              <a:ext uri="{FF2B5EF4-FFF2-40B4-BE49-F238E27FC236}">
                <a16:creationId xmlns:a16="http://schemas.microsoft.com/office/drawing/2014/main" id="{84DF1A94-6A50-2F9F-0AEB-C36D39BF72B2}"/>
              </a:ext>
            </a:extLst>
          </p:cNvPr>
          <p:cNvGrpSpPr/>
          <p:nvPr/>
        </p:nvGrpSpPr>
        <p:grpSpPr>
          <a:xfrm>
            <a:off x="6861963" y="1829043"/>
            <a:ext cx="5003383" cy="1169551"/>
            <a:chOff x="6723511" y="1491131"/>
            <a:chExt cx="5003383" cy="1169551"/>
          </a:xfrm>
        </p:grpSpPr>
        <p:sp>
          <p:nvSpPr>
            <p:cNvPr id="43" name="ZoneTexte 42">
              <a:extLst>
                <a:ext uri="{FF2B5EF4-FFF2-40B4-BE49-F238E27FC236}">
                  <a16:creationId xmlns:a16="http://schemas.microsoft.com/office/drawing/2014/main" id="{EF163FE4-5F49-D3A7-6AB3-4F70877E02C8}"/>
                </a:ext>
              </a:extLst>
            </p:cNvPr>
            <p:cNvSpPr txBox="1"/>
            <p:nvPr/>
          </p:nvSpPr>
          <p:spPr>
            <a:xfrm>
              <a:off x="6723511" y="1491131"/>
              <a:ext cx="1486293" cy="1169551"/>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9</a:t>
              </a:r>
              <a:r>
                <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a:latin typeface="Segoe UI" panose="020B0502040204020203" pitchFamily="34" charset="0"/>
                  <a:cs typeface="Segoe UI" panose="020B0502040204020203" pitchFamily="34" charset="0"/>
                </a:rPr>
                <a:t>   </a:t>
              </a:r>
              <a:r>
                <a:rPr kumimoji="0" lang="fr-FR" sz="1000" i="0" u="none" strike="noStrike" kern="1200" cap="none" spc="0" normalizeH="0" baseline="0" noProof="0">
                  <a:ln>
                    <a:noFill/>
                  </a:ln>
                  <a:effectLst/>
                  <a:uLnTx/>
                  <a:uFillTx/>
                  <a:latin typeface="Segoe UI" panose="020B0502040204020203" pitchFamily="34" charset="0"/>
                  <a:cs typeface="Segoe UI" panose="020B0502040204020203" pitchFamily="34" charset="0"/>
                </a:rPr>
                <a:t>points d’écart au </a:t>
              </a:r>
              <a:r>
                <a:rPr lang="fr-FR" sz="1000">
                  <a:latin typeface="Segoe UI" panose="020B0502040204020203" pitchFamily="34" charset="0"/>
                  <a:cs typeface="Segoe UI" panose="020B0502040204020203" pitchFamily="34" charset="0"/>
                </a:rPr>
                <a:t>t</a:t>
              </a:r>
              <a:r>
                <a:rPr kumimoji="0" lang="fr-FR" sz="1000" i="0" u="none" strike="noStrike" kern="1200" cap="none" spc="0" normalizeH="0" baseline="0" noProof="0">
                  <a:ln>
                    <a:noFill/>
                  </a:ln>
                  <a:effectLst/>
                  <a:uLnTx/>
                  <a:uFillTx/>
                  <a:latin typeface="Segoe UI" panose="020B0502040204020203" pitchFamily="34" charset="0"/>
                  <a:cs typeface="Segoe UI" panose="020B0502040204020203" pitchFamily="34" charset="0"/>
                </a:rPr>
                <a:t>aux de présence en emploi salarié sur 12 mois par rapport au reste des allocataires</a:t>
              </a:r>
            </a:p>
          </p:txBody>
        </p:sp>
        <p:sp>
          <p:nvSpPr>
            <p:cNvPr id="46" name="ZoneTexte 45">
              <a:extLst>
                <a:ext uri="{FF2B5EF4-FFF2-40B4-BE49-F238E27FC236}">
                  <a16:creationId xmlns:a16="http://schemas.microsoft.com/office/drawing/2014/main" id="{491F453F-0DB2-1A64-75CB-36DB7A7318A2}"/>
                </a:ext>
              </a:extLst>
            </p:cNvPr>
            <p:cNvSpPr txBox="1"/>
            <p:nvPr/>
          </p:nvSpPr>
          <p:spPr>
            <a:xfrm>
              <a:off x="8326753" y="1491131"/>
              <a:ext cx="1486293" cy="1169551"/>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4</a:t>
              </a:r>
              <a:r>
                <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a:latin typeface="Segoe UI" panose="020B0502040204020203" pitchFamily="34" charset="0"/>
                  <a:cs typeface="Segoe UI" panose="020B0502040204020203" pitchFamily="34" charset="0"/>
                </a:rPr>
                <a:t>   </a:t>
              </a:r>
              <a:r>
                <a:rPr kumimoji="0" lang="fr-FR" sz="1000" i="0" u="none" strike="noStrike" kern="1200" cap="none" spc="0" normalizeH="0" baseline="0" noProof="0">
                  <a:ln>
                    <a:noFill/>
                  </a:ln>
                  <a:effectLst/>
                  <a:uLnTx/>
                  <a:uFillTx/>
                  <a:latin typeface="Segoe UI" panose="020B0502040204020203" pitchFamily="34" charset="0"/>
                  <a:cs typeface="Segoe UI" panose="020B0502040204020203" pitchFamily="34" charset="0"/>
                </a:rPr>
                <a:t>points d’écart au  </a:t>
              </a:r>
              <a:r>
                <a:rPr lang="fr-FR" sz="1000">
                  <a:latin typeface="Segoe UI" panose="020B0502040204020203" pitchFamily="34" charset="0"/>
                  <a:cs typeface="Segoe UI" panose="020B0502040204020203" pitchFamily="34" charset="0"/>
                </a:rPr>
                <a:t>t</a:t>
              </a:r>
              <a:r>
                <a:rPr kumimoji="0" lang="fr-FR" sz="1000" i="0" u="none" strike="noStrike" kern="1200" cap="none" spc="0" normalizeH="0" baseline="0" noProof="0">
                  <a:ln>
                    <a:noFill/>
                  </a:ln>
                  <a:effectLst/>
                  <a:uLnTx/>
                  <a:uFillTx/>
                  <a:latin typeface="Segoe UI" panose="020B0502040204020203" pitchFamily="34" charset="0"/>
                  <a:cs typeface="Segoe UI" panose="020B0502040204020203" pitchFamily="34" charset="0"/>
                </a:rPr>
                <a:t>aux de présence en emploi salarié durable attendu à l’aune de leurs caractéristiques</a:t>
              </a:r>
            </a:p>
          </p:txBody>
        </p:sp>
        <p:sp>
          <p:nvSpPr>
            <p:cNvPr id="52" name="ZoneTexte 51">
              <a:extLst>
                <a:ext uri="{FF2B5EF4-FFF2-40B4-BE49-F238E27FC236}">
                  <a16:creationId xmlns:a16="http://schemas.microsoft.com/office/drawing/2014/main" id="{856DFE32-20D5-B292-C6AD-95357E4BAD87}"/>
                </a:ext>
              </a:extLst>
            </p:cNvPr>
            <p:cNvSpPr txBox="1"/>
            <p:nvPr/>
          </p:nvSpPr>
          <p:spPr>
            <a:xfrm>
              <a:off x="9994977" y="1491131"/>
              <a:ext cx="1731917" cy="1169551"/>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40</a:t>
              </a:r>
              <a:endPar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a:latin typeface="Segoe UI" panose="020B0502040204020203" pitchFamily="34" charset="0"/>
                  <a:cs typeface="Segoe UI" panose="020B0502040204020203" pitchFamily="34" charset="0"/>
                </a:rPr>
                <a:t>   </a:t>
              </a:r>
              <a:r>
                <a:rPr kumimoji="0" lang="fr-FR" sz="1000" i="0" u="none" strike="noStrike" kern="1200" cap="none" spc="0" normalizeH="0" baseline="0" noProof="0">
                  <a:ln>
                    <a:noFill/>
                  </a:ln>
                  <a:effectLst/>
                  <a:uLnTx/>
                  <a:uFillTx/>
                  <a:latin typeface="Segoe UI" panose="020B0502040204020203" pitchFamily="34" charset="0"/>
                  <a:cs typeface="Segoe UI" panose="020B0502040204020203" pitchFamily="34" charset="0"/>
                </a:rPr>
                <a:t>% du taux de présence en emploi salarié durable s’expliquerait par les caractéristiques favorables des allocataires</a:t>
              </a:r>
            </a:p>
          </p:txBody>
        </p:sp>
      </p:grpSp>
      <p:sp>
        <p:nvSpPr>
          <p:cNvPr id="58" name="Espace réservé du texte 2">
            <a:extLst>
              <a:ext uri="{FF2B5EF4-FFF2-40B4-BE49-F238E27FC236}">
                <a16:creationId xmlns:a16="http://schemas.microsoft.com/office/drawing/2014/main" id="{5D2BBF83-20D0-10C4-746F-D8987B31DD0E}"/>
              </a:ext>
            </a:extLst>
          </p:cNvPr>
          <p:cNvSpPr txBox="1">
            <a:spLocks/>
          </p:cNvSpPr>
          <p:nvPr/>
        </p:nvSpPr>
        <p:spPr>
          <a:xfrm>
            <a:off x="6678726" y="3456693"/>
            <a:ext cx="5186619" cy="1376947"/>
          </a:xfrm>
          <a:prstGeom prst="rect">
            <a:avLst/>
          </a:prstGeom>
          <a:solidFill>
            <a:srgbClr val="E8F2E0"/>
          </a:solidFill>
          <a:ln>
            <a:solidFill>
              <a:srgbClr val="FFFFFF"/>
            </a:solidFill>
          </a:ln>
        </p:spPr>
        <p:txBody>
          <a:bodyPr lIns="0" tIns="0" rIns="0" bIns="0" numCol="1" anchor="t"/>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endParaRPr lang="fr-FR">
              <a:solidFill>
                <a:schemeClr val="accent3"/>
              </a:solidFill>
              <a:highlight>
                <a:srgbClr val="FFFF00"/>
              </a:highlight>
              <a:latin typeface="Segoe UI" panose="020B0502040204020203" pitchFamily="34" charset="0"/>
              <a:cs typeface="Segoe UI" panose="020B0502040204020203" pitchFamily="34" charset="0"/>
            </a:endParaRPr>
          </a:p>
        </p:txBody>
      </p:sp>
      <p:sp>
        <p:nvSpPr>
          <p:cNvPr id="66" name="Flèche : bas 65">
            <a:extLst>
              <a:ext uri="{FF2B5EF4-FFF2-40B4-BE49-F238E27FC236}">
                <a16:creationId xmlns:a16="http://schemas.microsoft.com/office/drawing/2014/main" id="{CA5ADEAF-164B-6E67-1ABA-DA96AD8F7A4C}"/>
              </a:ext>
            </a:extLst>
          </p:cNvPr>
          <p:cNvSpPr/>
          <p:nvPr/>
        </p:nvSpPr>
        <p:spPr>
          <a:xfrm>
            <a:off x="7360631" y="3097431"/>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Flèche : bas 67">
            <a:extLst>
              <a:ext uri="{FF2B5EF4-FFF2-40B4-BE49-F238E27FC236}">
                <a16:creationId xmlns:a16="http://schemas.microsoft.com/office/drawing/2014/main" id="{FD0008D0-651F-FC30-299F-D7AE7030F73E}"/>
              </a:ext>
            </a:extLst>
          </p:cNvPr>
          <p:cNvSpPr/>
          <p:nvPr/>
        </p:nvSpPr>
        <p:spPr>
          <a:xfrm>
            <a:off x="8966035" y="3097431"/>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Flèche : bas 71">
            <a:extLst>
              <a:ext uri="{FF2B5EF4-FFF2-40B4-BE49-F238E27FC236}">
                <a16:creationId xmlns:a16="http://schemas.microsoft.com/office/drawing/2014/main" id="{8AF7BB06-F72B-76F2-0555-64837C661575}"/>
              </a:ext>
            </a:extLst>
          </p:cNvPr>
          <p:cNvSpPr/>
          <p:nvPr/>
        </p:nvSpPr>
        <p:spPr>
          <a:xfrm>
            <a:off x="10757071" y="3097431"/>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ZoneTexte 73">
            <a:extLst>
              <a:ext uri="{FF2B5EF4-FFF2-40B4-BE49-F238E27FC236}">
                <a16:creationId xmlns:a16="http://schemas.microsoft.com/office/drawing/2014/main" id="{C3BE0599-CD31-4709-0988-9A42DCDCE596}"/>
              </a:ext>
            </a:extLst>
          </p:cNvPr>
          <p:cNvSpPr txBox="1"/>
          <p:nvPr/>
        </p:nvSpPr>
        <p:spPr>
          <a:xfrm>
            <a:off x="6916286" y="4102734"/>
            <a:ext cx="1486293" cy="5078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i="1" u="none" strike="noStrike" kern="1200" cap="none" spc="0" normalizeH="0" baseline="0" noProof="0">
                <a:ln>
                  <a:noFill/>
                </a:ln>
                <a:effectLst/>
                <a:uLnTx/>
                <a:uFillTx/>
                <a:latin typeface="Segoe UI" panose="020B0502040204020203" pitchFamily="34" charset="0"/>
                <a:cs typeface="Segoe UI" panose="020B0502040204020203" pitchFamily="34" charset="0"/>
              </a:rPr>
              <a:t>« Ils travaillent moins bien que le reste des</a:t>
            </a:r>
          </a:p>
          <a:p>
            <a:pPr marL="0" marR="0" lvl="0" indent="0" algn="ctr" defTabSz="457200" rtl="0" eaLnBrk="1" fontAlgn="auto" latinLnBrk="0" hangingPunct="1">
              <a:lnSpc>
                <a:spcPct val="100000"/>
              </a:lnSpc>
              <a:spcBef>
                <a:spcPts val="0"/>
              </a:spcBef>
              <a:spcAft>
                <a:spcPts val="0"/>
              </a:spcAft>
              <a:buClrTx/>
              <a:buSzTx/>
              <a:buFontTx/>
              <a:buNone/>
              <a:tabLst/>
              <a:defRPr/>
            </a:pPr>
            <a:r>
              <a:rPr lang="fr-FR" sz="900" i="1">
                <a:latin typeface="Segoe UI" panose="020B0502040204020203" pitchFamily="34" charset="0"/>
                <a:cs typeface="Segoe UI" panose="020B0502040204020203" pitchFamily="34" charset="0"/>
              </a:rPr>
              <a:t>allocataires »</a:t>
            </a:r>
            <a:endParaRPr kumimoji="0" lang="fr-FR" sz="900" i="1" u="none" strike="noStrike" kern="120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76" name="ZoneTexte 75">
            <a:extLst>
              <a:ext uri="{FF2B5EF4-FFF2-40B4-BE49-F238E27FC236}">
                <a16:creationId xmlns:a16="http://schemas.microsoft.com/office/drawing/2014/main" id="{89A38246-6C80-219E-A307-C4052CBBF4CF}"/>
              </a:ext>
            </a:extLst>
          </p:cNvPr>
          <p:cNvSpPr txBox="1"/>
          <p:nvPr/>
        </p:nvSpPr>
        <p:spPr>
          <a:xfrm>
            <a:off x="8580953" y="4124690"/>
            <a:ext cx="1486293"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i="1" u="none" strike="noStrike" kern="1200" cap="none" spc="0" normalizeH="0" baseline="0" noProof="0">
                <a:ln>
                  <a:noFill/>
                </a:ln>
                <a:effectLst/>
                <a:uLnTx/>
                <a:uFillTx/>
                <a:latin typeface="Segoe UI" panose="020B0502040204020203" pitchFamily="34" charset="0"/>
                <a:cs typeface="Segoe UI" panose="020B0502040204020203" pitchFamily="34" charset="0"/>
              </a:rPr>
              <a:t>« Ils font moins bien que ce qui est attendu d’eux </a:t>
            </a:r>
            <a:r>
              <a:rPr lang="fr-FR" sz="900" i="1">
                <a:latin typeface="Segoe UI" panose="020B0502040204020203" pitchFamily="34" charset="0"/>
                <a:cs typeface="Segoe UI" panose="020B0502040204020203" pitchFamily="34" charset="0"/>
              </a:rPr>
              <a:t>»</a:t>
            </a:r>
            <a:endParaRPr kumimoji="0" lang="fr-FR" sz="900" i="1" u="none" strike="noStrike" kern="120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78" name="ZoneTexte 77">
            <a:extLst>
              <a:ext uri="{FF2B5EF4-FFF2-40B4-BE49-F238E27FC236}">
                <a16:creationId xmlns:a16="http://schemas.microsoft.com/office/drawing/2014/main" id="{9E01B34E-EFD4-80BF-2790-57127A28CB71}"/>
              </a:ext>
            </a:extLst>
          </p:cNvPr>
          <p:cNvSpPr txBox="1"/>
          <p:nvPr/>
        </p:nvSpPr>
        <p:spPr>
          <a:xfrm>
            <a:off x="10086916" y="4055441"/>
            <a:ext cx="1824940" cy="5078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i="1" u="none" strike="noStrike" kern="1200" cap="none" spc="0" normalizeH="0" baseline="0" noProof="0">
                <a:ln>
                  <a:noFill/>
                </a:ln>
                <a:effectLst/>
                <a:uLnTx/>
                <a:uFillTx/>
                <a:latin typeface="Segoe UI" panose="020B0502040204020203" pitchFamily="34" charset="0"/>
                <a:cs typeface="Segoe UI" panose="020B0502040204020203" pitchFamily="34" charset="0"/>
              </a:rPr>
              <a:t>« </a:t>
            </a:r>
            <a:r>
              <a:rPr lang="fr-FR" sz="900" i="1">
                <a:latin typeface="Segoe UI" panose="020B0502040204020203" pitchFamily="34" charset="0"/>
                <a:cs typeface="Segoe UI" panose="020B0502040204020203" pitchFamily="34" charset="0"/>
              </a:rPr>
              <a:t>le retard lent de retour à l’emploi est dû principalement au dispositif »</a:t>
            </a:r>
            <a:endParaRPr kumimoji="0" lang="fr-FR" sz="900" i="1" u="none" strike="noStrike" kern="120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61" name="ZoneTexte 60">
            <a:extLst>
              <a:ext uri="{FF2B5EF4-FFF2-40B4-BE49-F238E27FC236}">
                <a16:creationId xmlns:a16="http://schemas.microsoft.com/office/drawing/2014/main" id="{107C4834-511A-1488-00CE-CEA7144A0782}"/>
              </a:ext>
            </a:extLst>
          </p:cNvPr>
          <p:cNvSpPr txBox="1"/>
          <p:nvPr/>
        </p:nvSpPr>
        <p:spPr>
          <a:xfrm>
            <a:off x="7658413" y="3474442"/>
            <a:ext cx="3448269" cy="246221"/>
          </a:xfrm>
          <a:prstGeom prst="rect">
            <a:avLst/>
          </a:prstGeom>
          <a:solidFill>
            <a:srgbClr val="FFFFFF"/>
          </a:solid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fr-FR" sz="1000" b="1">
                <a:solidFill>
                  <a:schemeClr val="accent3"/>
                </a:solidFill>
                <a:latin typeface="Segoe UI" panose="020B0502040204020203" pitchFamily="34" charset="0"/>
                <a:cs typeface="Segoe UI" panose="020B0502040204020203" pitchFamily="34" charset="0"/>
              </a:rPr>
              <a:t>LECTURES POSSIBLES PAR LE DÉCIDEUR PUBLIC</a:t>
            </a:r>
            <a:endPar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endParaRPr>
          </a:p>
        </p:txBody>
      </p:sp>
      <p:sp>
        <p:nvSpPr>
          <p:cNvPr id="83" name="Espace réservé du texte 2">
            <a:extLst>
              <a:ext uri="{FF2B5EF4-FFF2-40B4-BE49-F238E27FC236}">
                <a16:creationId xmlns:a16="http://schemas.microsoft.com/office/drawing/2014/main" id="{1494FC6A-E5D6-E924-DFF5-81C3121528C2}"/>
              </a:ext>
            </a:extLst>
          </p:cNvPr>
          <p:cNvSpPr txBox="1">
            <a:spLocks/>
          </p:cNvSpPr>
          <p:nvPr/>
        </p:nvSpPr>
        <p:spPr>
          <a:xfrm>
            <a:off x="6678725" y="5102814"/>
            <a:ext cx="5186619" cy="1275126"/>
          </a:xfrm>
          <a:prstGeom prst="rect">
            <a:avLst/>
          </a:prstGeom>
          <a:solidFill>
            <a:srgbClr val="E8F2E0"/>
          </a:solidFill>
          <a:ln>
            <a:solidFill>
              <a:srgbClr val="FFFFFF"/>
            </a:solidFill>
          </a:ln>
        </p:spPr>
        <p:txBody>
          <a:bodyPr lIns="0" tIns="0" rIns="0" bIns="0" numCol="1" anchor="t"/>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endParaRPr lang="fr-FR">
              <a:solidFill>
                <a:schemeClr val="accent3"/>
              </a:solidFill>
              <a:highlight>
                <a:srgbClr val="FFFF00"/>
              </a:highlight>
              <a:latin typeface="Segoe UI" panose="020B0502040204020203" pitchFamily="34" charset="0"/>
              <a:cs typeface="Segoe UI" panose="020B0502040204020203" pitchFamily="34" charset="0"/>
            </a:endParaRPr>
          </a:p>
        </p:txBody>
      </p:sp>
      <p:sp>
        <p:nvSpPr>
          <p:cNvPr id="85" name="Flèche : bas 84">
            <a:extLst>
              <a:ext uri="{FF2B5EF4-FFF2-40B4-BE49-F238E27FC236}">
                <a16:creationId xmlns:a16="http://schemas.microsoft.com/office/drawing/2014/main" id="{9569EA42-D486-E086-9EE8-B746B28A84E1}"/>
              </a:ext>
            </a:extLst>
          </p:cNvPr>
          <p:cNvSpPr/>
          <p:nvPr/>
        </p:nvSpPr>
        <p:spPr>
          <a:xfrm>
            <a:off x="7355592" y="4700016"/>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Flèche : bas 86">
            <a:extLst>
              <a:ext uri="{FF2B5EF4-FFF2-40B4-BE49-F238E27FC236}">
                <a16:creationId xmlns:a16="http://schemas.microsoft.com/office/drawing/2014/main" id="{65BC5924-C057-F5D6-0D93-B976BAEDA581}"/>
              </a:ext>
            </a:extLst>
          </p:cNvPr>
          <p:cNvSpPr/>
          <p:nvPr/>
        </p:nvSpPr>
        <p:spPr>
          <a:xfrm>
            <a:off x="8995759" y="4657099"/>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Flèche : bas 88">
            <a:extLst>
              <a:ext uri="{FF2B5EF4-FFF2-40B4-BE49-F238E27FC236}">
                <a16:creationId xmlns:a16="http://schemas.microsoft.com/office/drawing/2014/main" id="{CEC46C39-26CB-BE15-4B56-EC085E190A39}"/>
              </a:ext>
            </a:extLst>
          </p:cNvPr>
          <p:cNvSpPr/>
          <p:nvPr/>
        </p:nvSpPr>
        <p:spPr>
          <a:xfrm>
            <a:off x="10761413" y="4633003"/>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ZoneTexte 90">
            <a:extLst>
              <a:ext uri="{FF2B5EF4-FFF2-40B4-BE49-F238E27FC236}">
                <a16:creationId xmlns:a16="http://schemas.microsoft.com/office/drawing/2014/main" id="{1C4B38F2-2814-7019-92DF-14EADB31EE1D}"/>
              </a:ext>
            </a:extLst>
          </p:cNvPr>
          <p:cNvSpPr txBox="1"/>
          <p:nvPr/>
        </p:nvSpPr>
        <p:spPr>
          <a:xfrm>
            <a:off x="7517047" y="5130652"/>
            <a:ext cx="3589635" cy="246221"/>
          </a:xfrm>
          <a:prstGeom prst="rect">
            <a:avLst/>
          </a:prstGeom>
          <a:solidFill>
            <a:srgbClr val="FFFFFF"/>
          </a:solid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DES LIMITES INTERROGENT AVANT CES CONCLUSIONS</a:t>
            </a:r>
          </a:p>
        </p:txBody>
      </p:sp>
      <p:sp>
        <p:nvSpPr>
          <p:cNvPr id="93" name="ZoneTexte 92">
            <a:extLst>
              <a:ext uri="{FF2B5EF4-FFF2-40B4-BE49-F238E27FC236}">
                <a16:creationId xmlns:a16="http://schemas.microsoft.com/office/drawing/2014/main" id="{8671DCC8-E529-8863-E9D4-DF832E4DEDDD}"/>
              </a:ext>
            </a:extLst>
          </p:cNvPr>
          <p:cNvSpPr txBox="1"/>
          <p:nvPr/>
        </p:nvSpPr>
        <p:spPr>
          <a:xfrm>
            <a:off x="6680882" y="5646047"/>
            <a:ext cx="184845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u="none" strike="noStrike" kern="1200" cap="none" spc="0" normalizeH="0" baseline="0" noProof="0">
                <a:ln>
                  <a:noFill/>
                </a:ln>
                <a:effectLst/>
                <a:highlight>
                  <a:srgbClr val="FFFF00"/>
                </a:highlight>
                <a:uLnTx/>
                <a:uFillTx/>
                <a:latin typeface="Segoe UI" panose="020B0502040204020203" pitchFamily="34" charset="0"/>
                <a:cs typeface="Segoe UI" panose="020B0502040204020203" pitchFamily="34" charset="0"/>
              </a:rPr>
              <a:t>La comparaison avec le reste des allocataires dont les trajectoires de retour à l’emploi peuvent être différentes est-elle valable ?</a:t>
            </a:r>
          </a:p>
        </p:txBody>
      </p:sp>
      <p:sp>
        <p:nvSpPr>
          <p:cNvPr id="95" name="ZoneTexte 94">
            <a:extLst>
              <a:ext uri="{FF2B5EF4-FFF2-40B4-BE49-F238E27FC236}">
                <a16:creationId xmlns:a16="http://schemas.microsoft.com/office/drawing/2014/main" id="{B51F18AB-B18D-97B4-3380-C63E17B692FD}"/>
              </a:ext>
            </a:extLst>
          </p:cNvPr>
          <p:cNvSpPr txBox="1"/>
          <p:nvPr/>
        </p:nvSpPr>
        <p:spPr>
          <a:xfrm>
            <a:off x="8399874" y="5646047"/>
            <a:ext cx="1848453"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u="none" strike="noStrike" kern="1200" cap="none" spc="0" normalizeH="0" baseline="0" noProof="0">
                <a:ln>
                  <a:noFill/>
                </a:ln>
                <a:effectLst/>
                <a:highlight>
                  <a:srgbClr val="FFFF00"/>
                </a:highlight>
                <a:uLnTx/>
                <a:uFillTx/>
                <a:latin typeface="Segoe UI" panose="020B0502040204020203" pitchFamily="34" charset="0"/>
                <a:cs typeface="Segoe UI" panose="020B0502040204020203" pitchFamily="34" charset="0"/>
              </a:rPr>
              <a:t>Peut-on prédire un taux attendu avec un modèle additif ?</a:t>
            </a:r>
          </a:p>
        </p:txBody>
      </p:sp>
      <p:sp>
        <p:nvSpPr>
          <p:cNvPr id="97" name="ZoneTexte 96">
            <a:extLst>
              <a:ext uri="{FF2B5EF4-FFF2-40B4-BE49-F238E27FC236}">
                <a16:creationId xmlns:a16="http://schemas.microsoft.com/office/drawing/2014/main" id="{5E841131-BF42-59DE-6951-172A3A52FB59}"/>
              </a:ext>
            </a:extLst>
          </p:cNvPr>
          <p:cNvSpPr txBox="1"/>
          <p:nvPr/>
        </p:nvSpPr>
        <p:spPr>
          <a:xfrm>
            <a:off x="10075160" y="5646047"/>
            <a:ext cx="184845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900">
                <a:highlight>
                  <a:srgbClr val="FFFF00"/>
                </a:highlight>
                <a:latin typeface="Segoe UI" panose="020B0502040204020203" pitchFamily="34" charset="0"/>
                <a:cs typeface="Segoe UI" panose="020B0502040204020203" pitchFamily="34" charset="0"/>
              </a:rPr>
              <a:t>Si on admet qu’il y a un retard de retour à l’emploi, est-il juste de dire de façon causale que ce dernier est attribué à la RCI </a:t>
            </a:r>
            <a:endParaRPr kumimoji="0" lang="fr-FR" sz="900" u="none" strike="noStrike" kern="1200" cap="none" spc="0" normalizeH="0" baseline="0" noProof="0">
              <a:ln>
                <a:noFill/>
              </a:ln>
              <a:effectLst/>
              <a:highlight>
                <a:srgbClr val="FFFF00"/>
              </a:highlight>
              <a:uLnTx/>
              <a:uFillTx/>
              <a:latin typeface="Segoe UI" panose="020B0502040204020203" pitchFamily="34" charset="0"/>
              <a:cs typeface="Segoe UI" panose="020B0502040204020203" pitchFamily="34" charset="0"/>
            </a:endParaRPr>
          </a:p>
        </p:txBody>
      </p:sp>
      <p:sp>
        <p:nvSpPr>
          <p:cNvPr id="99" name="Espace réservé du texte 2">
            <a:extLst>
              <a:ext uri="{FF2B5EF4-FFF2-40B4-BE49-F238E27FC236}">
                <a16:creationId xmlns:a16="http://schemas.microsoft.com/office/drawing/2014/main" id="{8D759772-26F6-9062-FD8E-FD581321C8C5}"/>
              </a:ext>
            </a:extLst>
          </p:cNvPr>
          <p:cNvSpPr txBox="1">
            <a:spLocks/>
          </p:cNvSpPr>
          <p:nvPr/>
        </p:nvSpPr>
        <p:spPr>
          <a:xfrm>
            <a:off x="874689" y="5116733"/>
            <a:ext cx="5537247" cy="1247288"/>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    </a:t>
            </a:r>
          </a:p>
          <a:p>
            <a:endParaRPr lang="fr-FR"/>
          </a:p>
        </p:txBody>
      </p:sp>
      <p:sp>
        <p:nvSpPr>
          <p:cNvPr id="103" name="ZoneTexte 102">
            <a:extLst>
              <a:ext uri="{FF2B5EF4-FFF2-40B4-BE49-F238E27FC236}">
                <a16:creationId xmlns:a16="http://schemas.microsoft.com/office/drawing/2014/main" id="{00D62C26-E9AB-E52B-A5C5-87D9D486FDB0}"/>
              </a:ext>
            </a:extLst>
          </p:cNvPr>
          <p:cNvSpPr txBox="1"/>
          <p:nvPr/>
        </p:nvSpPr>
        <p:spPr>
          <a:xfrm>
            <a:off x="853513" y="5219532"/>
            <a:ext cx="5537247" cy="3693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r-FR" sz="900" u="none" strike="noStrike" kern="1200" cap="none" spc="0" normalizeH="0" baseline="0" noProof="0">
                <a:ln>
                  <a:noFill/>
                </a:ln>
                <a:effectLst/>
                <a:uLnTx/>
                <a:uFillTx/>
                <a:latin typeface="Segoe UI" panose="020B0502040204020203" pitchFamily="34" charset="0"/>
                <a:cs typeface="Segoe UI" panose="020B0502040204020203" pitchFamily="34" charset="0"/>
              </a:rPr>
              <a:t>Pour estimer le taux de présence en emploi salarié attendu, le modèle logistique suivant est estimé à chaque horizon t depuis la fin de contrat  : </a:t>
            </a:r>
          </a:p>
        </p:txBody>
      </p:sp>
      <mc:AlternateContent xmlns:mc="http://schemas.openxmlformats.org/markup-compatibility/2006" xmlns:a14="http://schemas.microsoft.com/office/drawing/2010/main">
        <mc:Choice Requires="a14">
          <p:sp>
            <p:nvSpPr>
              <p:cNvPr id="105" name="ZoneTexte 104">
                <a:extLst>
                  <a:ext uri="{FF2B5EF4-FFF2-40B4-BE49-F238E27FC236}">
                    <a16:creationId xmlns:a16="http://schemas.microsoft.com/office/drawing/2014/main" id="{2E2A430B-EBBB-5943-99E6-26C70091A76A}"/>
                  </a:ext>
                </a:extLst>
              </p:cNvPr>
              <p:cNvSpPr txBox="1"/>
              <p:nvPr/>
            </p:nvSpPr>
            <p:spPr>
              <a:xfrm>
                <a:off x="2132922" y="5596583"/>
                <a:ext cx="2944290" cy="197683"/>
              </a:xfrm>
              <a:prstGeom prst="rect">
                <a:avLst/>
              </a:prstGeom>
              <a:noFill/>
            </p:spPr>
            <p:txBody>
              <a:bodyPr wrap="square" lIns="0" tIns="0" rIns="0" bIns="0" rtlCol="0">
                <a:spAutoFit/>
              </a:bodyPr>
              <a:lstStyle/>
              <a:p>
                <a:pPr/>
                <a14:m>
                  <m:oMathPara xmlns:m="http://schemas.openxmlformats.org/officeDocument/2006/math">
                    <m:oMathParaPr>
                      <m:jc m:val="center"/>
                    </m:oMathParaPr>
                    <m:oMath>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𝑦</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𝑖𝑡</m:t>
                              </m:r>
                            </m:e>
                          </m:d>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𝛽</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0</m:t>
                              </m:r>
                              <m:r>
                                <a:rPr lang="fr-FR" sz="1200" i="1">
                                  <a:solidFill>
                                    <a:schemeClr val="accent3"/>
                                  </a:solidFill>
                                  <a:latin typeface="Cambria Math" panose="02040503050406030204" pitchFamily="18" charset="0"/>
                                </a:rPr>
                                <m:t>𝑡</m:t>
                              </m:r>
                            </m:e>
                          </m:d>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𝛽</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1</m:t>
                              </m:r>
                              <m:r>
                                <a:rPr lang="fr-FR" sz="1200" i="1">
                                  <a:solidFill>
                                    <a:schemeClr val="accent3"/>
                                  </a:solidFill>
                                  <a:latin typeface="Cambria Math" panose="02040503050406030204" pitchFamily="18" charset="0"/>
                                </a:rPr>
                                <m:t>𝑡</m:t>
                              </m:r>
                            </m:e>
                          </m:d>
                        </m:sub>
                      </m:sSub>
                      <m:r>
                        <a:rPr lang="fr-FR" sz="1200" i="1">
                          <a:solidFill>
                            <a:schemeClr val="accent3"/>
                          </a:solidFill>
                          <a:latin typeface="Cambria Math" panose="02040503050406030204" pitchFamily="18" charset="0"/>
                        </a:rPr>
                        <m:t>⋅</m:t>
                      </m:r>
                      <m:r>
                        <a:rPr lang="fr-FR" sz="1200" i="1">
                          <a:solidFill>
                            <a:schemeClr val="accent3"/>
                          </a:solidFill>
                          <a:latin typeface="Cambria Math" panose="02040503050406030204" pitchFamily="18" charset="0"/>
                        </a:rPr>
                        <m:t>𝑅</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𝐶</m:t>
                          </m:r>
                        </m:e>
                        <m:sub>
                          <m:r>
                            <a:rPr lang="fr-FR" sz="1200" i="1">
                              <a:solidFill>
                                <a:schemeClr val="accent3"/>
                              </a:solidFill>
                              <a:latin typeface="Cambria Math" panose="02040503050406030204" pitchFamily="18" charset="0"/>
                            </a:rPr>
                            <m:t>𝑖</m:t>
                          </m:r>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𝛽</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𝑋𝑖𝑡</m:t>
                              </m:r>
                            </m:e>
                          </m:d>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𝑋</m:t>
                          </m:r>
                        </m:e>
                        <m:sub>
                          <m:r>
                            <a:rPr lang="fr-FR" sz="1200" i="1">
                              <a:solidFill>
                                <a:schemeClr val="accent3"/>
                              </a:solidFill>
                              <a:latin typeface="Cambria Math" panose="02040503050406030204" pitchFamily="18" charset="0"/>
                            </a:rPr>
                            <m:t>𝑖</m:t>
                          </m:r>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𝜀</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𝑖𝑡</m:t>
                              </m:r>
                            </m:e>
                          </m:d>
                        </m:sub>
                      </m:sSub>
                    </m:oMath>
                  </m:oMathPara>
                </a14:m>
                <a:endParaRPr lang="fr-FR" sz="1200">
                  <a:solidFill>
                    <a:schemeClr val="accent3"/>
                  </a:solidFill>
                </a:endParaRPr>
              </a:p>
            </p:txBody>
          </p:sp>
        </mc:Choice>
        <mc:Fallback xmlns="">
          <p:sp>
            <p:nvSpPr>
              <p:cNvPr id="105" name="ZoneTexte 104">
                <a:extLst>
                  <a:ext uri="{FF2B5EF4-FFF2-40B4-BE49-F238E27FC236}">
                    <a16:creationId xmlns:a16="http://schemas.microsoft.com/office/drawing/2014/main" id="{2E2A430B-EBBB-5943-99E6-26C70091A76A}"/>
                  </a:ext>
                </a:extLst>
              </p:cNvPr>
              <p:cNvSpPr txBox="1">
                <a:spLocks noRot="1" noChangeAspect="1" noMove="1" noResize="1" noEditPoints="1" noAdjustHandles="1" noChangeArrowheads="1" noChangeShapeType="1" noTextEdit="1"/>
              </p:cNvSpPr>
              <p:nvPr/>
            </p:nvSpPr>
            <p:spPr>
              <a:xfrm>
                <a:off x="2132922" y="5596583"/>
                <a:ext cx="2944290" cy="197683"/>
              </a:xfrm>
              <a:prstGeom prst="rect">
                <a:avLst/>
              </a:prstGeom>
              <a:blipFill>
                <a:blip r:embed="rId4"/>
                <a:stretch>
                  <a:fillRect b="-24242"/>
                </a:stretch>
              </a:blipFill>
            </p:spPr>
            <p:txBody>
              <a:bodyPr/>
              <a:lstStyle/>
              <a:p>
                <a:r>
                  <a:rPr lang="en-US">
                    <a:noFill/>
                  </a:rPr>
                  <a:t> </a:t>
                </a:r>
              </a:p>
            </p:txBody>
          </p:sp>
        </mc:Fallback>
      </mc:AlternateContent>
      <p:sp>
        <p:nvSpPr>
          <p:cNvPr id="107" name="ZoneTexte 106">
            <a:extLst>
              <a:ext uri="{FF2B5EF4-FFF2-40B4-BE49-F238E27FC236}">
                <a16:creationId xmlns:a16="http://schemas.microsoft.com/office/drawing/2014/main" id="{FA92A0E3-61FD-32EB-E78D-530870A15680}"/>
              </a:ext>
            </a:extLst>
          </p:cNvPr>
          <p:cNvSpPr txBox="1"/>
          <p:nvPr/>
        </p:nvSpPr>
        <p:spPr>
          <a:xfrm>
            <a:off x="889072" y="5907381"/>
            <a:ext cx="5597164" cy="3693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fr-FR" sz="900">
                <a:latin typeface="Segoe UI" panose="020B0502040204020203" pitchFamily="34" charset="0"/>
                <a:cs typeface="Segoe UI" panose="020B0502040204020203" pitchFamily="34" charset="0"/>
              </a:rPr>
              <a:t>Avec comme caractéristiques : le sexe, l’âge, le diplôme, la catégorie socioprofessionnelle, le secteur d’activité, la durée potentielle d’indemnisation, le salaire journalier de référence et la cohorte</a:t>
            </a:r>
            <a:endParaRPr kumimoji="0" lang="fr-FR" sz="900" u="none" strike="noStrike" kern="120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09" name="ZoneTexte 108">
            <a:extLst>
              <a:ext uri="{FF2B5EF4-FFF2-40B4-BE49-F238E27FC236}">
                <a16:creationId xmlns:a16="http://schemas.microsoft.com/office/drawing/2014/main" id="{1003C789-D67A-C13B-1F9A-E0B945A3AFB3}"/>
              </a:ext>
            </a:extLst>
          </p:cNvPr>
          <p:cNvSpPr txBox="1"/>
          <p:nvPr/>
        </p:nvSpPr>
        <p:spPr>
          <a:xfrm>
            <a:off x="1055488" y="4991828"/>
            <a:ext cx="1276230" cy="246221"/>
          </a:xfrm>
          <a:prstGeom prst="rect">
            <a:avLst/>
          </a:prstGeom>
          <a:solidFill>
            <a:srgbClr val="FFFFFF"/>
          </a:solid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fr-FR" sz="1000" b="1">
                <a:solidFill>
                  <a:schemeClr val="accent3"/>
                </a:solidFill>
                <a:latin typeface="Segoe UI" panose="020B0502040204020203" pitchFamily="34" charset="0"/>
                <a:cs typeface="Segoe UI" panose="020B0502040204020203" pitchFamily="34" charset="0"/>
              </a:rPr>
              <a:t>MÉTHODOLOGIE</a:t>
            </a:r>
            <a:endParaRPr kumimoji="0" lang="fr-FR" sz="10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endParaRPr>
          </a:p>
        </p:txBody>
      </p:sp>
      <p:sp>
        <p:nvSpPr>
          <p:cNvPr id="111" name="ZoneTexte 110">
            <a:extLst>
              <a:ext uri="{FF2B5EF4-FFF2-40B4-BE49-F238E27FC236}">
                <a16:creationId xmlns:a16="http://schemas.microsoft.com/office/drawing/2014/main" id="{F076A961-E1EE-D9D1-3148-0F99F54EE4E9}"/>
              </a:ext>
            </a:extLst>
          </p:cNvPr>
          <p:cNvSpPr txBox="1"/>
          <p:nvPr/>
        </p:nvSpPr>
        <p:spPr>
          <a:xfrm>
            <a:off x="6678724" y="1499507"/>
            <a:ext cx="5186617" cy="246221"/>
          </a:xfrm>
          <a:prstGeom prst="rect">
            <a:avLst/>
          </a:prstGeom>
          <a:solidFill>
            <a:srgbClr val="FFFFFF"/>
          </a:solidFill>
        </p:spPr>
        <p:txBody>
          <a:bodyPr wrap="square" rtlCol="0">
            <a:spAutoFit/>
          </a:bodyPr>
          <a:lstStyle/>
          <a:p>
            <a:pPr algn="ctr">
              <a:defRPr/>
            </a:pPr>
            <a:r>
              <a:rPr lang="fr-FR" sz="1000" b="1">
                <a:solidFill>
                  <a:schemeClr val="accent3"/>
                </a:solidFill>
                <a:latin typeface="Segoe UI" panose="020B0502040204020203" pitchFamily="34" charset="0"/>
                <a:cs typeface="Segoe UI" panose="020B0502040204020203" pitchFamily="34" charset="0"/>
              </a:rPr>
              <a:t>RÉSULTATS PRINCIPAUX DE L’ÉTUDE LA DARES</a:t>
            </a:r>
          </a:p>
        </p:txBody>
      </p:sp>
    </p:spTree>
    <p:extLst>
      <p:ext uri="{BB962C8B-B14F-4D97-AF65-F5344CB8AC3E}">
        <p14:creationId xmlns:p14="http://schemas.microsoft.com/office/powerpoint/2010/main" val="305865976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EE6C778-6ACE-DF04-FFE9-4B1BBC91A81D}"/>
              </a:ext>
            </a:extLst>
          </p:cNvPr>
          <p:cNvSpPr>
            <a:spLocks noGrp="1"/>
          </p:cNvSpPr>
          <p:nvPr>
            <p:ph type="body" sz="quarter" idx="15"/>
          </p:nvPr>
        </p:nvSpPr>
        <p:spPr>
          <a:xfrm>
            <a:off x="3569394" y="126883"/>
            <a:ext cx="8061749" cy="199465"/>
          </a:xfrm>
        </p:spPr>
        <p:txBody>
          <a:bodyPr/>
          <a:lstStyle/>
          <a:p>
            <a:r>
              <a:rPr lang="fr-FR"/>
              <a:t>APPARIEMENTS SUR LE MARCHé DU TRAVAIL ET RUPTURES CONVENTIONNELLES</a:t>
            </a:r>
          </a:p>
          <a:p>
            <a:endParaRPr lang="fr-FR"/>
          </a:p>
        </p:txBody>
      </p:sp>
      <p:sp>
        <p:nvSpPr>
          <p:cNvPr id="5" name="Espace réservé du texte 4">
            <a:extLst>
              <a:ext uri="{FF2B5EF4-FFF2-40B4-BE49-F238E27FC236}">
                <a16:creationId xmlns:a16="http://schemas.microsoft.com/office/drawing/2014/main" id="{573D8833-CB1B-3417-3C96-63C6A604047B}"/>
              </a:ext>
            </a:extLst>
          </p:cNvPr>
          <p:cNvSpPr>
            <a:spLocks noGrp="1"/>
          </p:cNvSpPr>
          <p:nvPr>
            <p:ph type="body" sz="quarter" idx="18"/>
          </p:nvPr>
        </p:nvSpPr>
        <p:spPr>
          <a:xfrm>
            <a:off x="826448" y="959315"/>
            <a:ext cx="10174817" cy="311796"/>
          </a:xfrm>
        </p:spPr>
        <p:txBody>
          <a:bodyPr/>
          <a:lstStyle/>
          <a:p>
            <a:r>
              <a:rPr lang="fr-FR" sz="1600">
                <a:solidFill>
                  <a:schemeClr val="accent3"/>
                </a:solidFill>
              </a:rPr>
              <a:t>Structure de l’étude et méthodologie</a:t>
            </a:r>
          </a:p>
        </p:txBody>
      </p:sp>
      <p:pic>
        <p:nvPicPr>
          <p:cNvPr id="16" name="Graphique 15" descr="Utilisateurs avec un remplissage uni">
            <a:extLst>
              <a:ext uri="{FF2B5EF4-FFF2-40B4-BE49-F238E27FC236}">
                <a16:creationId xmlns:a16="http://schemas.microsoft.com/office/drawing/2014/main" id="{D858222C-1BBF-4196-DC52-F7474462D1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25570" y="2765174"/>
            <a:ext cx="379374" cy="379374"/>
          </a:xfrm>
          <a:prstGeom prst="rect">
            <a:avLst/>
          </a:prstGeom>
        </p:spPr>
      </p:pic>
      <p:pic>
        <p:nvPicPr>
          <p:cNvPr id="43" name="Graphique 42" descr="Base de données avec un remplissage uni">
            <a:extLst>
              <a:ext uri="{FF2B5EF4-FFF2-40B4-BE49-F238E27FC236}">
                <a16:creationId xmlns:a16="http://schemas.microsoft.com/office/drawing/2014/main" id="{C5EE9906-E75B-7411-5524-C463182657D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451984" y="4904519"/>
            <a:ext cx="379374" cy="379374"/>
          </a:xfrm>
          <a:prstGeom prst="rect">
            <a:avLst/>
          </a:prstGeom>
        </p:spPr>
      </p:pic>
      <p:pic>
        <p:nvPicPr>
          <p:cNvPr id="11" name="Image 10">
            <a:extLst>
              <a:ext uri="{FF2B5EF4-FFF2-40B4-BE49-F238E27FC236}">
                <a16:creationId xmlns:a16="http://schemas.microsoft.com/office/drawing/2014/main" id="{4A66847C-FB26-C3D5-979C-2B5D05491EB1}"/>
              </a:ext>
            </a:extLst>
          </p:cNvPr>
          <p:cNvPicPr>
            <a:picLocks noChangeAspect="1"/>
          </p:cNvPicPr>
          <p:nvPr/>
        </p:nvPicPr>
        <p:blipFill>
          <a:blip r:embed="rId4"/>
          <a:stretch>
            <a:fillRect/>
          </a:stretch>
        </p:blipFill>
        <p:spPr>
          <a:xfrm>
            <a:off x="1012249" y="1375437"/>
            <a:ext cx="10555751" cy="4976871"/>
          </a:xfrm>
          <a:prstGeom prst="rect">
            <a:avLst/>
          </a:prstGeom>
        </p:spPr>
      </p:pic>
      <p:sp>
        <p:nvSpPr>
          <p:cNvPr id="14" name="Rectangle 13">
            <a:extLst>
              <a:ext uri="{FF2B5EF4-FFF2-40B4-BE49-F238E27FC236}">
                <a16:creationId xmlns:a16="http://schemas.microsoft.com/office/drawing/2014/main" id="{8C9A4E2B-3B2F-D16A-283E-9A8FDB754FA4}"/>
              </a:ext>
            </a:extLst>
          </p:cNvPr>
          <p:cNvSpPr/>
          <p:nvPr/>
        </p:nvSpPr>
        <p:spPr>
          <a:xfrm>
            <a:off x="3784724" y="1371458"/>
            <a:ext cx="4810762" cy="315143"/>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a:solidFill>
                  <a:schemeClr val="bg1"/>
                </a:solidFill>
                <a:latin typeface="+mj-lt"/>
              </a:rPr>
              <a:t>ANALYSE</a:t>
            </a:r>
          </a:p>
        </p:txBody>
      </p:sp>
      <p:sp>
        <p:nvSpPr>
          <p:cNvPr id="7" name="Espace réservé du texte 6">
            <a:extLst>
              <a:ext uri="{FF2B5EF4-FFF2-40B4-BE49-F238E27FC236}">
                <a16:creationId xmlns:a16="http://schemas.microsoft.com/office/drawing/2014/main" id="{F21336AB-7DBE-E83C-9D01-1DC4A215B77C}"/>
              </a:ext>
            </a:extLst>
          </p:cNvPr>
          <p:cNvSpPr>
            <a:spLocks noGrp="1"/>
          </p:cNvSpPr>
          <p:nvPr>
            <p:ph type="body" sz="quarter" idx="17"/>
          </p:nvPr>
        </p:nvSpPr>
        <p:spPr>
          <a:xfrm>
            <a:off x="826448" y="454415"/>
            <a:ext cx="11444875" cy="513430"/>
          </a:xfrm>
        </p:spPr>
        <p:txBody>
          <a:bodyPr/>
          <a:lstStyle/>
          <a:p>
            <a:r>
              <a:rPr lang="fr-FR" sz="1700" spc="-40"/>
              <a:t>LA RCI EST-ELLE UNE VOIE DE SORTIE COÛTEUSE POUR L’AC OU UNE TRANSTION PROFESSIONNELLE EFFICACE ?</a:t>
            </a:r>
          </a:p>
        </p:txBody>
      </p:sp>
      <p:sp>
        <p:nvSpPr>
          <p:cNvPr id="12" name="Rectangle 11">
            <a:extLst>
              <a:ext uri="{FF2B5EF4-FFF2-40B4-BE49-F238E27FC236}">
                <a16:creationId xmlns:a16="http://schemas.microsoft.com/office/drawing/2014/main" id="{5394C704-03F3-00CF-16AD-6C48CCFF72CC}"/>
              </a:ext>
            </a:extLst>
          </p:cNvPr>
          <p:cNvSpPr/>
          <p:nvPr/>
        </p:nvSpPr>
        <p:spPr>
          <a:xfrm>
            <a:off x="1012249" y="1379726"/>
            <a:ext cx="2276071" cy="315143"/>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a:solidFill>
                  <a:schemeClr val="bg1"/>
                </a:solidFill>
                <a:latin typeface="+mj-lt"/>
              </a:rPr>
              <a:t>QUESTION </a:t>
            </a:r>
          </a:p>
        </p:txBody>
      </p:sp>
      <p:sp>
        <p:nvSpPr>
          <p:cNvPr id="19" name="Rectangle 18">
            <a:extLst>
              <a:ext uri="{FF2B5EF4-FFF2-40B4-BE49-F238E27FC236}">
                <a16:creationId xmlns:a16="http://schemas.microsoft.com/office/drawing/2014/main" id="{1FD2B950-187D-2171-52B8-474120452888}"/>
              </a:ext>
            </a:extLst>
          </p:cNvPr>
          <p:cNvSpPr/>
          <p:nvPr/>
        </p:nvSpPr>
        <p:spPr>
          <a:xfrm>
            <a:off x="9174443" y="1379157"/>
            <a:ext cx="2396243" cy="315143"/>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a:solidFill>
                  <a:schemeClr val="bg1"/>
                </a:solidFill>
                <a:latin typeface="+mj-lt"/>
              </a:rPr>
              <a:t>APPORT</a:t>
            </a:r>
          </a:p>
        </p:txBody>
      </p:sp>
      <p:sp>
        <p:nvSpPr>
          <p:cNvPr id="33" name="Rectangle : coins arrondis 32">
            <a:extLst>
              <a:ext uri="{FF2B5EF4-FFF2-40B4-BE49-F238E27FC236}">
                <a16:creationId xmlns:a16="http://schemas.microsoft.com/office/drawing/2014/main" id="{19AA0130-9DB0-19B7-D5DB-A66511D8B377}"/>
              </a:ext>
            </a:extLst>
          </p:cNvPr>
          <p:cNvSpPr/>
          <p:nvPr/>
        </p:nvSpPr>
        <p:spPr>
          <a:xfrm>
            <a:off x="1313476" y="1857664"/>
            <a:ext cx="1794358" cy="928146"/>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 coins arrondis 47">
            <a:extLst>
              <a:ext uri="{FF2B5EF4-FFF2-40B4-BE49-F238E27FC236}">
                <a16:creationId xmlns:a16="http://schemas.microsoft.com/office/drawing/2014/main" id="{39DEA4F1-B9B8-E257-4079-8863D62C316F}"/>
              </a:ext>
            </a:extLst>
          </p:cNvPr>
          <p:cNvSpPr/>
          <p:nvPr/>
        </p:nvSpPr>
        <p:spPr>
          <a:xfrm>
            <a:off x="9178554" y="4792245"/>
            <a:ext cx="2281304" cy="776024"/>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9" name="Groupe 48">
            <a:extLst>
              <a:ext uri="{FF2B5EF4-FFF2-40B4-BE49-F238E27FC236}">
                <a16:creationId xmlns:a16="http://schemas.microsoft.com/office/drawing/2014/main" id="{0D41D46C-4B7B-7172-BFAE-281D46919648}"/>
              </a:ext>
            </a:extLst>
          </p:cNvPr>
          <p:cNvGrpSpPr/>
          <p:nvPr/>
        </p:nvGrpSpPr>
        <p:grpSpPr>
          <a:xfrm>
            <a:off x="1313476" y="4630133"/>
            <a:ext cx="1794358" cy="928146"/>
            <a:chOff x="8035178" y="1954147"/>
            <a:chExt cx="3980057" cy="2699355"/>
          </a:xfrm>
        </p:grpSpPr>
        <p:sp>
          <p:nvSpPr>
            <p:cNvPr id="50" name="Rectangle : coins arrondis 49">
              <a:extLst>
                <a:ext uri="{FF2B5EF4-FFF2-40B4-BE49-F238E27FC236}">
                  <a16:creationId xmlns:a16="http://schemas.microsoft.com/office/drawing/2014/main" id="{5E00832F-BA07-B10F-8A8E-E36E6D1410FE}"/>
                </a:ext>
              </a:extLst>
            </p:cNvPr>
            <p:cNvSpPr/>
            <p:nvPr/>
          </p:nvSpPr>
          <p:spPr>
            <a:xfrm>
              <a:off x="8035178" y="1954147"/>
              <a:ext cx="3980057" cy="2699355"/>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a:extLst>
                <a:ext uri="{FF2B5EF4-FFF2-40B4-BE49-F238E27FC236}">
                  <a16:creationId xmlns:a16="http://schemas.microsoft.com/office/drawing/2014/main" id="{21BE9CDF-8F53-BA27-1EC2-81A5366F7F0E}"/>
                </a:ext>
              </a:extLst>
            </p:cNvPr>
            <p:cNvSpPr txBox="1"/>
            <p:nvPr/>
          </p:nvSpPr>
          <p:spPr>
            <a:xfrm>
              <a:off x="8342783" y="2319375"/>
              <a:ext cx="3217986" cy="716092"/>
            </a:xfrm>
            <a:prstGeom prst="rect">
              <a:avLst/>
            </a:prstGeom>
            <a:noFill/>
          </p:spPr>
          <p:txBody>
            <a:bodyPr wrap="square" rtlCol="0">
              <a:spAutoFit/>
            </a:bodyPr>
            <a:lstStyle/>
            <a:p>
              <a:pPr algn="ctr"/>
              <a:endParaRPr lang="fr-FR" sz="1000" b="1">
                <a:solidFill>
                  <a:schemeClr val="accent5"/>
                </a:solidFill>
                <a:highlight>
                  <a:srgbClr val="FFFF00"/>
                </a:highlight>
                <a:latin typeface="Segoe UI" panose="020B0502040204020203" pitchFamily="34" charset="0"/>
                <a:cs typeface="Segoe UI" panose="020B0502040204020203" pitchFamily="34" charset="0"/>
              </a:endParaRPr>
            </a:p>
          </p:txBody>
        </p:sp>
      </p:grpSp>
      <p:grpSp>
        <p:nvGrpSpPr>
          <p:cNvPr id="53" name="Groupe 52">
            <a:extLst>
              <a:ext uri="{FF2B5EF4-FFF2-40B4-BE49-F238E27FC236}">
                <a16:creationId xmlns:a16="http://schemas.microsoft.com/office/drawing/2014/main" id="{94479DD1-5C03-68B6-CCA7-1E98D2F34B5D}"/>
              </a:ext>
            </a:extLst>
          </p:cNvPr>
          <p:cNvGrpSpPr/>
          <p:nvPr/>
        </p:nvGrpSpPr>
        <p:grpSpPr>
          <a:xfrm>
            <a:off x="1313476" y="3159901"/>
            <a:ext cx="1794358" cy="928146"/>
            <a:chOff x="8035178" y="1954147"/>
            <a:chExt cx="3980057" cy="2699355"/>
          </a:xfrm>
        </p:grpSpPr>
        <p:sp>
          <p:nvSpPr>
            <p:cNvPr id="54" name="Rectangle : coins arrondis 53">
              <a:extLst>
                <a:ext uri="{FF2B5EF4-FFF2-40B4-BE49-F238E27FC236}">
                  <a16:creationId xmlns:a16="http://schemas.microsoft.com/office/drawing/2014/main" id="{33AEC407-F800-8B00-8A97-B81C8FCE62DE}"/>
                </a:ext>
              </a:extLst>
            </p:cNvPr>
            <p:cNvSpPr/>
            <p:nvPr/>
          </p:nvSpPr>
          <p:spPr>
            <a:xfrm>
              <a:off x="8035178" y="1954147"/>
              <a:ext cx="3980057" cy="2699355"/>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ZoneTexte 55">
              <a:extLst>
                <a:ext uri="{FF2B5EF4-FFF2-40B4-BE49-F238E27FC236}">
                  <a16:creationId xmlns:a16="http://schemas.microsoft.com/office/drawing/2014/main" id="{AE3CC325-910E-B6C5-52A5-59F1338438DB}"/>
                </a:ext>
              </a:extLst>
            </p:cNvPr>
            <p:cNvSpPr txBox="1"/>
            <p:nvPr/>
          </p:nvSpPr>
          <p:spPr>
            <a:xfrm>
              <a:off x="8342783" y="2319375"/>
              <a:ext cx="3217986" cy="2058766"/>
            </a:xfrm>
            <a:prstGeom prst="rect">
              <a:avLst/>
            </a:prstGeom>
            <a:noFill/>
          </p:spPr>
          <p:txBody>
            <a:bodyPr wrap="square" rtlCol="0">
              <a:spAutoFit/>
            </a:bodyPr>
            <a:lstStyle/>
            <a:p>
              <a:pPr algn="ctr"/>
              <a:r>
                <a:rPr lang="fr-FR" sz="1000" b="1">
                  <a:solidFill>
                    <a:schemeClr val="accent5"/>
                  </a:solidFill>
                  <a:highlight>
                    <a:srgbClr val="FFFF00"/>
                  </a:highlight>
                  <a:latin typeface="Segoe UI" panose="020B0502040204020203" pitchFamily="34" charset="0"/>
                  <a:cs typeface="Segoe UI" panose="020B0502040204020203" pitchFamily="34" charset="0"/>
                </a:rPr>
                <a:t>LA RCI modifie-t-elle les trajectoires professionnelles , à profil comparables ?</a:t>
              </a:r>
            </a:p>
          </p:txBody>
        </p:sp>
      </p:grpSp>
      <p:sp>
        <p:nvSpPr>
          <p:cNvPr id="60" name="ZoneTexte 59">
            <a:extLst>
              <a:ext uri="{FF2B5EF4-FFF2-40B4-BE49-F238E27FC236}">
                <a16:creationId xmlns:a16="http://schemas.microsoft.com/office/drawing/2014/main" id="{B47204A6-7033-9947-7EE7-3F4724687559}"/>
              </a:ext>
            </a:extLst>
          </p:cNvPr>
          <p:cNvSpPr txBox="1"/>
          <p:nvPr/>
        </p:nvSpPr>
        <p:spPr>
          <a:xfrm>
            <a:off x="1485261" y="1913427"/>
            <a:ext cx="1450788" cy="892552"/>
          </a:xfrm>
          <a:prstGeom prst="rect">
            <a:avLst/>
          </a:prstGeom>
          <a:noFill/>
        </p:spPr>
        <p:txBody>
          <a:bodyPr wrap="square" rtlCol="0">
            <a:spAutoFit/>
          </a:bodyPr>
          <a:lstStyle/>
          <a:p>
            <a:pPr algn="ctr"/>
            <a:r>
              <a:rPr kumimoji="0" lang="fr-FR" sz="800" b="0" i="0" u="none" strike="noStrike" kern="1200" cap="none" spc="0" normalizeH="0" baseline="0" noProof="0">
                <a:ln>
                  <a:noFill/>
                </a:ln>
                <a:solidFill>
                  <a:prstClr val="black"/>
                </a:solidFill>
                <a:effectLst/>
                <a:highlight>
                  <a:srgbClr val="FFFF00"/>
                </a:highlight>
                <a:uLnTx/>
                <a:uFillTx/>
                <a:latin typeface="Segoe UI" panose="020B0502040204020203" pitchFamily="34" charset="0"/>
                <a:ea typeface="+mn-ea"/>
                <a:cs typeface="Segoe UI" panose="020B0502040204020203" pitchFamily="34" charset="0"/>
              </a:rPr>
              <a:t>Les résultats de la littérature résistent-ils à une restriction du groupe de comparaison aux autres indemnisés sortants de CDI</a:t>
            </a:r>
            <a:r>
              <a:rPr lang="fr-FR" sz="1000" b="1">
                <a:solidFill>
                  <a:schemeClr val="accent5"/>
                </a:solidFill>
                <a:highlight>
                  <a:srgbClr val="FFFF00"/>
                </a:highlight>
                <a:latin typeface="Segoe UI" panose="020B0502040204020203" pitchFamily="34" charset="0"/>
                <a:cs typeface="Segoe UI" panose="020B0502040204020203" pitchFamily="34" charset="0"/>
              </a:rPr>
              <a:t> ?</a:t>
            </a:r>
          </a:p>
        </p:txBody>
      </p:sp>
      <p:sp>
        <p:nvSpPr>
          <p:cNvPr id="63" name="ZoneTexte 62">
            <a:extLst>
              <a:ext uri="{FF2B5EF4-FFF2-40B4-BE49-F238E27FC236}">
                <a16:creationId xmlns:a16="http://schemas.microsoft.com/office/drawing/2014/main" id="{D5B6AFCD-881D-A107-CA02-4D86407B476F}"/>
              </a:ext>
            </a:extLst>
          </p:cNvPr>
          <p:cNvSpPr txBox="1"/>
          <p:nvPr/>
        </p:nvSpPr>
        <p:spPr>
          <a:xfrm>
            <a:off x="1485261" y="4706077"/>
            <a:ext cx="1450788" cy="553998"/>
          </a:xfrm>
          <a:prstGeom prst="rect">
            <a:avLst/>
          </a:prstGeom>
          <a:noFill/>
        </p:spPr>
        <p:txBody>
          <a:bodyPr wrap="square" rtlCol="0">
            <a:spAutoFit/>
          </a:bodyPr>
          <a:lstStyle/>
          <a:p>
            <a:pPr algn="ctr"/>
            <a:r>
              <a:rPr lang="fr-FR" sz="1000" b="1">
                <a:solidFill>
                  <a:schemeClr val="accent5"/>
                </a:solidFill>
                <a:highlight>
                  <a:srgbClr val="FFFF00"/>
                </a:highlight>
                <a:latin typeface="Segoe UI" panose="020B0502040204020203" pitchFamily="34" charset="0"/>
                <a:cs typeface="Segoe UI" panose="020B0502040204020203" pitchFamily="34" charset="0"/>
              </a:rPr>
              <a:t>Quelles trajectoires se cachent derrière l’effet moyen ? </a:t>
            </a:r>
          </a:p>
        </p:txBody>
      </p:sp>
      <p:sp>
        <p:nvSpPr>
          <p:cNvPr id="65" name="ZoneTexte 64">
            <a:extLst>
              <a:ext uri="{FF2B5EF4-FFF2-40B4-BE49-F238E27FC236}">
                <a16:creationId xmlns:a16="http://schemas.microsoft.com/office/drawing/2014/main" id="{9F1BB6A8-49F6-E7FE-D4E9-7C3BEA42786B}"/>
              </a:ext>
            </a:extLst>
          </p:cNvPr>
          <p:cNvSpPr txBox="1"/>
          <p:nvPr/>
        </p:nvSpPr>
        <p:spPr>
          <a:xfrm>
            <a:off x="9268071" y="4818038"/>
            <a:ext cx="2102270" cy="784830"/>
          </a:xfrm>
          <a:prstGeom prst="rect">
            <a:avLst/>
          </a:prstGeom>
          <a:noFill/>
        </p:spPr>
        <p:txBody>
          <a:bodyPr wrap="square" rtlCol="0">
            <a:spAutoFit/>
          </a:bodyPr>
          <a:lstStyle/>
          <a:p>
            <a:pPr marL="171450" indent="-171450" algn="just">
              <a:buFont typeface="Arial" panose="020B0604020202020204" pitchFamily="34" charset="0"/>
              <a:buChar char="•"/>
            </a:pPr>
            <a:r>
              <a:rPr lang="fr-FR" sz="900">
                <a:highlight>
                  <a:srgbClr val="FFFF00"/>
                </a:highlight>
                <a:latin typeface="Segoe UI" panose="020B0502040204020203" pitchFamily="34" charset="0"/>
                <a:cs typeface="Segoe UI" panose="020B0502040204020203" pitchFamily="34" charset="0"/>
              </a:rPr>
              <a:t>Identifier et caractériser les différentes trajectoires au-delà du résultat moyen</a:t>
            </a:r>
          </a:p>
          <a:p>
            <a:pPr marL="171450" indent="-171450" algn="just">
              <a:buFont typeface="Arial" panose="020B0604020202020204" pitchFamily="34" charset="0"/>
              <a:buChar char="•"/>
            </a:pPr>
            <a:r>
              <a:rPr lang="fr-FR" sz="900">
                <a:highlight>
                  <a:srgbClr val="FFFF00"/>
                </a:highlight>
                <a:latin typeface="Segoe UI" panose="020B0502040204020203" pitchFamily="34" charset="0"/>
                <a:cs typeface="Segoe UI" panose="020B0502040204020203" pitchFamily="34" charset="0"/>
              </a:rPr>
              <a:t>Prendre en compte les états en dehors du marché du travail</a:t>
            </a:r>
          </a:p>
        </p:txBody>
      </p:sp>
      <p:sp>
        <p:nvSpPr>
          <p:cNvPr id="78" name="Rectangle : coins arrondis 77">
            <a:extLst>
              <a:ext uri="{FF2B5EF4-FFF2-40B4-BE49-F238E27FC236}">
                <a16:creationId xmlns:a16="http://schemas.microsoft.com/office/drawing/2014/main" id="{E51BBD67-F778-6994-62BE-F8B9FFBD84CF}"/>
              </a:ext>
            </a:extLst>
          </p:cNvPr>
          <p:cNvSpPr/>
          <p:nvPr/>
        </p:nvSpPr>
        <p:spPr>
          <a:xfrm>
            <a:off x="3784724" y="1857664"/>
            <a:ext cx="4819766" cy="1055798"/>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Flèche : bas 73">
            <a:extLst>
              <a:ext uri="{FF2B5EF4-FFF2-40B4-BE49-F238E27FC236}">
                <a16:creationId xmlns:a16="http://schemas.microsoft.com/office/drawing/2014/main" id="{406B1196-A814-9CD5-5356-50797809D4CE}"/>
              </a:ext>
            </a:extLst>
          </p:cNvPr>
          <p:cNvSpPr/>
          <p:nvPr/>
        </p:nvSpPr>
        <p:spPr>
          <a:xfrm rot="16200000">
            <a:off x="3322778" y="1857776"/>
            <a:ext cx="462192" cy="895524"/>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 coins arrondis 79">
            <a:extLst>
              <a:ext uri="{FF2B5EF4-FFF2-40B4-BE49-F238E27FC236}">
                <a16:creationId xmlns:a16="http://schemas.microsoft.com/office/drawing/2014/main" id="{3E32C1E1-B094-5C76-21D0-7D65BBA3FF5B}"/>
              </a:ext>
            </a:extLst>
          </p:cNvPr>
          <p:cNvSpPr/>
          <p:nvPr/>
        </p:nvSpPr>
        <p:spPr>
          <a:xfrm>
            <a:off x="3784724" y="3197338"/>
            <a:ext cx="4819766" cy="1055798"/>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bas 81">
            <a:extLst>
              <a:ext uri="{FF2B5EF4-FFF2-40B4-BE49-F238E27FC236}">
                <a16:creationId xmlns:a16="http://schemas.microsoft.com/office/drawing/2014/main" id="{AA6D96E4-17FB-24D4-C966-B466352BF17B}"/>
              </a:ext>
            </a:extLst>
          </p:cNvPr>
          <p:cNvSpPr/>
          <p:nvPr/>
        </p:nvSpPr>
        <p:spPr>
          <a:xfrm rot="16200000">
            <a:off x="3322778" y="3199848"/>
            <a:ext cx="462192" cy="895524"/>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 coins arrondis 83">
            <a:extLst>
              <a:ext uri="{FF2B5EF4-FFF2-40B4-BE49-F238E27FC236}">
                <a16:creationId xmlns:a16="http://schemas.microsoft.com/office/drawing/2014/main" id="{6773D921-0CB3-713E-3E07-1F8526319341}"/>
              </a:ext>
            </a:extLst>
          </p:cNvPr>
          <p:cNvSpPr/>
          <p:nvPr/>
        </p:nvSpPr>
        <p:spPr>
          <a:xfrm>
            <a:off x="3786643" y="4630133"/>
            <a:ext cx="4819766" cy="1055798"/>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Flèche : bas 75">
            <a:extLst>
              <a:ext uri="{FF2B5EF4-FFF2-40B4-BE49-F238E27FC236}">
                <a16:creationId xmlns:a16="http://schemas.microsoft.com/office/drawing/2014/main" id="{C677CA0C-CAE9-457E-1560-9AC44970257E}"/>
              </a:ext>
            </a:extLst>
          </p:cNvPr>
          <p:cNvSpPr/>
          <p:nvPr/>
        </p:nvSpPr>
        <p:spPr>
          <a:xfrm rot="16200000">
            <a:off x="3330289" y="4625968"/>
            <a:ext cx="478211" cy="926561"/>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 name="Groupe 3">
            <a:extLst>
              <a:ext uri="{FF2B5EF4-FFF2-40B4-BE49-F238E27FC236}">
                <a16:creationId xmlns:a16="http://schemas.microsoft.com/office/drawing/2014/main" id="{EFDF3632-1328-28B3-F2CF-0E4FC32DDC39}"/>
              </a:ext>
            </a:extLst>
          </p:cNvPr>
          <p:cNvGrpSpPr/>
          <p:nvPr/>
        </p:nvGrpSpPr>
        <p:grpSpPr>
          <a:xfrm>
            <a:off x="3838486" y="3159901"/>
            <a:ext cx="4860307" cy="1095056"/>
            <a:chOff x="8179628" y="2444759"/>
            <a:chExt cx="3437010" cy="1020102"/>
          </a:xfrm>
        </p:grpSpPr>
        <p:sp>
          <p:nvSpPr>
            <p:cNvPr id="9" name="ZoneTexte 8">
              <a:extLst>
                <a:ext uri="{FF2B5EF4-FFF2-40B4-BE49-F238E27FC236}">
                  <a16:creationId xmlns:a16="http://schemas.microsoft.com/office/drawing/2014/main" id="{6759B28A-088C-8F06-FCF0-0F21FDA6BB9E}"/>
                </a:ext>
              </a:extLst>
            </p:cNvPr>
            <p:cNvSpPr txBox="1"/>
            <p:nvPr/>
          </p:nvSpPr>
          <p:spPr>
            <a:xfrm>
              <a:off x="8323826" y="2444759"/>
              <a:ext cx="2369536" cy="400110"/>
            </a:xfrm>
            <a:prstGeom prst="rect">
              <a:avLst/>
            </a:prstGeom>
            <a:noFill/>
          </p:spPr>
          <p:txBody>
            <a:bodyPr wrap="square" rtlCol="0">
              <a:spAutoFit/>
            </a:bodyPr>
            <a:lstStyle/>
            <a:p>
              <a:r>
                <a:rPr lang="fr-FR" sz="1000" b="1">
                  <a:solidFill>
                    <a:schemeClr val="accent5"/>
                  </a:solidFill>
                  <a:latin typeface="Segoe UI" panose="020B0502040204020203" pitchFamily="34" charset="0"/>
                  <a:cs typeface="Segoe UI" panose="020B0502040204020203" pitchFamily="34" charset="0"/>
                </a:rPr>
                <a:t>ANALYSE 2 - CAUSALE</a:t>
              </a:r>
            </a:p>
            <a:p>
              <a:r>
                <a:rPr lang="fr-FR" sz="1000" b="1">
                  <a:latin typeface="Segoe UI" panose="020B0502040204020203" pitchFamily="34" charset="0"/>
                  <a:cs typeface="Segoe UI" panose="020B0502040204020203" pitchFamily="34" charset="0"/>
                </a:rPr>
                <a:t>EVENT STUDY AVEC APPARIEMENT</a:t>
              </a:r>
            </a:p>
          </p:txBody>
        </p:sp>
        <p:sp>
          <p:nvSpPr>
            <p:cNvPr id="10" name="ZoneTexte 9">
              <a:extLst>
                <a:ext uri="{FF2B5EF4-FFF2-40B4-BE49-F238E27FC236}">
                  <a16:creationId xmlns:a16="http://schemas.microsoft.com/office/drawing/2014/main" id="{377DA2D3-359D-AAD9-40A4-BECF688318A2}"/>
                </a:ext>
              </a:extLst>
            </p:cNvPr>
            <p:cNvSpPr txBox="1"/>
            <p:nvPr/>
          </p:nvSpPr>
          <p:spPr>
            <a:xfrm>
              <a:off x="8179628" y="2732679"/>
              <a:ext cx="3437010" cy="732182"/>
            </a:xfrm>
            <a:prstGeom prst="rect">
              <a:avLst/>
            </a:prstGeom>
            <a:noFill/>
          </p:spPr>
          <p:txBody>
            <a:bodyPr wrap="square" rtlCol="0">
              <a:spAutoFit/>
            </a:bodyPr>
            <a:lstStyle/>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Repérer chaque mois les nouveaux sortants de CDI indemnisés à l’ARE</a:t>
              </a:r>
            </a:p>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Construire un panel longitudinal fournissant au minimum deux ans d’historique avant la rupture du contrat de CDI</a:t>
              </a:r>
            </a:p>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Apparier mois par mois chaque RCI à des sortants comparables</a:t>
              </a:r>
            </a:p>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Estimer l’effet sur la présence en emploi par cohorte de sortie </a:t>
              </a:r>
            </a:p>
          </p:txBody>
        </p:sp>
      </p:grpSp>
      <p:grpSp>
        <p:nvGrpSpPr>
          <p:cNvPr id="28" name="Groupe 27">
            <a:extLst>
              <a:ext uri="{FF2B5EF4-FFF2-40B4-BE49-F238E27FC236}">
                <a16:creationId xmlns:a16="http://schemas.microsoft.com/office/drawing/2014/main" id="{2821C484-B7E6-E925-F3E9-2D681AA5EC0A}"/>
              </a:ext>
            </a:extLst>
          </p:cNvPr>
          <p:cNvGrpSpPr/>
          <p:nvPr/>
        </p:nvGrpSpPr>
        <p:grpSpPr>
          <a:xfrm rot="10800000" flipV="1">
            <a:off x="3811737" y="1889425"/>
            <a:ext cx="4783749" cy="52359"/>
            <a:chOff x="7569617" y="2567974"/>
            <a:chExt cx="4449535" cy="9351200"/>
          </a:xfrm>
        </p:grpSpPr>
        <p:sp>
          <p:nvSpPr>
            <p:cNvPr id="32" name="ZoneTexte 31">
              <a:extLst>
                <a:ext uri="{FF2B5EF4-FFF2-40B4-BE49-F238E27FC236}">
                  <a16:creationId xmlns:a16="http://schemas.microsoft.com/office/drawing/2014/main" id="{39EE597A-0B8A-1BA1-0B6C-50E4FE14C119}"/>
                </a:ext>
              </a:extLst>
            </p:cNvPr>
            <p:cNvSpPr txBox="1"/>
            <p:nvPr/>
          </p:nvSpPr>
          <p:spPr>
            <a:xfrm>
              <a:off x="7569617" y="9312911"/>
              <a:ext cx="4306653" cy="2606263"/>
            </a:xfrm>
            <a:prstGeom prst="rect">
              <a:avLst/>
            </a:prstGeom>
            <a:noFill/>
          </p:spPr>
          <p:txBody>
            <a:bodyPr wrap="square" rtlCol="0">
              <a:spAutoFit/>
            </a:bodyPr>
            <a:lstStyle/>
            <a:p>
              <a:r>
                <a:rPr lang="fr-FR" sz="1000" b="1">
                  <a:solidFill>
                    <a:schemeClr val="accent5"/>
                  </a:solidFill>
                  <a:latin typeface="Segoe UI" panose="020B0502040204020203" pitchFamily="34" charset="0"/>
                  <a:cs typeface="Segoe UI" panose="020B0502040204020203" pitchFamily="34" charset="0"/>
                </a:rPr>
                <a:t>ANALYSE 1 - DESCRIPTIVE</a:t>
              </a:r>
            </a:p>
            <a:p>
              <a:r>
                <a:rPr lang="fr-FR" sz="1000" b="1">
                  <a:latin typeface="Segoe UI" panose="020B0502040204020203" pitchFamily="34" charset="0"/>
                  <a:cs typeface="Segoe UI" panose="020B0502040204020203" pitchFamily="34" charset="0"/>
                </a:rPr>
                <a:t>RÉPLICATION ET EXTENSION DES RÉSULTATS DE LA LITTÉRATURE</a:t>
              </a:r>
              <a:endParaRPr lang="fr-FR" sz="1000">
                <a:latin typeface="Segoe UI" panose="020B0502040204020203" pitchFamily="34" charset="0"/>
                <a:cs typeface="Segoe UI" panose="020B0502040204020203" pitchFamily="34" charset="0"/>
              </a:endParaRPr>
            </a:p>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Comparaison du taux de présence en emploi salarié des allocataires indemnisés après une RCI à des sortants de CDI indemnisés pour un autre motif</a:t>
              </a:r>
            </a:p>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Réestimation du retour attendu à l’emploi par un modèle non additif</a:t>
              </a:r>
            </a:p>
            <a:p>
              <a:pPr marL="171450" indent="-171450" algn="just">
                <a:buFont typeface="Arial" panose="020B0604020202020204" pitchFamily="34" charset="0"/>
                <a:buChar char="•"/>
              </a:pPr>
              <a:r>
                <a:rPr lang="fr-FR" sz="900" spc="-20">
                  <a:latin typeface="Segoe UI" panose="020B0502040204020203" pitchFamily="34" charset="0"/>
                  <a:cs typeface="Segoe UI" panose="020B0502040204020203" pitchFamily="34" charset="0"/>
                </a:rPr>
                <a:t>Analyse de la qualité du premier emploi repris et des salaires</a:t>
              </a:r>
            </a:p>
          </p:txBody>
        </p:sp>
        <p:sp>
          <p:nvSpPr>
            <p:cNvPr id="31" name="ZoneTexte 30">
              <a:extLst>
                <a:ext uri="{FF2B5EF4-FFF2-40B4-BE49-F238E27FC236}">
                  <a16:creationId xmlns:a16="http://schemas.microsoft.com/office/drawing/2014/main" id="{A0446B0F-0103-5BF5-F45A-AD55F29D4CFB}"/>
                </a:ext>
              </a:extLst>
            </p:cNvPr>
            <p:cNvSpPr txBox="1"/>
            <p:nvPr/>
          </p:nvSpPr>
          <p:spPr>
            <a:xfrm>
              <a:off x="9200517" y="2567974"/>
              <a:ext cx="2818635" cy="510523"/>
            </a:xfrm>
            <a:prstGeom prst="rect">
              <a:avLst/>
            </a:prstGeom>
            <a:noFill/>
          </p:spPr>
          <p:txBody>
            <a:bodyPr wrap="square" rtlCol="0">
              <a:spAutoFit/>
            </a:bodyPr>
            <a:lstStyle/>
            <a:p>
              <a:endParaRPr lang="fr-FR" sz="1000" b="1">
                <a:latin typeface="Segoe UI" panose="020B0502040204020203" pitchFamily="34" charset="0"/>
                <a:cs typeface="Segoe UI" panose="020B0502040204020203" pitchFamily="34" charset="0"/>
              </a:endParaRPr>
            </a:p>
          </p:txBody>
        </p:sp>
      </p:grpSp>
      <p:sp>
        <p:nvSpPr>
          <p:cNvPr id="24" name="ZoneTexte 23">
            <a:extLst>
              <a:ext uri="{FF2B5EF4-FFF2-40B4-BE49-F238E27FC236}">
                <a16:creationId xmlns:a16="http://schemas.microsoft.com/office/drawing/2014/main" id="{974EDD07-1FBA-F78B-CA31-E2A8A6FEEFDF}"/>
              </a:ext>
            </a:extLst>
          </p:cNvPr>
          <p:cNvSpPr txBox="1"/>
          <p:nvPr/>
        </p:nvSpPr>
        <p:spPr>
          <a:xfrm>
            <a:off x="4002623" y="4657116"/>
            <a:ext cx="4401976" cy="954107"/>
          </a:xfrm>
          <a:prstGeom prst="rect">
            <a:avLst/>
          </a:prstGeom>
          <a:noFill/>
        </p:spPr>
        <p:txBody>
          <a:bodyPr wrap="square" rtlCol="0">
            <a:spAutoFit/>
          </a:bodyPr>
          <a:lstStyle/>
          <a:p>
            <a:r>
              <a:rPr lang="fr-FR" sz="1000" b="1">
                <a:solidFill>
                  <a:schemeClr val="accent5"/>
                </a:solidFill>
                <a:latin typeface="Segoe UI" panose="020B0502040204020203" pitchFamily="34" charset="0"/>
                <a:cs typeface="Segoe UI" panose="020B0502040204020203" pitchFamily="34" charset="0"/>
              </a:rPr>
              <a:t>ANALYSE 3 - DESCRIPTIVE</a:t>
            </a:r>
          </a:p>
          <a:p>
            <a:r>
              <a:rPr lang="fr-FR" sz="1000" b="1">
                <a:latin typeface="Segoe UI" panose="020B0502040204020203" pitchFamily="34" charset="0"/>
                <a:cs typeface="Segoe UI" panose="020B0502040204020203" pitchFamily="34" charset="0"/>
              </a:rPr>
              <a:t>ANALYSE DE SÉQUENCES</a:t>
            </a:r>
            <a:endParaRPr lang="fr-FR" sz="1000">
              <a:latin typeface="Segoe UI" panose="020B0502040204020203" pitchFamily="34" charset="0"/>
              <a:cs typeface="Segoe UI" panose="020B0502040204020203" pitchFamily="34" charset="0"/>
            </a:endParaRPr>
          </a:p>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Construction des états mensuels sur le marché du travail et en dehors (minimas, retraite) pour </a:t>
            </a:r>
            <a:r>
              <a:rPr lang="fr-FR" sz="900">
                <a:highlight>
                  <a:srgbClr val="FFFF00"/>
                </a:highlight>
                <a:latin typeface="Segoe UI" panose="020B0502040204020203" pitchFamily="34" charset="0"/>
                <a:cs typeface="Segoe UI" panose="020B0502040204020203" pitchFamily="34" charset="0"/>
              </a:rPr>
              <a:t>XXXX</a:t>
            </a:r>
            <a:r>
              <a:rPr lang="fr-FR" sz="900">
                <a:latin typeface="Segoe UI" panose="020B0502040204020203" pitchFamily="34" charset="0"/>
                <a:cs typeface="Segoe UI" panose="020B0502040204020203" pitchFamily="34" charset="0"/>
              </a:rPr>
              <a:t> individus</a:t>
            </a:r>
          </a:p>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Tirage d’un échantillon représentatif de 10000 individus</a:t>
            </a:r>
          </a:p>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Classification pour dégager les parcours-type</a:t>
            </a:r>
          </a:p>
        </p:txBody>
      </p:sp>
      <p:sp>
        <p:nvSpPr>
          <p:cNvPr id="86" name="Rectangle : coins arrondis 85">
            <a:extLst>
              <a:ext uri="{FF2B5EF4-FFF2-40B4-BE49-F238E27FC236}">
                <a16:creationId xmlns:a16="http://schemas.microsoft.com/office/drawing/2014/main" id="{F0A0F2BE-580E-6C6C-6190-D1491EEC0AFD}"/>
              </a:ext>
            </a:extLst>
          </p:cNvPr>
          <p:cNvSpPr/>
          <p:nvPr/>
        </p:nvSpPr>
        <p:spPr>
          <a:xfrm>
            <a:off x="9174443" y="1989150"/>
            <a:ext cx="2281304" cy="776024"/>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2A7076AC-B89A-3905-790D-7C436322E963}"/>
              </a:ext>
            </a:extLst>
          </p:cNvPr>
          <p:cNvSpPr/>
          <p:nvPr/>
        </p:nvSpPr>
        <p:spPr>
          <a:xfrm>
            <a:off x="9174443" y="3328422"/>
            <a:ext cx="2281304" cy="776024"/>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AAE15A03-A408-62B6-29FF-D9EF801D17E3}"/>
              </a:ext>
            </a:extLst>
          </p:cNvPr>
          <p:cNvSpPr txBox="1"/>
          <p:nvPr/>
        </p:nvSpPr>
        <p:spPr>
          <a:xfrm>
            <a:off x="9328457" y="3328856"/>
            <a:ext cx="2102270" cy="784830"/>
          </a:xfrm>
          <a:prstGeom prst="rect">
            <a:avLst/>
          </a:prstGeom>
          <a:noFill/>
        </p:spPr>
        <p:txBody>
          <a:bodyPr wrap="square" rtlCol="0">
            <a:spAutoFit/>
          </a:bodyPr>
          <a:lstStyle/>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Neutraliser l’effet de composition des indemnisés à l’ARE</a:t>
            </a:r>
          </a:p>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Séparer le potentiel retard de retour du possible gain d’appariement</a:t>
            </a:r>
          </a:p>
        </p:txBody>
      </p:sp>
      <p:sp>
        <p:nvSpPr>
          <p:cNvPr id="90" name="ZoneTexte 89">
            <a:extLst>
              <a:ext uri="{FF2B5EF4-FFF2-40B4-BE49-F238E27FC236}">
                <a16:creationId xmlns:a16="http://schemas.microsoft.com/office/drawing/2014/main" id="{F8EDECD8-C178-8579-7A38-99A45B89C199}"/>
              </a:ext>
            </a:extLst>
          </p:cNvPr>
          <p:cNvSpPr txBox="1"/>
          <p:nvPr/>
        </p:nvSpPr>
        <p:spPr>
          <a:xfrm>
            <a:off x="9281380" y="2045025"/>
            <a:ext cx="2102270" cy="646331"/>
          </a:xfrm>
          <a:prstGeom prst="rect">
            <a:avLst/>
          </a:prstGeom>
          <a:noFill/>
        </p:spPr>
        <p:txBody>
          <a:bodyPr wrap="square" rtlCol="0">
            <a:spAutoFit/>
          </a:bodyPr>
          <a:lstStyle/>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Estimer un effet causal sur la présence en emploi</a:t>
            </a:r>
          </a:p>
          <a:p>
            <a:pPr marL="171450" indent="-171450" algn="just">
              <a:buFont typeface="Arial" panose="020B0604020202020204" pitchFamily="34" charset="0"/>
              <a:buChar char="•"/>
            </a:pPr>
            <a:r>
              <a:rPr lang="fr-FR" sz="900">
                <a:latin typeface="Segoe UI" panose="020B0502040204020203" pitchFamily="34" charset="0"/>
                <a:cs typeface="Segoe UI" panose="020B0502040204020203" pitchFamily="34" charset="0"/>
              </a:rPr>
              <a:t>Prendre en compte l’effet sur l’emploi non salarié</a:t>
            </a:r>
          </a:p>
        </p:txBody>
      </p:sp>
      <p:sp>
        <p:nvSpPr>
          <p:cNvPr id="92" name="Flèche : bas 91">
            <a:extLst>
              <a:ext uri="{FF2B5EF4-FFF2-40B4-BE49-F238E27FC236}">
                <a16:creationId xmlns:a16="http://schemas.microsoft.com/office/drawing/2014/main" id="{4342078C-69ED-70C7-3569-4767F7215B88}"/>
              </a:ext>
            </a:extLst>
          </p:cNvPr>
          <p:cNvSpPr/>
          <p:nvPr/>
        </p:nvSpPr>
        <p:spPr>
          <a:xfrm rot="16200000">
            <a:off x="8788674" y="1890257"/>
            <a:ext cx="392901" cy="76126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Flèche : bas 93">
            <a:extLst>
              <a:ext uri="{FF2B5EF4-FFF2-40B4-BE49-F238E27FC236}">
                <a16:creationId xmlns:a16="http://schemas.microsoft.com/office/drawing/2014/main" id="{97DACFA5-6813-333D-E463-08318A821858}"/>
              </a:ext>
            </a:extLst>
          </p:cNvPr>
          <p:cNvSpPr/>
          <p:nvPr/>
        </p:nvSpPr>
        <p:spPr>
          <a:xfrm rot="16200000">
            <a:off x="8796844" y="3232329"/>
            <a:ext cx="392901" cy="76126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Flèche : bas 95">
            <a:extLst>
              <a:ext uri="{FF2B5EF4-FFF2-40B4-BE49-F238E27FC236}">
                <a16:creationId xmlns:a16="http://schemas.microsoft.com/office/drawing/2014/main" id="{432D4D77-A249-ECE4-7A2A-86A3800E4776}"/>
              </a:ext>
            </a:extLst>
          </p:cNvPr>
          <p:cNvSpPr/>
          <p:nvPr/>
        </p:nvSpPr>
        <p:spPr>
          <a:xfrm rot="16200000">
            <a:off x="8788674" y="4665958"/>
            <a:ext cx="392901" cy="76126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Accolade ouvrante 97">
            <a:extLst>
              <a:ext uri="{FF2B5EF4-FFF2-40B4-BE49-F238E27FC236}">
                <a16:creationId xmlns:a16="http://schemas.microsoft.com/office/drawing/2014/main" id="{9BC225F4-8183-4F64-4ECA-D52B893F6F7F}"/>
              </a:ext>
            </a:extLst>
          </p:cNvPr>
          <p:cNvSpPr/>
          <p:nvPr/>
        </p:nvSpPr>
        <p:spPr>
          <a:xfrm rot="16200000">
            <a:off x="6019254" y="3436849"/>
            <a:ext cx="368720" cy="4783749"/>
          </a:xfrm>
          <a:prstGeom prst="leftBrace">
            <a:avLst/>
          </a:prstGeom>
          <a:noFill/>
          <a:ln w="19050">
            <a:solidFill>
              <a:srgbClr val="B6D79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9" name="ZoneTexte 98">
            <a:extLst>
              <a:ext uri="{FF2B5EF4-FFF2-40B4-BE49-F238E27FC236}">
                <a16:creationId xmlns:a16="http://schemas.microsoft.com/office/drawing/2014/main" id="{0DDC61D1-9CD2-1812-15C2-66A3A2965E2C}"/>
              </a:ext>
            </a:extLst>
          </p:cNvPr>
          <p:cNvSpPr txBox="1"/>
          <p:nvPr/>
        </p:nvSpPr>
        <p:spPr>
          <a:xfrm>
            <a:off x="3986975" y="5970250"/>
            <a:ext cx="2199075" cy="246221"/>
          </a:xfrm>
          <a:prstGeom prst="rect">
            <a:avLst/>
          </a:prstGeom>
          <a:noFill/>
        </p:spPr>
        <p:txBody>
          <a:bodyPr wrap="square" rtlCol="0">
            <a:spAutoFit/>
          </a:bodyPr>
          <a:lstStyle/>
          <a:p>
            <a:pPr algn="ctr"/>
            <a:r>
              <a:rPr lang="fr-FR" sz="1000" b="1">
                <a:latin typeface="Segoe UI" panose="020B0502040204020203" pitchFamily="34" charset="0"/>
                <a:cs typeface="Segoe UI" panose="020B0502040204020203" pitchFamily="34" charset="0"/>
              </a:rPr>
              <a:t>DONNÉES : MIDAS (2017-2025)</a:t>
            </a:r>
          </a:p>
        </p:txBody>
      </p:sp>
      <p:pic>
        <p:nvPicPr>
          <p:cNvPr id="101" name="Graphique 100" descr="Serveur avec un remplissage uni">
            <a:extLst>
              <a:ext uri="{FF2B5EF4-FFF2-40B4-BE49-F238E27FC236}">
                <a16:creationId xmlns:a16="http://schemas.microsoft.com/office/drawing/2014/main" id="{879E8D58-1F35-F0C9-2F2C-A67842B4F4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54893" y="5905940"/>
            <a:ext cx="420915" cy="420915"/>
          </a:xfrm>
          <a:prstGeom prst="rect">
            <a:avLst/>
          </a:prstGeom>
        </p:spPr>
      </p:pic>
      <p:pic>
        <p:nvPicPr>
          <p:cNvPr id="103" name="Graphique 102" descr="Utilisateurs avec un remplissage uni">
            <a:extLst>
              <a:ext uri="{FF2B5EF4-FFF2-40B4-BE49-F238E27FC236}">
                <a16:creationId xmlns:a16="http://schemas.microsoft.com/office/drawing/2014/main" id="{ED237BCE-D033-1D4B-5484-29B57105F5C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280418" y="5884512"/>
            <a:ext cx="420915" cy="420915"/>
          </a:xfrm>
          <a:prstGeom prst="rect">
            <a:avLst/>
          </a:prstGeom>
        </p:spPr>
      </p:pic>
      <p:sp>
        <p:nvSpPr>
          <p:cNvPr id="105" name="ZoneTexte 104">
            <a:extLst>
              <a:ext uri="{FF2B5EF4-FFF2-40B4-BE49-F238E27FC236}">
                <a16:creationId xmlns:a16="http://schemas.microsoft.com/office/drawing/2014/main" id="{3DAE1973-91C5-2B24-BA65-C1CE6F14AD60}"/>
              </a:ext>
            </a:extLst>
          </p:cNvPr>
          <p:cNvSpPr txBox="1"/>
          <p:nvPr/>
        </p:nvSpPr>
        <p:spPr>
          <a:xfrm>
            <a:off x="6510005" y="5927232"/>
            <a:ext cx="930586" cy="369332"/>
          </a:xfrm>
          <a:prstGeom prst="rect">
            <a:avLst/>
          </a:prstGeom>
          <a:noFill/>
        </p:spPr>
        <p:txBody>
          <a:bodyPr wrap="square" rtlCol="0">
            <a:spAutoFit/>
          </a:bodyPr>
          <a:lstStyle/>
          <a:p>
            <a:pPr algn="ctr"/>
            <a:r>
              <a:rPr lang="fr-FR" sz="900" b="1">
                <a:latin typeface="Segoe UI" panose="020B0502040204020203" pitchFamily="34" charset="0"/>
                <a:cs typeface="Segoe UI" panose="020B0502040204020203" pitchFamily="34" charset="0"/>
              </a:rPr>
              <a:t>COHORTE 2022</a:t>
            </a:r>
          </a:p>
        </p:txBody>
      </p:sp>
      <p:pic>
        <p:nvPicPr>
          <p:cNvPr id="107" name="Graphique 106" descr="Utilisateurs avec un remplissage uni">
            <a:extLst>
              <a:ext uri="{FF2B5EF4-FFF2-40B4-BE49-F238E27FC236}">
                <a16:creationId xmlns:a16="http://schemas.microsoft.com/office/drawing/2014/main" id="{3A1362E2-3AED-EF24-B479-50F7E19D444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347764" y="5884512"/>
            <a:ext cx="420915" cy="420915"/>
          </a:xfrm>
          <a:prstGeom prst="rect">
            <a:avLst/>
          </a:prstGeom>
        </p:spPr>
      </p:pic>
      <p:sp>
        <p:nvSpPr>
          <p:cNvPr id="109" name="ZoneTexte 108">
            <a:extLst>
              <a:ext uri="{FF2B5EF4-FFF2-40B4-BE49-F238E27FC236}">
                <a16:creationId xmlns:a16="http://schemas.microsoft.com/office/drawing/2014/main" id="{DB15DF4B-CE65-E674-252B-3AD30DB0D408}"/>
              </a:ext>
            </a:extLst>
          </p:cNvPr>
          <p:cNvSpPr txBox="1"/>
          <p:nvPr/>
        </p:nvSpPr>
        <p:spPr>
          <a:xfrm>
            <a:off x="7613015" y="5921004"/>
            <a:ext cx="930586" cy="369332"/>
          </a:xfrm>
          <a:prstGeom prst="rect">
            <a:avLst/>
          </a:prstGeom>
          <a:noFill/>
        </p:spPr>
        <p:txBody>
          <a:bodyPr wrap="square" rtlCol="0">
            <a:spAutoFit/>
          </a:bodyPr>
          <a:lstStyle/>
          <a:p>
            <a:pPr algn="ctr"/>
            <a:r>
              <a:rPr lang="fr-FR" sz="900" b="1">
                <a:latin typeface="Segoe UI" panose="020B0502040204020203" pitchFamily="34" charset="0"/>
                <a:cs typeface="Segoe UI" panose="020B0502040204020203" pitchFamily="34" charset="0"/>
              </a:rPr>
              <a:t>COHORTE 2019</a:t>
            </a:r>
          </a:p>
        </p:txBody>
      </p:sp>
      <p:grpSp>
        <p:nvGrpSpPr>
          <p:cNvPr id="110" name="Groupe 109">
            <a:extLst>
              <a:ext uri="{FF2B5EF4-FFF2-40B4-BE49-F238E27FC236}">
                <a16:creationId xmlns:a16="http://schemas.microsoft.com/office/drawing/2014/main" id="{EFFE71C4-B335-2018-A3AC-BBAD203FFE13}"/>
              </a:ext>
            </a:extLst>
          </p:cNvPr>
          <p:cNvGrpSpPr/>
          <p:nvPr/>
        </p:nvGrpSpPr>
        <p:grpSpPr>
          <a:xfrm>
            <a:off x="3721797" y="1735217"/>
            <a:ext cx="342914" cy="333876"/>
            <a:chOff x="2327336" y="-533713"/>
            <a:chExt cx="370487" cy="360722"/>
          </a:xfrm>
        </p:grpSpPr>
        <p:sp>
          <p:nvSpPr>
            <p:cNvPr id="55" name="Ellipse 54">
              <a:extLst>
                <a:ext uri="{FF2B5EF4-FFF2-40B4-BE49-F238E27FC236}">
                  <a16:creationId xmlns:a16="http://schemas.microsoft.com/office/drawing/2014/main" id="{AC38A48A-0BC6-C11B-3FE3-BBEF27CA28AE}"/>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Graphique 58" descr="Présentation avec graphique à barres avec un remplissage uni">
              <a:extLst>
                <a:ext uri="{FF2B5EF4-FFF2-40B4-BE49-F238E27FC236}">
                  <a16:creationId xmlns:a16="http://schemas.microsoft.com/office/drawing/2014/main" id="{7C636B05-18B9-3015-5D54-419AD2F91CC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91568" y="-454626"/>
              <a:ext cx="242022" cy="242022"/>
            </a:xfrm>
            <a:prstGeom prst="rect">
              <a:avLst/>
            </a:prstGeom>
          </p:spPr>
        </p:pic>
      </p:grpSp>
      <p:grpSp>
        <p:nvGrpSpPr>
          <p:cNvPr id="111" name="Groupe 110">
            <a:extLst>
              <a:ext uri="{FF2B5EF4-FFF2-40B4-BE49-F238E27FC236}">
                <a16:creationId xmlns:a16="http://schemas.microsoft.com/office/drawing/2014/main" id="{94E544B9-BBD4-84DA-9BC6-97144EB74466}"/>
              </a:ext>
            </a:extLst>
          </p:cNvPr>
          <p:cNvGrpSpPr/>
          <p:nvPr/>
        </p:nvGrpSpPr>
        <p:grpSpPr>
          <a:xfrm>
            <a:off x="3721797" y="3046188"/>
            <a:ext cx="342914" cy="333876"/>
            <a:chOff x="2327336" y="-533713"/>
            <a:chExt cx="370487" cy="360722"/>
          </a:xfrm>
        </p:grpSpPr>
        <p:sp>
          <p:nvSpPr>
            <p:cNvPr id="112" name="Ellipse 111">
              <a:extLst>
                <a:ext uri="{FF2B5EF4-FFF2-40B4-BE49-F238E27FC236}">
                  <a16:creationId xmlns:a16="http://schemas.microsoft.com/office/drawing/2014/main" id="{9B2192E0-60FA-15D2-3702-E45BA489AB90}"/>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3" name="Graphique 112" descr="Recherche avec un remplissage uni">
              <a:extLst>
                <a:ext uri="{FF2B5EF4-FFF2-40B4-BE49-F238E27FC236}">
                  <a16:creationId xmlns:a16="http://schemas.microsoft.com/office/drawing/2014/main" id="{FC77D9C8-7B73-2986-C5FC-1E0A3E2B697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391568" y="-454626"/>
              <a:ext cx="242022" cy="242022"/>
            </a:xfrm>
            <a:prstGeom prst="rect">
              <a:avLst/>
            </a:prstGeom>
          </p:spPr>
        </p:pic>
      </p:grpSp>
      <p:grpSp>
        <p:nvGrpSpPr>
          <p:cNvPr id="117" name="Groupe 116">
            <a:extLst>
              <a:ext uri="{FF2B5EF4-FFF2-40B4-BE49-F238E27FC236}">
                <a16:creationId xmlns:a16="http://schemas.microsoft.com/office/drawing/2014/main" id="{716D4889-A1C8-7B14-A8CE-3242C443C85F}"/>
              </a:ext>
            </a:extLst>
          </p:cNvPr>
          <p:cNvGrpSpPr/>
          <p:nvPr/>
        </p:nvGrpSpPr>
        <p:grpSpPr>
          <a:xfrm>
            <a:off x="3721797" y="4490813"/>
            <a:ext cx="342914" cy="333876"/>
            <a:chOff x="2327336" y="-533713"/>
            <a:chExt cx="370487" cy="360722"/>
          </a:xfrm>
        </p:grpSpPr>
        <p:sp>
          <p:nvSpPr>
            <p:cNvPr id="118" name="Ellipse 117">
              <a:extLst>
                <a:ext uri="{FF2B5EF4-FFF2-40B4-BE49-F238E27FC236}">
                  <a16:creationId xmlns:a16="http://schemas.microsoft.com/office/drawing/2014/main" id="{2903A0F5-AD84-4E09-2172-8C0960B9E058}"/>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9" name="Graphique 118" descr="Croissance de l'activité avec un remplissage uni">
              <a:extLst>
                <a:ext uri="{FF2B5EF4-FFF2-40B4-BE49-F238E27FC236}">
                  <a16:creationId xmlns:a16="http://schemas.microsoft.com/office/drawing/2014/main" id="{4E9F6A5F-F48D-ABF7-CB00-ADA5C53A2573}"/>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391568" y="-454626"/>
              <a:ext cx="242022" cy="242022"/>
            </a:xfrm>
            <a:prstGeom prst="rect">
              <a:avLst/>
            </a:prstGeom>
          </p:spPr>
        </p:pic>
      </p:grpSp>
      <p:grpSp>
        <p:nvGrpSpPr>
          <p:cNvPr id="120" name="Groupe 119">
            <a:extLst>
              <a:ext uri="{FF2B5EF4-FFF2-40B4-BE49-F238E27FC236}">
                <a16:creationId xmlns:a16="http://schemas.microsoft.com/office/drawing/2014/main" id="{A6EB3AD9-82F0-5867-6A85-12E0293B7B62}"/>
              </a:ext>
            </a:extLst>
          </p:cNvPr>
          <p:cNvGrpSpPr/>
          <p:nvPr/>
        </p:nvGrpSpPr>
        <p:grpSpPr>
          <a:xfrm>
            <a:off x="1230397" y="1735084"/>
            <a:ext cx="342914" cy="333876"/>
            <a:chOff x="2327336" y="-533713"/>
            <a:chExt cx="370487" cy="360722"/>
          </a:xfrm>
        </p:grpSpPr>
        <p:sp>
          <p:nvSpPr>
            <p:cNvPr id="121" name="Ellipse 120">
              <a:extLst>
                <a:ext uri="{FF2B5EF4-FFF2-40B4-BE49-F238E27FC236}">
                  <a16:creationId xmlns:a16="http://schemas.microsoft.com/office/drawing/2014/main" id="{6E58BFD7-E4EE-E979-21DD-C1902CDA6564}"/>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2" name="Graphique 121" descr="Point d’interrogation avec un remplissage uni">
              <a:extLst>
                <a:ext uri="{FF2B5EF4-FFF2-40B4-BE49-F238E27FC236}">
                  <a16:creationId xmlns:a16="http://schemas.microsoft.com/office/drawing/2014/main" id="{E7E64FCC-D399-B9C3-8DFD-2AA2CAFD3048}"/>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391568" y="-454626"/>
              <a:ext cx="242022" cy="242022"/>
            </a:xfrm>
            <a:prstGeom prst="rect">
              <a:avLst/>
            </a:prstGeom>
          </p:spPr>
        </p:pic>
      </p:grpSp>
      <p:grpSp>
        <p:nvGrpSpPr>
          <p:cNvPr id="123" name="Groupe 122">
            <a:extLst>
              <a:ext uri="{FF2B5EF4-FFF2-40B4-BE49-F238E27FC236}">
                <a16:creationId xmlns:a16="http://schemas.microsoft.com/office/drawing/2014/main" id="{A69828E0-B6E5-D63D-38EF-1256025DEB22}"/>
              </a:ext>
            </a:extLst>
          </p:cNvPr>
          <p:cNvGrpSpPr/>
          <p:nvPr/>
        </p:nvGrpSpPr>
        <p:grpSpPr>
          <a:xfrm>
            <a:off x="1230397" y="2973433"/>
            <a:ext cx="342914" cy="333876"/>
            <a:chOff x="2327336" y="-533713"/>
            <a:chExt cx="370487" cy="360722"/>
          </a:xfrm>
        </p:grpSpPr>
        <p:sp>
          <p:nvSpPr>
            <p:cNvPr id="124" name="Ellipse 123">
              <a:extLst>
                <a:ext uri="{FF2B5EF4-FFF2-40B4-BE49-F238E27FC236}">
                  <a16:creationId xmlns:a16="http://schemas.microsoft.com/office/drawing/2014/main" id="{D3EFC0DA-3522-5F76-40FB-2EADF0F093C9}"/>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5" name="Graphique 124" descr="Guide opérationnel avec un remplissage uni">
              <a:extLst>
                <a:ext uri="{FF2B5EF4-FFF2-40B4-BE49-F238E27FC236}">
                  <a16:creationId xmlns:a16="http://schemas.microsoft.com/office/drawing/2014/main" id="{8E306F19-0B8D-DE2E-D9A3-47C93EC788D4}"/>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2391568" y="-454626"/>
              <a:ext cx="242022" cy="242022"/>
            </a:xfrm>
            <a:prstGeom prst="rect">
              <a:avLst/>
            </a:prstGeom>
          </p:spPr>
        </p:pic>
      </p:grpSp>
      <p:grpSp>
        <p:nvGrpSpPr>
          <p:cNvPr id="126" name="Groupe 125">
            <a:extLst>
              <a:ext uri="{FF2B5EF4-FFF2-40B4-BE49-F238E27FC236}">
                <a16:creationId xmlns:a16="http://schemas.microsoft.com/office/drawing/2014/main" id="{0A09E68E-62D8-96BA-F85C-371CE6B493CC}"/>
              </a:ext>
            </a:extLst>
          </p:cNvPr>
          <p:cNvGrpSpPr/>
          <p:nvPr/>
        </p:nvGrpSpPr>
        <p:grpSpPr>
          <a:xfrm>
            <a:off x="1230397" y="4484162"/>
            <a:ext cx="342914" cy="333876"/>
            <a:chOff x="2327336" y="-533713"/>
            <a:chExt cx="370487" cy="360722"/>
          </a:xfrm>
        </p:grpSpPr>
        <p:sp>
          <p:nvSpPr>
            <p:cNvPr id="127" name="Ellipse 126">
              <a:extLst>
                <a:ext uri="{FF2B5EF4-FFF2-40B4-BE49-F238E27FC236}">
                  <a16:creationId xmlns:a16="http://schemas.microsoft.com/office/drawing/2014/main" id="{CC701A88-4C34-3CB7-B93A-CFFAE3616BCE}"/>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8" name="Graphique 127" descr="Puzzle avec un remplissage uni">
              <a:extLst>
                <a:ext uri="{FF2B5EF4-FFF2-40B4-BE49-F238E27FC236}">
                  <a16:creationId xmlns:a16="http://schemas.microsoft.com/office/drawing/2014/main" id="{8F5BE173-D19A-9732-A864-16F415DAB063}"/>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2391568" y="-454626"/>
              <a:ext cx="242022" cy="242022"/>
            </a:xfrm>
            <a:prstGeom prst="rect">
              <a:avLst/>
            </a:prstGeom>
          </p:spPr>
        </p:pic>
      </p:grpSp>
      <p:grpSp>
        <p:nvGrpSpPr>
          <p:cNvPr id="129" name="Groupe 128">
            <a:extLst>
              <a:ext uri="{FF2B5EF4-FFF2-40B4-BE49-F238E27FC236}">
                <a16:creationId xmlns:a16="http://schemas.microsoft.com/office/drawing/2014/main" id="{D9DECBB9-BE75-2845-82D8-9B84BC95AFEE}"/>
              </a:ext>
            </a:extLst>
          </p:cNvPr>
          <p:cNvGrpSpPr/>
          <p:nvPr/>
        </p:nvGrpSpPr>
        <p:grpSpPr>
          <a:xfrm>
            <a:off x="9157000" y="1812972"/>
            <a:ext cx="342914" cy="333876"/>
            <a:chOff x="2327336" y="-533713"/>
            <a:chExt cx="370487" cy="360722"/>
          </a:xfrm>
        </p:grpSpPr>
        <p:sp>
          <p:nvSpPr>
            <p:cNvPr id="130" name="Ellipse 129">
              <a:extLst>
                <a:ext uri="{FF2B5EF4-FFF2-40B4-BE49-F238E27FC236}">
                  <a16:creationId xmlns:a16="http://schemas.microsoft.com/office/drawing/2014/main" id="{3D90114C-B090-59A5-4541-E4135F5AA1F8}"/>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1" name="Graphique 130" descr="Lumières allumées avec un remplissage uni">
              <a:extLst>
                <a:ext uri="{FF2B5EF4-FFF2-40B4-BE49-F238E27FC236}">
                  <a16:creationId xmlns:a16="http://schemas.microsoft.com/office/drawing/2014/main" id="{3D887A9D-93ED-4AB6-CFFC-C683D4F9C06A}"/>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2391568" y="-454626"/>
              <a:ext cx="242022" cy="242022"/>
            </a:xfrm>
            <a:prstGeom prst="rect">
              <a:avLst/>
            </a:prstGeom>
          </p:spPr>
        </p:pic>
      </p:grpSp>
      <p:grpSp>
        <p:nvGrpSpPr>
          <p:cNvPr id="132" name="Groupe 131">
            <a:extLst>
              <a:ext uri="{FF2B5EF4-FFF2-40B4-BE49-F238E27FC236}">
                <a16:creationId xmlns:a16="http://schemas.microsoft.com/office/drawing/2014/main" id="{C92CBE1A-8293-88C2-1287-C1BBF7D19030}"/>
              </a:ext>
            </a:extLst>
          </p:cNvPr>
          <p:cNvGrpSpPr/>
          <p:nvPr/>
        </p:nvGrpSpPr>
        <p:grpSpPr>
          <a:xfrm>
            <a:off x="9174443" y="4623318"/>
            <a:ext cx="342914" cy="333876"/>
            <a:chOff x="2327336" y="-533713"/>
            <a:chExt cx="370487" cy="360722"/>
          </a:xfrm>
        </p:grpSpPr>
        <p:sp>
          <p:nvSpPr>
            <p:cNvPr id="133" name="Ellipse 132">
              <a:extLst>
                <a:ext uri="{FF2B5EF4-FFF2-40B4-BE49-F238E27FC236}">
                  <a16:creationId xmlns:a16="http://schemas.microsoft.com/office/drawing/2014/main" id="{6E383A09-B89E-DE0C-AC59-E6E7356A230D}"/>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4" name="Graphique 133" descr="Pièces de puzzle avec un remplissage uni">
              <a:extLst>
                <a:ext uri="{FF2B5EF4-FFF2-40B4-BE49-F238E27FC236}">
                  <a16:creationId xmlns:a16="http://schemas.microsoft.com/office/drawing/2014/main" id="{81EF878D-B719-8949-33BA-D2E8BCD220CA}"/>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2391568" y="-454626"/>
              <a:ext cx="242022" cy="242022"/>
            </a:xfrm>
            <a:prstGeom prst="rect">
              <a:avLst/>
            </a:prstGeom>
          </p:spPr>
        </p:pic>
      </p:grpSp>
      <p:grpSp>
        <p:nvGrpSpPr>
          <p:cNvPr id="135" name="Groupe 134">
            <a:extLst>
              <a:ext uri="{FF2B5EF4-FFF2-40B4-BE49-F238E27FC236}">
                <a16:creationId xmlns:a16="http://schemas.microsoft.com/office/drawing/2014/main" id="{5107BDF3-A469-6418-9BE9-DB8725338F76}"/>
              </a:ext>
            </a:extLst>
          </p:cNvPr>
          <p:cNvGrpSpPr/>
          <p:nvPr/>
        </p:nvGrpSpPr>
        <p:grpSpPr>
          <a:xfrm>
            <a:off x="9154314" y="3165112"/>
            <a:ext cx="342914" cy="333876"/>
            <a:chOff x="2327336" y="-533713"/>
            <a:chExt cx="370487" cy="360722"/>
          </a:xfrm>
        </p:grpSpPr>
        <p:sp>
          <p:nvSpPr>
            <p:cNvPr id="136" name="Ellipse 135">
              <a:extLst>
                <a:ext uri="{FF2B5EF4-FFF2-40B4-BE49-F238E27FC236}">
                  <a16:creationId xmlns:a16="http://schemas.microsoft.com/office/drawing/2014/main" id="{6DA93219-A2B6-456F-BD83-30503DA5E7E5}"/>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7" name="Graphique 136" descr="Brainstorming avec un remplissage uni">
              <a:extLst>
                <a:ext uri="{FF2B5EF4-FFF2-40B4-BE49-F238E27FC236}">
                  <a16:creationId xmlns:a16="http://schemas.microsoft.com/office/drawing/2014/main" id="{C7245231-CD0C-571D-1BF4-12622C369D2A}"/>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2391568" y="-454626"/>
              <a:ext cx="242022" cy="242022"/>
            </a:xfrm>
            <a:prstGeom prst="rect">
              <a:avLst/>
            </a:prstGeom>
          </p:spPr>
        </p:pic>
      </p:grpSp>
    </p:spTree>
    <p:extLst>
      <p:ext uri="{BB962C8B-B14F-4D97-AF65-F5344CB8AC3E}">
        <p14:creationId xmlns:p14="http://schemas.microsoft.com/office/powerpoint/2010/main" val="905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21C47-4D39-6F89-C09B-042E17A5DF60}"/>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2947110-9653-222E-DE14-59F98FDA6B8A}"/>
              </a:ext>
            </a:extLst>
          </p:cNvPr>
          <p:cNvSpPr>
            <a:spLocks noGrp="1"/>
          </p:cNvSpPr>
          <p:nvPr>
            <p:ph type="body" sz="quarter" idx="12"/>
          </p:nvPr>
        </p:nvSpPr>
        <p:spPr/>
        <p:txBody>
          <a:bodyPr/>
          <a:lstStyle/>
          <a:p>
            <a:r>
              <a:rPr lang="fr-FR">
                <a:highlight>
                  <a:srgbClr val="FFFF00"/>
                </a:highlight>
              </a:rPr>
              <a:t>Réplication et extension des résultats de la littérature</a:t>
            </a:r>
          </a:p>
        </p:txBody>
      </p:sp>
      <p:sp>
        <p:nvSpPr>
          <p:cNvPr id="4" name="Espace réservé du texte 3">
            <a:extLst>
              <a:ext uri="{FF2B5EF4-FFF2-40B4-BE49-F238E27FC236}">
                <a16:creationId xmlns:a16="http://schemas.microsoft.com/office/drawing/2014/main" id="{E0413E6E-6DD2-A14A-8A29-549C5599D9A3}"/>
              </a:ext>
            </a:extLst>
          </p:cNvPr>
          <p:cNvSpPr>
            <a:spLocks noGrp="1"/>
          </p:cNvSpPr>
          <p:nvPr>
            <p:ph type="body" sz="quarter" idx="11"/>
          </p:nvPr>
        </p:nvSpPr>
        <p:spPr/>
        <p:txBody>
          <a:bodyPr/>
          <a:lstStyle/>
          <a:p>
            <a:r>
              <a:rPr lang="fr-FR">
                <a:highlight>
                  <a:srgbClr val="FFFF00"/>
                </a:highlight>
              </a:rPr>
              <a:t>Insérer question de recherche</a:t>
            </a:r>
          </a:p>
        </p:txBody>
      </p:sp>
    </p:spTree>
    <p:extLst>
      <p:ext uri="{BB962C8B-B14F-4D97-AF65-F5344CB8AC3E}">
        <p14:creationId xmlns:p14="http://schemas.microsoft.com/office/powerpoint/2010/main" val="365158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D7D40-F442-28B5-79D4-71B574C8A4E4}"/>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B262612-EDD6-309F-21BC-9851527673F1}"/>
              </a:ext>
            </a:extLst>
          </p:cNvPr>
          <p:cNvSpPr>
            <a:spLocks noGrp="1"/>
          </p:cNvSpPr>
          <p:nvPr>
            <p:ph type="body" sz="quarter" idx="16"/>
          </p:nvPr>
        </p:nvSpPr>
        <p:spPr>
          <a:xfrm>
            <a:off x="853719" y="1312463"/>
            <a:ext cx="10967748" cy="5031581"/>
          </a:xfrm>
          <a:solidFill>
            <a:srgbClr val="F2F8F9"/>
          </a:solidFill>
          <a:ln>
            <a:solidFill>
              <a:srgbClr val="FFFFFF"/>
            </a:solidFill>
          </a:ln>
        </p:spPr>
        <p:txBody>
          <a:bodyPr/>
          <a:lstStyle/>
          <a:p>
            <a:endParaRPr lang="fr-FR">
              <a:solidFill>
                <a:srgbClr val="E8F2E0"/>
              </a:solidFill>
              <a:latin typeface="Segoe UI" panose="020B0502040204020203" pitchFamily="34" charset="0"/>
              <a:cs typeface="Segoe UI" panose="020B0502040204020203" pitchFamily="34" charset="0"/>
            </a:endParaRPr>
          </a:p>
        </p:txBody>
      </p:sp>
      <p:sp>
        <p:nvSpPr>
          <p:cNvPr id="2" name="Espace réservé du texte 1">
            <a:extLst>
              <a:ext uri="{FF2B5EF4-FFF2-40B4-BE49-F238E27FC236}">
                <a16:creationId xmlns:a16="http://schemas.microsoft.com/office/drawing/2014/main" id="{3CF068DB-BCC6-DD5C-4ADE-C3E6F7069A14}"/>
              </a:ext>
            </a:extLst>
          </p:cNvPr>
          <p:cNvSpPr>
            <a:spLocks noGrp="1"/>
          </p:cNvSpPr>
          <p:nvPr>
            <p:ph type="body" sz="quarter" idx="15"/>
          </p:nvPr>
        </p:nvSpPr>
        <p:spPr>
          <a:xfrm>
            <a:off x="3668937" y="81375"/>
            <a:ext cx="8061749" cy="199465"/>
          </a:xfrm>
        </p:spPr>
        <p:txBody>
          <a:bodyPr/>
          <a:lstStyle/>
          <a:p>
            <a:r>
              <a:rPr lang="fr-FR"/>
              <a:t>APPARIEMENTS SUR LE MARCHé DU TRAVAIL ET RUPTURES CONVENTIONNELLES</a:t>
            </a:r>
          </a:p>
          <a:p>
            <a:endParaRPr lang="fr-FR"/>
          </a:p>
        </p:txBody>
      </p:sp>
      <p:sp>
        <p:nvSpPr>
          <p:cNvPr id="4" name="Espace réservé du texte 3">
            <a:extLst>
              <a:ext uri="{FF2B5EF4-FFF2-40B4-BE49-F238E27FC236}">
                <a16:creationId xmlns:a16="http://schemas.microsoft.com/office/drawing/2014/main" id="{0E2DFBAC-A37E-9A77-638F-F7A014981E74}"/>
              </a:ext>
            </a:extLst>
          </p:cNvPr>
          <p:cNvSpPr>
            <a:spLocks noGrp="1"/>
          </p:cNvSpPr>
          <p:nvPr>
            <p:ph type="body" sz="quarter" idx="17"/>
          </p:nvPr>
        </p:nvSpPr>
        <p:spPr>
          <a:xfrm>
            <a:off x="814469" y="329804"/>
            <a:ext cx="10967748" cy="490862"/>
          </a:xfrm>
        </p:spPr>
        <p:txBody>
          <a:bodyPr/>
          <a:lstStyle/>
          <a:p>
            <a:r>
              <a:rPr lang="fr-FR" sz="1600"/>
              <a:t>RÉÉVALUATION DE L'ÉCART DE L’EMPLOI SALARIÉ OBSERVÉ : UNE DYNAMIQUE DE RATTRAPAGE RAPIDE ET DE DÉPASSEMENT FACE AUX AUTRES MOTIFS DE FIN DE CDI</a:t>
            </a:r>
            <a:endParaRPr lang="fr-FR" sz="1600" spc="-40"/>
          </a:p>
        </p:txBody>
      </p:sp>
      <p:sp>
        <p:nvSpPr>
          <p:cNvPr id="7" name="Espace réservé du texte 6">
            <a:extLst>
              <a:ext uri="{FF2B5EF4-FFF2-40B4-BE49-F238E27FC236}">
                <a16:creationId xmlns:a16="http://schemas.microsoft.com/office/drawing/2014/main" id="{D0CC439B-F0B3-C95B-0182-A24730168241}"/>
              </a:ext>
            </a:extLst>
          </p:cNvPr>
          <p:cNvSpPr>
            <a:spLocks noGrp="1"/>
          </p:cNvSpPr>
          <p:nvPr>
            <p:ph type="body" sz="quarter" idx="18"/>
          </p:nvPr>
        </p:nvSpPr>
        <p:spPr>
          <a:xfrm>
            <a:off x="853719" y="820666"/>
            <a:ext cx="10967748" cy="432000"/>
          </a:xfrm>
        </p:spPr>
        <p:txBody>
          <a:bodyPr/>
          <a:lstStyle/>
          <a:p>
            <a:r>
              <a:rPr lang="fr-FR" sz="1200">
                <a:solidFill>
                  <a:schemeClr val="accent3"/>
                </a:solidFill>
              </a:rPr>
              <a:t>5 mois après la fin de leur indemnisation, le taux de présence en emploi salarié des signataires de RCI est supérieur à celui des sortants de CDI passés par l’assurance chômage</a:t>
            </a:r>
          </a:p>
        </p:txBody>
      </p:sp>
      <p:pic>
        <p:nvPicPr>
          <p:cNvPr id="6" name="Image 5">
            <a:extLst>
              <a:ext uri="{FF2B5EF4-FFF2-40B4-BE49-F238E27FC236}">
                <a16:creationId xmlns:a16="http://schemas.microsoft.com/office/drawing/2014/main" id="{ECF9903C-A435-1A40-A914-C0BA1042DE2E}"/>
              </a:ext>
            </a:extLst>
          </p:cNvPr>
          <p:cNvPicPr>
            <a:picLocks noChangeAspect="1"/>
          </p:cNvPicPr>
          <p:nvPr/>
        </p:nvPicPr>
        <p:blipFill>
          <a:blip r:embed="rId2"/>
          <a:srcRect/>
          <a:stretch/>
        </p:blipFill>
        <p:spPr>
          <a:xfrm>
            <a:off x="1641147" y="2076533"/>
            <a:ext cx="3824268" cy="1909342"/>
          </a:xfrm>
          <a:prstGeom prst="rect">
            <a:avLst/>
          </a:prstGeom>
          <a:ln>
            <a:solidFill>
              <a:srgbClr val="1A898D"/>
            </a:solidFill>
            <a:prstDash val="dash"/>
          </a:ln>
        </p:spPr>
      </p:pic>
      <p:sp>
        <p:nvSpPr>
          <p:cNvPr id="15" name="ZoneTexte 14">
            <a:extLst>
              <a:ext uri="{FF2B5EF4-FFF2-40B4-BE49-F238E27FC236}">
                <a16:creationId xmlns:a16="http://schemas.microsoft.com/office/drawing/2014/main" id="{57C68F5E-AC1A-B7B3-5F49-6E70E8535DE6}"/>
              </a:ext>
            </a:extLst>
          </p:cNvPr>
          <p:cNvSpPr txBox="1"/>
          <p:nvPr/>
        </p:nvSpPr>
        <p:spPr>
          <a:xfrm>
            <a:off x="2834190" y="4201918"/>
            <a:ext cx="7117530" cy="230832"/>
          </a:xfrm>
          <a:prstGeom prst="rect">
            <a:avLst/>
          </a:prstGeom>
          <a:noFill/>
        </p:spPr>
        <p:txBody>
          <a:bodyPr wrap="square" rtlCol="0">
            <a:spAutoFit/>
          </a:bodyPr>
          <a:lstStyle/>
          <a:p>
            <a:pPr algn="ctr"/>
            <a:r>
              <a:rPr lang="fr-FR" sz="900" b="1">
                <a:solidFill>
                  <a:schemeClr val="accent3"/>
                </a:solidFill>
                <a:latin typeface="Segoe UI" panose="020B0502040204020203" pitchFamily="34" charset="0"/>
                <a:cs typeface="Segoe UI" panose="020B0502040204020203" pitchFamily="34" charset="0"/>
              </a:rPr>
              <a:t>TAUX DE PRÉSENCE EN EMPLOI SALARIÉ DES ALLOCATAIRES DE L’ASSURANCE CHÔMAGE À LA SUITE D’UNE FIN DE CONTRAT</a:t>
            </a:r>
          </a:p>
        </p:txBody>
      </p:sp>
      <p:sp>
        <p:nvSpPr>
          <p:cNvPr id="21" name="ZoneTexte 20">
            <a:extLst>
              <a:ext uri="{FF2B5EF4-FFF2-40B4-BE49-F238E27FC236}">
                <a16:creationId xmlns:a16="http://schemas.microsoft.com/office/drawing/2014/main" id="{A2C440A9-C4E7-611B-1C7D-35DC645E004A}"/>
              </a:ext>
            </a:extLst>
          </p:cNvPr>
          <p:cNvSpPr txBox="1"/>
          <p:nvPr/>
        </p:nvSpPr>
        <p:spPr>
          <a:xfrm>
            <a:off x="973319" y="4476255"/>
            <a:ext cx="10700521" cy="523220"/>
          </a:xfrm>
          <a:prstGeom prst="rect">
            <a:avLst/>
          </a:prstGeom>
          <a:noFill/>
        </p:spPr>
        <p:txBody>
          <a:bodyPr wrap="square" rtlCol="0">
            <a:spAutoFit/>
          </a:bodyPr>
          <a:lstStyle/>
          <a:p>
            <a:pPr algn="ctr"/>
            <a:r>
              <a:rPr lang="fr-FR" sz="700" i="1">
                <a:latin typeface="Segoe UI" panose="020B0502040204020203" pitchFamily="34" charset="0"/>
                <a:cs typeface="Segoe UI" panose="020B0502040204020203" pitchFamily="34" charset="0"/>
              </a:rPr>
              <a:t>Lecture : </a:t>
            </a:r>
            <a:r>
              <a:rPr lang="fr-FR" sz="700" i="1">
                <a:highlight>
                  <a:srgbClr val="FFFF00"/>
                </a:highlight>
                <a:latin typeface="Segoe UI" panose="020B0502040204020203" pitchFamily="34" charset="0"/>
                <a:cs typeface="Segoe UI" panose="020B0502040204020203" pitchFamily="34" charset="0"/>
              </a:rPr>
              <a:t>XX</a:t>
            </a:r>
            <a:r>
              <a:rPr lang="fr-FR" sz="700" i="1">
                <a:latin typeface="Segoe UI" panose="020B0502040204020203" pitchFamily="34" charset="0"/>
                <a:cs typeface="Segoe UI" panose="020B0502040204020203" pitchFamily="34" charset="0"/>
              </a:rPr>
              <a:t> des signataires de ruptures conventionnelles individuelles qui ouvrent un droit à l’ARE au régime général en 2022 occupent un emploi salarié 6 mois après la fin de leur contrat</a:t>
            </a:r>
          </a:p>
          <a:p>
            <a:pPr algn="ctr"/>
            <a:r>
              <a:rPr lang="fr-FR" sz="700" i="1">
                <a:latin typeface="Segoe UI" panose="020B0502040204020203" pitchFamily="34" charset="0"/>
                <a:cs typeface="Segoe UI" panose="020B0502040204020203" pitchFamily="34" charset="0"/>
              </a:rPr>
              <a:t>Note : Une personne est ici considérée en comme présente en emploi salarié durant un mois donné si elle dispose au cours de ce mois d’un contrat de travail d’au moins une heure. Cet emploi est considéré comme durable s’il d’agit d’un CDI ou d’un CDD de plus de 6 mois</a:t>
            </a:r>
          </a:p>
          <a:p>
            <a:pPr algn="ctr"/>
            <a:r>
              <a:rPr lang="fr-FR" sz="700" i="1">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ctr"/>
            <a:r>
              <a:rPr lang="fr-FR" sz="700" i="1">
                <a:latin typeface="Segoe UI" panose="020B0502040204020203" pitchFamily="34" charset="0"/>
                <a:cs typeface="Segoe UI" panose="020B0502040204020203" pitchFamily="34" charset="0"/>
              </a:rPr>
              <a:t>Source : Minima sociaux, droits d’assurance chômage et parcours salariés (MiDAS) – Vague 7 ; traitement Unédic</a:t>
            </a:r>
          </a:p>
        </p:txBody>
      </p:sp>
      <p:sp>
        <p:nvSpPr>
          <p:cNvPr id="23" name="ZoneTexte 22">
            <a:extLst>
              <a:ext uri="{FF2B5EF4-FFF2-40B4-BE49-F238E27FC236}">
                <a16:creationId xmlns:a16="http://schemas.microsoft.com/office/drawing/2014/main" id="{4D7FC3EC-8B40-58EC-9E75-94D04EC4F34D}"/>
              </a:ext>
            </a:extLst>
          </p:cNvPr>
          <p:cNvSpPr txBox="1"/>
          <p:nvPr/>
        </p:nvSpPr>
        <p:spPr>
          <a:xfrm>
            <a:off x="862822" y="1393117"/>
            <a:ext cx="10700522" cy="461665"/>
          </a:xfrm>
          <a:prstGeom prst="rect">
            <a:avLst/>
          </a:prstGeom>
          <a:noFill/>
        </p:spPr>
        <p:txBody>
          <a:bodyPr wrap="square" rtlCol="0">
            <a:spAutoFit/>
          </a:bodyPr>
          <a:lstStyle/>
          <a:p>
            <a:r>
              <a:rPr lang="fr-FR" sz="1200" b="1" spc="-30">
                <a:solidFill>
                  <a:schemeClr val="accent3"/>
                </a:solidFill>
                <a:latin typeface="Segoe UI" panose="020B0502040204020203" pitchFamily="34" charset="0"/>
                <a:cs typeface="Segoe UI" panose="020B0502040204020203" pitchFamily="34" charset="0"/>
              </a:rPr>
              <a:t>EN EMPLOI SALARIÉ, PUIS EN EMPLOI SALARIÉ DURABLE APRÈS UN RETARD INITIAL, LES SIGNATAIRES DE RCI S'INSÈRENT PLUS SOUVENT QUE LES SORTANTS DE CDI INDEMNISÉS HORS RCI</a:t>
            </a:r>
          </a:p>
        </p:txBody>
      </p:sp>
      <p:pic>
        <p:nvPicPr>
          <p:cNvPr id="9" name="Image 8">
            <a:extLst>
              <a:ext uri="{FF2B5EF4-FFF2-40B4-BE49-F238E27FC236}">
                <a16:creationId xmlns:a16="http://schemas.microsoft.com/office/drawing/2014/main" id="{3EC0EE91-AD79-B8EE-4437-863BAF724E4B}"/>
              </a:ext>
            </a:extLst>
          </p:cNvPr>
          <p:cNvPicPr>
            <a:picLocks noChangeAspect="1"/>
          </p:cNvPicPr>
          <p:nvPr/>
        </p:nvPicPr>
        <p:blipFill>
          <a:blip r:embed="rId3"/>
          <a:srcRect/>
          <a:stretch/>
        </p:blipFill>
        <p:spPr>
          <a:xfrm>
            <a:off x="6797464" y="2070887"/>
            <a:ext cx="3824268" cy="1914926"/>
          </a:xfrm>
          <a:prstGeom prst="rect">
            <a:avLst/>
          </a:prstGeom>
          <a:ln>
            <a:solidFill>
              <a:srgbClr val="1A898D"/>
            </a:solidFill>
            <a:prstDash val="dash"/>
          </a:ln>
        </p:spPr>
      </p:pic>
      <p:sp>
        <p:nvSpPr>
          <p:cNvPr id="11" name="ZoneTexte 10">
            <a:extLst>
              <a:ext uri="{FF2B5EF4-FFF2-40B4-BE49-F238E27FC236}">
                <a16:creationId xmlns:a16="http://schemas.microsoft.com/office/drawing/2014/main" id="{A01584F3-4BF7-DDE5-3DD7-93FDC249E284}"/>
              </a:ext>
            </a:extLst>
          </p:cNvPr>
          <p:cNvSpPr txBox="1"/>
          <p:nvPr/>
        </p:nvSpPr>
        <p:spPr>
          <a:xfrm>
            <a:off x="1705538" y="4032904"/>
            <a:ext cx="3695485" cy="215444"/>
          </a:xfrm>
          <a:prstGeom prst="rect">
            <a:avLst/>
          </a:prstGeom>
          <a:noFill/>
        </p:spPr>
        <p:txBody>
          <a:bodyPr wrap="square" rtlCol="0">
            <a:spAutoFit/>
          </a:bodyPr>
          <a:lstStyle/>
          <a:p>
            <a:pPr algn="ctr"/>
            <a:r>
              <a:rPr lang="fr-FR" sz="800" b="1">
                <a:solidFill>
                  <a:schemeClr val="accent3"/>
                </a:solidFill>
                <a:latin typeface="Segoe UI" panose="020B0502040204020203" pitchFamily="34" charset="0"/>
                <a:cs typeface="Segoe UI" panose="020B0502040204020203" pitchFamily="34" charset="0"/>
              </a:rPr>
              <a:t>EN EMPLOI SALARIÉ</a:t>
            </a:r>
          </a:p>
        </p:txBody>
      </p:sp>
      <p:sp>
        <p:nvSpPr>
          <p:cNvPr id="13" name="ZoneTexte 12">
            <a:extLst>
              <a:ext uri="{FF2B5EF4-FFF2-40B4-BE49-F238E27FC236}">
                <a16:creationId xmlns:a16="http://schemas.microsoft.com/office/drawing/2014/main" id="{6F62487D-41A3-901D-4CBA-F4F2746CB86B}"/>
              </a:ext>
            </a:extLst>
          </p:cNvPr>
          <p:cNvSpPr txBox="1"/>
          <p:nvPr/>
        </p:nvSpPr>
        <p:spPr>
          <a:xfrm>
            <a:off x="6861855" y="4029609"/>
            <a:ext cx="3695485" cy="215444"/>
          </a:xfrm>
          <a:prstGeom prst="rect">
            <a:avLst/>
          </a:prstGeom>
          <a:noFill/>
        </p:spPr>
        <p:txBody>
          <a:bodyPr wrap="square" rtlCol="0">
            <a:spAutoFit/>
          </a:bodyPr>
          <a:lstStyle/>
          <a:p>
            <a:pPr algn="ctr"/>
            <a:r>
              <a:rPr lang="fr-FR" sz="800" b="1">
                <a:solidFill>
                  <a:schemeClr val="accent3"/>
                </a:solidFill>
                <a:latin typeface="Segoe UI" panose="020B0502040204020203" pitchFamily="34" charset="0"/>
                <a:cs typeface="Segoe UI" panose="020B0502040204020203" pitchFamily="34" charset="0"/>
              </a:rPr>
              <a:t>EN EMPLOI SALARIÉ DURABLE</a:t>
            </a:r>
          </a:p>
        </p:txBody>
      </p:sp>
      <p:sp>
        <p:nvSpPr>
          <p:cNvPr id="16" name="Rectangle 15">
            <a:extLst>
              <a:ext uri="{FF2B5EF4-FFF2-40B4-BE49-F238E27FC236}">
                <a16:creationId xmlns:a16="http://schemas.microsoft.com/office/drawing/2014/main" id="{CD06C700-B51C-43DE-49D6-2082CC950A4D}"/>
              </a:ext>
            </a:extLst>
          </p:cNvPr>
          <p:cNvSpPr/>
          <p:nvPr/>
        </p:nvSpPr>
        <p:spPr>
          <a:xfrm>
            <a:off x="853719" y="5229662"/>
            <a:ext cx="10967748" cy="82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20343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3F35-07F1-7603-0D7A-D3EC3FF3459E}"/>
            </a:ext>
          </a:extLst>
        </p:cNvPr>
        <p:cNvGrpSpPr/>
        <p:nvPr/>
      </p:nvGrpSpPr>
      <p:grpSpPr>
        <a:xfrm>
          <a:off x="0" y="0"/>
          <a:ext cx="0" cy="0"/>
          <a:chOff x="0" y="0"/>
          <a:chExt cx="0" cy="0"/>
        </a:xfrm>
      </p:grpSpPr>
      <p:sp>
        <p:nvSpPr>
          <p:cNvPr id="70" name="Espace réservé du texte 2">
            <a:extLst>
              <a:ext uri="{FF2B5EF4-FFF2-40B4-BE49-F238E27FC236}">
                <a16:creationId xmlns:a16="http://schemas.microsoft.com/office/drawing/2014/main" id="{AE9072C9-69BC-8BD2-B1EF-3E275985052C}"/>
              </a:ext>
            </a:extLst>
          </p:cNvPr>
          <p:cNvSpPr txBox="1">
            <a:spLocks/>
          </p:cNvSpPr>
          <p:nvPr/>
        </p:nvSpPr>
        <p:spPr>
          <a:xfrm>
            <a:off x="6431851" y="1374652"/>
            <a:ext cx="5380916" cy="4984780"/>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a:solidFill>
                <a:srgbClr val="E8F2E0"/>
              </a:solidFill>
            </a:endParaRPr>
          </a:p>
        </p:txBody>
      </p:sp>
      <p:sp>
        <p:nvSpPr>
          <p:cNvPr id="2" name="Espace réservé du texte 1">
            <a:extLst>
              <a:ext uri="{FF2B5EF4-FFF2-40B4-BE49-F238E27FC236}">
                <a16:creationId xmlns:a16="http://schemas.microsoft.com/office/drawing/2014/main" id="{30209B7D-765D-1E70-559A-403366F5D3AE}"/>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CB1A70F1-7D45-726F-C94B-373FEE611B80}"/>
              </a:ext>
            </a:extLst>
          </p:cNvPr>
          <p:cNvSpPr>
            <a:spLocks noGrp="1"/>
          </p:cNvSpPr>
          <p:nvPr>
            <p:ph type="body" sz="quarter" idx="16"/>
          </p:nvPr>
        </p:nvSpPr>
        <p:spPr>
          <a:xfrm>
            <a:off x="929464" y="1402429"/>
            <a:ext cx="5380916" cy="4957002"/>
          </a:xfrm>
          <a:solidFill>
            <a:srgbClr val="F2F8F9"/>
          </a:solidFill>
          <a:ln>
            <a:solidFill>
              <a:srgbClr val="FFFFFF"/>
            </a:solidFill>
          </a:ln>
        </p:spPr>
        <p:txBody>
          <a:bodyPr/>
          <a:lstStyle/>
          <a:p>
            <a:r>
              <a:rPr lang="fr-FR" b="0"/>
              <a:t>​</a:t>
            </a:r>
            <a:br>
              <a:rPr lang="fr-FR"/>
            </a:br>
            <a:endParaRPr lang="fr-FR">
              <a:solidFill>
                <a:srgbClr val="E8F2E0"/>
              </a:solidFill>
            </a:endParaRPr>
          </a:p>
        </p:txBody>
      </p:sp>
      <p:sp>
        <p:nvSpPr>
          <p:cNvPr id="4" name="Espace réservé du texte 3">
            <a:extLst>
              <a:ext uri="{FF2B5EF4-FFF2-40B4-BE49-F238E27FC236}">
                <a16:creationId xmlns:a16="http://schemas.microsoft.com/office/drawing/2014/main" id="{8C4EE547-0050-BE9D-BE30-D03824B56196}"/>
              </a:ext>
            </a:extLst>
          </p:cNvPr>
          <p:cNvSpPr>
            <a:spLocks noGrp="1"/>
          </p:cNvSpPr>
          <p:nvPr>
            <p:ph type="body" sz="quarter" idx="17"/>
          </p:nvPr>
        </p:nvSpPr>
        <p:spPr>
          <a:xfrm>
            <a:off x="814468" y="591794"/>
            <a:ext cx="11377532" cy="490862"/>
          </a:xfrm>
        </p:spPr>
        <p:txBody>
          <a:bodyPr/>
          <a:lstStyle/>
          <a:p>
            <a:r>
              <a:rPr lang="fr-FR" sz="1600" spc="-40"/>
              <a:t>RÉÉVALUATION DU RETOUR À L’EMPLOI OBSERVE POST-RCI : QUALITÉ DU PREMIER EMPLOI SALARIÉ</a:t>
            </a:r>
          </a:p>
        </p:txBody>
      </p:sp>
      <p:sp>
        <p:nvSpPr>
          <p:cNvPr id="7" name="Espace réservé du texte 6">
            <a:extLst>
              <a:ext uri="{FF2B5EF4-FFF2-40B4-BE49-F238E27FC236}">
                <a16:creationId xmlns:a16="http://schemas.microsoft.com/office/drawing/2014/main" id="{23C389B5-C96B-BFEE-D869-190C582753A2}"/>
              </a:ext>
            </a:extLst>
          </p:cNvPr>
          <p:cNvSpPr>
            <a:spLocks noGrp="1"/>
          </p:cNvSpPr>
          <p:nvPr>
            <p:ph type="body" sz="quarter" idx="18"/>
          </p:nvPr>
        </p:nvSpPr>
        <p:spPr>
          <a:xfrm>
            <a:off x="814468" y="851310"/>
            <a:ext cx="10563062" cy="432000"/>
          </a:xfrm>
        </p:spPr>
        <p:txBody>
          <a:bodyPr/>
          <a:lstStyle/>
          <a:p>
            <a:r>
              <a:rPr lang="fr-FR">
                <a:solidFill>
                  <a:schemeClr val="accent3"/>
                </a:solidFill>
              </a:rPr>
              <a:t>Une reprise d’emploi plus souvent durable mais avec une faible hausse de salaire</a:t>
            </a:r>
          </a:p>
        </p:txBody>
      </p:sp>
      <p:sp>
        <p:nvSpPr>
          <p:cNvPr id="16" name="ZoneTexte 15">
            <a:extLst>
              <a:ext uri="{FF2B5EF4-FFF2-40B4-BE49-F238E27FC236}">
                <a16:creationId xmlns:a16="http://schemas.microsoft.com/office/drawing/2014/main" id="{544EE822-A016-B89D-A331-A1E693D32109}"/>
              </a:ext>
            </a:extLst>
          </p:cNvPr>
          <p:cNvSpPr txBox="1"/>
          <p:nvPr/>
        </p:nvSpPr>
        <p:spPr>
          <a:xfrm>
            <a:off x="914001" y="1413672"/>
            <a:ext cx="5391728" cy="400110"/>
          </a:xfrm>
          <a:prstGeom prst="rect">
            <a:avLst/>
          </a:prstGeom>
          <a:noFill/>
        </p:spPr>
        <p:txBody>
          <a:bodyPr wrap="square" rtlCol="0">
            <a:spAutoFit/>
          </a:bodyPr>
          <a:lstStyle/>
          <a:p>
            <a:pPr algn="ctr"/>
            <a:r>
              <a:rPr lang="fr-FR" sz="1000" b="1" spc="-30">
                <a:solidFill>
                  <a:schemeClr val="accent3"/>
                </a:solidFill>
                <a:latin typeface="Segoe UI" panose="020B0502040204020203" pitchFamily="34" charset="0"/>
                <a:cs typeface="Segoe UI" panose="020B0502040204020203" pitchFamily="34" charset="0"/>
              </a:rPr>
              <a:t>APRÈS UNE RUPTURE CONVENTIONNELLE INDIVIDUELLE, LE PREMIER EMPLOI SALARIÉ REPRIS EST LE PLUS SOUVENT DURABLE, À TOUS LES HORIZONS</a:t>
            </a:r>
          </a:p>
        </p:txBody>
      </p:sp>
      <p:pic>
        <p:nvPicPr>
          <p:cNvPr id="19" name="Image 18">
            <a:extLst>
              <a:ext uri="{FF2B5EF4-FFF2-40B4-BE49-F238E27FC236}">
                <a16:creationId xmlns:a16="http://schemas.microsoft.com/office/drawing/2014/main" id="{396BB2C3-6EDA-464E-8E71-DF721CD636AF}"/>
              </a:ext>
            </a:extLst>
          </p:cNvPr>
          <p:cNvPicPr>
            <a:picLocks noChangeAspect="1"/>
          </p:cNvPicPr>
          <p:nvPr/>
        </p:nvPicPr>
        <p:blipFill>
          <a:blip r:embed="rId2"/>
          <a:srcRect/>
          <a:stretch/>
        </p:blipFill>
        <p:spPr>
          <a:xfrm>
            <a:off x="1450047" y="1939291"/>
            <a:ext cx="4156564" cy="2001528"/>
          </a:xfrm>
          <a:prstGeom prst="rect">
            <a:avLst/>
          </a:prstGeom>
          <a:ln>
            <a:solidFill>
              <a:srgbClr val="007C80"/>
            </a:solidFill>
            <a:prstDash val="dash"/>
          </a:ln>
        </p:spPr>
      </p:pic>
      <p:sp>
        <p:nvSpPr>
          <p:cNvPr id="25" name="ZoneTexte 24">
            <a:extLst>
              <a:ext uri="{FF2B5EF4-FFF2-40B4-BE49-F238E27FC236}">
                <a16:creationId xmlns:a16="http://schemas.microsoft.com/office/drawing/2014/main" id="{CD43A561-094B-D6F2-EA8C-49CDD93A5492}"/>
              </a:ext>
            </a:extLst>
          </p:cNvPr>
          <p:cNvSpPr txBox="1"/>
          <p:nvPr/>
        </p:nvSpPr>
        <p:spPr>
          <a:xfrm>
            <a:off x="1023313" y="3963795"/>
            <a:ext cx="5046647" cy="369332"/>
          </a:xfrm>
          <a:prstGeom prst="rect">
            <a:avLst/>
          </a:prstGeom>
          <a:noFill/>
        </p:spPr>
        <p:txBody>
          <a:bodyPr wrap="square" rtlCol="0">
            <a:spAutoFit/>
          </a:bodyPr>
          <a:lstStyle/>
          <a:p>
            <a:pPr algn="ctr"/>
            <a:r>
              <a:rPr lang="fr-FR" sz="900" b="1">
                <a:solidFill>
                  <a:schemeClr val="accent3"/>
                </a:solidFill>
                <a:latin typeface="Segoe UI" panose="020B0502040204020203" pitchFamily="34" charset="0"/>
                <a:cs typeface="Segoe UI" panose="020B0502040204020203" pitchFamily="34" charset="0"/>
              </a:rPr>
              <a:t>PART DE L’EMPLOI DURABLE PARMI LE PREMIER EMPLOI RETROUVÉ PAR GROUPE D’ALLOCATAIRES ET PAR DÉLAI DE REPRISE</a:t>
            </a:r>
          </a:p>
        </p:txBody>
      </p:sp>
      <p:sp>
        <p:nvSpPr>
          <p:cNvPr id="27" name="ZoneTexte 26">
            <a:extLst>
              <a:ext uri="{FF2B5EF4-FFF2-40B4-BE49-F238E27FC236}">
                <a16:creationId xmlns:a16="http://schemas.microsoft.com/office/drawing/2014/main" id="{7BE0122E-9CE5-A177-5806-452E96B4B46B}"/>
              </a:ext>
            </a:extLst>
          </p:cNvPr>
          <p:cNvSpPr txBox="1"/>
          <p:nvPr/>
        </p:nvSpPr>
        <p:spPr>
          <a:xfrm>
            <a:off x="914001" y="4354183"/>
            <a:ext cx="5322838" cy="738664"/>
          </a:xfrm>
          <a:prstGeom prst="rect">
            <a:avLst/>
          </a:prstGeom>
          <a:noFill/>
        </p:spPr>
        <p:txBody>
          <a:bodyPr wrap="square" rtlCol="0">
            <a:spAutoFit/>
          </a:bodyPr>
          <a:lstStyle/>
          <a:p>
            <a:pPr algn="just"/>
            <a:r>
              <a:rPr lang="fr-FR" sz="700" i="1">
                <a:latin typeface="Segoe UI" panose="020B0502040204020203" pitchFamily="34" charset="0"/>
                <a:cs typeface="Segoe UI" panose="020B0502040204020203" pitchFamily="34" charset="0"/>
              </a:rPr>
              <a:t>Lecture : 65% des premiers contrats repris par les signataires de RCI à un et trois après la rupture de leur contrat est un contrat d’emploi durable (CDI ou CDD de plus de 6 mois)</a:t>
            </a:r>
          </a:p>
          <a:p>
            <a:pPr algn="just"/>
            <a:r>
              <a:rPr lang="fr-FR" sz="700" i="1">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a:latin typeface="Segoe UI" panose="020B0502040204020203" pitchFamily="34" charset="0"/>
                <a:cs typeface="Segoe UI" panose="020B0502040204020203" pitchFamily="34" charset="0"/>
              </a:rPr>
              <a:t>Source : Minima sociaux, droits d’assurance chômage et parcours salariés (MiDAS) – Vague 7 ; traitement Unédic</a:t>
            </a:r>
          </a:p>
          <a:p>
            <a:pPr algn="just"/>
            <a:endParaRPr lang="fr-FR" sz="700" i="1">
              <a:latin typeface="Segoe UI" panose="020B0502040204020203" pitchFamily="34" charset="0"/>
              <a:cs typeface="Segoe UI" panose="020B0502040204020203" pitchFamily="34" charset="0"/>
            </a:endParaRPr>
          </a:p>
        </p:txBody>
      </p:sp>
      <p:sp>
        <p:nvSpPr>
          <p:cNvPr id="29" name="ZoneTexte 28">
            <a:extLst>
              <a:ext uri="{FF2B5EF4-FFF2-40B4-BE49-F238E27FC236}">
                <a16:creationId xmlns:a16="http://schemas.microsoft.com/office/drawing/2014/main" id="{6AC2C2B6-CE0B-A691-5789-F7D89D571DCE}"/>
              </a:ext>
            </a:extLst>
          </p:cNvPr>
          <p:cNvSpPr txBox="1"/>
          <p:nvPr/>
        </p:nvSpPr>
        <p:spPr>
          <a:xfrm>
            <a:off x="6431849" y="1413672"/>
            <a:ext cx="5305861" cy="400110"/>
          </a:xfrm>
          <a:prstGeom prst="rect">
            <a:avLst/>
          </a:prstGeom>
          <a:noFill/>
        </p:spPr>
        <p:txBody>
          <a:bodyPr wrap="square" rtlCol="0">
            <a:spAutoFit/>
          </a:bodyPr>
          <a:lstStyle/>
          <a:p>
            <a:pPr algn="ctr"/>
            <a:r>
              <a:rPr lang="fr-FR" sz="1000" b="1" spc="-30">
                <a:solidFill>
                  <a:schemeClr val="accent5"/>
                </a:solidFill>
                <a:latin typeface="Segoe UI" panose="020B0502040204020203" pitchFamily="34" charset="0"/>
                <a:cs typeface="Segoe UI" panose="020B0502040204020203" pitchFamily="34" charset="0"/>
              </a:rPr>
              <a:t>MAIS CETTE REPRISE NE S'ACCOMPAGNE QUE D'UNE FAIBLE HAUSSE DE SALAIRE, QUI STAGNE SUR TROIS ANS</a:t>
            </a:r>
          </a:p>
        </p:txBody>
      </p:sp>
      <p:sp>
        <p:nvSpPr>
          <p:cNvPr id="42" name="ZoneTexte 41">
            <a:extLst>
              <a:ext uri="{FF2B5EF4-FFF2-40B4-BE49-F238E27FC236}">
                <a16:creationId xmlns:a16="http://schemas.microsoft.com/office/drawing/2014/main" id="{8425193A-58DE-1675-21EE-517FCC722AD9}"/>
              </a:ext>
            </a:extLst>
          </p:cNvPr>
          <p:cNvSpPr txBox="1"/>
          <p:nvPr/>
        </p:nvSpPr>
        <p:spPr>
          <a:xfrm>
            <a:off x="6431850" y="5348844"/>
            <a:ext cx="5334901" cy="928203"/>
          </a:xfrm>
          <a:prstGeom prst="rect">
            <a:avLst/>
          </a:prstGeom>
          <a:noFill/>
        </p:spPr>
        <p:txBody>
          <a:bodyPr wrap="square" rtlCol="0">
            <a:spAutoFit/>
          </a:bodyPr>
          <a:lstStyle/>
          <a:p>
            <a:pPr algn="just" fontAlgn="t">
              <a:lnSpc>
                <a:spcPct val="119048"/>
              </a:lnSpc>
              <a:buNone/>
            </a:pPr>
            <a:r>
              <a:rPr lang="fr-FR" sz="700" i="1">
                <a:latin typeface="Segoe UI" panose="020B0502040204020203" pitchFamily="34" charset="0"/>
                <a:cs typeface="Segoe UI" panose="020B0502040204020203" pitchFamily="34" charset="0"/>
              </a:rPr>
              <a:t>Lecture : À six mois de la fin du contrat, les allocataires ayant repris un emploi après une RCI enregistrent un rendement salarial médian de 1,05</a:t>
            </a:r>
          </a:p>
          <a:p>
            <a:pPr algn="just" fontAlgn="t">
              <a:lnSpc>
                <a:spcPct val="119048"/>
              </a:lnSpc>
              <a:buNone/>
            </a:pPr>
            <a:r>
              <a:rPr lang="fr-FR" sz="700" i="1">
                <a:latin typeface="Segoe UI" panose="020B0502040204020203" pitchFamily="34" charset="0"/>
                <a:cs typeface="Segoe UI" panose="020B0502040204020203" pitchFamily="34" charset="0"/>
              </a:rPr>
              <a:t>Note : Le salaire analysé est le salaire de base, c’est-à-dire à l’exclusion des compléments de salaire (ex : prime d’ancienneté). Il correspond généralement à la première ligne du bulletin de paye d’un salarié</a:t>
            </a:r>
          </a:p>
          <a:p>
            <a:pPr algn="just"/>
            <a:r>
              <a:rPr lang="fr-FR" sz="700" i="1">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a:latin typeface="Segoe UI" panose="020B0502040204020203" pitchFamily="34" charset="0"/>
                <a:cs typeface="Segoe UI" panose="020B0502040204020203" pitchFamily="34" charset="0"/>
              </a:rPr>
              <a:t>Source : Minima sociaux, droits d’assurance chômage et parcours salariés (MiDAS) – Vague 7 ; traitement Unédic</a:t>
            </a:r>
          </a:p>
        </p:txBody>
      </p:sp>
      <p:pic>
        <p:nvPicPr>
          <p:cNvPr id="8" name="Image 7">
            <a:extLst>
              <a:ext uri="{FF2B5EF4-FFF2-40B4-BE49-F238E27FC236}">
                <a16:creationId xmlns:a16="http://schemas.microsoft.com/office/drawing/2014/main" id="{C6993E29-F9FA-66EF-2711-359AD3C18B6A}"/>
              </a:ext>
            </a:extLst>
          </p:cNvPr>
          <p:cNvPicPr>
            <a:picLocks noChangeAspect="1"/>
          </p:cNvPicPr>
          <p:nvPr/>
        </p:nvPicPr>
        <p:blipFill>
          <a:blip r:embed="rId3"/>
          <a:stretch>
            <a:fillRect/>
          </a:stretch>
        </p:blipFill>
        <p:spPr>
          <a:xfrm>
            <a:off x="6931954" y="2907374"/>
            <a:ext cx="4421211" cy="2129255"/>
          </a:xfrm>
          <a:prstGeom prst="rect">
            <a:avLst/>
          </a:prstGeom>
          <a:ln>
            <a:solidFill>
              <a:srgbClr val="B6D79C"/>
            </a:solidFill>
            <a:prstDash val="dash"/>
          </a:ln>
        </p:spPr>
      </p:pic>
      <p:sp>
        <p:nvSpPr>
          <p:cNvPr id="10" name="ZoneTexte 9">
            <a:extLst>
              <a:ext uri="{FF2B5EF4-FFF2-40B4-BE49-F238E27FC236}">
                <a16:creationId xmlns:a16="http://schemas.microsoft.com/office/drawing/2014/main" id="{C7FE2EE5-BC6C-DBB8-6E44-ABED26430279}"/>
              </a:ext>
            </a:extLst>
          </p:cNvPr>
          <p:cNvSpPr txBox="1"/>
          <p:nvPr/>
        </p:nvSpPr>
        <p:spPr>
          <a:xfrm>
            <a:off x="6619237" y="5118012"/>
            <a:ext cx="5046647" cy="230832"/>
          </a:xfrm>
          <a:prstGeom prst="rect">
            <a:avLst/>
          </a:prstGeom>
          <a:noFill/>
        </p:spPr>
        <p:txBody>
          <a:bodyPr wrap="square" rtlCol="0">
            <a:spAutoFit/>
          </a:bodyPr>
          <a:lstStyle/>
          <a:p>
            <a:pPr algn="ctr"/>
            <a:r>
              <a:rPr lang="fr-FR" sz="900" b="1">
                <a:solidFill>
                  <a:schemeClr val="accent5"/>
                </a:solidFill>
                <a:latin typeface="Segoe UI" panose="020B0502040204020203" pitchFamily="34" charset="0"/>
                <a:cs typeface="Segoe UI" panose="020B0502040204020203" pitchFamily="34" charset="0"/>
              </a:rPr>
              <a:t>SALAIRE À L'HORIZON T RAPPORTÉ AU SALAIRE DU CONTRAT ROMPU</a:t>
            </a:r>
          </a:p>
        </p:txBody>
      </p:sp>
      <p:sp>
        <p:nvSpPr>
          <p:cNvPr id="59" name="Rectangle 58">
            <a:extLst>
              <a:ext uri="{FF2B5EF4-FFF2-40B4-BE49-F238E27FC236}">
                <a16:creationId xmlns:a16="http://schemas.microsoft.com/office/drawing/2014/main" id="{786D8E19-5DF6-BE78-5A8F-EAA8AD8CB925}"/>
              </a:ext>
            </a:extLst>
          </p:cNvPr>
          <p:cNvSpPr/>
          <p:nvPr/>
        </p:nvSpPr>
        <p:spPr>
          <a:xfrm>
            <a:off x="6431850" y="1866900"/>
            <a:ext cx="5380915" cy="82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0" name="Groupe 59">
            <a:extLst>
              <a:ext uri="{FF2B5EF4-FFF2-40B4-BE49-F238E27FC236}">
                <a16:creationId xmlns:a16="http://schemas.microsoft.com/office/drawing/2014/main" id="{3D5F5AD9-8759-BA12-59CD-6FABD1EEFB2E}"/>
              </a:ext>
            </a:extLst>
          </p:cNvPr>
          <p:cNvGrpSpPr/>
          <p:nvPr/>
        </p:nvGrpSpPr>
        <p:grpSpPr>
          <a:xfrm>
            <a:off x="6369861" y="1927525"/>
            <a:ext cx="5367849" cy="763696"/>
            <a:chOff x="6476782" y="1914381"/>
            <a:chExt cx="5367849" cy="763696"/>
          </a:xfrm>
        </p:grpSpPr>
        <p:grpSp>
          <p:nvGrpSpPr>
            <p:cNvPr id="26" name="Groupe 25">
              <a:extLst>
                <a:ext uri="{FF2B5EF4-FFF2-40B4-BE49-F238E27FC236}">
                  <a16:creationId xmlns:a16="http://schemas.microsoft.com/office/drawing/2014/main" id="{A8A63BF6-1F26-887B-64F6-8E236E253BBB}"/>
                </a:ext>
              </a:extLst>
            </p:cNvPr>
            <p:cNvGrpSpPr/>
            <p:nvPr/>
          </p:nvGrpSpPr>
          <p:grpSpPr>
            <a:xfrm>
              <a:off x="6756905" y="1914381"/>
              <a:ext cx="1142071" cy="230833"/>
              <a:chOff x="6776402" y="1918113"/>
              <a:chExt cx="1142071" cy="230833"/>
            </a:xfrm>
          </p:grpSpPr>
          <p:pic>
            <p:nvPicPr>
              <p:cNvPr id="14" name="Graphique 13" descr="Utilisateur avec un remplissage uni">
                <a:extLst>
                  <a:ext uri="{FF2B5EF4-FFF2-40B4-BE49-F238E27FC236}">
                    <a16:creationId xmlns:a16="http://schemas.microsoft.com/office/drawing/2014/main" id="{33F8D250-8541-41C8-393F-BA9C441090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6402" y="1918113"/>
                <a:ext cx="230833" cy="230833"/>
              </a:xfrm>
              <a:prstGeom prst="rect">
                <a:avLst/>
              </a:prstGeom>
            </p:spPr>
          </p:pic>
          <p:pic>
            <p:nvPicPr>
              <p:cNvPr id="17" name="Graphique 16" descr="Utilisateur avec un remplissage uni">
                <a:extLst>
                  <a:ext uri="{FF2B5EF4-FFF2-40B4-BE49-F238E27FC236}">
                    <a16:creationId xmlns:a16="http://schemas.microsoft.com/office/drawing/2014/main" id="{D1FF13BA-6963-2E96-3A45-8C91273E0E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01188" y="1918113"/>
                <a:ext cx="230833" cy="230833"/>
              </a:xfrm>
              <a:prstGeom prst="rect">
                <a:avLst/>
              </a:prstGeom>
            </p:spPr>
          </p:pic>
          <p:pic>
            <p:nvPicPr>
              <p:cNvPr id="20" name="Graphique 19" descr="Utilisateur avec un remplissage uni">
                <a:extLst>
                  <a:ext uri="{FF2B5EF4-FFF2-40B4-BE49-F238E27FC236}">
                    <a16:creationId xmlns:a16="http://schemas.microsoft.com/office/drawing/2014/main" id="{39568383-545D-2ECA-5E34-6B61FEB3CC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2021" y="1918113"/>
                <a:ext cx="230833" cy="230833"/>
              </a:xfrm>
              <a:prstGeom prst="rect">
                <a:avLst/>
              </a:prstGeom>
            </p:spPr>
          </p:pic>
          <p:pic>
            <p:nvPicPr>
              <p:cNvPr id="22" name="Graphique 21" descr="Utilisateur avec un remplissage uni">
                <a:extLst>
                  <a:ext uri="{FF2B5EF4-FFF2-40B4-BE49-F238E27FC236}">
                    <a16:creationId xmlns:a16="http://schemas.microsoft.com/office/drawing/2014/main" id="{F6B53348-55EA-FD97-2EB3-79C30064FC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48789" y="1918113"/>
                <a:ext cx="230833" cy="230833"/>
              </a:xfrm>
              <a:prstGeom prst="rect">
                <a:avLst/>
              </a:prstGeom>
            </p:spPr>
          </p:pic>
          <p:pic>
            <p:nvPicPr>
              <p:cNvPr id="24" name="Graphique 23" descr="Utilisateur avec un remplissage uni">
                <a:extLst>
                  <a:ext uri="{FF2B5EF4-FFF2-40B4-BE49-F238E27FC236}">
                    <a16:creationId xmlns:a16="http://schemas.microsoft.com/office/drawing/2014/main" id="{10D9A27C-7581-7388-19C6-7BD582E636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87640" y="1918113"/>
                <a:ext cx="230833" cy="230833"/>
              </a:xfrm>
              <a:prstGeom prst="rect">
                <a:avLst/>
              </a:prstGeom>
            </p:spPr>
          </p:pic>
        </p:grpSp>
        <p:sp>
          <p:nvSpPr>
            <p:cNvPr id="30" name="ZoneTexte 29">
              <a:extLst>
                <a:ext uri="{FF2B5EF4-FFF2-40B4-BE49-F238E27FC236}">
                  <a16:creationId xmlns:a16="http://schemas.microsoft.com/office/drawing/2014/main" id="{8EA2FFAB-24F1-CE8D-71CB-1218E7DEC404}"/>
                </a:ext>
              </a:extLst>
            </p:cNvPr>
            <p:cNvSpPr txBox="1"/>
            <p:nvPr/>
          </p:nvSpPr>
          <p:spPr>
            <a:xfrm>
              <a:off x="6476782" y="2216412"/>
              <a:ext cx="1828450" cy="461665"/>
            </a:xfrm>
            <a:prstGeom prst="rect">
              <a:avLst/>
            </a:prstGeom>
            <a:noFill/>
          </p:spPr>
          <p:txBody>
            <a:bodyPr wrap="square" rtlCol="0">
              <a:spAutoFit/>
            </a:bodyPr>
            <a:lstStyle/>
            <a:p>
              <a:pPr algn="ctr"/>
              <a:r>
                <a:rPr lang="fr-FR" sz="800" b="1" spc="-30">
                  <a:solidFill>
                    <a:schemeClr val="accent5"/>
                  </a:solidFill>
                  <a:latin typeface="Segoe UI" panose="020B0502040204020203" pitchFamily="34" charset="0"/>
                  <a:cs typeface="Segoe UI" panose="020B0502040204020203" pitchFamily="34" charset="0"/>
                </a:rPr>
                <a:t>MOINS DE 3 ALLOCATAIRES SUR 5 RETROUVENT LE SALAIRE DE LEUR CONTRAT ROMPU PAR RCI</a:t>
              </a:r>
            </a:p>
          </p:txBody>
        </p:sp>
        <p:sp>
          <p:nvSpPr>
            <p:cNvPr id="33" name="ZoneTexte 32">
              <a:extLst>
                <a:ext uri="{FF2B5EF4-FFF2-40B4-BE49-F238E27FC236}">
                  <a16:creationId xmlns:a16="http://schemas.microsoft.com/office/drawing/2014/main" id="{E31DFF3E-8344-2E85-0A05-70C2DB0E1A9F}"/>
                </a:ext>
              </a:extLst>
            </p:cNvPr>
            <p:cNvSpPr txBox="1"/>
            <p:nvPr/>
          </p:nvSpPr>
          <p:spPr>
            <a:xfrm>
              <a:off x="9057556" y="1914381"/>
              <a:ext cx="485306" cy="338554"/>
            </a:xfrm>
            <a:prstGeom prst="rect">
              <a:avLst/>
            </a:prstGeom>
            <a:noFill/>
          </p:spPr>
          <p:txBody>
            <a:bodyPr wrap="square">
              <a:spAutoFit/>
            </a:bodyPr>
            <a:lstStyle/>
            <a:p>
              <a:r>
                <a:rPr kumimoji="0" lang="fr-FR" sz="1600" b="1" i="0" u="none" strike="noStrike" kern="1200" cap="none" spc="0" normalizeH="0" baseline="0" noProof="0">
                  <a:ln>
                    <a:noFill/>
                  </a:ln>
                  <a:solidFill>
                    <a:schemeClr val="accent5"/>
                  </a:solidFill>
                  <a:effectLst/>
                  <a:uLnTx/>
                  <a:uFillTx/>
                  <a:latin typeface="Segoe UI" panose="020B0502040204020203" pitchFamily="34" charset="0"/>
                  <a:cs typeface="Segoe UI" panose="020B0502040204020203" pitchFamily="34" charset="0"/>
                </a:rPr>
                <a:t>7%</a:t>
              </a:r>
              <a:endParaRPr lang="fr-FR" sz="1600">
                <a:solidFill>
                  <a:schemeClr val="accent5"/>
                </a:solidFill>
              </a:endParaRPr>
            </a:p>
          </p:txBody>
        </p:sp>
        <p:sp>
          <p:nvSpPr>
            <p:cNvPr id="35" name="ZoneTexte 34">
              <a:extLst>
                <a:ext uri="{FF2B5EF4-FFF2-40B4-BE49-F238E27FC236}">
                  <a16:creationId xmlns:a16="http://schemas.microsoft.com/office/drawing/2014/main" id="{3F76A055-268A-3470-DE93-DCC5027D404F}"/>
                </a:ext>
              </a:extLst>
            </p:cNvPr>
            <p:cNvSpPr txBox="1"/>
            <p:nvPr/>
          </p:nvSpPr>
          <p:spPr>
            <a:xfrm>
              <a:off x="8317945" y="2216412"/>
              <a:ext cx="1828450" cy="461665"/>
            </a:xfrm>
            <a:prstGeom prst="rect">
              <a:avLst/>
            </a:prstGeom>
            <a:noFill/>
          </p:spPr>
          <p:txBody>
            <a:bodyPr wrap="square" rtlCol="0">
              <a:spAutoFit/>
            </a:bodyPr>
            <a:lstStyle/>
            <a:p>
              <a:pPr algn="ctr"/>
              <a:r>
                <a:rPr lang="fr-FR" sz="800" b="1" spc="-30">
                  <a:solidFill>
                    <a:schemeClr val="accent5"/>
                  </a:solidFill>
                  <a:latin typeface="Segoe UI" panose="020B0502040204020203" pitchFamily="34" charset="0"/>
                  <a:cs typeface="Segoe UI" panose="020B0502040204020203" pitchFamily="34" charset="0"/>
                </a:rPr>
                <a:t>DE GAIN SALARIAL MÉDIAN 30 MOIS APRÈS LA FIN DU CONTRAT ROMPU PAR RCI</a:t>
              </a:r>
            </a:p>
          </p:txBody>
        </p:sp>
        <p:sp>
          <p:nvSpPr>
            <p:cNvPr id="39" name="ZoneTexte 38">
              <a:extLst>
                <a:ext uri="{FF2B5EF4-FFF2-40B4-BE49-F238E27FC236}">
                  <a16:creationId xmlns:a16="http://schemas.microsoft.com/office/drawing/2014/main" id="{099CE0D0-BA11-6253-06BD-1A4EC44EA6DF}"/>
                </a:ext>
              </a:extLst>
            </p:cNvPr>
            <p:cNvSpPr txBox="1"/>
            <p:nvPr/>
          </p:nvSpPr>
          <p:spPr>
            <a:xfrm>
              <a:off x="10611222" y="1914381"/>
              <a:ext cx="699034" cy="338554"/>
            </a:xfrm>
            <a:prstGeom prst="rect">
              <a:avLst/>
            </a:prstGeom>
            <a:noFill/>
          </p:spPr>
          <p:txBody>
            <a:bodyPr wrap="square">
              <a:spAutoFit/>
            </a:bodyPr>
            <a:lstStyle/>
            <a:p>
              <a:r>
                <a:rPr kumimoji="0" lang="fr-FR" sz="1600" b="1" i="0" u="none" strike="noStrike" kern="1200" cap="none" spc="0" normalizeH="0" baseline="0" noProof="0">
                  <a:ln>
                    <a:noFill/>
                  </a:ln>
                  <a:solidFill>
                    <a:schemeClr val="accent5"/>
                  </a:solidFill>
                  <a:effectLst/>
                  <a:uLnTx/>
                  <a:uFillTx/>
                  <a:latin typeface="Segoe UI" panose="020B0502040204020203" pitchFamily="34" charset="0"/>
                  <a:cs typeface="Segoe UI" panose="020B0502040204020203" pitchFamily="34" charset="0"/>
                </a:rPr>
                <a:t>10%</a:t>
              </a:r>
              <a:endParaRPr lang="fr-FR" sz="1600">
                <a:solidFill>
                  <a:schemeClr val="accent5"/>
                </a:solidFill>
              </a:endParaRPr>
            </a:p>
          </p:txBody>
        </p:sp>
        <p:sp>
          <p:nvSpPr>
            <p:cNvPr id="43" name="ZoneTexte 42">
              <a:extLst>
                <a:ext uri="{FF2B5EF4-FFF2-40B4-BE49-F238E27FC236}">
                  <a16:creationId xmlns:a16="http://schemas.microsoft.com/office/drawing/2014/main" id="{A1C90AA9-CC9C-748D-C60D-AAA7EE1E8A6E}"/>
                </a:ext>
              </a:extLst>
            </p:cNvPr>
            <p:cNvSpPr txBox="1"/>
            <p:nvPr/>
          </p:nvSpPr>
          <p:spPr>
            <a:xfrm>
              <a:off x="10016181" y="2216411"/>
              <a:ext cx="1828450" cy="461665"/>
            </a:xfrm>
            <a:prstGeom prst="rect">
              <a:avLst/>
            </a:prstGeom>
            <a:noFill/>
          </p:spPr>
          <p:txBody>
            <a:bodyPr wrap="square" rtlCol="0">
              <a:spAutoFit/>
            </a:bodyPr>
            <a:lstStyle/>
            <a:p>
              <a:pPr algn="ctr"/>
              <a:r>
                <a:rPr lang="fr-FR" sz="800" b="1" spc="-30">
                  <a:solidFill>
                    <a:schemeClr val="accent5"/>
                  </a:solidFill>
                  <a:latin typeface="Segoe UI" panose="020B0502040204020203" pitchFamily="34" charset="0"/>
                  <a:cs typeface="Segoe UI" panose="020B0502040204020203" pitchFamily="34" charset="0"/>
                </a:rPr>
                <a:t>DE GAIN SALARIAL MÉDIAN 30 MOIS APRÈS LA FIN DU CONTRAT ROMPU PAR RCI</a:t>
              </a:r>
            </a:p>
          </p:txBody>
        </p:sp>
      </p:grpSp>
      <p:sp>
        <p:nvSpPr>
          <p:cNvPr id="72" name="Rectangle 71">
            <a:extLst>
              <a:ext uri="{FF2B5EF4-FFF2-40B4-BE49-F238E27FC236}">
                <a16:creationId xmlns:a16="http://schemas.microsoft.com/office/drawing/2014/main" id="{CD957015-27A0-A46B-BF88-204361CE9AFD}"/>
              </a:ext>
            </a:extLst>
          </p:cNvPr>
          <p:cNvSpPr/>
          <p:nvPr/>
        </p:nvSpPr>
        <p:spPr>
          <a:xfrm>
            <a:off x="914001" y="5251876"/>
            <a:ext cx="5391728" cy="82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3" name="Groupe 72">
            <a:extLst>
              <a:ext uri="{FF2B5EF4-FFF2-40B4-BE49-F238E27FC236}">
                <a16:creationId xmlns:a16="http://schemas.microsoft.com/office/drawing/2014/main" id="{5C92241F-5A7D-8EB5-6C8C-C4A1824DEBC9}"/>
              </a:ext>
            </a:extLst>
          </p:cNvPr>
          <p:cNvGrpSpPr/>
          <p:nvPr/>
        </p:nvGrpSpPr>
        <p:grpSpPr>
          <a:xfrm>
            <a:off x="887062" y="5271047"/>
            <a:ext cx="5397712" cy="848105"/>
            <a:chOff x="982927" y="4913184"/>
            <a:chExt cx="5397712" cy="848105"/>
          </a:xfrm>
        </p:grpSpPr>
        <p:grpSp>
          <p:nvGrpSpPr>
            <p:cNvPr id="45" name="Groupe 44">
              <a:extLst>
                <a:ext uri="{FF2B5EF4-FFF2-40B4-BE49-F238E27FC236}">
                  <a16:creationId xmlns:a16="http://schemas.microsoft.com/office/drawing/2014/main" id="{F4CDE41F-0FA3-B46B-5E35-521195AFF46F}"/>
                </a:ext>
              </a:extLst>
            </p:cNvPr>
            <p:cNvGrpSpPr/>
            <p:nvPr/>
          </p:nvGrpSpPr>
          <p:grpSpPr>
            <a:xfrm>
              <a:off x="1326116" y="4913184"/>
              <a:ext cx="1142071" cy="230833"/>
              <a:chOff x="6776402" y="1918113"/>
              <a:chExt cx="1142071" cy="230833"/>
            </a:xfrm>
          </p:grpSpPr>
          <p:pic>
            <p:nvPicPr>
              <p:cNvPr id="46" name="Graphique 45" descr="Utilisateur avec un remplissage uni">
                <a:extLst>
                  <a:ext uri="{FF2B5EF4-FFF2-40B4-BE49-F238E27FC236}">
                    <a16:creationId xmlns:a16="http://schemas.microsoft.com/office/drawing/2014/main" id="{617B8FF4-DD96-0378-A215-A1604BF7E13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6402" y="1918113"/>
                <a:ext cx="230833" cy="230833"/>
              </a:xfrm>
              <a:prstGeom prst="rect">
                <a:avLst/>
              </a:prstGeom>
            </p:spPr>
          </p:pic>
          <p:pic>
            <p:nvPicPr>
              <p:cNvPr id="47" name="Graphique 46" descr="Utilisateur avec un remplissage uni">
                <a:extLst>
                  <a:ext uri="{FF2B5EF4-FFF2-40B4-BE49-F238E27FC236}">
                    <a16:creationId xmlns:a16="http://schemas.microsoft.com/office/drawing/2014/main" id="{E519AC39-5685-DFC4-6FB7-0733B132DD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01188" y="1918113"/>
                <a:ext cx="230833" cy="230833"/>
              </a:xfrm>
              <a:prstGeom prst="rect">
                <a:avLst/>
              </a:prstGeom>
            </p:spPr>
          </p:pic>
          <p:pic>
            <p:nvPicPr>
              <p:cNvPr id="48" name="Graphique 47" descr="Utilisateur avec un remplissage uni">
                <a:extLst>
                  <a:ext uri="{FF2B5EF4-FFF2-40B4-BE49-F238E27FC236}">
                    <a16:creationId xmlns:a16="http://schemas.microsoft.com/office/drawing/2014/main" id="{947C116A-9779-5A06-7601-27F2CC29EE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2021" y="1918113"/>
                <a:ext cx="230833" cy="230833"/>
              </a:xfrm>
              <a:prstGeom prst="rect">
                <a:avLst/>
              </a:prstGeom>
            </p:spPr>
          </p:pic>
          <p:pic>
            <p:nvPicPr>
              <p:cNvPr id="49" name="Graphique 48" descr="Utilisateur avec un remplissage uni">
                <a:extLst>
                  <a:ext uri="{FF2B5EF4-FFF2-40B4-BE49-F238E27FC236}">
                    <a16:creationId xmlns:a16="http://schemas.microsoft.com/office/drawing/2014/main" id="{F78202C0-74E3-5A0F-535F-DBF6106D70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48789" y="1918113"/>
                <a:ext cx="230833" cy="230833"/>
              </a:xfrm>
              <a:prstGeom prst="rect">
                <a:avLst/>
              </a:prstGeom>
            </p:spPr>
          </p:pic>
          <p:pic>
            <p:nvPicPr>
              <p:cNvPr id="50" name="Graphique 49" descr="Utilisateur avec un remplissage uni">
                <a:extLst>
                  <a:ext uri="{FF2B5EF4-FFF2-40B4-BE49-F238E27FC236}">
                    <a16:creationId xmlns:a16="http://schemas.microsoft.com/office/drawing/2014/main" id="{5D2430FF-0569-20B7-04B4-BBCAF3D482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87640" y="1918113"/>
                <a:ext cx="230833" cy="230833"/>
              </a:xfrm>
              <a:prstGeom prst="rect">
                <a:avLst/>
              </a:prstGeom>
            </p:spPr>
          </p:pic>
        </p:grpSp>
        <p:sp>
          <p:nvSpPr>
            <p:cNvPr id="52" name="ZoneTexte 51">
              <a:extLst>
                <a:ext uri="{FF2B5EF4-FFF2-40B4-BE49-F238E27FC236}">
                  <a16:creationId xmlns:a16="http://schemas.microsoft.com/office/drawing/2014/main" id="{DD4EE2D4-4565-7BBA-26B4-AA68C9B19AAE}"/>
                </a:ext>
              </a:extLst>
            </p:cNvPr>
            <p:cNvSpPr txBox="1"/>
            <p:nvPr/>
          </p:nvSpPr>
          <p:spPr>
            <a:xfrm>
              <a:off x="982927" y="5299624"/>
              <a:ext cx="1828450" cy="461665"/>
            </a:xfrm>
            <a:prstGeom prst="rect">
              <a:avLst/>
            </a:prstGeom>
            <a:noFill/>
          </p:spPr>
          <p:txBody>
            <a:bodyPr wrap="square" rtlCol="0">
              <a:spAutoFit/>
            </a:bodyPr>
            <a:lstStyle/>
            <a:p>
              <a:pPr algn="ctr"/>
              <a:r>
                <a:rPr lang="fr-FR" sz="800" b="1" spc="-30">
                  <a:solidFill>
                    <a:schemeClr val="accent3"/>
                  </a:solidFill>
                  <a:latin typeface="Segoe UI" panose="020B0502040204020203" pitchFamily="34" charset="0"/>
                  <a:cs typeface="Segoe UI" panose="020B0502040204020203" pitchFamily="34" charset="0"/>
                </a:rPr>
                <a:t>PLUS DE 3 REPRISES D'EMPLOI SUR 5 DANS LES 3 MOIS SUIVANT LA RCI SONT DURABLES</a:t>
              </a:r>
            </a:p>
          </p:txBody>
        </p:sp>
        <p:sp>
          <p:nvSpPr>
            <p:cNvPr id="54" name="ZoneTexte 53">
              <a:extLst>
                <a:ext uri="{FF2B5EF4-FFF2-40B4-BE49-F238E27FC236}">
                  <a16:creationId xmlns:a16="http://schemas.microsoft.com/office/drawing/2014/main" id="{9229ED45-B5CD-F88B-7F6B-DB721AE6B3A1}"/>
                </a:ext>
              </a:extLst>
            </p:cNvPr>
            <p:cNvSpPr txBox="1"/>
            <p:nvPr/>
          </p:nvSpPr>
          <p:spPr>
            <a:xfrm>
              <a:off x="3434629" y="4913184"/>
              <a:ext cx="1081729" cy="338554"/>
            </a:xfrm>
            <a:prstGeom prst="rect">
              <a:avLst/>
            </a:prstGeom>
            <a:noFill/>
          </p:spPr>
          <p:txBody>
            <a:bodyPr wrap="square">
              <a:spAutoFit/>
            </a:bodyPr>
            <a:lstStyle/>
            <a:p>
              <a:r>
                <a:rPr kumimoji="0" lang="fr-FR" sz="1600" b="1" i="0" u="none" strike="noStrike" kern="1200" cap="none" spc="0" normalizeH="0" baseline="0" noProof="0">
                  <a:ln>
                    <a:noFill/>
                  </a:ln>
                  <a:solidFill>
                    <a:schemeClr val="accent3"/>
                  </a:solidFill>
                  <a:effectLst/>
                  <a:uLnTx/>
                  <a:uFillTx/>
                  <a:latin typeface="Segoe UI" panose="020B0502040204020203" pitchFamily="34" charset="0"/>
                  <a:cs typeface="Segoe UI" panose="020B0502040204020203" pitchFamily="34" charset="0"/>
                </a:rPr>
                <a:t>6 pts</a:t>
              </a:r>
              <a:endParaRPr lang="fr-FR" sz="1600"/>
            </a:p>
          </p:txBody>
        </p:sp>
        <p:sp>
          <p:nvSpPr>
            <p:cNvPr id="56" name="ZoneTexte 55">
              <a:extLst>
                <a:ext uri="{FF2B5EF4-FFF2-40B4-BE49-F238E27FC236}">
                  <a16:creationId xmlns:a16="http://schemas.microsoft.com/office/drawing/2014/main" id="{8F0CBD21-7DAB-AD8F-F118-5D399D729942}"/>
                </a:ext>
              </a:extLst>
            </p:cNvPr>
            <p:cNvSpPr txBox="1"/>
            <p:nvPr/>
          </p:nvSpPr>
          <p:spPr>
            <a:xfrm>
              <a:off x="2848794" y="5299624"/>
              <a:ext cx="1828450" cy="461665"/>
            </a:xfrm>
            <a:prstGeom prst="rect">
              <a:avLst/>
            </a:prstGeom>
            <a:noFill/>
          </p:spPr>
          <p:txBody>
            <a:bodyPr wrap="square" rtlCol="0">
              <a:spAutoFit/>
            </a:bodyPr>
            <a:lstStyle/>
            <a:p>
              <a:pPr algn="ctr"/>
              <a:r>
                <a:rPr lang="fr-FR" sz="800" b="1" spc="-30">
                  <a:solidFill>
                    <a:schemeClr val="accent3"/>
                  </a:solidFill>
                  <a:latin typeface="Segoe UI" panose="020B0502040204020203" pitchFamily="34" charset="0"/>
                  <a:cs typeface="Segoe UI" panose="020B0502040204020203" pitchFamily="34" charset="0"/>
                </a:rPr>
                <a:t>PAR RAPPORT AUX ALLOCATAIRES SORTIS DE CDI POUR UN AUTRE MOTIF</a:t>
              </a:r>
            </a:p>
          </p:txBody>
        </p:sp>
        <p:grpSp>
          <p:nvGrpSpPr>
            <p:cNvPr id="61" name="Groupe 60">
              <a:extLst>
                <a:ext uri="{FF2B5EF4-FFF2-40B4-BE49-F238E27FC236}">
                  <a16:creationId xmlns:a16="http://schemas.microsoft.com/office/drawing/2014/main" id="{A953993E-4EFC-5A7A-64A0-5BB29A6906CD}"/>
                </a:ext>
              </a:extLst>
            </p:cNvPr>
            <p:cNvGrpSpPr/>
            <p:nvPr/>
          </p:nvGrpSpPr>
          <p:grpSpPr>
            <a:xfrm>
              <a:off x="4861059" y="4913184"/>
              <a:ext cx="903220" cy="230833"/>
              <a:chOff x="6776402" y="1918113"/>
              <a:chExt cx="903220" cy="230833"/>
            </a:xfrm>
          </p:grpSpPr>
          <p:pic>
            <p:nvPicPr>
              <p:cNvPr id="62" name="Graphique 61" descr="Utilisateur avec un remplissage uni">
                <a:extLst>
                  <a:ext uri="{FF2B5EF4-FFF2-40B4-BE49-F238E27FC236}">
                    <a16:creationId xmlns:a16="http://schemas.microsoft.com/office/drawing/2014/main" id="{6CFFF6D2-57F6-5594-2BF6-06EC881D06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6402" y="1918113"/>
                <a:ext cx="230833" cy="230833"/>
              </a:xfrm>
              <a:prstGeom prst="rect">
                <a:avLst/>
              </a:prstGeom>
            </p:spPr>
          </p:pic>
          <p:pic>
            <p:nvPicPr>
              <p:cNvPr id="63" name="Graphique 62" descr="Utilisateur avec un remplissage uni">
                <a:extLst>
                  <a:ext uri="{FF2B5EF4-FFF2-40B4-BE49-F238E27FC236}">
                    <a16:creationId xmlns:a16="http://schemas.microsoft.com/office/drawing/2014/main" id="{903CF9DB-8104-E8F5-3BFF-530CAFBA54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01188" y="1918113"/>
                <a:ext cx="230833" cy="230833"/>
              </a:xfrm>
              <a:prstGeom prst="rect">
                <a:avLst/>
              </a:prstGeom>
            </p:spPr>
          </p:pic>
          <p:pic>
            <p:nvPicPr>
              <p:cNvPr id="64" name="Graphique 63" descr="Utilisateur avec un remplissage uni">
                <a:extLst>
                  <a:ext uri="{FF2B5EF4-FFF2-40B4-BE49-F238E27FC236}">
                    <a16:creationId xmlns:a16="http://schemas.microsoft.com/office/drawing/2014/main" id="{75399FA8-01F0-42DC-4C6B-0A955CFAC7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2021" y="1918113"/>
                <a:ext cx="230833" cy="230833"/>
              </a:xfrm>
              <a:prstGeom prst="rect">
                <a:avLst/>
              </a:prstGeom>
            </p:spPr>
          </p:pic>
          <p:pic>
            <p:nvPicPr>
              <p:cNvPr id="65" name="Graphique 64" descr="Utilisateur avec un remplissage uni">
                <a:extLst>
                  <a:ext uri="{FF2B5EF4-FFF2-40B4-BE49-F238E27FC236}">
                    <a16:creationId xmlns:a16="http://schemas.microsoft.com/office/drawing/2014/main" id="{FA36E8EC-27A5-9627-446A-FB08C7F32F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48789" y="1918113"/>
                <a:ext cx="230833" cy="230833"/>
              </a:xfrm>
              <a:prstGeom prst="rect">
                <a:avLst/>
              </a:prstGeom>
            </p:spPr>
          </p:pic>
        </p:grpSp>
        <p:sp>
          <p:nvSpPr>
            <p:cNvPr id="69" name="ZoneTexte 68">
              <a:extLst>
                <a:ext uri="{FF2B5EF4-FFF2-40B4-BE49-F238E27FC236}">
                  <a16:creationId xmlns:a16="http://schemas.microsoft.com/office/drawing/2014/main" id="{E6825B14-843F-A9D5-542B-490EE7315836}"/>
                </a:ext>
              </a:extLst>
            </p:cNvPr>
            <p:cNvSpPr txBox="1"/>
            <p:nvPr/>
          </p:nvSpPr>
          <p:spPr>
            <a:xfrm>
              <a:off x="4552189" y="5299624"/>
              <a:ext cx="1828450" cy="461665"/>
            </a:xfrm>
            <a:prstGeom prst="rect">
              <a:avLst/>
            </a:prstGeom>
            <a:noFill/>
          </p:spPr>
          <p:txBody>
            <a:bodyPr wrap="square" rtlCol="0">
              <a:spAutoFit/>
            </a:bodyPr>
            <a:lstStyle/>
            <a:p>
              <a:pPr lvl="0" algn="ctr"/>
              <a:r>
                <a:rPr lang="fr-FR" sz="800" b="1" spc="-30">
                  <a:solidFill>
                    <a:schemeClr val="accent3"/>
                  </a:solidFill>
                  <a:latin typeface="Segoe UI" panose="020B0502040204020203" pitchFamily="34" charset="0"/>
                  <a:cs typeface="Segoe UI" panose="020B0502040204020203" pitchFamily="34" charset="0"/>
                </a:rPr>
                <a:t>3 EMPLOIS REPRIS SUR 4 SONT DURABLES ENTRE 25 ET 30 MOIS APRÈS LA RCI</a:t>
              </a:r>
            </a:p>
          </p:txBody>
        </p:sp>
      </p:grpSp>
      <p:grpSp>
        <p:nvGrpSpPr>
          <p:cNvPr id="74" name="Groupe 73">
            <a:extLst>
              <a:ext uri="{FF2B5EF4-FFF2-40B4-BE49-F238E27FC236}">
                <a16:creationId xmlns:a16="http://schemas.microsoft.com/office/drawing/2014/main" id="{E908541E-4E4D-1265-D1AB-63B0115FA02D}"/>
              </a:ext>
            </a:extLst>
          </p:cNvPr>
          <p:cNvGrpSpPr/>
          <p:nvPr/>
        </p:nvGrpSpPr>
        <p:grpSpPr>
          <a:xfrm>
            <a:off x="864860" y="1236668"/>
            <a:ext cx="283438" cy="275968"/>
            <a:chOff x="2327336" y="-533713"/>
            <a:chExt cx="370487" cy="360722"/>
          </a:xfrm>
        </p:grpSpPr>
        <p:sp>
          <p:nvSpPr>
            <p:cNvPr id="75" name="Ellipse 74">
              <a:extLst>
                <a:ext uri="{FF2B5EF4-FFF2-40B4-BE49-F238E27FC236}">
                  <a16:creationId xmlns:a16="http://schemas.microsoft.com/office/drawing/2014/main" id="{9A6E25AC-841C-8438-8B85-764F34359A92}"/>
                </a:ext>
              </a:extLst>
            </p:cNvPr>
            <p:cNvSpPr/>
            <p:nvPr/>
          </p:nvSpPr>
          <p:spPr>
            <a:xfrm>
              <a:off x="2327336" y="-533713"/>
              <a:ext cx="370487" cy="360722"/>
            </a:xfrm>
            <a:prstGeom prst="ellipse">
              <a:avLst/>
            </a:prstGeom>
            <a:solidFill>
              <a:srgbClr val="CCE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Lumières allumées avec un remplissage uni">
              <a:extLst>
                <a:ext uri="{FF2B5EF4-FFF2-40B4-BE49-F238E27FC236}">
                  <a16:creationId xmlns:a16="http://schemas.microsoft.com/office/drawing/2014/main" id="{516F52C7-AFA6-0B85-78D9-F40780A56AC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391568" y="-454626"/>
              <a:ext cx="242022" cy="242022"/>
            </a:xfrm>
            <a:prstGeom prst="rect">
              <a:avLst/>
            </a:prstGeom>
          </p:spPr>
        </p:pic>
      </p:grpSp>
      <p:grpSp>
        <p:nvGrpSpPr>
          <p:cNvPr id="77" name="Groupe 76">
            <a:extLst>
              <a:ext uri="{FF2B5EF4-FFF2-40B4-BE49-F238E27FC236}">
                <a16:creationId xmlns:a16="http://schemas.microsoft.com/office/drawing/2014/main" id="{BEFD0FC3-3281-ED5C-B7EB-A5EDBB7DE00E}"/>
              </a:ext>
            </a:extLst>
          </p:cNvPr>
          <p:cNvGrpSpPr/>
          <p:nvPr/>
        </p:nvGrpSpPr>
        <p:grpSpPr>
          <a:xfrm>
            <a:off x="6373484" y="1236668"/>
            <a:ext cx="283438" cy="275968"/>
            <a:chOff x="2327336" y="-533713"/>
            <a:chExt cx="370487" cy="360722"/>
          </a:xfrm>
        </p:grpSpPr>
        <p:sp>
          <p:nvSpPr>
            <p:cNvPr id="78" name="Ellipse 77">
              <a:extLst>
                <a:ext uri="{FF2B5EF4-FFF2-40B4-BE49-F238E27FC236}">
                  <a16:creationId xmlns:a16="http://schemas.microsoft.com/office/drawing/2014/main" id="{78961EB2-4B85-A42C-C29E-1B05E00AB55F}"/>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9" name="Graphique 78" descr="Puzzle avec un remplissage uni">
              <a:extLst>
                <a:ext uri="{FF2B5EF4-FFF2-40B4-BE49-F238E27FC236}">
                  <a16:creationId xmlns:a16="http://schemas.microsoft.com/office/drawing/2014/main" id="{243D3C43-276A-76E1-D0C7-B845438AF0F4}"/>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391568" y="-454626"/>
              <a:ext cx="242022" cy="242022"/>
            </a:xfrm>
            <a:prstGeom prst="rect">
              <a:avLst/>
            </a:prstGeom>
          </p:spPr>
        </p:pic>
      </p:grpSp>
    </p:spTree>
    <p:extLst>
      <p:ext uri="{BB962C8B-B14F-4D97-AF65-F5344CB8AC3E}">
        <p14:creationId xmlns:p14="http://schemas.microsoft.com/office/powerpoint/2010/main" val="242150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236C7-F51A-8355-C4FF-3F606B7AEE7A}"/>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9C0B65CD-9D7E-44CA-E494-C6ADFED3F4D9}"/>
              </a:ext>
            </a:extLst>
          </p:cNvPr>
          <p:cNvSpPr>
            <a:spLocks noGrp="1"/>
          </p:cNvSpPr>
          <p:nvPr>
            <p:ph type="body" sz="quarter" idx="15"/>
          </p:nvPr>
        </p:nvSpPr>
        <p:spPr>
          <a:xfrm>
            <a:off x="3668937" y="8137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5F815B43-4691-D63C-F4EF-BEE32C86E128}"/>
              </a:ext>
            </a:extLst>
          </p:cNvPr>
          <p:cNvSpPr>
            <a:spLocks noGrp="1"/>
          </p:cNvSpPr>
          <p:nvPr>
            <p:ph type="body" sz="quarter" idx="16"/>
          </p:nvPr>
        </p:nvSpPr>
        <p:spPr>
          <a:xfrm>
            <a:off x="831225" y="1211564"/>
            <a:ext cx="10967748" cy="5031581"/>
          </a:xfrm>
          <a:solidFill>
            <a:srgbClr val="E8F2E0"/>
          </a:solidFill>
          <a:ln>
            <a:solidFill>
              <a:srgbClr val="FFFFFF"/>
            </a:solidFill>
          </a:ln>
        </p:spPr>
        <p:txBody>
          <a:bodyPr/>
          <a:lstStyle/>
          <a:p>
            <a:r>
              <a:rPr lang="fr-FR" b="0"/>
              <a:t>​</a:t>
            </a:r>
            <a:br>
              <a:rPr lang="fr-FR"/>
            </a:br>
            <a:endParaRPr lang="fr-FR">
              <a:solidFill>
                <a:srgbClr val="E8F2E0"/>
              </a:solidFill>
            </a:endParaRPr>
          </a:p>
        </p:txBody>
      </p:sp>
      <p:sp>
        <p:nvSpPr>
          <p:cNvPr id="16" name="Espace réservé du texte 3">
            <a:extLst>
              <a:ext uri="{FF2B5EF4-FFF2-40B4-BE49-F238E27FC236}">
                <a16:creationId xmlns:a16="http://schemas.microsoft.com/office/drawing/2014/main" id="{17A180DD-6D0F-7A48-1EFF-7DF3A48D189C}"/>
              </a:ext>
            </a:extLst>
          </p:cNvPr>
          <p:cNvSpPr>
            <a:spLocks noGrp="1"/>
          </p:cNvSpPr>
          <p:nvPr>
            <p:ph type="body" sz="quarter" idx="17"/>
          </p:nvPr>
        </p:nvSpPr>
        <p:spPr>
          <a:xfrm>
            <a:off x="1008000" y="456525"/>
            <a:ext cx="10176000" cy="292870"/>
          </a:xfrm>
        </p:spPr>
        <p:txBody>
          <a:bodyPr/>
          <a:lstStyle/>
          <a:p>
            <a:r>
              <a:rPr lang="fr-FR"/>
              <a:t>limites</a:t>
            </a:r>
          </a:p>
        </p:txBody>
      </p:sp>
      <p:sp>
        <p:nvSpPr>
          <p:cNvPr id="18" name="Espace réservé du texte 4">
            <a:extLst>
              <a:ext uri="{FF2B5EF4-FFF2-40B4-BE49-F238E27FC236}">
                <a16:creationId xmlns:a16="http://schemas.microsoft.com/office/drawing/2014/main" id="{AF1FC832-A2A2-1844-6A27-33244245C5F3}"/>
              </a:ext>
            </a:extLst>
          </p:cNvPr>
          <p:cNvSpPr>
            <a:spLocks noGrp="1"/>
          </p:cNvSpPr>
          <p:nvPr>
            <p:ph type="body" sz="quarter" idx="18"/>
          </p:nvPr>
        </p:nvSpPr>
        <p:spPr>
          <a:xfrm>
            <a:off x="831225" y="764479"/>
            <a:ext cx="10985372" cy="432000"/>
          </a:xfrm>
        </p:spPr>
        <p:txBody>
          <a:bodyPr/>
          <a:lstStyle/>
          <a:p>
            <a:endParaRPr lang="fr-FR"/>
          </a:p>
        </p:txBody>
      </p:sp>
      <p:sp>
        <p:nvSpPr>
          <p:cNvPr id="34" name="ZoneTexte 33">
            <a:extLst>
              <a:ext uri="{FF2B5EF4-FFF2-40B4-BE49-F238E27FC236}">
                <a16:creationId xmlns:a16="http://schemas.microsoft.com/office/drawing/2014/main" id="{75FFCC88-4CE1-01C4-6296-0CB049178EDC}"/>
              </a:ext>
            </a:extLst>
          </p:cNvPr>
          <p:cNvSpPr txBox="1"/>
          <p:nvPr/>
        </p:nvSpPr>
        <p:spPr>
          <a:xfrm>
            <a:off x="1178257" y="1680118"/>
            <a:ext cx="4401977" cy="861774"/>
          </a:xfrm>
          <a:prstGeom prst="rect">
            <a:avLst/>
          </a:prstGeom>
          <a:noFill/>
        </p:spPr>
        <p:txBody>
          <a:bodyPr wrap="square" rtlCol="0">
            <a:spAutoFit/>
          </a:bodyPr>
          <a:lstStyle/>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Résumé de tout ce que j’ai fait jusque là et mettre les stats des </a:t>
            </a:r>
            <a:r>
              <a:rPr lang="fr-FR" sz="1000" err="1">
                <a:highlight>
                  <a:srgbClr val="FFFF00"/>
                </a:highlight>
                <a:latin typeface="Segoe UI" panose="020B0502040204020203" pitchFamily="34" charset="0"/>
                <a:cs typeface="Segoe UI" panose="020B0502040204020203" pitchFamily="34" charset="0"/>
              </a:rPr>
              <a:t>rupco</a:t>
            </a:r>
            <a:r>
              <a:rPr lang="fr-FR" sz="1000">
                <a:highlight>
                  <a:srgbClr val="FFFF00"/>
                </a:highlight>
                <a:latin typeface="Segoe UI" panose="020B0502040204020203" pitchFamily="34" charset="0"/>
                <a:cs typeface="Segoe UI" panose="020B0502040204020203" pitchFamily="34" charset="0"/>
              </a:rPr>
              <a:t> par rapport aux autres fins de CDI, pour dire que ce qu’il </a:t>
            </a:r>
            <a:r>
              <a:rPr lang="fr-FR" sz="1000" err="1">
                <a:highlight>
                  <a:srgbClr val="FFFF00"/>
                </a:highlight>
                <a:latin typeface="Segoe UI" panose="020B0502040204020203" pitchFamily="34" charset="0"/>
                <a:cs typeface="Segoe UI" panose="020B0502040204020203" pitchFamily="34" charset="0"/>
              </a:rPr>
              <a:t>ya</a:t>
            </a:r>
            <a:r>
              <a:rPr lang="fr-FR" sz="1000">
                <a:highlight>
                  <a:srgbClr val="FFFF00"/>
                </a:highlight>
                <a:latin typeface="Segoe UI" panose="020B0502040204020203" pitchFamily="34" charset="0"/>
                <a:cs typeface="Segoe UI" panose="020B0502040204020203" pitchFamily="34" charset="0"/>
              </a:rPr>
              <a:t> de descriptif, c’est fait peut être lé aux avantages de départ et motiver la transition par rapport au reste avec l’appariement sur caractéristiques égales , dire qu’on cherche à isoler l’effet du dispositif </a:t>
            </a:r>
          </a:p>
        </p:txBody>
      </p:sp>
    </p:spTree>
    <p:extLst>
      <p:ext uri="{BB962C8B-B14F-4D97-AF65-F5344CB8AC3E}">
        <p14:creationId xmlns:p14="http://schemas.microsoft.com/office/powerpoint/2010/main" val="285797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A9B28-6F55-8207-419B-544724ACC12F}"/>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91975E-50B8-5948-4894-16C7E7943020}"/>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E0A9D0CF-13BB-B8B4-745B-C4CCD59AAE43}"/>
              </a:ext>
            </a:extLst>
          </p:cNvPr>
          <p:cNvSpPr>
            <a:spLocks noGrp="1"/>
          </p:cNvSpPr>
          <p:nvPr>
            <p:ph type="body" sz="quarter" idx="16"/>
          </p:nvPr>
        </p:nvSpPr>
        <p:spPr>
          <a:xfrm>
            <a:off x="900978" y="1436839"/>
            <a:ext cx="10967748" cy="4957002"/>
          </a:xfrm>
          <a:solidFill>
            <a:srgbClr val="E8F2E0"/>
          </a:solidFill>
          <a:ln>
            <a:solidFill>
              <a:srgbClr val="FFFFFF"/>
            </a:solidFill>
          </a:ln>
        </p:spPr>
        <p:txBody>
          <a:bodyPr/>
          <a:lstStyle/>
          <a:p>
            <a:r>
              <a:rPr lang="fr-FR" b="0"/>
              <a:t>​</a:t>
            </a:r>
            <a:br>
              <a:rPr lang="fr-FR"/>
            </a:br>
            <a:endParaRPr lang="fr-FR">
              <a:solidFill>
                <a:srgbClr val="E8F2E0"/>
              </a:solidFill>
            </a:endParaRPr>
          </a:p>
        </p:txBody>
      </p:sp>
      <p:sp>
        <p:nvSpPr>
          <p:cNvPr id="4" name="Espace réservé du texte 3">
            <a:extLst>
              <a:ext uri="{FF2B5EF4-FFF2-40B4-BE49-F238E27FC236}">
                <a16:creationId xmlns:a16="http://schemas.microsoft.com/office/drawing/2014/main" id="{C03B3089-660D-31DE-732C-AC6204D9A05B}"/>
              </a:ext>
            </a:extLst>
          </p:cNvPr>
          <p:cNvSpPr>
            <a:spLocks noGrp="1"/>
          </p:cNvSpPr>
          <p:nvPr>
            <p:ph type="body" sz="quarter" idx="17"/>
          </p:nvPr>
        </p:nvSpPr>
        <p:spPr>
          <a:xfrm>
            <a:off x="814468" y="591794"/>
            <a:ext cx="11377532" cy="490862"/>
          </a:xfrm>
        </p:spPr>
        <p:txBody>
          <a:bodyPr/>
          <a:lstStyle/>
          <a:p>
            <a:r>
              <a:rPr lang="fr-FR" sz="1600" spc="-40"/>
              <a:t>RÉÉVALUATION DE L’ÉCART DU RETOUR À L’EMPLOI ATTENDU POST-RCI : UN RETARD DEUX FOIS PLUS FAIBLE LORSQUE L’ÉCART PEUT VARIER SELON LES PROFILS</a:t>
            </a:r>
          </a:p>
        </p:txBody>
      </p:sp>
      <p:sp>
        <p:nvSpPr>
          <p:cNvPr id="5" name="Espace réservé du texte 4">
            <a:extLst>
              <a:ext uri="{FF2B5EF4-FFF2-40B4-BE49-F238E27FC236}">
                <a16:creationId xmlns:a16="http://schemas.microsoft.com/office/drawing/2014/main" id="{16ECEEFF-76D7-11B5-B850-3710690A8D68}"/>
              </a:ext>
            </a:extLst>
          </p:cNvPr>
          <p:cNvSpPr>
            <a:spLocks noGrp="1"/>
          </p:cNvSpPr>
          <p:nvPr>
            <p:ph type="body" sz="quarter" idx="18"/>
          </p:nvPr>
        </p:nvSpPr>
        <p:spPr>
          <a:xfrm>
            <a:off x="814468" y="1042278"/>
            <a:ext cx="11286092" cy="432000"/>
          </a:xfrm>
        </p:spPr>
        <p:txBody>
          <a:bodyPr/>
          <a:lstStyle/>
          <a:p>
            <a:r>
              <a:rPr lang="fr-FR" sz="1400">
                <a:solidFill>
                  <a:schemeClr val="accent3"/>
                </a:solidFill>
              </a:rPr>
              <a:t>L’écart entre le taux d’emploi salarié observé après une RCI et le taux attendu dépend fortement de la manière dont on le modélise</a:t>
            </a:r>
          </a:p>
        </p:txBody>
      </p:sp>
      <p:sp>
        <p:nvSpPr>
          <p:cNvPr id="12" name="Rectangle 11">
            <a:extLst>
              <a:ext uri="{FF2B5EF4-FFF2-40B4-BE49-F238E27FC236}">
                <a16:creationId xmlns:a16="http://schemas.microsoft.com/office/drawing/2014/main" id="{FA555EE2-7895-5891-BCE2-D0130305C30F}"/>
              </a:ext>
            </a:extLst>
          </p:cNvPr>
          <p:cNvSpPr/>
          <p:nvPr/>
        </p:nvSpPr>
        <p:spPr>
          <a:xfrm>
            <a:off x="981337" y="1556313"/>
            <a:ext cx="5498838" cy="542246"/>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accent3"/>
                </a:solidFill>
                <a:highlight>
                  <a:srgbClr val="FFFF00"/>
                </a:highlight>
                <a:latin typeface="+mj-lt"/>
              </a:rPr>
              <a:t>Un retour à l’emploi attendu surestimé </a:t>
            </a:r>
          </a:p>
        </p:txBody>
      </p:sp>
      <p:pic>
        <p:nvPicPr>
          <p:cNvPr id="9" name="Image 8">
            <a:extLst>
              <a:ext uri="{FF2B5EF4-FFF2-40B4-BE49-F238E27FC236}">
                <a16:creationId xmlns:a16="http://schemas.microsoft.com/office/drawing/2014/main" id="{B9F6439A-0B3D-146B-11B6-8F247D797645}"/>
              </a:ext>
            </a:extLst>
          </p:cNvPr>
          <p:cNvPicPr>
            <a:picLocks noChangeAspect="1"/>
          </p:cNvPicPr>
          <p:nvPr/>
        </p:nvPicPr>
        <p:blipFill>
          <a:blip r:embed="rId2"/>
          <a:stretch>
            <a:fillRect/>
          </a:stretch>
        </p:blipFill>
        <p:spPr>
          <a:xfrm>
            <a:off x="1004396" y="2161275"/>
            <a:ext cx="5498838" cy="3240714"/>
          </a:xfrm>
          <a:prstGeom prst="rect">
            <a:avLst/>
          </a:prstGeom>
        </p:spPr>
      </p:pic>
      <p:pic>
        <p:nvPicPr>
          <p:cNvPr id="66" name="Graphique 65" descr="Lumières allumées contour">
            <a:extLst>
              <a:ext uri="{FF2B5EF4-FFF2-40B4-BE49-F238E27FC236}">
                <a16:creationId xmlns:a16="http://schemas.microsoft.com/office/drawing/2014/main" id="{372C7212-A42A-3D70-A669-95111E29C9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37593" y="1312463"/>
            <a:ext cx="285166" cy="285166"/>
          </a:xfrm>
          <a:prstGeom prst="rect">
            <a:avLst/>
          </a:prstGeom>
        </p:spPr>
      </p:pic>
      <p:sp>
        <p:nvSpPr>
          <p:cNvPr id="13" name="ZoneTexte 12">
            <a:extLst>
              <a:ext uri="{FF2B5EF4-FFF2-40B4-BE49-F238E27FC236}">
                <a16:creationId xmlns:a16="http://schemas.microsoft.com/office/drawing/2014/main" id="{A013EA22-061C-4A31-E5F9-4E562ECE69F8}"/>
              </a:ext>
            </a:extLst>
          </p:cNvPr>
          <p:cNvSpPr txBox="1"/>
          <p:nvPr/>
        </p:nvSpPr>
        <p:spPr>
          <a:xfrm>
            <a:off x="981338" y="5756172"/>
            <a:ext cx="5498837" cy="738664"/>
          </a:xfrm>
          <a:prstGeom prst="rect">
            <a:avLst/>
          </a:prstGeom>
          <a:noFill/>
        </p:spPr>
        <p:txBody>
          <a:bodyPr wrap="square" rtlCol="0">
            <a:spAutoFit/>
          </a:bodyPr>
          <a:lstStyle/>
          <a:p>
            <a:pPr algn="just"/>
            <a:r>
              <a:rPr lang="fr-FR" sz="700" i="1">
                <a:latin typeface="Segoe UI" panose="020B0502040204020203" pitchFamily="34" charset="0"/>
                <a:cs typeface="Segoe UI" panose="020B0502040204020203" pitchFamily="34" charset="0"/>
              </a:rPr>
              <a:t>Lecture : 12 mois après la fin de contrat, l’écart au taux attendu de présence en emploi salarié est de 6,5 points avec un modèle additif et de 3,8 points lorsque les caractéristiques sont autorisées à interagir</a:t>
            </a:r>
          </a:p>
          <a:p>
            <a:pPr algn="just"/>
            <a:r>
              <a:rPr lang="fr-FR" sz="700" i="1">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a:latin typeface="Segoe UI" panose="020B0502040204020203" pitchFamily="34" charset="0"/>
                <a:cs typeface="Segoe UI" panose="020B0502040204020203" pitchFamily="34" charset="0"/>
              </a:rPr>
              <a:t>Source : Minima sociaux, droits d’assurance chômage et parcours salariés (MiDAS) – Vague 7 ; traitement Unédic</a:t>
            </a:r>
          </a:p>
          <a:p>
            <a:pPr algn="just"/>
            <a:endParaRPr lang="fr-FR" sz="700" i="1">
              <a:latin typeface="Segoe UI" panose="020B0502040204020203" pitchFamily="34" charset="0"/>
              <a:cs typeface="Segoe UI" panose="020B0502040204020203" pitchFamily="34" charset="0"/>
            </a:endParaRPr>
          </a:p>
        </p:txBody>
      </p:sp>
      <p:sp>
        <p:nvSpPr>
          <p:cNvPr id="18" name="ZoneTexte 17">
            <a:extLst>
              <a:ext uri="{FF2B5EF4-FFF2-40B4-BE49-F238E27FC236}">
                <a16:creationId xmlns:a16="http://schemas.microsoft.com/office/drawing/2014/main" id="{0682B98A-8A2A-14E9-54FC-D9232D0A0008}"/>
              </a:ext>
            </a:extLst>
          </p:cNvPr>
          <p:cNvSpPr txBox="1"/>
          <p:nvPr/>
        </p:nvSpPr>
        <p:spPr>
          <a:xfrm>
            <a:off x="853719" y="5401989"/>
            <a:ext cx="5649515" cy="369332"/>
          </a:xfrm>
          <a:prstGeom prst="rect">
            <a:avLst/>
          </a:prstGeom>
          <a:noFill/>
        </p:spPr>
        <p:txBody>
          <a:bodyPr wrap="square" rtlCol="0">
            <a:spAutoFit/>
          </a:bodyPr>
          <a:lstStyle/>
          <a:p>
            <a:pPr algn="ctr"/>
            <a:r>
              <a:rPr lang="fr-FR" sz="900" b="1" spc="-30">
                <a:solidFill>
                  <a:schemeClr val="accent3"/>
                </a:solidFill>
                <a:latin typeface="Segoe UI" panose="020B0502040204020203" pitchFamily="34" charset="0"/>
                <a:cs typeface="Segoe UI" panose="020B0502040204020203" pitchFamily="34" charset="0"/>
              </a:rPr>
              <a:t>TAUX DE PRÉSENCE EN EMPLOI SALARIÉ POST-RCI : TAUX OBSERVÉ VS TAUX CONTREFACTUELS SELON DEUX MODÈLES D'ESTIMATION</a:t>
            </a:r>
          </a:p>
        </p:txBody>
      </p:sp>
      <p:sp>
        <p:nvSpPr>
          <p:cNvPr id="20" name="ZoneTexte 19">
            <a:extLst>
              <a:ext uri="{FF2B5EF4-FFF2-40B4-BE49-F238E27FC236}">
                <a16:creationId xmlns:a16="http://schemas.microsoft.com/office/drawing/2014/main" id="{0002FC23-4AB4-9D77-BCEB-520D3A64CC2B}"/>
              </a:ext>
            </a:extLst>
          </p:cNvPr>
          <p:cNvSpPr txBox="1"/>
          <p:nvPr/>
        </p:nvSpPr>
        <p:spPr>
          <a:xfrm>
            <a:off x="6821988" y="1987669"/>
            <a:ext cx="4897571" cy="1338828"/>
          </a:xfrm>
          <a:prstGeom prst="rect">
            <a:avLst/>
          </a:prstGeom>
          <a:noFill/>
        </p:spPr>
        <p:txBody>
          <a:bodyPr wrap="square" rtlCol="0">
            <a:spAutoFit/>
          </a:bodyPr>
          <a:lstStyle/>
          <a:p>
            <a:pPr algn="just"/>
            <a:r>
              <a:rPr lang="fr-FR" sz="900" spc="-20">
                <a:latin typeface="Segoe UI" panose="020B0502040204020203" pitchFamily="34" charset="0"/>
                <a:cs typeface="Segoe UI" panose="020B0502040204020203" pitchFamily="34" charset="0"/>
              </a:rPr>
              <a:t>Sur le marché du travail, les caractéristiques individuelles (âge, diplôme, secteur, salaire, niveau de qualification ,etc.) interagissent pour déterminer la présence en emploi. </a:t>
            </a:r>
            <a:r>
              <a:rPr lang="fr-FR" sz="900" spc="-20">
                <a:highlight>
                  <a:srgbClr val="FFFF00"/>
                </a:highlight>
                <a:latin typeface="Segoe UI" panose="020B0502040204020203" pitchFamily="34" charset="0"/>
                <a:cs typeface="Segoe UI" panose="020B0502040204020203" pitchFamily="34" charset="0"/>
              </a:rPr>
              <a:t>Par exemple, un jeune diplômé dans un secteur en croissance par rapport à un senior peu qualifié dans un secteur en déclin,</a:t>
            </a:r>
          </a:p>
          <a:p>
            <a:pPr algn="just"/>
            <a:r>
              <a:rPr lang="fr-FR" sz="900" spc="-20">
                <a:latin typeface="Segoe UI" panose="020B0502040204020203" pitchFamily="34" charset="0"/>
                <a:cs typeface="Segoe UI" panose="020B0502040204020203" pitchFamily="34" charset="0"/>
              </a:rPr>
              <a:t>Contrairement au modèle additif utilisé dans la  littérature, l’estimation par forêt causale calcule un effet spécifique pour chaque combinaison de caractéristiques, Cette approche permet d’obtenir un taux de retour à l’emploi attendu pour chaque profil.</a:t>
            </a:r>
          </a:p>
          <a:p>
            <a:pPr algn="just"/>
            <a:r>
              <a:rPr lang="fr-FR" sz="900" spc="-20">
                <a:latin typeface="Segoe UI" panose="020B0502040204020203" pitchFamily="34" charset="0"/>
                <a:cs typeface="Segoe UI" panose="020B0502040204020203" pitchFamily="34" charset="0"/>
              </a:rPr>
              <a:t>L’écart spécifique estimé )à chaque profil, le CATE : effet moyen conditionnel du traitement se formalise ainsi </a:t>
            </a:r>
          </a:p>
        </p:txBody>
      </p:sp>
      <p:sp>
        <p:nvSpPr>
          <p:cNvPr id="23" name="ZoneTexte 22">
            <a:extLst>
              <a:ext uri="{FF2B5EF4-FFF2-40B4-BE49-F238E27FC236}">
                <a16:creationId xmlns:a16="http://schemas.microsoft.com/office/drawing/2014/main" id="{A5CE380E-D9DC-7C21-CAC8-222B99062C85}"/>
              </a:ext>
            </a:extLst>
          </p:cNvPr>
          <p:cNvSpPr txBox="1"/>
          <p:nvPr/>
        </p:nvSpPr>
        <p:spPr>
          <a:xfrm>
            <a:off x="6798930" y="1509291"/>
            <a:ext cx="4980134" cy="553998"/>
          </a:xfrm>
          <a:prstGeom prst="rect">
            <a:avLst/>
          </a:prstGeom>
          <a:noFill/>
        </p:spPr>
        <p:txBody>
          <a:bodyPr wrap="square" rtlCol="0">
            <a:spAutoFit/>
          </a:bodyPr>
          <a:lstStyle/>
          <a:p>
            <a:pPr algn="just"/>
            <a:r>
              <a:rPr lang="fr-FR" sz="1000" b="1" spc="-30">
                <a:solidFill>
                  <a:schemeClr val="accent3"/>
                </a:solidFill>
                <a:latin typeface="Segoe UI" panose="020B0502040204020203" pitchFamily="34" charset="0"/>
                <a:cs typeface="Segoe UI" panose="020B0502040204020203" pitchFamily="34" charset="0"/>
              </a:rPr>
              <a:t>L’ESTIMATION DU RETOUR A L’EMPLOI ATTENDU PAR LE CATE PERMET DE TENIR COMPTE DES INTERACTIONS DES CARACTÉRISTIQUES INDIVIDUELLES SUR LE MARCHÉ DU TRAVAIL</a:t>
            </a:r>
          </a:p>
        </p:txBody>
      </p:sp>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2C15CAEB-154B-4F41-8158-C694755C84B8}"/>
                  </a:ext>
                </a:extLst>
              </p:cNvPr>
              <p:cNvSpPr txBox="1"/>
              <p:nvPr/>
            </p:nvSpPr>
            <p:spPr>
              <a:xfrm>
                <a:off x="6798930" y="3254429"/>
                <a:ext cx="4595917" cy="367408"/>
              </a:xfrm>
              <a:prstGeom prst="rect">
                <a:avLst/>
              </a:prstGeom>
              <a:noFill/>
            </p:spPr>
            <p:txBody>
              <a:bodyPr wrap="square" rtlCol="0">
                <a:spAutoFit/>
              </a:bodyPr>
              <a:lstStyle/>
              <a:p>
                <a:pPr>
                  <a:buNone/>
                </a:pPr>
                <a14:m>
                  <m:oMathPara xmlns:m="http://schemas.openxmlformats.org/officeDocument/2006/math">
                    <m:oMath>
                      <m:r>
                        <a:rPr lang="fr-FR" sz="1200" b="1" i="1" smtClean="0">
                          <a:solidFill>
                            <a:schemeClr val="accent3"/>
                          </a:solidFill>
                          <a:latin typeface="Cambria Math" panose="02040503050406030204" pitchFamily="18" charset="0"/>
                        </a:rPr>
                        <m:t>𝝉</m:t>
                      </m:r>
                      <m:d>
                        <m:dPr>
                          <m:ctrlPr>
                            <a:rPr lang="fr-FR" sz="1200" b="1" i="1">
                              <a:solidFill>
                                <a:schemeClr val="accent3"/>
                              </a:solidFill>
                              <a:latin typeface="Cambria Math" panose="02040503050406030204" pitchFamily="18" charset="0"/>
                            </a:rPr>
                          </m:ctrlPr>
                        </m:dPr>
                        <m:e>
                          <m:r>
                            <a:rPr lang="fr-FR" sz="1200" b="1" i="1">
                              <a:solidFill>
                                <a:schemeClr val="accent3"/>
                              </a:solidFill>
                              <a:latin typeface="Cambria Math" panose="02040503050406030204" pitchFamily="18" charset="0"/>
                            </a:rPr>
                            <m:t>𝒙</m:t>
                          </m:r>
                        </m:e>
                      </m:d>
                      <m:r>
                        <a:rPr lang="fr-FR" sz="1200" b="1" i="0">
                          <a:solidFill>
                            <a:schemeClr val="accent3"/>
                          </a:solidFill>
                          <a:latin typeface="Cambria Math" panose="02040503050406030204" pitchFamily="18" charset="0"/>
                        </a:rPr>
                        <m:t>=</m:t>
                      </m:r>
                      <m:r>
                        <a:rPr lang="fr-FR" sz="1200" b="1" i="0">
                          <a:solidFill>
                            <a:schemeClr val="accent3"/>
                          </a:solidFill>
                          <a:latin typeface="Cambria Math" panose="02040503050406030204" pitchFamily="18" charset="0"/>
                        </a:rPr>
                        <m:t>𝔼</m:t>
                      </m:r>
                      <m:d>
                        <m:dPr>
                          <m:begChr m:val="["/>
                          <m:endChr m:val="]"/>
                          <m:ctrlPr>
                            <a:rPr lang="fr-FR" sz="1200" b="1" i="1">
                              <a:solidFill>
                                <a:schemeClr val="accent3"/>
                              </a:solidFill>
                              <a:latin typeface="Cambria Math" panose="02040503050406030204" pitchFamily="18" charset="0"/>
                            </a:rPr>
                          </m:ctrlPr>
                        </m:dPr>
                        <m:e>
                          <m:sSubSup>
                            <m:sSubSupPr>
                              <m:ctrlPr>
                                <a:rPr lang="fr-FR" sz="1200" b="1" i="1">
                                  <a:solidFill>
                                    <a:schemeClr val="accent3"/>
                                  </a:solidFill>
                                  <a:latin typeface="Cambria Math" panose="02040503050406030204" pitchFamily="18" charset="0"/>
                                </a:rPr>
                              </m:ctrlPr>
                            </m:sSubSupPr>
                            <m:e>
                              <m:r>
                                <a:rPr lang="fr-FR" sz="1200" b="1" i="1">
                                  <a:solidFill>
                                    <a:schemeClr val="accent3"/>
                                  </a:solidFill>
                                  <a:latin typeface="Cambria Math" panose="02040503050406030204" pitchFamily="18" charset="0"/>
                                </a:rPr>
                                <m:t>𝒀</m:t>
                              </m:r>
                            </m:e>
                            <m:sub>
                              <m:r>
                                <a:rPr lang="fr-FR" sz="1200" b="1" i="1">
                                  <a:solidFill>
                                    <a:schemeClr val="accent3"/>
                                  </a:solidFill>
                                  <a:latin typeface="Cambria Math" panose="02040503050406030204" pitchFamily="18" charset="0"/>
                                </a:rPr>
                                <m:t>𝒊</m:t>
                              </m:r>
                            </m:sub>
                            <m:sup>
                              <m:d>
                                <m:dPr>
                                  <m:ctrlPr>
                                    <a:rPr lang="fr-FR" sz="1200" b="1" i="0">
                                      <a:solidFill>
                                        <a:schemeClr val="accent3"/>
                                      </a:solidFill>
                                      <a:latin typeface="Cambria Math" panose="02040503050406030204" pitchFamily="18" charset="0"/>
                                    </a:rPr>
                                  </m:ctrlPr>
                                </m:dPr>
                                <m:e>
                                  <m:r>
                                    <a:rPr lang="fr-FR" sz="1200" b="1" i="0">
                                      <a:solidFill>
                                        <a:schemeClr val="accent3"/>
                                      </a:solidFill>
                                      <a:latin typeface="Cambria Math" panose="02040503050406030204" pitchFamily="18" charset="0"/>
                                    </a:rPr>
                                    <m:t>𝟏</m:t>
                                  </m:r>
                                </m:e>
                              </m:d>
                            </m:sup>
                          </m:sSubSup>
                          <m:r>
                            <a:rPr lang="fr-FR" sz="1200" b="1" i="0">
                              <a:solidFill>
                                <a:schemeClr val="accent3"/>
                              </a:solidFill>
                              <a:latin typeface="Cambria Math" panose="02040503050406030204" pitchFamily="18" charset="0"/>
                            </a:rPr>
                            <m:t>−</m:t>
                          </m:r>
                          <m:sSubSup>
                            <m:sSubSupPr>
                              <m:ctrlPr>
                                <a:rPr lang="fr-FR" sz="1200" b="1" i="1">
                                  <a:solidFill>
                                    <a:schemeClr val="accent3"/>
                                  </a:solidFill>
                                  <a:latin typeface="Cambria Math" panose="02040503050406030204" pitchFamily="18" charset="0"/>
                                </a:rPr>
                              </m:ctrlPr>
                            </m:sSubSupPr>
                            <m:e>
                              <m:r>
                                <a:rPr lang="fr-FR" sz="1200" b="1" i="1">
                                  <a:solidFill>
                                    <a:schemeClr val="accent3"/>
                                  </a:solidFill>
                                  <a:latin typeface="Cambria Math" panose="02040503050406030204" pitchFamily="18" charset="0"/>
                                </a:rPr>
                                <m:t>𝒀</m:t>
                              </m:r>
                            </m:e>
                            <m:sub>
                              <m:r>
                                <a:rPr lang="fr-FR" sz="1200" b="1" i="1">
                                  <a:solidFill>
                                    <a:schemeClr val="accent3"/>
                                  </a:solidFill>
                                  <a:latin typeface="Cambria Math" panose="02040503050406030204" pitchFamily="18" charset="0"/>
                                </a:rPr>
                                <m:t>𝒊</m:t>
                              </m:r>
                            </m:sub>
                            <m:sup>
                              <m:d>
                                <m:dPr>
                                  <m:ctrlPr>
                                    <a:rPr lang="fr-FR" sz="1200" b="1" i="0">
                                      <a:solidFill>
                                        <a:schemeClr val="accent3"/>
                                      </a:solidFill>
                                      <a:latin typeface="Cambria Math" panose="02040503050406030204" pitchFamily="18" charset="0"/>
                                    </a:rPr>
                                  </m:ctrlPr>
                                </m:dPr>
                                <m:e>
                                  <m:r>
                                    <a:rPr lang="fr-FR" sz="1200" b="1" i="0">
                                      <a:solidFill>
                                        <a:schemeClr val="accent3"/>
                                      </a:solidFill>
                                      <a:latin typeface="Cambria Math" panose="02040503050406030204" pitchFamily="18" charset="0"/>
                                    </a:rPr>
                                    <m:t>𝟎</m:t>
                                  </m:r>
                                </m:e>
                              </m:d>
                            </m:sup>
                          </m:sSubSup>
                          <m:r>
                            <a:rPr lang="fr-FR" sz="1200" b="1" i="0">
                              <a:solidFill>
                                <a:schemeClr val="accent3"/>
                              </a:solidFill>
                              <a:latin typeface="Cambria Math" panose="02040503050406030204" pitchFamily="18" charset="0"/>
                            </a:rPr>
                            <m:t>∣</m:t>
                          </m:r>
                          <m:sSub>
                            <m:sSubPr>
                              <m:ctrlPr>
                                <a:rPr lang="fr-FR" sz="1200" b="1" i="1">
                                  <a:solidFill>
                                    <a:schemeClr val="accent3"/>
                                  </a:solidFill>
                                  <a:latin typeface="Cambria Math" panose="02040503050406030204" pitchFamily="18" charset="0"/>
                                </a:rPr>
                              </m:ctrlPr>
                            </m:sSubPr>
                            <m:e>
                              <m:r>
                                <a:rPr lang="fr-FR" sz="1200" b="1" i="1">
                                  <a:solidFill>
                                    <a:schemeClr val="accent3"/>
                                  </a:solidFill>
                                  <a:latin typeface="Cambria Math" panose="02040503050406030204" pitchFamily="18" charset="0"/>
                                </a:rPr>
                                <m:t>𝑿</m:t>
                              </m:r>
                            </m:e>
                            <m:sub>
                              <m:r>
                                <a:rPr lang="fr-FR" sz="1200" b="1" i="1">
                                  <a:solidFill>
                                    <a:schemeClr val="accent3"/>
                                  </a:solidFill>
                                  <a:latin typeface="Cambria Math" panose="02040503050406030204" pitchFamily="18" charset="0"/>
                                </a:rPr>
                                <m:t>𝒊</m:t>
                              </m:r>
                            </m:sub>
                          </m:sSub>
                          <m:r>
                            <a:rPr lang="fr-FR" sz="1200" b="1" i="0">
                              <a:solidFill>
                                <a:schemeClr val="accent3"/>
                              </a:solidFill>
                              <a:latin typeface="Cambria Math" panose="02040503050406030204" pitchFamily="18" charset="0"/>
                            </a:rPr>
                            <m:t>=</m:t>
                          </m:r>
                          <m:r>
                            <a:rPr lang="fr-FR" sz="1200" b="1" i="1">
                              <a:solidFill>
                                <a:schemeClr val="accent3"/>
                              </a:solidFill>
                              <a:latin typeface="Cambria Math" panose="02040503050406030204" pitchFamily="18" charset="0"/>
                            </a:rPr>
                            <m:t>𝒙</m:t>
                          </m:r>
                        </m:e>
                      </m:d>
                    </m:oMath>
                  </m:oMathPara>
                </a14:m>
                <a:endParaRPr lang="fr-FR" sz="1200" b="1">
                  <a:solidFill>
                    <a:schemeClr val="accent3"/>
                  </a:solidFill>
                  <a:effectLst/>
                  <a:latin typeface="Google Sans Text"/>
                </a:endParaRPr>
              </a:p>
            </p:txBody>
          </p:sp>
        </mc:Choice>
        <mc:Fallback xmlns="">
          <p:sp>
            <p:nvSpPr>
              <p:cNvPr id="30" name="ZoneTexte 29">
                <a:extLst>
                  <a:ext uri="{FF2B5EF4-FFF2-40B4-BE49-F238E27FC236}">
                    <a16:creationId xmlns:a16="http://schemas.microsoft.com/office/drawing/2014/main" id="{2C15CAEB-154B-4F41-8158-C694755C84B8}"/>
                  </a:ext>
                </a:extLst>
              </p:cNvPr>
              <p:cNvSpPr txBox="1">
                <a:spLocks noRot="1" noChangeAspect="1" noMove="1" noResize="1" noEditPoints="1" noAdjustHandles="1" noChangeArrowheads="1" noChangeShapeType="1" noTextEdit="1"/>
              </p:cNvSpPr>
              <p:nvPr/>
            </p:nvSpPr>
            <p:spPr>
              <a:xfrm>
                <a:off x="6798930" y="3254429"/>
                <a:ext cx="4595917" cy="367408"/>
              </a:xfrm>
              <a:prstGeom prst="rect">
                <a:avLst/>
              </a:prstGeom>
              <a:blipFill>
                <a:blip r:embed="rId4"/>
                <a:stretch>
                  <a:fillRect/>
                </a:stretch>
              </a:blipFill>
            </p:spPr>
            <p:txBody>
              <a:bodyPr/>
              <a:lstStyle/>
              <a:p>
                <a:r>
                  <a:rPr lang="en-US">
                    <a:noFill/>
                  </a:rPr>
                  <a:t> </a:t>
                </a:r>
              </a:p>
            </p:txBody>
          </p:sp>
        </mc:Fallback>
      </mc:AlternateContent>
      <p:sp>
        <p:nvSpPr>
          <p:cNvPr id="34" name="ZoneTexte 33">
            <a:extLst>
              <a:ext uri="{FF2B5EF4-FFF2-40B4-BE49-F238E27FC236}">
                <a16:creationId xmlns:a16="http://schemas.microsoft.com/office/drawing/2014/main" id="{61E64253-EFAB-0784-1FA2-AFA25E5E4F94}"/>
              </a:ext>
            </a:extLst>
          </p:cNvPr>
          <p:cNvSpPr txBox="1"/>
          <p:nvPr/>
        </p:nvSpPr>
        <p:spPr>
          <a:xfrm>
            <a:off x="6821988" y="3581577"/>
            <a:ext cx="4980134" cy="400110"/>
          </a:xfrm>
          <a:prstGeom prst="rect">
            <a:avLst/>
          </a:prstGeom>
          <a:noFill/>
        </p:spPr>
        <p:txBody>
          <a:bodyPr wrap="square" rtlCol="0">
            <a:spAutoFit/>
          </a:bodyPr>
          <a:lstStyle/>
          <a:p>
            <a:pPr algn="just"/>
            <a:r>
              <a:rPr lang="fr-FR" sz="1000" b="1" spc="-30">
                <a:solidFill>
                  <a:schemeClr val="accent3"/>
                </a:solidFill>
                <a:highlight>
                  <a:srgbClr val="FFFF00"/>
                </a:highlight>
                <a:latin typeface="Segoe UI" panose="020B0502040204020203" pitchFamily="34" charset="0"/>
                <a:cs typeface="Segoe UI" panose="020B0502040204020203" pitchFamily="34" charset="0"/>
              </a:rPr>
              <a:t>AVEC CETTE ESTMATION, L’ÉCART AU RETOUR À L’EMPLOI ATTENDU EST DEUX FOIS PLUS FAIBLE À UN AN DISPARAÎT AU BOUT DE DEUX ANS </a:t>
            </a:r>
          </a:p>
        </p:txBody>
      </p:sp>
      <p:graphicFrame>
        <p:nvGraphicFramePr>
          <p:cNvPr id="35" name="Tableau 34">
            <a:extLst>
              <a:ext uri="{FF2B5EF4-FFF2-40B4-BE49-F238E27FC236}">
                <a16:creationId xmlns:a16="http://schemas.microsoft.com/office/drawing/2014/main" id="{650AE9F9-CF63-F0F8-E012-6972412843F7}"/>
              </a:ext>
            </a:extLst>
          </p:cNvPr>
          <p:cNvGraphicFramePr>
            <a:graphicFrameLocks noGrp="1"/>
          </p:cNvGraphicFramePr>
          <p:nvPr>
            <p:extLst>
              <p:ext uri="{D42A27DB-BD31-4B8C-83A1-F6EECF244321}">
                <p14:modId xmlns:p14="http://schemas.microsoft.com/office/powerpoint/2010/main" val="925261688"/>
              </p:ext>
            </p:extLst>
          </p:nvPr>
        </p:nvGraphicFramePr>
        <p:xfrm>
          <a:off x="6945444" y="4061912"/>
          <a:ext cx="4622556" cy="1508760"/>
        </p:xfrm>
        <a:graphic>
          <a:graphicData uri="http://schemas.openxmlformats.org/drawingml/2006/table">
            <a:tbl>
              <a:tblPr firstRow="1" bandRow="1">
                <a:tableStyleId>{7DF18680-E054-41AD-8BC1-D1AEF772440D}</a:tableStyleId>
              </a:tblPr>
              <a:tblGrid>
                <a:gridCol w="1155639">
                  <a:extLst>
                    <a:ext uri="{9D8B030D-6E8A-4147-A177-3AD203B41FA5}">
                      <a16:colId xmlns:a16="http://schemas.microsoft.com/office/drawing/2014/main" val="3866175142"/>
                    </a:ext>
                  </a:extLst>
                </a:gridCol>
                <a:gridCol w="1155639">
                  <a:extLst>
                    <a:ext uri="{9D8B030D-6E8A-4147-A177-3AD203B41FA5}">
                      <a16:colId xmlns:a16="http://schemas.microsoft.com/office/drawing/2014/main" val="1266296834"/>
                    </a:ext>
                  </a:extLst>
                </a:gridCol>
                <a:gridCol w="1155639">
                  <a:extLst>
                    <a:ext uri="{9D8B030D-6E8A-4147-A177-3AD203B41FA5}">
                      <a16:colId xmlns:a16="http://schemas.microsoft.com/office/drawing/2014/main" val="1038741424"/>
                    </a:ext>
                  </a:extLst>
                </a:gridCol>
                <a:gridCol w="1155639">
                  <a:extLst>
                    <a:ext uri="{9D8B030D-6E8A-4147-A177-3AD203B41FA5}">
                      <a16:colId xmlns:a16="http://schemas.microsoft.com/office/drawing/2014/main" val="2583568982"/>
                    </a:ext>
                  </a:extLst>
                </a:gridCol>
              </a:tblGrid>
              <a:tr h="161213">
                <a:tc>
                  <a:txBody>
                    <a:bodyPr/>
                    <a:lstStyle/>
                    <a:p>
                      <a:r>
                        <a:rPr lang="fr-FR" sz="900">
                          <a:latin typeface="Segoe UI" panose="020B0502040204020203" pitchFamily="34" charset="0"/>
                          <a:cs typeface="Segoe UI" panose="020B0502040204020203" pitchFamily="34" charset="0"/>
                        </a:rPr>
                        <a:t>Horizon</a:t>
                      </a:r>
                    </a:p>
                  </a:txBody>
                  <a:tcPr/>
                </a:tc>
                <a:tc>
                  <a:txBody>
                    <a:bodyPr/>
                    <a:lstStyle/>
                    <a:p>
                      <a:r>
                        <a:rPr lang="fr-FR" sz="900">
                          <a:latin typeface="Segoe UI" panose="020B0502040204020203" pitchFamily="34" charset="0"/>
                          <a:cs typeface="Segoe UI" panose="020B0502040204020203" pitchFamily="34" charset="0"/>
                        </a:rPr>
                        <a:t>Modèle additif</a:t>
                      </a:r>
                    </a:p>
                  </a:txBody>
                  <a:tcPr/>
                </a:tc>
                <a:tc>
                  <a:txBody>
                    <a:bodyPr/>
                    <a:lstStyle/>
                    <a:p>
                      <a:r>
                        <a:rPr lang="fr-FR" sz="900">
                          <a:latin typeface="Segoe UI" panose="020B0502040204020203" pitchFamily="34" charset="0"/>
                          <a:cs typeface="Segoe UI" panose="020B0502040204020203" pitchFamily="34" charset="0"/>
                        </a:rPr>
                        <a:t>Modèle à interactions libres</a:t>
                      </a:r>
                    </a:p>
                  </a:txBody>
                  <a:tcPr/>
                </a:tc>
                <a:tc>
                  <a:txBody>
                    <a:bodyPr/>
                    <a:lstStyle/>
                    <a:p>
                      <a:r>
                        <a:rPr lang="fr-FR" sz="900">
                          <a:latin typeface="Segoe UI" panose="020B0502040204020203" pitchFamily="34" charset="0"/>
                          <a:cs typeface="Segoe UI" panose="020B0502040204020203" pitchFamily="34" charset="0"/>
                        </a:rPr>
                        <a:t>Part absorbée de l’écart</a:t>
                      </a:r>
                    </a:p>
                  </a:txBody>
                  <a:tcPr/>
                </a:tc>
                <a:extLst>
                  <a:ext uri="{0D108BD9-81ED-4DB2-BD59-A6C34878D82A}">
                    <a16:rowId xmlns:a16="http://schemas.microsoft.com/office/drawing/2014/main" val="575625634"/>
                  </a:ext>
                </a:extLst>
              </a:tr>
              <a:tr h="161213">
                <a:tc>
                  <a:txBody>
                    <a:bodyPr/>
                    <a:lstStyle/>
                    <a:p>
                      <a:r>
                        <a:rPr lang="fr-FR" sz="900">
                          <a:latin typeface="Segoe UI" panose="020B0502040204020203" pitchFamily="34" charset="0"/>
                          <a:cs typeface="Segoe UI" panose="020B0502040204020203" pitchFamily="34" charset="0"/>
                        </a:rPr>
                        <a:t>M+1</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−3,6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−2,4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34 % </a:t>
                      </a:r>
                    </a:p>
                  </a:txBody>
                  <a:tcPr anchor="ctr"/>
                </a:tc>
                <a:extLst>
                  <a:ext uri="{0D108BD9-81ED-4DB2-BD59-A6C34878D82A}">
                    <a16:rowId xmlns:a16="http://schemas.microsoft.com/office/drawing/2014/main" val="1077607208"/>
                  </a:ext>
                </a:extLst>
              </a:tr>
              <a:tr h="161213">
                <a:tc>
                  <a:txBody>
                    <a:bodyPr/>
                    <a:lstStyle/>
                    <a:p>
                      <a:r>
                        <a:rPr lang="fr-FR" sz="900">
                          <a:latin typeface="Segoe UI" panose="020B0502040204020203" pitchFamily="34" charset="0"/>
                          <a:cs typeface="Segoe UI" panose="020B0502040204020203" pitchFamily="34" charset="0"/>
                        </a:rPr>
                        <a:t>M+6</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−7,1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−4,2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41 % </a:t>
                      </a:r>
                    </a:p>
                  </a:txBody>
                  <a:tcPr anchor="ctr"/>
                </a:tc>
                <a:extLst>
                  <a:ext uri="{0D108BD9-81ED-4DB2-BD59-A6C34878D82A}">
                    <a16:rowId xmlns:a16="http://schemas.microsoft.com/office/drawing/2014/main" val="3015822650"/>
                  </a:ext>
                </a:extLst>
              </a:tr>
              <a:tr h="161213">
                <a:tc>
                  <a:txBody>
                    <a:bodyPr/>
                    <a:lstStyle/>
                    <a:p>
                      <a:r>
                        <a:rPr lang="fr-FR" sz="900">
                          <a:latin typeface="Segoe UI" panose="020B0502040204020203" pitchFamily="34" charset="0"/>
                          <a:cs typeface="Segoe UI" panose="020B0502040204020203" pitchFamily="34" charset="0"/>
                        </a:rPr>
                        <a:t>M+12</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−6,5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−3,8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41 % </a:t>
                      </a:r>
                    </a:p>
                  </a:txBody>
                  <a:tcPr anchor="ctr"/>
                </a:tc>
                <a:extLst>
                  <a:ext uri="{0D108BD9-81ED-4DB2-BD59-A6C34878D82A}">
                    <a16:rowId xmlns:a16="http://schemas.microsoft.com/office/drawing/2014/main" val="956981460"/>
                  </a:ext>
                </a:extLst>
              </a:tr>
              <a:tr h="161213">
                <a:tc>
                  <a:txBody>
                    <a:bodyPr/>
                    <a:lstStyle/>
                    <a:p>
                      <a:r>
                        <a:rPr lang="fr-FR" sz="900">
                          <a:latin typeface="Segoe UI" panose="020B0502040204020203" pitchFamily="34" charset="0"/>
                          <a:cs typeface="Segoe UI" panose="020B0502040204020203" pitchFamily="34" charset="0"/>
                        </a:rPr>
                        <a:t>M+24</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−4,3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−2,2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48 % </a:t>
                      </a:r>
                    </a:p>
                  </a:txBody>
                  <a:tcPr anchor="ctr"/>
                </a:tc>
                <a:extLst>
                  <a:ext uri="{0D108BD9-81ED-4DB2-BD59-A6C34878D82A}">
                    <a16:rowId xmlns:a16="http://schemas.microsoft.com/office/drawing/2014/main" val="3537184226"/>
                  </a:ext>
                </a:extLst>
              </a:tr>
              <a:tr h="161213">
                <a:tc>
                  <a:txBody>
                    <a:bodyPr/>
                    <a:lstStyle/>
                    <a:p>
                      <a:r>
                        <a:rPr lang="fr-FR" sz="900">
                          <a:latin typeface="Segoe UI" panose="020B0502040204020203" pitchFamily="34" charset="0"/>
                          <a:cs typeface="Segoe UI" panose="020B0502040204020203" pitchFamily="34" charset="0"/>
                        </a:rPr>
                        <a:t>M+36</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−2,5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−0,7 pt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72 % </a:t>
                      </a:r>
                    </a:p>
                  </a:txBody>
                  <a:tcPr anchor="ctr"/>
                </a:tc>
                <a:extLst>
                  <a:ext uri="{0D108BD9-81ED-4DB2-BD59-A6C34878D82A}">
                    <a16:rowId xmlns:a16="http://schemas.microsoft.com/office/drawing/2014/main" val="2806972663"/>
                  </a:ext>
                </a:extLst>
              </a:tr>
            </a:tbl>
          </a:graphicData>
        </a:graphic>
      </p:graphicFrame>
      <p:sp>
        <p:nvSpPr>
          <p:cNvPr id="48" name="ZoneTexte 47">
            <a:extLst>
              <a:ext uri="{FF2B5EF4-FFF2-40B4-BE49-F238E27FC236}">
                <a16:creationId xmlns:a16="http://schemas.microsoft.com/office/drawing/2014/main" id="{ABAE2CD8-D05F-6EF6-727F-5BEB7E49DFE4}"/>
              </a:ext>
            </a:extLst>
          </p:cNvPr>
          <p:cNvSpPr txBox="1"/>
          <p:nvPr/>
        </p:nvSpPr>
        <p:spPr>
          <a:xfrm>
            <a:off x="6883716" y="5667634"/>
            <a:ext cx="4877124" cy="738664"/>
          </a:xfrm>
          <a:prstGeom prst="rect">
            <a:avLst/>
          </a:prstGeom>
          <a:noFill/>
        </p:spPr>
        <p:txBody>
          <a:bodyPr wrap="square" rtlCol="0">
            <a:spAutoFit/>
          </a:bodyPr>
          <a:lstStyle/>
          <a:p>
            <a:pPr algn="just"/>
            <a:r>
              <a:rPr lang="fr-FR" sz="700" i="1">
                <a:latin typeface="Segoe UI" panose="020B0502040204020203" pitchFamily="34" charset="0"/>
                <a:cs typeface="Segoe UI" panose="020B0502040204020203" pitchFamily="34" charset="0"/>
              </a:rPr>
              <a:t>Lecture : Deux ans après la fin de contrat, l’écart au taux attendu de présence en emploi salarié est de 4,3 points avec un modèle additif et de  2,2 points points lorsque les caractéristiques sont autorisées à interagir,</a:t>
            </a:r>
          </a:p>
          <a:p>
            <a:pPr algn="just"/>
            <a:r>
              <a:rPr lang="fr-FR" sz="700" i="1">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a:latin typeface="Segoe UI" panose="020B0502040204020203" pitchFamily="34" charset="0"/>
                <a:cs typeface="Segoe UI" panose="020B0502040204020203" pitchFamily="34" charset="0"/>
              </a:rPr>
              <a:t>Source : Minima sociaux, droits d’assurance chômage et parcours salariés (MiDAS) – Vague 7 ; traitement Unédic</a:t>
            </a:r>
          </a:p>
          <a:p>
            <a:pPr algn="just"/>
            <a:endParaRPr lang="fr-FR" sz="700" i="1">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60636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5B1B7-087B-E988-7704-7698FCA890E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111A661-CBBF-8647-6DCE-084A451BAEF0}"/>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0CA633EB-4EE7-523F-D257-05C5D07DB1E5}"/>
              </a:ext>
            </a:extLst>
          </p:cNvPr>
          <p:cNvSpPr>
            <a:spLocks noGrp="1"/>
          </p:cNvSpPr>
          <p:nvPr>
            <p:ph type="body" sz="quarter" idx="16"/>
          </p:nvPr>
        </p:nvSpPr>
        <p:spPr>
          <a:xfrm>
            <a:off x="1124520" y="1482429"/>
            <a:ext cx="3521609" cy="4886840"/>
          </a:xfrm>
          <a:solidFill>
            <a:srgbClr val="E8F2E0"/>
          </a:solidFill>
          <a:ln>
            <a:solidFill>
              <a:srgbClr val="FFFFFF"/>
            </a:solidFill>
          </a:ln>
        </p:spPr>
        <p:txBody>
          <a:bodyPr/>
          <a:lstStyle/>
          <a:p>
            <a:r>
              <a:rPr lang="fr-FR" b="0" i="1" dirty="0">
                <a:highlight>
                  <a:srgbClr val="FFFF00"/>
                </a:highlight>
              </a:rPr>
              <a:t>​</a:t>
            </a:r>
          </a:p>
          <a:p>
            <a:endParaRPr lang="fr-FR" b="0" i="1" dirty="0">
              <a:highlight>
                <a:srgbClr val="FFFF00"/>
              </a:highlight>
            </a:endParaRPr>
          </a:p>
          <a:p>
            <a:endParaRPr lang="fr-FR" b="0" i="1" dirty="0">
              <a:highlight>
                <a:srgbClr val="FFFF00"/>
              </a:highlight>
            </a:endParaRPr>
          </a:p>
          <a:p>
            <a:endParaRPr lang="fr-FR" b="0" i="1" dirty="0">
              <a:highlight>
                <a:srgbClr val="FFFF00"/>
              </a:highlight>
            </a:endParaRPr>
          </a:p>
          <a:p>
            <a:endParaRPr lang="fr-FR" b="0" i="1" dirty="0">
              <a:highlight>
                <a:srgbClr val="FFFF00"/>
              </a:highlight>
            </a:endParaRPr>
          </a:p>
          <a:p>
            <a:endParaRPr lang="fr-FR" b="0" i="1" dirty="0">
              <a:highlight>
                <a:srgbClr val="FFFF00"/>
              </a:highlight>
            </a:endParaRPr>
          </a:p>
          <a:p>
            <a:endParaRPr lang="fr-FR" b="0" i="1" dirty="0">
              <a:highlight>
                <a:srgbClr val="FFFF00"/>
              </a:highlight>
            </a:endParaRPr>
          </a:p>
          <a:p>
            <a:endParaRPr lang="fr-FR" b="0" i="1" dirty="0">
              <a:highlight>
                <a:srgbClr val="FFFF00"/>
              </a:highlight>
            </a:endParaRPr>
          </a:p>
          <a:p>
            <a:endParaRPr lang="fr-FR" b="0" i="1" dirty="0">
              <a:highlight>
                <a:srgbClr val="FFFF00"/>
              </a:highlight>
            </a:endParaRPr>
          </a:p>
        </p:txBody>
      </p:sp>
      <p:sp>
        <p:nvSpPr>
          <p:cNvPr id="4" name="Espace réservé du texte 3">
            <a:extLst>
              <a:ext uri="{FF2B5EF4-FFF2-40B4-BE49-F238E27FC236}">
                <a16:creationId xmlns:a16="http://schemas.microsoft.com/office/drawing/2014/main" id="{2EFC7F50-0D97-231D-C5B5-3B0D03CDC260}"/>
              </a:ext>
            </a:extLst>
          </p:cNvPr>
          <p:cNvSpPr>
            <a:spLocks noGrp="1"/>
          </p:cNvSpPr>
          <p:nvPr>
            <p:ph type="body" sz="quarter" idx="17"/>
          </p:nvPr>
        </p:nvSpPr>
        <p:spPr>
          <a:xfrm>
            <a:off x="814468" y="575374"/>
            <a:ext cx="11135794" cy="350857"/>
          </a:xfrm>
        </p:spPr>
        <p:txBody>
          <a:bodyPr/>
          <a:lstStyle/>
          <a:p>
            <a:r>
              <a:rPr lang="fr-FR" sz="1600" dirty="0">
                <a:highlight>
                  <a:srgbClr val="FFFF00"/>
                </a:highlight>
              </a:rPr>
              <a:t>RÉÉVALUATION DE L'ÉCART DE RETOUR À L'EMPLOI À CARACTÉRISTIQUES COMPARABLES : UN ÉCART DE TROIS FOINS MOINDRE QUE CELUI AVANCÉ PAR LA LITTÉRATURE </a:t>
            </a:r>
            <a:endParaRPr lang="fr-FR" sz="1600" spc="-40" dirty="0">
              <a:highlight>
                <a:srgbClr val="FFFF00"/>
              </a:highlight>
            </a:endParaRPr>
          </a:p>
        </p:txBody>
      </p:sp>
      <p:pic>
        <p:nvPicPr>
          <p:cNvPr id="66" name="Graphique 65" descr="Lumières allumées contour">
            <a:extLst>
              <a:ext uri="{FF2B5EF4-FFF2-40B4-BE49-F238E27FC236}">
                <a16:creationId xmlns:a16="http://schemas.microsoft.com/office/drawing/2014/main" id="{660DE8E7-DD29-CB18-0B89-3BF82F46F6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52799299-9FF6-168E-C47F-5765D4D044E5}"/>
              </a:ext>
            </a:extLst>
          </p:cNvPr>
          <p:cNvSpPr>
            <a:spLocks noGrp="1"/>
          </p:cNvSpPr>
          <p:nvPr>
            <p:ph type="body" sz="quarter" idx="18"/>
          </p:nvPr>
        </p:nvSpPr>
        <p:spPr>
          <a:xfrm>
            <a:off x="814468" y="1023046"/>
            <a:ext cx="10753532" cy="432000"/>
          </a:xfrm>
        </p:spPr>
        <p:txBody>
          <a:bodyPr/>
          <a:lstStyle/>
          <a:p>
            <a:r>
              <a:rPr lang="fr-FR" sz="1400" dirty="0">
                <a:solidFill>
                  <a:schemeClr val="accent3"/>
                </a:solidFill>
              </a:rPr>
              <a:t>Méthodologie : apport de l’</a:t>
            </a:r>
            <a:r>
              <a:rPr lang="fr-FR" sz="1400" dirty="0" err="1">
                <a:solidFill>
                  <a:schemeClr val="accent3"/>
                </a:solidFill>
              </a:rPr>
              <a:t>event</a:t>
            </a:r>
            <a:r>
              <a:rPr lang="fr-FR" sz="1400" dirty="0">
                <a:solidFill>
                  <a:schemeClr val="accent3"/>
                </a:solidFill>
              </a:rPr>
              <a:t> </a:t>
            </a:r>
            <a:r>
              <a:rPr lang="fr-FR" sz="1400" dirty="0" err="1">
                <a:solidFill>
                  <a:schemeClr val="accent3"/>
                </a:solidFill>
              </a:rPr>
              <a:t>study</a:t>
            </a:r>
            <a:r>
              <a:rPr lang="fr-FR" sz="1400" dirty="0">
                <a:solidFill>
                  <a:schemeClr val="accent3"/>
                </a:solidFill>
              </a:rPr>
              <a:t> empilé avec appariement sur caractéristiques observables</a:t>
            </a:r>
          </a:p>
        </p:txBody>
      </p:sp>
      <p:pic>
        <p:nvPicPr>
          <p:cNvPr id="10" name="Graphique 9" descr="Badge 1 avec un remplissage uni">
            <a:extLst>
              <a:ext uri="{FF2B5EF4-FFF2-40B4-BE49-F238E27FC236}">
                <a16:creationId xmlns:a16="http://schemas.microsoft.com/office/drawing/2014/main" id="{3E8449F0-62DD-C7AD-DAA8-3650C4BB5E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6036" y="1339845"/>
            <a:ext cx="285166" cy="285166"/>
          </a:xfrm>
          <a:prstGeom prst="rect">
            <a:avLst/>
          </a:prstGeom>
        </p:spPr>
      </p:pic>
      <p:sp>
        <p:nvSpPr>
          <p:cNvPr id="12" name="ZoneTexte 11">
            <a:extLst>
              <a:ext uri="{FF2B5EF4-FFF2-40B4-BE49-F238E27FC236}">
                <a16:creationId xmlns:a16="http://schemas.microsoft.com/office/drawing/2014/main" id="{B771D6A7-5C66-B304-652A-79025B179B0F}"/>
              </a:ext>
            </a:extLst>
          </p:cNvPr>
          <p:cNvSpPr txBox="1"/>
          <p:nvPr/>
        </p:nvSpPr>
        <p:spPr>
          <a:xfrm>
            <a:off x="1380980" y="1482428"/>
            <a:ext cx="2898209" cy="246221"/>
          </a:xfrm>
          <a:prstGeom prst="rect">
            <a:avLst/>
          </a:prstGeom>
          <a:noFill/>
        </p:spPr>
        <p:txBody>
          <a:bodyPr wrap="square" rtlCol="0">
            <a:spAutoFit/>
          </a:bodyPr>
          <a:lstStyle/>
          <a:p>
            <a:pPr algn="ctr"/>
            <a:r>
              <a:rPr lang="fr-FR" sz="1000" b="1" spc="-30" dirty="0">
                <a:solidFill>
                  <a:schemeClr val="accent5"/>
                </a:solidFill>
                <a:latin typeface="Segoe UI" panose="020B0502040204020203" pitchFamily="34" charset="0"/>
                <a:cs typeface="Segoe UI" panose="020B0502040204020203" pitchFamily="34" charset="0"/>
              </a:rPr>
              <a:t>APPARIEMENT SUR SCORE DE PROPENSION</a:t>
            </a:r>
          </a:p>
        </p:txBody>
      </p:sp>
      <p:sp>
        <p:nvSpPr>
          <p:cNvPr id="13" name="Espace réservé du texte 2">
            <a:extLst>
              <a:ext uri="{FF2B5EF4-FFF2-40B4-BE49-F238E27FC236}">
                <a16:creationId xmlns:a16="http://schemas.microsoft.com/office/drawing/2014/main" id="{628AD843-1A83-21A1-DBA2-DE2BBD92243A}"/>
              </a:ext>
            </a:extLst>
          </p:cNvPr>
          <p:cNvSpPr txBox="1">
            <a:spLocks/>
          </p:cNvSpPr>
          <p:nvPr/>
        </p:nvSpPr>
        <p:spPr>
          <a:xfrm>
            <a:off x="4931294" y="1482429"/>
            <a:ext cx="3382929" cy="2566156"/>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dirty="0">
                <a:highlight>
                  <a:srgbClr val="FFFF00"/>
                </a:highlight>
              </a:rPr>
              <a:t>​</a:t>
            </a: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p:txBody>
      </p:sp>
      <p:sp>
        <p:nvSpPr>
          <p:cNvPr id="14" name="Espace réservé du texte 2">
            <a:extLst>
              <a:ext uri="{FF2B5EF4-FFF2-40B4-BE49-F238E27FC236}">
                <a16:creationId xmlns:a16="http://schemas.microsoft.com/office/drawing/2014/main" id="{10DC780E-C02D-791A-71A1-07A449C8B02D}"/>
              </a:ext>
            </a:extLst>
          </p:cNvPr>
          <p:cNvSpPr txBox="1">
            <a:spLocks/>
          </p:cNvSpPr>
          <p:nvPr/>
        </p:nvSpPr>
        <p:spPr>
          <a:xfrm>
            <a:off x="8567334" y="1482428"/>
            <a:ext cx="3231580" cy="2566157"/>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highlight>
                  <a:srgbClr val="FFFF00"/>
                </a:highlight>
              </a:rPr>
              <a:t>​</a:t>
            </a: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p:txBody>
      </p:sp>
      <p:sp>
        <p:nvSpPr>
          <p:cNvPr id="16" name="Espace réservé du texte 2">
            <a:extLst>
              <a:ext uri="{FF2B5EF4-FFF2-40B4-BE49-F238E27FC236}">
                <a16:creationId xmlns:a16="http://schemas.microsoft.com/office/drawing/2014/main" id="{E92FC1B3-6928-26FC-E0F2-7D4D74B68E27}"/>
              </a:ext>
            </a:extLst>
          </p:cNvPr>
          <p:cNvSpPr txBox="1">
            <a:spLocks/>
          </p:cNvSpPr>
          <p:nvPr/>
        </p:nvSpPr>
        <p:spPr>
          <a:xfrm>
            <a:off x="4931294" y="4132184"/>
            <a:ext cx="6867620" cy="2276776"/>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highlight>
                  <a:srgbClr val="FFFF00"/>
                </a:highlight>
              </a:rPr>
              <a:t>​</a:t>
            </a: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p:txBody>
      </p:sp>
      <p:grpSp>
        <p:nvGrpSpPr>
          <p:cNvPr id="59" name="Groupe 58">
            <a:extLst>
              <a:ext uri="{FF2B5EF4-FFF2-40B4-BE49-F238E27FC236}">
                <a16:creationId xmlns:a16="http://schemas.microsoft.com/office/drawing/2014/main" id="{97C95338-E02F-2D0A-2F30-B47D2385231F}"/>
              </a:ext>
            </a:extLst>
          </p:cNvPr>
          <p:cNvGrpSpPr/>
          <p:nvPr/>
        </p:nvGrpSpPr>
        <p:grpSpPr>
          <a:xfrm>
            <a:off x="1271653" y="1943389"/>
            <a:ext cx="3126838" cy="350053"/>
            <a:chOff x="1281202" y="2002623"/>
            <a:chExt cx="3126838" cy="350053"/>
          </a:xfrm>
        </p:grpSpPr>
        <p:sp>
          <p:nvSpPr>
            <p:cNvPr id="18" name="Rectangle : coins arrondis 17">
              <a:extLst>
                <a:ext uri="{FF2B5EF4-FFF2-40B4-BE49-F238E27FC236}">
                  <a16:creationId xmlns:a16="http://schemas.microsoft.com/office/drawing/2014/main" id="{C14FD793-553D-3D42-3C32-92468C60744F}"/>
                </a:ext>
              </a:extLst>
            </p:cNvPr>
            <p:cNvSpPr/>
            <p:nvPr/>
          </p:nvSpPr>
          <p:spPr>
            <a:xfrm>
              <a:off x="1281202" y="2002623"/>
              <a:ext cx="3126838" cy="337826"/>
            </a:xfrm>
            <a:prstGeom prst="roundRect">
              <a:avLst/>
            </a:prstGeom>
            <a:solidFill>
              <a:schemeClr val="bg1"/>
            </a:solid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grpSp>
          <p:nvGrpSpPr>
            <p:cNvPr id="23" name="Groupe 22">
              <a:extLst>
                <a:ext uri="{FF2B5EF4-FFF2-40B4-BE49-F238E27FC236}">
                  <a16:creationId xmlns:a16="http://schemas.microsoft.com/office/drawing/2014/main" id="{B854F3C7-D571-B7B3-B6B5-19BE6B15CCFF}"/>
                </a:ext>
              </a:extLst>
            </p:cNvPr>
            <p:cNvGrpSpPr/>
            <p:nvPr/>
          </p:nvGrpSpPr>
          <p:grpSpPr>
            <a:xfrm>
              <a:off x="1380980" y="2049243"/>
              <a:ext cx="251206" cy="244585"/>
              <a:chOff x="2327336" y="-533713"/>
              <a:chExt cx="370487" cy="360722"/>
            </a:xfrm>
          </p:grpSpPr>
          <p:sp>
            <p:nvSpPr>
              <p:cNvPr id="24" name="Ellipse 23">
                <a:extLst>
                  <a:ext uri="{FF2B5EF4-FFF2-40B4-BE49-F238E27FC236}">
                    <a16:creationId xmlns:a16="http://schemas.microsoft.com/office/drawing/2014/main" id="{DBED752C-5470-45DC-B12F-5FFD337C5F5C}"/>
                  </a:ext>
                </a:extLst>
              </p:cNvPr>
              <p:cNvSpPr/>
              <p:nvPr/>
            </p:nvSpPr>
            <p:spPr>
              <a:xfrm>
                <a:off x="2327336" y="-533713"/>
                <a:ext cx="370487" cy="36072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5" name="Graphique 24" descr="Porte-documents avec un remplissage uni">
                <a:extLst>
                  <a:ext uri="{FF2B5EF4-FFF2-40B4-BE49-F238E27FC236}">
                    <a16:creationId xmlns:a16="http://schemas.microsoft.com/office/drawing/2014/main" id="{85C8E1A3-33DC-585A-0944-6CA3CD79988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391568" y="-454627"/>
                <a:ext cx="242022" cy="242022"/>
              </a:xfrm>
              <a:prstGeom prst="rect">
                <a:avLst/>
              </a:prstGeom>
            </p:spPr>
          </p:pic>
        </p:grpSp>
        <p:sp>
          <p:nvSpPr>
            <p:cNvPr id="33" name="ZoneTexte 32">
              <a:extLst>
                <a:ext uri="{FF2B5EF4-FFF2-40B4-BE49-F238E27FC236}">
                  <a16:creationId xmlns:a16="http://schemas.microsoft.com/office/drawing/2014/main" id="{D8DA0877-8FD5-41D2-2F01-27580ED516BD}"/>
                </a:ext>
              </a:extLst>
            </p:cNvPr>
            <p:cNvSpPr txBox="1"/>
            <p:nvPr/>
          </p:nvSpPr>
          <p:spPr>
            <a:xfrm>
              <a:off x="1623794" y="2044899"/>
              <a:ext cx="2769709" cy="307777"/>
            </a:xfrm>
            <a:prstGeom prst="rect">
              <a:avLst/>
            </a:prstGeom>
            <a:noFill/>
          </p:spPr>
          <p:txBody>
            <a:bodyPr wrap="square">
              <a:spAutoFit/>
            </a:bodyPr>
            <a:lstStyle/>
            <a:p>
              <a:r>
                <a:rPr lang="fr-FR" sz="800" b="1" spc="-30">
                  <a:latin typeface="Segoe UI" panose="020B0502040204020203" pitchFamily="34" charset="0"/>
                  <a:cs typeface="Segoe UI" panose="020B0502040204020203" pitchFamily="34" charset="0"/>
                </a:rPr>
                <a:t>CARACTÉRISTIQUES SUR LE MARCHÉ DU TRAVAIL </a:t>
              </a:r>
              <a:r>
                <a:rPr lang="fr-FR" sz="600" i="1" spc="-30">
                  <a:latin typeface="Segoe UI" panose="020B0502040204020203" pitchFamily="34" charset="0"/>
                  <a:cs typeface="Segoe UI" panose="020B0502040204020203" pitchFamily="34" charset="0"/>
                </a:rPr>
                <a:t>(nombre de jours travaillés par mois en CDI, CDD, etc.)</a:t>
              </a:r>
            </a:p>
          </p:txBody>
        </p:sp>
      </p:grpSp>
      <p:grpSp>
        <p:nvGrpSpPr>
          <p:cNvPr id="120" name="Groupe 119">
            <a:extLst>
              <a:ext uri="{FF2B5EF4-FFF2-40B4-BE49-F238E27FC236}">
                <a16:creationId xmlns:a16="http://schemas.microsoft.com/office/drawing/2014/main" id="{7B960E33-F326-A1CF-6919-1214A704261B}"/>
              </a:ext>
            </a:extLst>
          </p:cNvPr>
          <p:cNvGrpSpPr/>
          <p:nvPr/>
        </p:nvGrpSpPr>
        <p:grpSpPr>
          <a:xfrm>
            <a:off x="1269248" y="2408655"/>
            <a:ext cx="3170390" cy="337826"/>
            <a:chOff x="1266665" y="2522817"/>
            <a:chExt cx="3170390" cy="337826"/>
          </a:xfrm>
        </p:grpSpPr>
        <p:sp>
          <p:nvSpPr>
            <p:cNvPr id="20" name="Rectangle : coins arrondis 19">
              <a:extLst>
                <a:ext uri="{FF2B5EF4-FFF2-40B4-BE49-F238E27FC236}">
                  <a16:creationId xmlns:a16="http://schemas.microsoft.com/office/drawing/2014/main" id="{808B65A6-DF62-989C-132C-CA9991561F1C}"/>
                </a:ext>
              </a:extLst>
            </p:cNvPr>
            <p:cNvSpPr/>
            <p:nvPr/>
          </p:nvSpPr>
          <p:spPr>
            <a:xfrm>
              <a:off x="1266665" y="2522817"/>
              <a:ext cx="3126838" cy="337826"/>
            </a:xfrm>
            <a:prstGeom prst="roundRect">
              <a:avLst/>
            </a:prstGeom>
            <a:solidFill>
              <a:schemeClr val="bg1"/>
            </a:solid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oupe 25">
              <a:extLst>
                <a:ext uri="{FF2B5EF4-FFF2-40B4-BE49-F238E27FC236}">
                  <a16:creationId xmlns:a16="http://schemas.microsoft.com/office/drawing/2014/main" id="{0E7433E5-58C6-C4FE-31B2-AA166F382EB4}"/>
                </a:ext>
              </a:extLst>
            </p:cNvPr>
            <p:cNvGrpSpPr/>
            <p:nvPr/>
          </p:nvGrpSpPr>
          <p:grpSpPr>
            <a:xfrm>
              <a:off x="1380980" y="2569437"/>
              <a:ext cx="251206" cy="244585"/>
              <a:chOff x="2327336" y="-533713"/>
              <a:chExt cx="370487" cy="360722"/>
            </a:xfrm>
          </p:grpSpPr>
          <p:sp>
            <p:nvSpPr>
              <p:cNvPr id="27" name="Ellipse 26">
                <a:extLst>
                  <a:ext uri="{FF2B5EF4-FFF2-40B4-BE49-F238E27FC236}">
                    <a16:creationId xmlns:a16="http://schemas.microsoft.com/office/drawing/2014/main" id="{7CC14E4F-DA2E-BF03-E296-BD865FC2B084}"/>
                  </a:ext>
                </a:extLst>
              </p:cNvPr>
              <p:cNvSpPr/>
              <p:nvPr/>
            </p:nvSpPr>
            <p:spPr>
              <a:xfrm>
                <a:off x="2327336" y="-533713"/>
                <a:ext cx="370487" cy="36072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8" name="Graphique 27" descr="Euro avec un remplissage uni">
                <a:extLst>
                  <a:ext uri="{FF2B5EF4-FFF2-40B4-BE49-F238E27FC236}">
                    <a16:creationId xmlns:a16="http://schemas.microsoft.com/office/drawing/2014/main" id="{2FE0B8D4-A40C-215D-B2B8-AC306054B82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391568" y="-454627"/>
                <a:ext cx="242022" cy="242022"/>
              </a:xfrm>
              <a:prstGeom prst="rect">
                <a:avLst/>
              </a:prstGeom>
            </p:spPr>
          </p:pic>
        </p:grpSp>
        <p:sp>
          <p:nvSpPr>
            <p:cNvPr id="35" name="ZoneTexte 34">
              <a:extLst>
                <a:ext uri="{FF2B5EF4-FFF2-40B4-BE49-F238E27FC236}">
                  <a16:creationId xmlns:a16="http://schemas.microsoft.com/office/drawing/2014/main" id="{784ED6B0-19A5-965D-B6F8-FEFB3F9CDA76}"/>
                </a:ext>
              </a:extLst>
            </p:cNvPr>
            <p:cNvSpPr txBox="1"/>
            <p:nvPr/>
          </p:nvSpPr>
          <p:spPr>
            <a:xfrm>
              <a:off x="1667346" y="2535834"/>
              <a:ext cx="2769709" cy="215444"/>
            </a:xfrm>
            <a:prstGeom prst="rect">
              <a:avLst/>
            </a:prstGeom>
            <a:noFill/>
          </p:spPr>
          <p:txBody>
            <a:bodyPr wrap="square">
              <a:spAutoFit/>
            </a:bodyPr>
            <a:lstStyle/>
            <a:p>
              <a:r>
                <a:rPr lang="fr-FR" sz="800" b="1" spc="-30" dirty="0">
                  <a:latin typeface="Segoe UI" panose="020B0502040204020203" pitchFamily="34" charset="0"/>
                  <a:cs typeface="Segoe UI" panose="020B0502040204020203" pitchFamily="34" charset="0"/>
                </a:rPr>
                <a:t>CARACTÉRISTIQUES DE L’INDEMNISATION PASSÉE (</a:t>
              </a:r>
              <a:r>
                <a:rPr lang="fr-FR" sz="600" i="1" spc="-30" dirty="0">
                  <a:latin typeface="Segoe UI" panose="020B0502040204020203" pitchFamily="34" charset="0"/>
                  <a:cs typeface="Segoe UI" panose="020B0502040204020203" pitchFamily="34" charset="0"/>
                </a:rPr>
                <a:t>xxx, etc.)</a:t>
              </a:r>
            </a:p>
          </p:txBody>
        </p:sp>
      </p:grpSp>
      <p:grpSp>
        <p:nvGrpSpPr>
          <p:cNvPr id="121" name="Groupe 120">
            <a:extLst>
              <a:ext uri="{FF2B5EF4-FFF2-40B4-BE49-F238E27FC236}">
                <a16:creationId xmlns:a16="http://schemas.microsoft.com/office/drawing/2014/main" id="{C74234D6-1B0D-37BA-259E-05F5A76EFF35}"/>
              </a:ext>
            </a:extLst>
          </p:cNvPr>
          <p:cNvGrpSpPr/>
          <p:nvPr/>
        </p:nvGrpSpPr>
        <p:grpSpPr>
          <a:xfrm>
            <a:off x="1269248" y="2896296"/>
            <a:ext cx="3170390" cy="337826"/>
            <a:chOff x="1281202" y="3040446"/>
            <a:chExt cx="3170390" cy="337826"/>
          </a:xfrm>
        </p:grpSpPr>
        <p:sp>
          <p:nvSpPr>
            <p:cNvPr id="22" name="Rectangle : coins arrondis 21">
              <a:extLst>
                <a:ext uri="{FF2B5EF4-FFF2-40B4-BE49-F238E27FC236}">
                  <a16:creationId xmlns:a16="http://schemas.microsoft.com/office/drawing/2014/main" id="{64B688A8-E50E-5FE4-B6AB-8C427166E641}"/>
                </a:ext>
              </a:extLst>
            </p:cNvPr>
            <p:cNvSpPr/>
            <p:nvPr/>
          </p:nvSpPr>
          <p:spPr>
            <a:xfrm>
              <a:off x="1281202" y="3040446"/>
              <a:ext cx="3126838" cy="337826"/>
            </a:xfrm>
            <a:prstGeom prst="roundRect">
              <a:avLst/>
            </a:prstGeom>
            <a:solidFill>
              <a:schemeClr val="bg1"/>
            </a:solid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9" name="Groupe 28">
              <a:extLst>
                <a:ext uri="{FF2B5EF4-FFF2-40B4-BE49-F238E27FC236}">
                  <a16:creationId xmlns:a16="http://schemas.microsoft.com/office/drawing/2014/main" id="{BB67D0C9-F1AF-94F0-228D-84373A14E993}"/>
                </a:ext>
              </a:extLst>
            </p:cNvPr>
            <p:cNvGrpSpPr/>
            <p:nvPr/>
          </p:nvGrpSpPr>
          <p:grpSpPr>
            <a:xfrm>
              <a:off x="1380980" y="3084691"/>
              <a:ext cx="251206" cy="244585"/>
              <a:chOff x="2327336" y="-533713"/>
              <a:chExt cx="370487" cy="360722"/>
            </a:xfrm>
          </p:grpSpPr>
          <p:sp>
            <p:nvSpPr>
              <p:cNvPr id="30" name="Ellipse 29">
                <a:extLst>
                  <a:ext uri="{FF2B5EF4-FFF2-40B4-BE49-F238E27FC236}">
                    <a16:creationId xmlns:a16="http://schemas.microsoft.com/office/drawing/2014/main" id="{D3D4BA26-EE16-D1E3-406F-42764EC882D1}"/>
                  </a:ext>
                </a:extLst>
              </p:cNvPr>
              <p:cNvSpPr/>
              <p:nvPr/>
            </p:nvSpPr>
            <p:spPr>
              <a:xfrm>
                <a:off x="2327336" y="-533713"/>
                <a:ext cx="370487" cy="36072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1" name="Graphique 30" descr="Distance sociale avec un remplissage uni">
                <a:extLst>
                  <a:ext uri="{FF2B5EF4-FFF2-40B4-BE49-F238E27FC236}">
                    <a16:creationId xmlns:a16="http://schemas.microsoft.com/office/drawing/2014/main" id="{F00EF1C6-7696-57FD-2D99-7AA279439B4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391568" y="-454627"/>
                <a:ext cx="242022" cy="242022"/>
              </a:xfrm>
              <a:prstGeom prst="rect">
                <a:avLst/>
              </a:prstGeom>
            </p:spPr>
          </p:pic>
        </p:grpSp>
        <p:sp>
          <p:nvSpPr>
            <p:cNvPr id="37" name="ZoneTexte 36">
              <a:extLst>
                <a:ext uri="{FF2B5EF4-FFF2-40B4-BE49-F238E27FC236}">
                  <a16:creationId xmlns:a16="http://schemas.microsoft.com/office/drawing/2014/main" id="{D942AD0E-714B-C0BC-E3BF-D380709651E3}"/>
                </a:ext>
              </a:extLst>
            </p:cNvPr>
            <p:cNvSpPr txBox="1"/>
            <p:nvPr/>
          </p:nvSpPr>
          <p:spPr>
            <a:xfrm>
              <a:off x="1681883" y="3086972"/>
              <a:ext cx="2769709" cy="215444"/>
            </a:xfrm>
            <a:prstGeom prst="rect">
              <a:avLst/>
            </a:prstGeom>
            <a:noFill/>
          </p:spPr>
          <p:txBody>
            <a:bodyPr wrap="square">
              <a:spAutoFit/>
            </a:bodyPr>
            <a:lstStyle/>
            <a:p>
              <a:r>
                <a:rPr lang="fr-FR" sz="800" b="1" spc="-30" dirty="0">
                  <a:latin typeface="Segoe UI" panose="020B0502040204020203" pitchFamily="34" charset="0"/>
                  <a:cs typeface="Segoe UI" panose="020B0502040204020203" pitchFamily="34" charset="0"/>
                </a:rPr>
                <a:t>CARACTÉRISTIQUES SOCIO-DÉMOGRAPHIQUE </a:t>
              </a:r>
              <a:r>
                <a:rPr lang="fr-FR" sz="800" i="1" spc="-30" dirty="0">
                  <a:latin typeface="Segoe UI" panose="020B0502040204020203" pitchFamily="34" charset="0"/>
                  <a:cs typeface="Segoe UI" panose="020B0502040204020203" pitchFamily="34" charset="0"/>
                </a:rPr>
                <a:t>(xxxx.)</a:t>
              </a:r>
            </a:p>
          </p:txBody>
        </p:sp>
      </p:grpSp>
      <p:sp>
        <p:nvSpPr>
          <p:cNvPr id="40" name="ZoneTexte 39">
            <a:extLst>
              <a:ext uri="{FF2B5EF4-FFF2-40B4-BE49-F238E27FC236}">
                <a16:creationId xmlns:a16="http://schemas.microsoft.com/office/drawing/2014/main" id="{436F0450-D4E4-470D-C7ED-14FB9E0A6145}"/>
              </a:ext>
            </a:extLst>
          </p:cNvPr>
          <p:cNvSpPr txBox="1"/>
          <p:nvPr/>
        </p:nvSpPr>
        <p:spPr>
          <a:xfrm rot="10800000" flipV="1">
            <a:off x="1127868" y="1682216"/>
            <a:ext cx="3265633" cy="230832"/>
          </a:xfrm>
          <a:prstGeom prst="rect">
            <a:avLst/>
          </a:prstGeom>
          <a:noFill/>
        </p:spPr>
        <p:txBody>
          <a:bodyPr wrap="square" rtlCol="0">
            <a:spAutoFit/>
          </a:bodyPr>
          <a:lstStyle/>
          <a:p>
            <a:pPr algn="just"/>
            <a:r>
              <a:rPr lang="fr-FR" sz="900" i="1" dirty="0">
                <a:latin typeface="Segoe UI" panose="020B0502040204020203" pitchFamily="34" charset="0"/>
                <a:cs typeface="Segoe UI" panose="020B0502040204020203" pitchFamily="34" charset="0"/>
              </a:rPr>
              <a:t>Variables d’appariement sur trois années</a:t>
            </a:r>
          </a:p>
        </p:txBody>
      </p:sp>
      <p:sp>
        <p:nvSpPr>
          <p:cNvPr id="43" name="ZoneTexte 42">
            <a:extLst>
              <a:ext uri="{FF2B5EF4-FFF2-40B4-BE49-F238E27FC236}">
                <a16:creationId xmlns:a16="http://schemas.microsoft.com/office/drawing/2014/main" id="{0A8959AF-944C-2BF0-A092-AD04CB6E2ECD}"/>
              </a:ext>
            </a:extLst>
          </p:cNvPr>
          <p:cNvSpPr txBox="1"/>
          <p:nvPr/>
        </p:nvSpPr>
        <p:spPr>
          <a:xfrm>
            <a:off x="3841126" y="4254500"/>
            <a:ext cx="184731" cy="369332"/>
          </a:xfrm>
          <a:prstGeom prst="rect">
            <a:avLst/>
          </a:prstGeom>
          <a:noFill/>
        </p:spPr>
        <p:txBody>
          <a:bodyPr wrap="none" rtlCol="0">
            <a:spAutoFit/>
          </a:bodyPr>
          <a:lstStyle/>
          <a:p>
            <a:endParaRPr lang="fr-FR"/>
          </a:p>
        </p:txBody>
      </p:sp>
      <p:sp>
        <p:nvSpPr>
          <p:cNvPr id="44" name="ZoneTexte 43">
            <a:extLst>
              <a:ext uri="{FF2B5EF4-FFF2-40B4-BE49-F238E27FC236}">
                <a16:creationId xmlns:a16="http://schemas.microsoft.com/office/drawing/2014/main" id="{442EACE7-CC71-A06E-FE2B-682A1C4AC76F}"/>
              </a:ext>
            </a:extLst>
          </p:cNvPr>
          <p:cNvSpPr txBox="1"/>
          <p:nvPr/>
        </p:nvSpPr>
        <p:spPr>
          <a:xfrm>
            <a:off x="5006698" y="5046215"/>
            <a:ext cx="1184536" cy="369332"/>
          </a:xfrm>
          <a:prstGeom prst="rect">
            <a:avLst/>
          </a:prstGeom>
          <a:noFill/>
        </p:spPr>
        <p:txBody>
          <a:bodyPr wrap="square" rtlCol="0">
            <a:spAutoFit/>
          </a:bodyPr>
          <a:lstStyle/>
          <a:p>
            <a:endParaRPr lang="fr-FR"/>
          </a:p>
        </p:txBody>
      </p:sp>
      <p:grpSp>
        <p:nvGrpSpPr>
          <p:cNvPr id="122" name="Groupe 121">
            <a:extLst>
              <a:ext uri="{FF2B5EF4-FFF2-40B4-BE49-F238E27FC236}">
                <a16:creationId xmlns:a16="http://schemas.microsoft.com/office/drawing/2014/main" id="{B6EED56F-8C06-A3D4-096E-40EC77529F9C}"/>
              </a:ext>
            </a:extLst>
          </p:cNvPr>
          <p:cNvGrpSpPr/>
          <p:nvPr/>
        </p:nvGrpSpPr>
        <p:grpSpPr>
          <a:xfrm>
            <a:off x="1271653" y="3409892"/>
            <a:ext cx="3126837" cy="588700"/>
            <a:chOff x="1296681" y="3641011"/>
            <a:chExt cx="3126837" cy="588700"/>
          </a:xfrm>
        </p:grpSpPr>
        <p:sp>
          <p:nvSpPr>
            <p:cNvPr id="39" name="Rectangle : coins arrondis 38">
              <a:extLst>
                <a:ext uri="{FF2B5EF4-FFF2-40B4-BE49-F238E27FC236}">
                  <a16:creationId xmlns:a16="http://schemas.microsoft.com/office/drawing/2014/main" id="{7B2A0632-567D-F498-751B-5FB9D632E535}"/>
                </a:ext>
              </a:extLst>
            </p:cNvPr>
            <p:cNvSpPr/>
            <p:nvPr/>
          </p:nvSpPr>
          <p:spPr>
            <a:xfrm>
              <a:off x="1296681" y="3641011"/>
              <a:ext cx="3126837" cy="588700"/>
            </a:xfrm>
            <a:prstGeom prst="roundRect">
              <a:avLst/>
            </a:prstGeom>
            <a:solidFill>
              <a:schemeClr val="bg1"/>
            </a:solid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000">
                <a:solidFill>
                  <a:schemeClr val="tx1"/>
                </a:solidFill>
                <a:latin typeface="Segoe UI" panose="020B0502040204020203" pitchFamily="34" charset="0"/>
                <a:cs typeface="Segoe UI" panose="020B0502040204020203" pitchFamily="34" charset="0"/>
              </a:endParaRPr>
            </a:p>
          </p:txBody>
        </p:sp>
        <p:sp>
          <p:nvSpPr>
            <p:cNvPr id="45" name="ZoneTexte 44">
              <a:extLst>
                <a:ext uri="{FF2B5EF4-FFF2-40B4-BE49-F238E27FC236}">
                  <a16:creationId xmlns:a16="http://schemas.microsoft.com/office/drawing/2014/main" id="{FAF7AD9B-30BD-ED73-B968-13D4E723A08C}"/>
                </a:ext>
              </a:extLst>
            </p:cNvPr>
            <p:cNvSpPr txBox="1"/>
            <p:nvPr/>
          </p:nvSpPr>
          <p:spPr>
            <a:xfrm>
              <a:off x="2069793" y="3688634"/>
              <a:ext cx="1662292" cy="215444"/>
            </a:xfrm>
            <a:prstGeom prst="rect">
              <a:avLst/>
            </a:prstGeom>
            <a:noFill/>
          </p:spPr>
          <p:txBody>
            <a:bodyPr wrap="square" rtlCol="0">
              <a:spAutoFit/>
            </a:bodyPr>
            <a:lstStyle/>
            <a:p>
              <a:pPr algn="ctr"/>
              <a:r>
                <a:rPr lang="fr-FR" sz="800" b="1" dirty="0">
                  <a:solidFill>
                    <a:schemeClr val="accent5"/>
                  </a:solidFill>
                  <a:latin typeface="Segoe UI" panose="020B0502040204020203" pitchFamily="34" charset="0"/>
                  <a:cs typeface="Segoe UI" panose="020B0502040204020203" pitchFamily="34" charset="0"/>
                </a:rPr>
                <a:t>RÉGRESSION LOGISTIQUE</a:t>
              </a:r>
            </a:p>
          </p:txBody>
        </p:sp>
        <p:sp>
          <p:nvSpPr>
            <p:cNvPr id="47" name="ZoneTexte 46">
              <a:extLst>
                <a:ext uri="{FF2B5EF4-FFF2-40B4-BE49-F238E27FC236}">
                  <a16:creationId xmlns:a16="http://schemas.microsoft.com/office/drawing/2014/main" id="{61A4CFAF-4C7B-F285-6BBB-CA51B97158CF}"/>
                </a:ext>
              </a:extLst>
            </p:cNvPr>
            <p:cNvSpPr txBox="1"/>
            <p:nvPr/>
          </p:nvSpPr>
          <p:spPr>
            <a:xfrm>
              <a:off x="1465285" y="3857782"/>
              <a:ext cx="2958233" cy="215444"/>
            </a:xfrm>
            <a:prstGeom prst="rect">
              <a:avLst/>
            </a:prstGeom>
            <a:noFill/>
          </p:spPr>
          <p:txBody>
            <a:bodyPr wrap="square" rtlCol="0">
              <a:spAutoFit/>
            </a:bodyPr>
            <a:lstStyle/>
            <a:p>
              <a:r>
                <a:rPr lang="fr-FR" sz="800" dirty="0">
                  <a:latin typeface="Segoe UI" panose="020B0502040204020203" pitchFamily="34" charset="0"/>
                  <a:cs typeface="Segoe UI" panose="020B0502040204020203" pitchFamily="34" charset="0"/>
                </a:rPr>
                <a:t>Pr(Traité = 1| X)                               score de propension z</a:t>
              </a:r>
            </a:p>
          </p:txBody>
        </p:sp>
        <p:cxnSp>
          <p:nvCxnSpPr>
            <p:cNvPr id="49" name="Connecteur droit avec flèche 48">
              <a:extLst>
                <a:ext uri="{FF2B5EF4-FFF2-40B4-BE49-F238E27FC236}">
                  <a16:creationId xmlns:a16="http://schemas.microsoft.com/office/drawing/2014/main" id="{5FEEE3F9-DA09-3A19-F5AD-86861E58CBC9}"/>
                </a:ext>
              </a:extLst>
            </p:cNvPr>
            <p:cNvCxnSpPr>
              <a:cxnSpLocks/>
            </p:cNvCxnSpPr>
            <p:nvPr/>
          </p:nvCxnSpPr>
          <p:spPr>
            <a:xfrm>
              <a:off x="2617964" y="3965504"/>
              <a:ext cx="311150"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3" name="Groupe 122">
            <a:extLst>
              <a:ext uri="{FF2B5EF4-FFF2-40B4-BE49-F238E27FC236}">
                <a16:creationId xmlns:a16="http://schemas.microsoft.com/office/drawing/2014/main" id="{117A3F5A-984E-6850-2CA3-0DAA6AAE7CF5}"/>
              </a:ext>
            </a:extLst>
          </p:cNvPr>
          <p:cNvGrpSpPr/>
          <p:nvPr/>
        </p:nvGrpSpPr>
        <p:grpSpPr>
          <a:xfrm>
            <a:off x="1120743" y="4159113"/>
            <a:ext cx="3868079" cy="1345784"/>
            <a:chOff x="1138619" y="4054271"/>
            <a:chExt cx="3868079" cy="1345784"/>
          </a:xfrm>
        </p:grpSpPr>
        <p:sp>
          <p:nvSpPr>
            <p:cNvPr id="53" name="ZoneTexte 52">
              <a:extLst>
                <a:ext uri="{FF2B5EF4-FFF2-40B4-BE49-F238E27FC236}">
                  <a16:creationId xmlns:a16="http://schemas.microsoft.com/office/drawing/2014/main" id="{6A5A4408-0DA7-826F-91F4-40AA71FF1110}"/>
                </a:ext>
              </a:extLst>
            </p:cNvPr>
            <p:cNvSpPr txBox="1"/>
            <p:nvPr/>
          </p:nvSpPr>
          <p:spPr>
            <a:xfrm rot="10800000" flipV="1">
              <a:off x="1138619" y="4060018"/>
              <a:ext cx="1591276" cy="215444"/>
            </a:xfrm>
            <a:prstGeom prst="rect">
              <a:avLst/>
            </a:prstGeom>
            <a:noFill/>
          </p:spPr>
          <p:txBody>
            <a:bodyPr wrap="square" rtlCol="0">
              <a:spAutoFit/>
            </a:bodyPr>
            <a:lstStyle/>
            <a:p>
              <a:r>
                <a:rPr lang="fr-FR" sz="800" b="1" dirty="0">
                  <a:solidFill>
                    <a:schemeClr val="accent3"/>
                  </a:solidFill>
                  <a:latin typeface="Segoe UI" panose="020B0502040204020203" pitchFamily="34" charset="0"/>
                  <a:cs typeface="Segoe UI" panose="020B0502040204020203" pitchFamily="34" charset="0"/>
                </a:rPr>
                <a:t>PLUS PROCHE VOISIN SUR Z</a:t>
              </a:r>
            </a:p>
          </p:txBody>
        </p:sp>
        <p:sp>
          <p:nvSpPr>
            <p:cNvPr id="55" name="ZoneTexte 54">
              <a:extLst>
                <a:ext uri="{FF2B5EF4-FFF2-40B4-BE49-F238E27FC236}">
                  <a16:creationId xmlns:a16="http://schemas.microsoft.com/office/drawing/2014/main" id="{4122F405-FAD8-9150-968A-2616875376F7}"/>
                </a:ext>
              </a:extLst>
            </p:cNvPr>
            <p:cNvSpPr txBox="1"/>
            <p:nvPr/>
          </p:nvSpPr>
          <p:spPr>
            <a:xfrm rot="10800000" flipV="1">
              <a:off x="3159456" y="4054271"/>
              <a:ext cx="1847242" cy="215444"/>
            </a:xfrm>
            <a:prstGeom prst="rect">
              <a:avLst/>
            </a:prstGeom>
            <a:noFill/>
          </p:spPr>
          <p:txBody>
            <a:bodyPr wrap="square" rtlCol="0">
              <a:spAutoFit/>
            </a:bodyPr>
            <a:lstStyle/>
            <a:p>
              <a:r>
                <a:rPr lang="fr-FR" sz="800" b="1" dirty="0">
                  <a:solidFill>
                    <a:schemeClr val="accent5"/>
                  </a:solidFill>
                  <a:latin typeface="Segoe UI" panose="020B0502040204020203" pitchFamily="34" charset="0"/>
                  <a:cs typeface="Segoe UI" panose="020B0502040204020203" pitchFamily="34" charset="0"/>
                </a:rPr>
                <a:t>MATCH EXACT SUR LE SEXE</a:t>
              </a:r>
            </a:p>
          </p:txBody>
        </p:sp>
        <p:grpSp>
          <p:nvGrpSpPr>
            <p:cNvPr id="101" name="Groupe 100">
              <a:extLst>
                <a:ext uri="{FF2B5EF4-FFF2-40B4-BE49-F238E27FC236}">
                  <a16:creationId xmlns:a16="http://schemas.microsoft.com/office/drawing/2014/main" id="{A9D846C6-748D-FB13-4EA1-7ADB5662A6FB}"/>
                </a:ext>
              </a:extLst>
            </p:cNvPr>
            <p:cNvGrpSpPr/>
            <p:nvPr/>
          </p:nvGrpSpPr>
          <p:grpSpPr>
            <a:xfrm>
              <a:off x="1323003" y="4301830"/>
              <a:ext cx="3143831" cy="511463"/>
              <a:chOff x="1063734" y="5015248"/>
              <a:chExt cx="3143831" cy="511463"/>
            </a:xfrm>
          </p:grpSpPr>
          <p:cxnSp>
            <p:nvCxnSpPr>
              <p:cNvPr id="57" name="Connecteur droit 56">
                <a:extLst>
                  <a:ext uri="{FF2B5EF4-FFF2-40B4-BE49-F238E27FC236}">
                    <a16:creationId xmlns:a16="http://schemas.microsoft.com/office/drawing/2014/main" id="{A31EE287-AD2C-EE2A-B53D-DF0701F7DDDA}"/>
                  </a:ext>
                </a:extLst>
              </p:cNvPr>
              <p:cNvCxnSpPr>
                <a:cxnSpLocks/>
              </p:cNvCxnSpPr>
              <p:nvPr/>
            </p:nvCxnSpPr>
            <p:spPr>
              <a:xfrm>
                <a:off x="1749287" y="5294437"/>
                <a:ext cx="2458278" cy="7196"/>
              </a:xfrm>
              <a:prstGeom prst="line">
                <a:avLst/>
              </a:prstGeom>
            </p:spPr>
            <p:style>
              <a:lnRef idx="1">
                <a:schemeClr val="accent5"/>
              </a:lnRef>
              <a:fillRef idx="0">
                <a:schemeClr val="accent5"/>
              </a:fillRef>
              <a:effectRef idx="0">
                <a:schemeClr val="accent5"/>
              </a:effectRef>
              <a:fontRef idx="minor">
                <a:schemeClr val="tx1"/>
              </a:fontRef>
            </p:style>
          </p:cxnSp>
          <p:pic>
            <p:nvPicPr>
              <p:cNvPr id="9" name="Graphique 8" descr="Utilisateur avec un remplissage uni">
                <a:extLst>
                  <a:ext uri="{FF2B5EF4-FFF2-40B4-BE49-F238E27FC236}">
                    <a16:creationId xmlns:a16="http://schemas.microsoft.com/office/drawing/2014/main" id="{38024905-8F30-535D-D50D-EDE2293ADC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75930" y="5021749"/>
                <a:ext cx="232274" cy="232274"/>
              </a:xfrm>
              <a:prstGeom prst="rect">
                <a:avLst/>
              </a:prstGeom>
            </p:spPr>
          </p:pic>
          <p:pic>
            <p:nvPicPr>
              <p:cNvPr id="38" name="Graphique 37" descr="Utilisateur avec un remplissage uni">
                <a:extLst>
                  <a:ext uri="{FF2B5EF4-FFF2-40B4-BE49-F238E27FC236}">
                    <a16:creationId xmlns:a16="http://schemas.microsoft.com/office/drawing/2014/main" id="{E42056F5-4065-F355-0573-2DD022202D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97462" y="5015248"/>
                <a:ext cx="232274" cy="232274"/>
              </a:xfrm>
              <a:prstGeom prst="rect">
                <a:avLst/>
              </a:prstGeom>
            </p:spPr>
          </p:pic>
          <p:pic>
            <p:nvPicPr>
              <p:cNvPr id="48" name="Graphique 47" descr="Utilisateur avec un remplissage uni">
                <a:extLst>
                  <a:ext uri="{FF2B5EF4-FFF2-40B4-BE49-F238E27FC236}">
                    <a16:creationId xmlns:a16="http://schemas.microsoft.com/office/drawing/2014/main" id="{8021639B-1906-D70A-F2DE-BA4D789CAC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19949" y="5294437"/>
                <a:ext cx="232274" cy="232274"/>
              </a:xfrm>
              <a:prstGeom prst="rect">
                <a:avLst/>
              </a:prstGeom>
            </p:spPr>
          </p:pic>
          <p:pic>
            <p:nvPicPr>
              <p:cNvPr id="51" name="Graphique 50" descr="Utilisateur avec un remplissage uni">
                <a:extLst>
                  <a:ext uri="{FF2B5EF4-FFF2-40B4-BE49-F238E27FC236}">
                    <a16:creationId xmlns:a16="http://schemas.microsoft.com/office/drawing/2014/main" id="{30528CE3-816F-135A-F4CF-FD2E73D90F0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58372" y="5294437"/>
                <a:ext cx="232274" cy="232274"/>
              </a:xfrm>
              <a:prstGeom prst="rect">
                <a:avLst/>
              </a:prstGeom>
            </p:spPr>
          </p:pic>
          <p:pic>
            <p:nvPicPr>
              <p:cNvPr id="63" name="Graphique 62" descr="Utilisateur avec un remplissage uni">
                <a:extLst>
                  <a:ext uri="{FF2B5EF4-FFF2-40B4-BE49-F238E27FC236}">
                    <a16:creationId xmlns:a16="http://schemas.microsoft.com/office/drawing/2014/main" id="{F9189E86-E366-ACAE-1DC7-4903C256FF6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29736" y="5289944"/>
                <a:ext cx="232274" cy="232274"/>
              </a:xfrm>
              <a:prstGeom prst="rect">
                <a:avLst/>
              </a:prstGeom>
            </p:spPr>
          </p:pic>
          <p:pic>
            <p:nvPicPr>
              <p:cNvPr id="65" name="Graphique 64" descr="Utilisateur avec un remplissage uni">
                <a:extLst>
                  <a:ext uri="{FF2B5EF4-FFF2-40B4-BE49-F238E27FC236}">
                    <a16:creationId xmlns:a16="http://schemas.microsoft.com/office/drawing/2014/main" id="{FC581EB9-1EBC-02C4-D6E4-2D0431FA07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776991" y="5294437"/>
                <a:ext cx="232274" cy="232274"/>
              </a:xfrm>
              <a:prstGeom prst="rect">
                <a:avLst/>
              </a:prstGeom>
            </p:spPr>
          </p:pic>
          <p:sp>
            <p:nvSpPr>
              <p:cNvPr id="72" name="ZoneTexte 71">
                <a:extLst>
                  <a:ext uri="{FF2B5EF4-FFF2-40B4-BE49-F238E27FC236}">
                    <a16:creationId xmlns:a16="http://schemas.microsoft.com/office/drawing/2014/main" id="{A672F15E-6356-E8B0-CAF0-309EE47B315F}"/>
                  </a:ext>
                </a:extLst>
              </p:cNvPr>
              <p:cNvSpPr txBox="1"/>
              <p:nvPr/>
            </p:nvSpPr>
            <p:spPr>
              <a:xfrm rot="10800000" flipV="1">
                <a:off x="1063734" y="5162542"/>
                <a:ext cx="645886" cy="215444"/>
              </a:xfrm>
              <a:prstGeom prst="rect">
                <a:avLst/>
              </a:prstGeom>
              <a:noFill/>
            </p:spPr>
            <p:txBody>
              <a:bodyPr wrap="square" rtlCol="0">
                <a:spAutoFit/>
              </a:bodyPr>
              <a:lstStyle/>
              <a:p>
                <a:r>
                  <a:rPr lang="fr-FR" sz="800" i="1" dirty="0">
                    <a:latin typeface="+mj-lt"/>
                  </a:rPr>
                  <a:t>Femmes</a:t>
                </a:r>
              </a:p>
            </p:txBody>
          </p:sp>
          <p:cxnSp>
            <p:nvCxnSpPr>
              <p:cNvPr id="76" name="Connecteur droit 75">
                <a:extLst>
                  <a:ext uri="{FF2B5EF4-FFF2-40B4-BE49-F238E27FC236}">
                    <a16:creationId xmlns:a16="http://schemas.microsoft.com/office/drawing/2014/main" id="{71FD6B35-CC31-CBC4-ADAA-414C8AA86694}"/>
                  </a:ext>
                </a:extLst>
              </p:cNvPr>
              <p:cNvCxnSpPr>
                <a:cxnSpLocks/>
              </p:cNvCxnSpPr>
              <p:nvPr/>
            </p:nvCxnSpPr>
            <p:spPr>
              <a:xfrm flipH="1">
                <a:off x="2216493" y="5272330"/>
                <a:ext cx="118875" cy="113350"/>
              </a:xfrm>
              <a:prstGeom prst="line">
                <a:avLst/>
              </a:prstGeom>
              <a:ln w="12700">
                <a:solidFill>
                  <a:srgbClr val="007C80"/>
                </a:solidFill>
                <a:prstDash val="dash"/>
              </a:ln>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C243A4B1-8DFF-D6EF-0735-1CB0A0889F54}"/>
                  </a:ext>
                </a:extLst>
              </p:cNvPr>
              <p:cNvCxnSpPr>
                <a:cxnSpLocks/>
              </p:cNvCxnSpPr>
              <p:nvPr/>
            </p:nvCxnSpPr>
            <p:spPr>
              <a:xfrm>
                <a:off x="3276988" y="5249616"/>
                <a:ext cx="92415" cy="113350"/>
              </a:xfrm>
              <a:prstGeom prst="line">
                <a:avLst/>
              </a:prstGeom>
              <a:ln w="12700">
                <a:solidFill>
                  <a:srgbClr val="007C80"/>
                </a:solidFill>
                <a:prstDash val="dash"/>
              </a:ln>
            </p:spPr>
            <p:style>
              <a:lnRef idx="1">
                <a:schemeClr val="accent1"/>
              </a:lnRef>
              <a:fillRef idx="0">
                <a:schemeClr val="accent1"/>
              </a:fillRef>
              <a:effectRef idx="0">
                <a:schemeClr val="accent1"/>
              </a:effectRef>
              <a:fontRef idx="minor">
                <a:schemeClr val="tx1"/>
              </a:fontRef>
            </p:style>
          </p:cxnSp>
        </p:grpSp>
        <p:grpSp>
          <p:nvGrpSpPr>
            <p:cNvPr id="103" name="Groupe 102">
              <a:extLst>
                <a:ext uri="{FF2B5EF4-FFF2-40B4-BE49-F238E27FC236}">
                  <a16:creationId xmlns:a16="http://schemas.microsoft.com/office/drawing/2014/main" id="{35A1E15F-0F61-7017-665D-AE2442AEAC8D}"/>
                </a:ext>
              </a:extLst>
            </p:cNvPr>
            <p:cNvGrpSpPr/>
            <p:nvPr/>
          </p:nvGrpSpPr>
          <p:grpSpPr>
            <a:xfrm>
              <a:off x="1344445" y="4912924"/>
              <a:ext cx="3143831" cy="487131"/>
              <a:chOff x="1063734" y="5630423"/>
              <a:chExt cx="3143831" cy="487131"/>
            </a:xfrm>
          </p:grpSpPr>
          <p:cxnSp>
            <p:nvCxnSpPr>
              <p:cNvPr id="58" name="Connecteur droit 57">
                <a:extLst>
                  <a:ext uri="{FF2B5EF4-FFF2-40B4-BE49-F238E27FC236}">
                    <a16:creationId xmlns:a16="http://schemas.microsoft.com/office/drawing/2014/main" id="{016FEC0F-8829-45A2-F3FF-ABCD5AD3C4F2}"/>
                  </a:ext>
                </a:extLst>
              </p:cNvPr>
              <p:cNvCxnSpPr>
                <a:cxnSpLocks/>
              </p:cNvCxnSpPr>
              <p:nvPr/>
            </p:nvCxnSpPr>
            <p:spPr>
              <a:xfrm>
                <a:off x="1749287" y="5884793"/>
                <a:ext cx="2458278" cy="0"/>
              </a:xfrm>
              <a:prstGeom prst="line">
                <a:avLst/>
              </a:prstGeom>
            </p:spPr>
            <p:style>
              <a:lnRef idx="1">
                <a:schemeClr val="accent5"/>
              </a:lnRef>
              <a:fillRef idx="0">
                <a:schemeClr val="accent5"/>
              </a:fillRef>
              <a:effectRef idx="0">
                <a:schemeClr val="accent5"/>
              </a:effectRef>
              <a:fontRef idx="minor">
                <a:schemeClr val="tx1"/>
              </a:fontRef>
            </p:style>
          </p:cxnSp>
          <p:sp>
            <p:nvSpPr>
              <p:cNvPr id="74" name="ZoneTexte 73">
                <a:extLst>
                  <a:ext uri="{FF2B5EF4-FFF2-40B4-BE49-F238E27FC236}">
                    <a16:creationId xmlns:a16="http://schemas.microsoft.com/office/drawing/2014/main" id="{CF52A4EE-74F8-E12C-F085-DE40A3B14EB1}"/>
                  </a:ext>
                </a:extLst>
              </p:cNvPr>
              <p:cNvSpPr txBox="1"/>
              <p:nvPr/>
            </p:nvSpPr>
            <p:spPr>
              <a:xfrm rot="10800000" flipV="1">
                <a:off x="1063734" y="5757054"/>
                <a:ext cx="663530" cy="215444"/>
              </a:xfrm>
              <a:prstGeom prst="rect">
                <a:avLst/>
              </a:prstGeom>
              <a:noFill/>
            </p:spPr>
            <p:txBody>
              <a:bodyPr wrap="square" rtlCol="0">
                <a:spAutoFit/>
              </a:bodyPr>
              <a:lstStyle/>
              <a:p>
                <a:r>
                  <a:rPr lang="fr-FR" sz="800" i="1" dirty="0">
                    <a:latin typeface="+mj-lt"/>
                  </a:rPr>
                  <a:t>Hommes</a:t>
                </a:r>
              </a:p>
            </p:txBody>
          </p:sp>
          <p:cxnSp>
            <p:nvCxnSpPr>
              <p:cNvPr id="83" name="Connecteur droit 82">
                <a:extLst>
                  <a:ext uri="{FF2B5EF4-FFF2-40B4-BE49-F238E27FC236}">
                    <a16:creationId xmlns:a16="http://schemas.microsoft.com/office/drawing/2014/main" id="{07A6C7D5-B22A-8677-3498-4F15CF5298CF}"/>
                  </a:ext>
                </a:extLst>
              </p:cNvPr>
              <p:cNvCxnSpPr>
                <a:cxnSpLocks/>
              </p:cNvCxnSpPr>
              <p:nvPr/>
            </p:nvCxnSpPr>
            <p:spPr>
              <a:xfrm>
                <a:off x="2626761" y="5855501"/>
                <a:ext cx="92415" cy="113350"/>
              </a:xfrm>
              <a:prstGeom prst="line">
                <a:avLst/>
              </a:prstGeom>
              <a:ln w="12700">
                <a:solidFill>
                  <a:srgbClr val="007C80"/>
                </a:solidFill>
                <a:prstDash val="dash"/>
              </a:ln>
            </p:spPr>
            <p:style>
              <a:lnRef idx="1">
                <a:schemeClr val="accent1"/>
              </a:lnRef>
              <a:fillRef idx="0">
                <a:schemeClr val="accent1"/>
              </a:fillRef>
              <a:effectRef idx="0">
                <a:schemeClr val="accent1"/>
              </a:effectRef>
              <a:fontRef idx="minor">
                <a:schemeClr val="tx1"/>
              </a:fontRef>
            </p:style>
          </p:cxnSp>
          <p:pic>
            <p:nvPicPr>
              <p:cNvPr id="86" name="Graphique 85" descr="Utilisateur avec un remplissage uni">
                <a:extLst>
                  <a:ext uri="{FF2B5EF4-FFF2-40B4-BE49-F238E27FC236}">
                    <a16:creationId xmlns:a16="http://schemas.microsoft.com/office/drawing/2014/main" id="{57D266DD-C995-D316-27B2-550EFCADAF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55654" y="5630423"/>
                <a:ext cx="232274" cy="232274"/>
              </a:xfrm>
              <a:prstGeom prst="rect">
                <a:avLst/>
              </a:prstGeom>
            </p:spPr>
          </p:pic>
          <p:pic>
            <p:nvPicPr>
              <p:cNvPr id="90" name="Graphique 89" descr="Utilisateur avec un remplissage uni">
                <a:extLst>
                  <a:ext uri="{FF2B5EF4-FFF2-40B4-BE49-F238E27FC236}">
                    <a16:creationId xmlns:a16="http://schemas.microsoft.com/office/drawing/2014/main" id="{C31B925A-983B-7567-9EE1-C73C7829E46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70091" y="5632502"/>
                <a:ext cx="232274" cy="232274"/>
              </a:xfrm>
              <a:prstGeom prst="rect">
                <a:avLst/>
              </a:prstGeom>
            </p:spPr>
          </p:pic>
          <p:pic>
            <p:nvPicPr>
              <p:cNvPr id="92" name="Graphique 91" descr="Utilisateur avec un remplissage uni">
                <a:extLst>
                  <a:ext uri="{FF2B5EF4-FFF2-40B4-BE49-F238E27FC236}">
                    <a16:creationId xmlns:a16="http://schemas.microsoft.com/office/drawing/2014/main" id="{6D2DD77F-50AF-B914-A1F2-202E0D9ADAE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938277" y="5884793"/>
                <a:ext cx="232274" cy="232274"/>
              </a:xfrm>
              <a:prstGeom prst="rect">
                <a:avLst/>
              </a:prstGeom>
            </p:spPr>
          </p:pic>
          <p:pic>
            <p:nvPicPr>
              <p:cNvPr id="94" name="Graphique 93" descr="Utilisateur avec un remplissage uni">
                <a:extLst>
                  <a:ext uri="{FF2B5EF4-FFF2-40B4-BE49-F238E27FC236}">
                    <a16:creationId xmlns:a16="http://schemas.microsoft.com/office/drawing/2014/main" id="{AB7C3A60-4555-D2A3-5F82-0FF2FA7B88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93408" y="5885280"/>
                <a:ext cx="232274" cy="232274"/>
              </a:xfrm>
              <a:prstGeom prst="rect">
                <a:avLst/>
              </a:prstGeom>
            </p:spPr>
          </p:pic>
          <p:pic>
            <p:nvPicPr>
              <p:cNvPr id="96" name="Graphique 95" descr="Utilisateur avec un remplissage uni">
                <a:extLst>
                  <a:ext uri="{FF2B5EF4-FFF2-40B4-BE49-F238E27FC236}">
                    <a16:creationId xmlns:a16="http://schemas.microsoft.com/office/drawing/2014/main" id="{2712324F-1050-FF3B-14EC-AFD4611DE2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26400" y="5885280"/>
                <a:ext cx="232274" cy="232274"/>
              </a:xfrm>
              <a:prstGeom prst="rect">
                <a:avLst/>
              </a:prstGeom>
            </p:spPr>
          </p:pic>
          <p:cxnSp>
            <p:nvCxnSpPr>
              <p:cNvPr id="98" name="Connecteur droit 97">
                <a:extLst>
                  <a:ext uri="{FF2B5EF4-FFF2-40B4-BE49-F238E27FC236}">
                    <a16:creationId xmlns:a16="http://schemas.microsoft.com/office/drawing/2014/main" id="{EA9A454F-FF15-7361-7E88-2E654468091B}"/>
                  </a:ext>
                </a:extLst>
              </p:cNvPr>
              <p:cNvCxnSpPr>
                <a:cxnSpLocks/>
              </p:cNvCxnSpPr>
              <p:nvPr/>
            </p:nvCxnSpPr>
            <p:spPr>
              <a:xfrm flipH="1">
                <a:off x="3495799" y="5868255"/>
                <a:ext cx="118875" cy="113350"/>
              </a:xfrm>
              <a:prstGeom prst="line">
                <a:avLst/>
              </a:prstGeom>
              <a:ln w="12700">
                <a:solidFill>
                  <a:srgbClr val="007C80"/>
                </a:solidFill>
                <a:prstDash val="dash"/>
              </a:ln>
            </p:spPr>
            <p:style>
              <a:lnRef idx="1">
                <a:schemeClr val="accent1"/>
              </a:lnRef>
              <a:fillRef idx="0">
                <a:schemeClr val="accent1"/>
              </a:fillRef>
              <a:effectRef idx="0">
                <a:schemeClr val="accent1"/>
              </a:effectRef>
              <a:fontRef idx="minor">
                <a:schemeClr val="tx1"/>
              </a:fontRef>
            </p:style>
          </p:cxnSp>
          <p:pic>
            <p:nvPicPr>
              <p:cNvPr id="100" name="Graphique 99" descr="Utilisateur avec un remplissage uni">
                <a:extLst>
                  <a:ext uri="{FF2B5EF4-FFF2-40B4-BE49-F238E27FC236}">
                    <a16:creationId xmlns:a16="http://schemas.microsoft.com/office/drawing/2014/main" id="{75898738-3C26-ABFE-B557-513AA8C12BB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783702" y="5884793"/>
                <a:ext cx="232274" cy="232274"/>
              </a:xfrm>
              <a:prstGeom prst="rect">
                <a:avLst/>
              </a:prstGeom>
            </p:spPr>
          </p:pic>
        </p:grpSp>
      </p:grpSp>
      <p:pic>
        <p:nvPicPr>
          <p:cNvPr id="107" name="Graphique 106" descr="Utilisateur avec un remplissage uni">
            <a:extLst>
              <a:ext uri="{FF2B5EF4-FFF2-40B4-BE49-F238E27FC236}">
                <a16:creationId xmlns:a16="http://schemas.microsoft.com/office/drawing/2014/main" id="{20D64892-76D9-1AA4-4D4C-79FAF9A2B8E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65065" y="5530059"/>
            <a:ext cx="232274" cy="232274"/>
          </a:xfrm>
          <a:prstGeom prst="rect">
            <a:avLst/>
          </a:prstGeom>
        </p:spPr>
      </p:pic>
      <p:sp>
        <p:nvSpPr>
          <p:cNvPr id="111" name="ZoneTexte 110">
            <a:extLst>
              <a:ext uri="{FF2B5EF4-FFF2-40B4-BE49-F238E27FC236}">
                <a16:creationId xmlns:a16="http://schemas.microsoft.com/office/drawing/2014/main" id="{E27CD172-38E3-888B-333E-A1B59407E825}"/>
              </a:ext>
            </a:extLst>
          </p:cNvPr>
          <p:cNvSpPr txBox="1"/>
          <p:nvPr/>
        </p:nvSpPr>
        <p:spPr>
          <a:xfrm rot="10800000" flipV="1">
            <a:off x="1326567" y="5554737"/>
            <a:ext cx="1391922" cy="215444"/>
          </a:xfrm>
          <a:prstGeom prst="rect">
            <a:avLst/>
          </a:prstGeom>
          <a:noFill/>
        </p:spPr>
        <p:txBody>
          <a:bodyPr wrap="square" rtlCol="0">
            <a:spAutoFit/>
          </a:bodyPr>
          <a:lstStyle/>
          <a:p>
            <a:r>
              <a:rPr lang="fr-FR" sz="800" i="1" dirty="0">
                <a:latin typeface="Segoe UI" panose="020B0502040204020203" pitchFamily="34" charset="0"/>
                <a:cs typeface="Segoe UI" panose="020B0502040204020203" pitchFamily="34" charset="0"/>
              </a:rPr>
              <a:t>Traité (signature d’une RCI)</a:t>
            </a:r>
          </a:p>
        </p:txBody>
      </p:sp>
      <p:pic>
        <p:nvPicPr>
          <p:cNvPr id="113" name="Graphique 112" descr="Utilisateur avec un remplissage uni">
            <a:extLst>
              <a:ext uri="{FF2B5EF4-FFF2-40B4-BE49-F238E27FC236}">
                <a16:creationId xmlns:a16="http://schemas.microsoft.com/office/drawing/2014/main" id="{F2D97FF5-8EA3-9F39-5F6F-6BEBF02B35D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65065" y="6037686"/>
            <a:ext cx="232274" cy="232274"/>
          </a:xfrm>
          <a:prstGeom prst="rect">
            <a:avLst/>
          </a:prstGeom>
        </p:spPr>
      </p:pic>
      <p:sp>
        <p:nvSpPr>
          <p:cNvPr id="115" name="ZoneTexte 114">
            <a:extLst>
              <a:ext uri="{FF2B5EF4-FFF2-40B4-BE49-F238E27FC236}">
                <a16:creationId xmlns:a16="http://schemas.microsoft.com/office/drawing/2014/main" id="{C172751C-DD21-11BC-CF27-D6E221F4B42C}"/>
              </a:ext>
            </a:extLst>
          </p:cNvPr>
          <p:cNvSpPr txBox="1"/>
          <p:nvPr/>
        </p:nvSpPr>
        <p:spPr>
          <a:xfrm rot="10800000" flipV="1">
            <a:off x="1341276" y="6062848"/>
            <a:ext cx="1847241" cy="215444"/>
          </a:xfrm>
          <a:prstGeom prst="rect">
            <a:avLst/>
          </a:prstGeom>
          <a:noFill/>
        </p:spPr>
        <p:txBody>
          <a:bodyPr wrap="square" rtlCol="0">
            <a:spAutoFit/>
          </a:bodyPr>
          <a:lstStyle/>
          <a:p>
            <a:r>
              <a:rPr lang="fr-FR" sz="800" i="1" dirty="0">
                <a:latin typeface="Segoe UI" panose="020B0502040204020203" pitchFamily="34" charset="0"/>
                <a:cs typeface="Segoe UI" panose="020B0502040204020203" pitchFamily="34" charset="0"/>
              </a:rPr>
              <a:t>Non apparié</a:t>
            </a:r>
          </a:p>
        </p:txBody>
      </p:sp>
      <p:pic>
        <p:nvPicPr>
          <p:cNvPr id="117" name="Graphique 116" descr="Utilisateur avec un remplissage uni">
            <a:extLst>
              <a:ext uri="{FF2B5EF4-FFF2-40B4-BE49-F238E27FC236}">
                <a16:creationId xmlns:a16="http://schemas.microsoft.com/office/drawing/2014/main" id="{F05801B8-C81A-0B3B-0736-0E6C71994DA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65065" y="5797564"/>
            <a:ext cx="232274" cy="232274"/>
          </a:xfrm>
          <a:prstGeom prst="rect">
            <a:avLst/>
          </a:prstGeom>
        </p:spPr>
      </p:pic>
      <p:sp>
        <p:nvSpPr>
          <p:cNvPr id="119" name="ZoneTexte 118">
            <a:extLst>
              <a:ext uri="{FF2B5EF4-FFF2-40B4-BE49-F238E27FC236}">
                <a16:creationId xmlns:a16="http://schemas.microsoft.com/office/drawing/2014/main" id="{949FBD9B-E2E9-1453-4C2C-C67FF98B78AE}"/>
              </a:ext>
            </a:extLst>
          </p:cNvPr>
          <p:cNvSpPr txBox="1"/>
          <p:nvPr/>
        </p:nvSpPr>
        <p:spPr>
          <a:xfrm rot="10800000" flipV="1">
            <a:off x="1305126" y="5805412"/>
            <a:ext cx="2191813" cy="215444"/>
          </a:xfrm>
          <a:prstGeom prst="rect">
            <a:avLst/>
          </a:prstGeom>
          <a:noFill/>
        </p:spPr>
        <p:txBody>
          <a:bodyPr wrap="square" rtlCol="0">
            <a:spAutoFit/>
          </a:bodyPr>
          <a:lstStyle/>
          <a:p>
            <a:r>
              <a:rPr lang="fr-FR" sz="800" i="1" dirty="0">
                <a:latin typeface="Segoe UI" panose="020B0502040204020203" pitchFamily="34" charset="0"/>
                <a:cs typeface="Segoe UI" panose="020B0502040204020203" pitchFamily="34" charset="0"/>
              </a:rPr>
              <a:t>Témoin : sortie de CDI pour un motif hors RCI</a:t>
            </a:r>
          </a:p>
        </p:txBody>
      </p:sp>
      <p:sp>
        <p:nvSpPr>
          <p:cNvPr id="125" name="Flèche : bas 124">
            <a:extLst>
              <a:ext uri="{FF2B5EF4-FFF2-40B4-BE49-F238E27FC236}">
                <a16:creationId xmlns:a16="http://schemas.microsoft.com/office/drawing/2014/main" id="{27E86154-13AA-199B-F347-3FE39C46C071}"/>
              </a:ext>
            </a:extLst>
          </p:cNvPr>
          <p:cNvSpPr/>
          <p:nvPr/>
        </p:nvSpPr>
        <p:spPr>
          <a:xfrm>
            <a:off x="2712019" y="3834533"/>
            <a:ext cx="286977" cy="352420"/>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9" name="Flèche : bas 128">
            <a:extLst>
              <a:ext uri="{FF2B5EF4-FFF2-40B4-BE49-F238E27FC236}">
                <a16:creationId xmlns:a16="http://schemas.microsoft.com/office/drawing/2014/main" id="{CF164078-5ACE-A6F5-0532-74E3204F1474}"/>
              </a:ext>
            </a:extLst>
          </p:cNvPr>
          <p:cNvSpPr/>
          <p:nvPr/>
        </p:nvSpPr>
        <p:spPr>
          <a:xfrm>
            <a:off x="2727832" y="3132068"/>
            <a:ext cx="286977" cy="27317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1" name="Graphique 130" descr="Badge avec un remplissage uni">
            <a:extLst>
              <a:ext uri="{FF2B5EF4-FFF2-40B4-BE49-F238E27FC236}">
                <a16:creationId xmlns:a16="http://schemas.microsoft.com/office/drawing/2014/main" id="{96A775BB-78E5-8DD2-17FD-CF9C6ECA8659}"/>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788711" y="1357648"/>
            <a:ext cx="285166" cy="285166"/>
          </a:xfrm>
          <a:prstGeom prst="rect">
            <a:avLst/>
          </a:prstGeom>
        </p:spPr>
      </p:pic>
      <p:sp>
        <p:nvSpPr>
          <p:cNvPr id="133" name="ZoneTexte 132">
            <a:extLst>
              <a:ext uri="{FF2B5EF4-FFF2-40B4-BE49-F238E27FC236}">
                <a16:creationId xmlns:a16="http://schemas.microsoft.com/office/drawing/2014/main" id="{0C68E7D1-D1B9-EE79-4197-E65A245160E7}"/>
              </a:ext>
            </a:extLst>
          </p:cNvPr>
          <p:cNvSpPr txBox="1"/>
          <p:nvPr/>
        </p:nvSpPr>
        <p:spPr>
          <a:xfrm>
            <a:off x="5295349" y="1497786"/>
            <a:ext cx="2898209" cy="246221"/>
          </a:xfrm>
          <a:prstGeom prst="rect">
            <a:avLst/>
          </a:prstGeom>
          <a:noFill/>
        </p:spPr>
        <p:txBody>
          <a:bodyPr wrap="square" rtlCol="0">
            <a:spAutoFit/>
          </a:bodyPr>
          <a:lstStyle/>
          <a:p>
            <a:pPr algn="ctr"/>
            <a:r>
              <a:rPr lang="fr-FR" sz="1000" b="1" spc="-30" dirty="0">
                <a:solidFill>
                  <a:schemeClr val="accent5"/>
                </a:solidFill>
                <a:latin typeface="Segoe UI" panose="020B0502040204020203" pitchFamily="34" charset="0"/>
                <a:cs typeface="Segoe UI" panose="020B0502040204020203" pitchFamily="34" charset="0"/>
              </a:rPr>
              <a:t>TEMPS CALENDAIRE</a:t>
            </a:r>
          </a:p>
        </p:txBody>
      </p:sp>
      <p:cxnSp>
        <p:nvCxnSpPr>
          <p:cNvPr id="134" name="Connecteur droit 133">
            <a:extLst>
              <a:ext uri="{FF2B5EF4-FFF2-40B4-BE49-F238E27FC236}">
                <a16:creationId xmlns:a16="http://schemas.microsoft.com/office/drawing/2014/main" id="{1AFC4A7E-4CA4-EFED-64E9-88A2381D475A}"/>
              </a:ext>
            </a:extLst>
          </p:cNvPr>
          <p:cNvCxnSpPr>
            <a:cxnSpLocks/>
          </p:cNvCxnSpPr>
          <p:nvPr/>
        </p:nvCxnSpPr>
        <p:spPr>
          <a:xfrm>
            <a:off x="5515314" y="3827337"/>
            <a:ext cx="2458278" cy="7196"/>
          </a:xfrm>
          <a:prstGeom prst="line">
            <a:avLst/>
          </a:prstGeom>
          <a:ln w="28575"/>
        </p:spPr>
        <p:style>
          <a:lnRef idx="1">
            <a:schemeClr val="accent5"/>
          </a:lnRef>
          <a:fillRef idx="0">
            <a:schemeClr val="accent5"/>
          </a:fillRef>
          <a:effectRef idx="0">
            <a:schemeClr val="accent5"/>
          </a:effectRef>
          <a:fontRef idx="minor">
            <a:schemeClr val="tx1"/>
          </a:fontRef>
        </p:style>
      </p:cxnSp>
      <p:sp>
        <p:nvSpPr>
          <p:cNvPr id="136" name="ZoneTexte 135">
            <a:extLst>
              <a:ext uri="{FF2B5EF4-FFF2-40B4-BE49-F238E27FC236}">
                <a16:creationId xmlns:a16="http://schemas.microsoft.com/office/drawing/2014/main" id="{C0EF3C91-C218-0462-C787-7B02E3F5FF5B}"/>
              </a:ext>
            </a:extLst>
          </p:cNvPr>
          <p:cNvSpPr txBox="1"/>
          <p:nvPr/>
        </p:nvSpPr>
        <p:spPr>
          <a:xfrm rot="10800000" flipV="1">
            <a:off x="4931294" y="1634424"/>
            <a:ext cx="3265633" cy="230832"/>
          </a:xfrm>
          <a:prstGeom prst="rect">
            <a:avLst/>
          </a:prstGeom>
          <a:noFill/>
        </p:spPr>
        <p:txBody>
          <a:bodyPr wrap="square" rtlCol="0">
            <a:spAutoFit/>
          </a:bodyPr>
          <a:lstStyle/>
          <a:p>
            <a:pPr algn="just"/>
            <a:r>
              <a:rPr lang="fr-FR" sz="900" i="1" dirty="0">
                <a:latin typeface="Segoe UI" panose="020B0502040204020203" pitchFamily="34" charset="0"/>
                <a:cs typeface="Segoe UI" panose="020B0502040204020203" pitchFamily="34" charset="0"/>
              </a:rPr>
              <a:t>Cohortes mensuelles de 2022, suivies jusqu’à déc.2025</a:t>
            </a:r>
          </a:p>
        </p:txBody>
      </p:sp>
      <p:sp>
        <p:nvSpPr>
          <p:cNvPr id="138" name="ZoneTexte 137">
            <a:extLst>
              <a:ext uri="{FF2B5EF4-FFF2-40B4-BE49-F238E27FC236}">
                <a16:creationId xmlns:a16="http://schemas.microsoft.com/office/drawing/2014/main" id="{2388FAEC-A789-13DD-4E96-796F84C1A39B}"/>
              </a:ext>
            </a:extLst>
          </p:cNvPr>
          <p:cNvSpPr txBox="1"/>
          <p:nvPr/>
        </p:nvSpPr>
        <p:spPr>
          <a:xfrm rot="10800000" flipV="1">
            <a:off x="1457527" y="4706366"/>
            <a:ext cx="645886" cy="215444"/>
          </a:xfrm>
          <a:prstGeom prst="rect">
            <a:avLst/>
          </a:prstGeom>
          <a:noFill/>
        </p:spPr>
        <p:txBody>
          <a:bodyPr wrap="square" rtlCol="0">
            <a:spAutoFit/>
          </a:bodyPr>
          <a:lstStyle/>
          <a:p>
            <a:r>
              <a:rPr lang="fr-FR" sz="800" i="1" dirty="0">
                <a:latin typeface="+mj-lt"/>
              </a:rPr>
              <a:t>Femmes</a:t>
            </a:r>
          </a:p>
        </p:txBody>
      </p:sp>
    </p:spTree>
    <p:extLst>
      <p:ext uri="{BB962C8B-B14F-4D97-AF65-F5344CB8AC3E}">
        <p14:creationId xmlns:p14="http://schemas.microsoft.com/office/powerpoint/2010/main" val="217232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3755-9E7F-6DD0-2511-8F6338DF5E9B}"/>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0B32F70-519D-8E0A-6EFA-5EFC842212C6}"/>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002C8EB6-B0BB-7B69-293A-C83B24204C68}"/>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endParaRPr lang="fr-FR">
              <a:solidFill>
                <a:srgbClr val="E8F2E0"/>
              </a:solidFill>
            </a:endParaRPr>
          </a:p>
        </p:txBody>
      </p:sp>
      <p:pic>
        <p:nvPicPr>
          <p:cNvPr id="66" name="Graphique 65" descr="Lumières allumées contour">
            <a:extLst>
              <a:ext uri="{FF2B5EF4-FFF2-40B4-BE49-F238E27FC236}">
                <a16:creationId xmlns:a16="http://schemas.microsoft.com/office/drawing/2014/main" id="{212AC5DF-48FD-E578-FD2F-1BA113B47A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pic>
        <p:nvPicPr>
          <p:cNvPr id="6" name="Image 5">
            <a:extLst>
              <a:ext uri="{FF2B5EF4-FFF2-40B4-BE49-F238E27FC236}">
                <a16:creationId xmlns:a16="http://schemas.microsoft.com/office/drawing/2014/main" id="{C0BD0F73-7AFA-0575-337E-450E73D0A12E}"/>
              </a:ext>
            </a:extLst>
          </p:cNvPr>
          <p:cNvPicPr>
            <a:picLocks noChangeAspect="1"/>
          </p:cNvPicPr>
          <p:nvPr/>
        </p:nvPicPr>
        <p:blipFill>
          <a:blip r:embed="rId3"/>
          <a:stretch>
            <a:fillRect/>
          </a:stretch>
        </p:blipFill>
        <p:spPr>
          <a:xfrm>
            <a:off x="939535" y="1597629"/>
            <a:ext cx="4713020" cy="2618344"/>
          </a:xfrm>
          <a:prstGeom prst="rect">
            <a:avLst/>
          </a:prstGeom>
        </p:spPr>
      </p:pic>
      <p:pic>
        <p:nvPicPr>
          <p:cNvPr id="9" name="Image 8">
            <a:extLst>
              <a:ext uri="{FF2B5EF4-FFF2-40B4-BE49-F238E27FC236}">
                <a16:creationId xmlns:a16="http://schemas.microsoft.com/office/drawing/2014/main" id="{CA43BE13-E438-5F38-330A-2F080DAB02A5}"/>
              </a:ext>
            </a:extLst>
          </p:cNvPr>
          <p:cNvPicPr>
            <a:picLocks noChangeAspect="1"/>
          </p:cNvPicPr>
          <p:nvPr/>
        </p:nvPicPr>
        <p:blipFill>
          <a:blip r:embed="rId4"/>
          <a:stretch>
            <a:fillRect/>
          </a:stretch>
        </p:blipFill>
        <p:spPr>
          <a:xfrm>
            <a:off x="6699294" y="1591792"/>
            <a:ext cx="3674416" cy="3674416"/>
          </a:xfrm>
          <a:prstGeom prst="rect">
            <a:avLst/>
          </a:prstGeom>
        </p:spPr>
      </p:pic>
      <p:sp>
        <p:nvSpPr>
          <p:cNvPr id="12" name="Espace réservé du texte 3">
            <a:extLst>
              <a:ext uri="{FF2B5EF4-FFF2-40B4-BE49-F238E27FC236}">
                <a16:creationId xmlns:a16="http://schemas.microsoft.com/office/drawing/2014/main" id="{14DED4DD-39F5-D6FB-605B-A9488DEAA590}"/>
              </a:ext>
            </a:extLst>
          </p:cNvPr>
          <p:cNvSpPr>
            <a:spLocks noGrp="1"/>
          </p:cNvSpPr>
          <p:nvPr>
            <p:ph type="body" sz="quarter" idx="17"/>
          </p:nvPr>
        </p:nvSpPr>
        <p:spPr>
          <a:xfrm>
            <a:off x="791410" y="497148"/>
            <a:ext cx="11377532" cy="350857"/>
          </a:xfrm>
        </p:spPr>
        <p:txBody>
          <a:bodyPr/>
          <a:lstStyle/>
          <a:p>
            <a:r>
              <a:rPr lang="fr-FR" sz="1600"/>
              <a:t>Réévaluation de l'écart de retour à l'emploi à caractéristiques comparables : un écart de trois foins moins que le chiffre de la littérature</a:t>
            </a:r>
            <a:endParaRPr lang="fr-FR" sz="1600" spc="-40">
              <a:highlight>
                <a:srgbClr val="FFFF00"/>
              </a:highlight>
            </a:endParaRPr>
          </a:p>
        </p:txBody>
      </p:sp>
      <p:sp>
        <p:nvSpPr>
          <p:cNvPr id="14" name="Espace réservé du texte 13">
            <a:extLst>
              <a:ext uri="{FF2B5EF4-FFF2-40B4-BE49-F238E27FC236}">
                <a16:creationId xmlns:a16="http://schemas.microsoft.com/office/drawing/2014/main" id="{F90CFDDE-B184-DDCF-CD69-2B7A19376C14}"/>
              </a:ext>
            </a:extLst>
          </p:cNvPr>
          <p:cNvSpPr>
            <a:spLocks noGrp="1"/>
          </p:cNvSpPr>
          <p:nvPr>
            <p:ph type="body" sz="quarter" idx="18"/>
          </p:nvPr>
        </p:nvSpPr>
        <p:spPr>
          <a:xfrm>
            <a:off x="833826" y="953880"/>
            <a:ext cx="10886871" cy="432000"/>
          </a:xfrm>
        </p:spPr>
        <p:txBody>
          <a:bodyPr/>
          <a:lstStyle/>
          <a:p>
            <a:r>
              <a:rPr lang="fr-FR" sz="1400">
                <a:solidFill>
                  <a:schemeClr val="accent3"/>
                </a:solidFill>
              </a:rPr>
              <a:t>Méthodologie : équilibre des covariables après appariement</a:t>
            </a:r>
          </a:p>
        </p:txBody>
      </p:sp>
    </p:spTree>
    <p:extLst>
      <p:ext uri="{BB962C8B-B14F-4D97-AF65-F5344CB8AC3E}">
        <p14:creationId xmlns:p14="http://schemas.microsoft.com/office/powerpoint/2010/main" val="1889621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A8AE0-3A18-D51C-A928-131707BFCB9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7ACDEE3-8ECD-0315-43CC-A110BFE3CB01}"/>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DDC19DCD-F60B-9F3A-0DE1-BBCA6F411C2A}"/>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a:highlight>
                  <a:srgbClr val="FFFF00"/>
                </a:highlight>
              </a:rPr>
              <a:t>​</a:t>
            </a: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endParaRPr lang="fr-FR" b="0">
              <a:highlight>
                <a:srgbClr val="FFFF00"/>
              </a:highlight>
            </a:endParaRPr>
          </a:p>
          <a:p>
            <a:br>
              <a:rPr lang="fr-FR">
                <a:highlight>
                  <a:srgbClr val="FFFF00"/>
                </a:highlight>
              </a:rPr>
            </a:br>
            <a:r>
              <a:rPr lang="fr-FR">
                <a:highlight>
                  <a:srgbClr val="FFFF00"/>
                </a:highlight>
              </a:rPr>
              <a:t>XXXXXX – SCHEMA DE COMMENT SONT CONSTRUITES LES COHORTES MENSUELLES ET COMMENT CA S’ARTCULE DANS MA REGRESSION </a:t>
            </a:r>
            <a:endParaRPr lang="fr-FR">
              <a:solidFill>
                <a:srgbClr val="E8F2E0"/>
              </a:solidFill>
              <a:highlight>
                <a:srgbClr val="FFFF00"/>
              </a:highlight>
            </a:endParaRPr>
          </a:p>
        </p:txBody>
      </p:sp>
      <p:sp>
        <p:nvSpPr>
          <p:cNvPr id="4" name="Espace réservé du texte 3">
            <a:extLst>
              <a:ext uri="{FF2B5EF4-FFF2-40B4-BE49-F238E27FC236}">
                <a16:creationId xmlns:a16="http://schemas.microsoft.com/office/drawing/2014/main" id="{542B55D1-F4EC-5F07-680C-19C8F3D4E414}"/>
              </a:ext>
            </a:extLst>
          </p:cNvPr>
          <p:cNvSpPr>
            <a:spLocks noGrp="1"/>
          </p:cNvSpPr>
          <p:nvPr>
            <p:ph type="body" sz="quarter" idx="17"/>
          </p:nvPr>
        </p:nvSpPr>
        <p:spPr>
          <a:xfrm>
            <a:off x="814468" y="575374"/>
            <a:ext cx="11135794" cy="350857"/>
          </a:xfrm>
        </p:spPr>
        <p:txBody>
          <a:bodyPr/>
          <a:lstStyle/>
          <a:p>
            <a:r>
              <a:rPr lang="fr-FR" sz="1600"/>
              <a:t>RÉÉVALUATION DE L'ÉCART DE RETOUR À L'EMPLOI À CARACTÉRISTIQUES COMPARABLES : UN ÉCART DE TROIS FOINS MOINDRE QUE CELUI AVANCÉ PAR LA LITTÉRATURE </a:t>
            </a:r>
            <a:endParaRPr lang="fr-FR" sz="1600" spc="-40">
              <a:highlight>
                <a:srgbClr val="FFFF00"/>
              </a:highlight>
            </a:endParaRPr>
          </a:p>
        </p:txBody>
      </p:sp>
      <p:sp>
        <p:nvSpPr>
          <p:cNvPr id="7" name="Espace réservé du texte 6">
            <a:extLst>
              <a:ext uri="{FF2B5EF4-FFF2-40B4-BE49-F238E27FC236}">
                <a16:creationId xmlns:a16="http://schemas.microsoft.com/office/drawing/2014/main" id="{E1B722B0-39D4-E1AA-BEE8-E49A53872A11}"/>
              </a:ext>
            </a:extLst>
          </p:cNvPr>
          <p:cNvSpPr>
            <a:spLocks noGrp="1"/>
          </p:cNvSpPr>
          <p:nvPr>
            <p:ph type="body" sz="quarter" idx="18"/>
          </p:nvPr>
        </p:nvSpPr>
        <p:spPr>
          <a:xfrm>
            <a:off x="814468" y="1023046"/>
            <a:ext cx="10753532" cy="432000"/>
          </a:xfrm>
        </p:spPr>
        <p:txBody>
          <a:bodyPr/>
          <a:lstStyle/>
          <a:p>
            <a:r>
              <a:rPr lang="fr-FR" sz="1400">
                <a:solidFill>
                  <a:schemeClr val="accent3"/>
                </a:solidFill>
              </a:rPr>
              <a:t>Méthodologie : apport de l’</a:t>
            </a:r>
            <a:r>
              <a:rPr lang="fr-FR" sz="1400" err="1">
                <a:solidFill>
                  <a:schemeClr val="accent3"/>
                </a:solidFill>
              </a:rPr>
              <a:t>event</a:t>
            </a:r>
            <a:r>
              <a:rPr lang="fr-FR" sz="1400">
                <a:solidFill>
                  <a:schemeClr val="accent3"/>
                </a:solidFill>
              </a:rPr>
              <a:t> </a:t>
            </a:r>
            <a:r>
              <a:rPr lang="fr-FR" sz="1400" err="1">
                <a:solidFill>
                  <a:schemeClr val="accent3"/>
                </a:solidFill>
              </a:rPr>
              <a:t>study</a:t>
            </a:r>
            <a:r>
              <a:rPr lang="fr-FR" sz="1400">
                <a:solidFill>
                  <a:schemeClr val="accent3"/>
                </a:solidFill>
              </a:rPr>
              <a:t> empilé avec appariement sur caractéristiques observables</a:t>
            </a:r>
          </a:p>
        </p:txBody>
      </p:sp>
    </p:spTree>
    <p:extLst>
      <p:ext uri="{BB962C8B-B14F-4D97-AF65-F5344CB8AC3E}">
        <p14:creationId xmlns:p14="http://schemas.microsoft.com/office/powerpoint/2010/main" val="2131886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333D6-8055-B182-48A8-44F3728086F3}"/>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49BB094-2BE2-D8AD-02B0-244DD93D419F}"/>
              </a:ext>
            </a:extLst>
          </p:cNvPr>
          <p:cNvSpPr>
            <a:spLocks noGrp="1"/>
          </p:cNvSpPr>
          <p:nvPr>
            <p:ph type="body" sz="quarter" idx="15"/>
          </p:nvPr>
        </p:nvSpPr>
        <p:spPr>
          <a:xfrm>
            <a:off x="3499945" y="133613"/>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B2F847BA-43F7-ACF0-DA4E-E3057AF7E138}"/>
              </a:ext>
            </a:extLst>
          </p:cNvPr>
          <p:cNvSpPr>
            <a:spLocks noGrp="1"/>
          </p:cNvSpPr>
          <p:nvPr>
            <p:ph type="body" sz="quarter" idx="16"/>
          </p:nvPr>
        </p:nvSpPr>
        <p:spPr>
          <a:xfrm>
            <a:off x="814467" y="1455046"/>
            <a:ext cx="10967748" cy="4957002"/>
          </a:xfrm>
          <a:solidFill>
            <a:srgbClr val="E8F2E0"/>
          </a:solidFill>
          <a:ln>
            <a:solidFill>
              <a:srgbClr val="FFFFFF"/>
            </a:solidFill>
          </a:ln>
        </p:spPr>
        <p:txBody>
          <a:bodyPr/>
          <a:lstStyle/>
          <a:p>
            <a:endParaRPr lang="fr-FR" b="0"/>
          </a:p>
          <a:p>
            <a:r>
              <a:rPr lang="fr-FR" b="0">
                <a:solidFill>
                  <a:srgbClr val="E8F2E0"/>
                </a:solidFill>
              </a:rPr>
              <a:t>S</a:t>
            </a:r>
          </a:p>
          <a:p>
            <a:endParaRPr lang="fr-FR" b="0">
              <a:solidFill>
                <a:srgbClr val="E8F2E0"/>
              </a:solidFill>
            </a:endParaRPr>
          </a:p>
          <a:p>
            <a:r>
              <a:rPr lang="fr-FR" b="0">
                <a:solidFill>
                  <a:srgbClr val="E8F2E0"/>
                </a:solidFill>
              </a:rPr>
              <a:t>S   FFF</a:t>
            </a:r>
            <a:endParaRPr lang="fr-FR" b="0"/>
          </a:p>
        </p:txBody>
      </p:sp>
      <p:pic>
        <p:nvPicPr>
          <p:cNvPr id="66" name="Graphique 65" descr="Lumières allumées contour">
            <a:extLst>
              <a:ext uri="{FF2B5EF4-FFF2-40B4-BE49-F238E27FC236}">
                <a16:creationId xmlns:a16="http://schemas.microsoft.com/office/drawing/2014/main" id="{3EEB87A2-3E95-70A5-230E-4D3E82C9B0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6" name="Espace réservé du texte 5">
            <a:extLst>
              <a:ext uri="{FF2B5EF4-FFF2-40B4-BE49-F238E27FC236}">
                <a16:creationId xmlns:a16="http://schemas.microsoft.com/office/drawing/2014/main" id="{E6B88813-B090-D9CC-D9F2-28514F40AD93}"/>
              </a:ext>
            </a:extLst>
          </p:cNvPr>
          <p:cNvSpPr>
            <a:spLocks noGrp="1"/>
          </p:cNvSpPr>
          <p:nvPr>
            <p:ph type="body" sz="quarter" idx="17"/>
          </p:nvPr>
        </p:nvSpPr>
        <p:spPr>
          <a:xfrm>
            <a:off x="814467" y="406495"/>
            <a:ext cx="11110569" cy="432000"/>
          </a:xfrm>
        </p:spPr>
        <p:txBody>
          <a:bodyPr/>
          <a:lstStyle/>
          <a:p>
            <a:r>
              <a:rPr lang="fr-FR"/>
              <a:t>Réévaluation de l'écart de retour à l'emploi à caractéristiques comparables : +5,5 points d'emploi salarié à 10 mois pour les sortants de RCI par rapport aux autres motifs de fin de CDI</a:t>
            </a:r>
            <a:endParaRPr lang="fr-FR" spc="-40">
              <a:highlight>
                <a:srgbClr val="FFFF00"/>
              </a:highlight>
            </a:endParaRPr>
          </a:p>
        </p:txBody>
      </p:sp>
      <p:sp>
        <p:nvSpPr>
          <p:cNvPr id="9" name="Espace réservé du texte 8">
            <a:extLst>
              <a:ext uri="{FF2B5EF4-FFF2-40B4-BE49-F238E27FC236}">
                <a16:creationId xmlns:a16="http://schemas.microsoft.com/office/drawing/2014/main" id="{F38A2B85-204D-655A-A70C-8F12EA016E69}"/>
              </a:ext>
            </a:extLst>
          </p:cNvPr>
          <p:cNvSpPr>
            <a:spLocks noGrp="1"/>
          </p:cNvSpPr>
          <p:nvPr>
            <p:ph type="body" sz="quarter" idx="18"/>
          </p:nvPr>
        </p:nvSpPr>
        <p:spPr>
          <a:xfrm>
            <a:off x="814467" y="1165629"/>
            <a:ext cx="10967748" cy="196512"/>
          </a:xfrm>
        </p:spPr>
        <p:txBody>
          <a:bodyPr/>
          <a:lstStyle/>
          <a:p>
            <a:r>
              <a:rPr lang="fr-FR" sz="1400" spc="-90">
                <a:solidFill>
                  <a:schemeClr val="accent3"/>
                </a:solidFill>
              </a:rPr>
              <a:t>Une présence en emploi salarié durable qui rattrape puis dépasse de 0,5 point celle des autres motifs de fin de CDI, au bout de 29 mois</a:t>
            </a:r>
          </a:p>
        </p:txBody>
      </p:sp>
      <p:sp>
        <p:nvSpPr>
          <p:cNvPr id="11" name="ZoneTexte 10">
            <a:extLst>
              <a:ext uri="{FF2B5EF4-FFF2-40B4-BE49-F238E27FC236}">
                <a16:creationId xmlns:a16="http://schemas.microsoft.com/office/drawing/2014/main" id="{CE7E5099-8CE3-C1C2-11C2-8350A2B5BB90}"/>
              </a:ext>
            </a:extLst>
          </p:cNvPr>
          <p:cNvSpPr txBox="1"/>
          <p:nvPr/>
        </p:nvSpPr>
        <p:spPr>
          <a:xfrm>
            <a:off x="1159338" y="2584750"/>
            <a:ext cx="4401977" cy="246221"/>
          </a:xfrm>
          <a:prstGeom prst="rect">
            <a:avLst/>
          </a:prstGeom>
          <a:noFill/>
        </p:spPr>
        <p:txBody>
          <a:bodyPr wrap="square" rtlCol="0">
            <a:spAutoFit/>
          </a:bodyPr>
          <a:lstStyle/>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Graphique salarié</a:t>
            </a:r>
          </a:p>
        </p:txBody>
      </p:sp>
      <p:sp>
        <p:nvSpPr>
          <p:cNvPr id="13" name="ZoneTexte 12">
            <a:extLst>
              <a:ext uri="{FF2B5EF4-FFF2-40B4-BE49-F238E27FC236}">
                <a16:creationId xmlns:a16="http://schemas.microsoft.com/office/drawing/2014/main" id="{87640134-4F6E-FFA9-C0BC-72A67ADAEE8F}"/>
              </a:ext>
            </a:extLst>
          </p:cNvPr>
          <p:cNvSpPr txBox="1"/>
          <p:nvPr/>
        </p:nvSpPr>
        <p:spPr>
          <a:xfrm>
            <a:off x="8158736" y="2599710"/>
            <a:ext cx="4401977" cy="246221"/>
          </a:xfrm>
          <a:prstGeom prst="rect">
            <a:avLst/>
          </a:prstGeom>
          <a:noFill/>
        </p:spPr>
        <p:txBody>
          <a:bodyPr wrap="square" rtlCol="0">
            <a:spAutoFit/>
          </a:bodyPr>
          <a:lstStyle/>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Graphique emploi durable</a:t>
            </a:r>
          </a:p>
        </p:txBody>
      </p:sp>
    </p:spTree>
    <p:extLst>
      <p:ext uri="{BB962C8B-B14F-4D97-AF65-F5344CB8AC3E}">
        <p14:creationId xmlns:p14="http://schemas.microsoft.com/office/powerpoint/2010/main" val="2479771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B387-3F91-CDE9-F456-6A04C067C0C7}"/>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076720B-7F6F-FDFF-CC52-FF51801701CF}"/>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55FBD94B-0683-4532-2BA8-FE0E1A982483}"/>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a:t>XXXXXX</a:t>
            </a:r>
            <a:endParaRPr lang="fr-FR">
              <a:solidFill>
                <a:srgbClr val="E8F2E0"/>
              </a:solidFill>
            </a:endParaRPr>
          </a:p>
        </p:txBody>
      </p:sp>
      <p:sp>
        <p:nvSpPr>
          <p:cNvPr id="4" name="Espace réservé du texte 3">
            <a:extLst>
              <a:ext uri="{FF2B5EF4-FFF2-40B4-BE49-F238E27FC236}">
                <a16:creationId xmlns:a16="http://schemas.microsoft.com/office/drawing/2014/main" id="{EC6389DD-57CF-CAD0-158F-8CEBD3D0E93F}"/>
              </a:ext>
            </a:extLst>
          </p:cNvPr>
          <p:cNvSpPr>
            <a:spLocks noGrp="1"/>
          </p:cNvSpPr>
          <p:nvPr>
            <p:ph type="body" sz="quarter" idx="17"/>
          </p:nvPr>
        </p:nvSpPr>
        <p:spPr>
          <a:xfrm>
            <a:off x="814468" y="591794"/>
            <a:ext cx="11377532" cy="490862"/>
          </a:xfrm>
        </p:spPr>
        <p:txBody>
          <a:bodyPr/>
          <a:lstStyle/>
          <a:p>
            <a:r>
              <a:rPr lang="fr-FR" sz="1600" spc="-40">
                <a:highlight>
                  <a:srgbClr val="FFFF00"/>
                </a:highlight>
              </a:rPr>
              <a:t>Qu’est ce qui se passe quand on compare à des gens aux caractéristiques similaires à long terme</a:t>
            </a:r>
          </a:p>
        </p:txBody>
      </p:sp>
      <p:pic>
        <p:nvPicPr>
          <p:cNvPr id="66" name="Graphique 65" descr="Lumières allumées contour">
            <a:extLst>
              <a:ext uri="{FF2B5EF4-FFF2-40B4-BE49-F238E27FC236}">
                <a16:creationId xmlns:a16="http://schemas.microsoft.com/office/drawing/2014/main" id="{88BC9766-86F7-CCEE-A328-782CB750D0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6CF285C2-D31D-FDE2-70BA-F977EEE73E10}"/>
              </a:ext>
            </a:extLst>
          </p:cNvPr>
          <p:cNvSpPr>
            <a:spLocks noGrp="1"/>
          </p:cNvSpPr>
          <p:nvPr>
            <p:ph type="body" sz="quarter" idx="18"/>
          </p:nvPr>
        </p:nvSpPr>
        <p:spPr>
          <a:xfrm>
            <a:off x="814468" y="942651"/>
            <a:ext cx="10174817" cy="432000"/>
          </a:xfrm>
        </p:spPr>
        <p:txBody>
          <a:bodyPr/>
          <a:lstStyle/>
          <a:p>
            <a:r>
              <a:rPr lang="fr-FR">
                <a:highlight>
                  <a:srgbClr val="FFFF00"/>
                </a:highlight>
              </a:rPr>
              <a:t>RESULTATS emploi salarié</a:t>
            </a:r>
          </a:p>
        </p:txBody>
      </p:sp>
    </p:spTree>
    <p:extLst>
      <p:ext uri="{BB962C8B-B14F-4D97-AF65-F5344CB8AC3E}">
        <p14:creationId xmlns:p14="http://schemas.microsoft.com/office/powerpoint/2010/main" val="2974594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9C6A0-575B-8AC8-D9B7-09961DA8B159}"/>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7A98BD8-5288-9907-0719-80D961F91BD7}"/>
              </a:ext>
            </a:extLst>
          </p:cNvPr>
          <p:cNvSpPr>
            <a:spLocks noGrp="1"/>
          </p:cNvSpPr>
          <p:nvPr>
            <p:ph type="body" sz="quarter" idx="15"/>
          </p:nvPr>
        </p:nvSpPr>
        <p:spPr>
          <a:xfrm>
            <a:off x="3506251" y="340535"/>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12DED94E-3003-7A5C-DBCB-F39F1BFFB868}"/>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a:t>XXXXXX</a:t>
            </a:r>
            <a:endParaRPr lang="fr-FR">
              <a:solidFill>
                <a:srgbClr val="E8F2E0"/>
              </a:solidFill>
            </a:endParaRPr>
          </a:p>
        </p:txBody>
      </p:sp>
      <p:sp>
        <p:nvSpPr>
          <p:cNvPr id="4" name="Espace réservé du texte 3">
            <a:extLst>
              <a:ext uri="{FF2B5EF4-FFF2-40B4-BE49-F238E27FC236}">
                <a16:creationId xmlns:a16="http://schemas.microsoft.com/office/drawing/2014/main" id="{9BF7CA7E-7A2B-699D-C707-0004AD04FC0C}"/>
              </a:ext>
            </a:extLst>
          </p:cNvPr>
          <p:cNvSpPr>
            <a:spLocks noGrp="1"/>
          </p:cNvSpPr>
          <p:nvPr>
            <p:ph type="body" sz="quarter" idx="17"/>
          </p:nvPr>
        </p:nvSpPr>
        <p:spPr>
          <a:xfrm>
            <a:off x="814468" y="591794"/>
            <a:ext cx="11377532" cy="490862"/>
          </a:xfrm>
        </p:spPr>
        <p:txBody>
          <a:bodyPr/>
          <a:lstStyle/>
          <a:p>
            <a:r>
              <a:rPr lang="fr-FR" sz="1600" spc="-40">
                <a:highlight>
                  <a:srgbClr val="FFFF00"/>
                </a:highlight>
              </a:rPr>
              <a:t>Qu’est ce qui se passe quand on compare à des gens aux caractéristiques similaires à long terme</a:t>
            </a:r>
          </a:p>
        </p:txBody>
      </p:sp>
      <p:pic>
        <p:nvPicPr>
          <p:cNvPr id="66" name="Graphique 65" descr="Lumières allumées contour">
            <a:extLst>
              <a:ext uri="{FF2B5EF4-FFF2-40B4-BE49-F238E27FC236}">
                <a16:creationId xmlns:a16="http://schemas.microsoft.com/office/drawing/2014/main" id="{AA904BA5-F8CE-A59B-CB9B-BA5997B361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5560F0DB-C393-02BC-9AED-4AD97FC5DCD7}"/>
              </a:ext>
            </a:extLst>
          </p:cNvPr>
          <p:cNvSpPr>
            <a:spLocks noGrp="1"/>
          </p:cNvSpPr>
          <p:nvPr>
            <p:ph type="body" sz="quarter" idx="18"/>
          </p:nvPr>
        </p:nvSpPr>
        <p:spPr>
          <a:xfrm>
            <a:off x="814468" y="942651"/>
            <a:ext cx="10174817" cy="432000"/>
          </a:xfrm>
        </p:spPr>
        <p:txBody>
          <a:bodyPr/>
          <a:lstStyle/>
          <a:p>
            <a:r>
              <a:rPr lang="fr-FR">
                <a:highlight>
                  <a:srgbClr val="FFFF00"/>
                </a:highlight>
              </a:rPr>
              <a:t>RESULTATS emploi  non salarié</a:t>
            </a:r>
          </a:p>
        </p:txBody>
      </p:sp>
    </p:spTree>
    <p:extLst>
      <p:ext uri="{BB962C8B-B14F-4D97-AF65-F5344CB8AC3E}">
        <p14:creationId xmlns:p14="http://schemas.microsoft.com/office/powerpoint/2010/main" val="1860100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17AE-FD58-D350-7BFC-A27718A6AF32}"/>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9C469E4-7A39-B545-C861-36FB1AEAA748}"/>
              </a:ext>
            </a:extLst>
          </p:cNvPr>
          <p:cNvSpPr>
            <a:spLocks noGrp="1"/>
          </p:cNvSpPr>
          <p:nvPr>
            <p:ph type="body" sz="quarter" idx="15"/>
          </p:nvPr>
        </p:nvSpPr>
        <p:spPr>
          <a:xfrm>
            <a:off x="3699387" y="152062"/>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2307CA8D-CFF8-5239-490B-6359C35D0749}"/>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a:t>XXXXXX</a:t>
            </a:r>
            <a:endParaRPr lang="fr-FR">
              <a:solidFill>
                <a:srgbClr val="E8F2E0"/>
              </a:solidFill>
            </a:endParaRPr>
          </a:p>
        </p:txBody>
      </p:sp>
      <p:sp>
        <p:nvSpPr>
          <p:cNvPr id="4" name="Espace réservé du texte 3">
            <a:extLst>
              <a:ext uri="{FF2B5EF4-FFF2-40B4-BE49-F238E27FC236}">
                <a16:creationId xmlns:a16="http://schemas.microsoft.com/office/drawing/2014/main" id="{E5805DDC-9805-F402-C9D5-94C79196BE51}"/>
              </a:ext>
            </a:extLst>
          </p:cNvPr>
          <p:cNvSpPr>
            <a:spLocks noGrp="1"/>
          </p:cNvSpPr>
          <p:nvPr>
            <p:ph type="body" sz="quarter" idx="17"/>
          </p:nvPr>
        </p:nvSpPr>
        <p:spPr>
          <a:xfrm>
            <a:off x="814468" y="413312"/>
            <a:ext cx="10967748" cy="490862"/>
          </a:xfrm>
        </p:spPr>
        <p:txBody>
          <a:bodyPr/>
          <a:lstStyle/>
          <a:p>
            <a:r>
              <a:rPr lang="fr-FR" sz="1600" spc="-40">
                <a:highlight>
                  <a:srgbClr val="FFFF00"/>
                </a:highlight>
              </a:rPr>
              <a:t>Plus coûteux pour l’assurance-chômage pendant le premier droit, moins coûteux ensuite : un profil en deux temps</a:t>
            </a:r>
          </a:p>
        </p:txBody>
      </p:sp>
      <p:pic>
        <p:nvPicPr>
          <p:cNvPr id="66" name="Graphique 65" descr="Lumières allumées contour">
            <a:extLst>
              <a:ext uri="{FF2B5EF4-FFF2-40B4-BE49-F238E27FC236}">
                <a16:creationId xmlns:a16="http://schemas.microsoft.com/office/drawing/2014/main" id="{08DA4EF6-6A67-134C-9FC1-4092ABC7EF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CDAC4530-CFB9-0BA6-DC6C-CB733B46DE2B}"/>
              </a:ext>
            </a:extLst>
          </p:cNvPr>
          <p:cNvSpPr>
            <a:spLocks noGrp="1"/>
          </p:cNvSpPr>
          <p:nvPr>
            <p:ph type="body" sz="quarter" idx="18"/>
          </p:nvPr>
        </p:nvSpPr>
        <p:spPr>
          <a:xfrm>
            <a:off x="814468" y="965959"/>
            <a:ext cx="10174817" cy="432000"/>
          </a:xfrm>
        </p:spPr>
        <p:txBody>
          <a:bodyPr/>
          <a:lstStyle/>
          <a:p>
            <a:r>
              <a:rPr lang="fr-FR">
                <a:highlight>
                  <a:srgbClr val="FFFF00"/>
                </a:highlight>
              </a:rPr>
              <a:t>XXXXXX</a:t>
            </a:r>
          </a:p>
        </p:txBody>
      </p:sp>
      <p:pic>
        <p:nvPicPr>
          <p:cNvPr id="6" name="Image 5">
            <a:extLst>
              <a:ext uri="{FF2B5EF4-FFF2-40B4-BE49-F238E27FC236}">
                <a16:creationId xmlns:a16="http://schemas.microsoft.com/office/drawing/2014/main" id="{1E7212EA-6F72-6052-AABC-FC48D61E59BD}"/>
              </a:ext>
            </a:extLst>
          </p:cNvPr>
          <p:cNvPicPr>
            <a:picLocks noChangeAspect="1"/>
          </p:cNvPicPr>
          <p:nvPr/>
        </p:nvPicPr>
        <p:blipFill>
          <a:blip r:embed="rId3"/>
          <a:stretch>
            <a:fillRect/>
          </a:stretch>
        </p:blipFill>
        <p:spPr>
          <a:xfrm>
            <a:off x="985977" y="1552115"/>
            <a:ext cx="6744284" cy="3375953"/>
          </a:xfrm>
          <a:prstGeom prst="rect">
            <a:avLst/>
          </a:prstGeom>
        </p:spPr>
      </p:pic>
      <p:sp>
        <p:nvSpPr>
          <p:cNvPr id="9" name="ZoneTexte 8">
            <a:extLst>
              <a:ext uri="{FF2B5EF4-FFF2-40B4-BE49-F238E27FC236}">
                <a16:creationId xmlns:a16="http://schemas.microsoft.com/office/drawing/2014/main" id="{25723F76-A238-BC45-6DAC-6F618DEAFFD7}"/>
              </a:ext>
            </a:extLst>
          </p:cNvPr>
          <p:cNvSpPr txBox="1"/>
          <p:nvPr/>
        </p:nvSpPr>
        <p:spPr>
          <a:xfrm>
            <a:off x="1064745" y="5030267"/>
            <a:ext cx="4401977" cy="861774"/>
          </a:xfrm>
          <a:prstGeom prst="rect">
            <a:avLst/>
          </a:prstGeom>
          <a:noFill/>
        </p:spPr>
        <p:txBody>
          <a:bodyPr wrap="square" rtlCol="0">
            <a:spAutoFit/>
          </a:bodyPr>
          <a:lstStyle/>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Premier droit : les RCI sont indemnisés jusqu’à 5,8 </a:t>
            </a:r>
            <a:r>
              <a:rPr lang="fr-FR" sz="1000" err="1">
                <a:highlight>
                  <a:srgbClr val="FFFF00"/>
                </a:highlight>
                <a:latin typeface="Segoe UI" panose="020B0502040204020203" pitchFamily="34" charset="0"/>
                <a:cs typeface="Segoe UI" panose="020B0502040204020203" pitchFamily="34" charset="0"/>
              </a:rPr>
              <a:t>jourq</a:t>
            </a:r>
            <a:r>
              <a:rPr lang="fr-FR" sz="1000">
                <a:highlight>
                  <a:srgbClr val="FFFF00"/>
                </a:highlight>
                <a:latin typeface="Segoe UI" panose="020B0502040204020203" pitchFamily="34" charset="0"/>
                <a:cs typeface="Segoe UI" panose="020B0502040204020203" pitchFamily="34" charset="0"/>
              </a:rPr>
              <a:t> par mois de </a:t>
            </a:r>
            <a:r>
              <a:rPr lang="fr-FR" sz="1000" err="1">
                <a:highlight>
                  <a:srgbClr val="FFFF00"/>
                </a:highlight>
                <a:latin typeface="Segoe UI" panose="020B0502040204020203" pitchFamily="34" charset="0"/>
                <a:cs typeface="Segoe UI" panose="020B0502040204020203" pitchFamily="34" charset="0"/>
              </a:rPr>
              <a:t>plusn</a:t>
            </a:r>
            <a:r>
              <a:rPr lang="fr-FR" sz="1000">
                <a:highlight>
                  <a:srgbClr val="FFFF00"/>
                </a:highlight>
                <a:latin typeface="Segoe UI" panose="020B0502040204020203" pitchFamily="34" charset="0"/>
                <a:cs typeface="Segoe UI" panose="020B0502040204020203" pitchFamily="34" charset="0"/>
              </a:rPr>
              <a:t> que les témoins, avec un pic à 24 mois</a:t>
            </a:r>
          </a:p>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Bascule à 36 mois ! Écart négatif croissant : -10 jours par mois en six ans</a:t>
            </a:r>
          </a:p>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Cumul sur 72 mois : </a:t>
            </a:r>
            <a:r>
              <a:rPr lang="fr-FR" sz="1000" err="1">
                <a:highlight>
                  <a:srgbClr val="FFFF00"/>
                </a:highlight>
                <a:latin typeface="Segoe UI" panose="020B0502040204020203" pitchFamily="34" charset="0"/>
                <a:cs typeface="Segoe UI" panose="020B0502040204020203" pitchFamily="34" charset="0"/>
              </a:rPr>
              <a:t>xxxxx</a:t>
            </a:r>
            <a:endParaRPr lang="fr-FR" sz="1000">
              <a:highlight>
                <a:srgbClr val="FFFF00"/>
              </a:highlight>
              <a:latin typeface="Segoe UI" panose="020B0502040204020203" pitchFamily="34" charset="0"/>
              <a:cs typeface="Segoe UI" panose="020B0502040204020203" pitchFamily="34" charset="0"/>
            </a:endParaRPr>
          </a:p>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Bilan en euros à calculer même si l’appariement s’est aussi fait sur le </a:t>
            </a:r>
            <a:r>
              <a:rPr lang="fr-FR" sz="1000" err="1">
                <a:highlight>
                  <a:srgbClr val="FFFF00"/>
                </a:highlight>
                <a:latin typeface="Segoe UI" panose="020B0502040204020203" pitchFamily="34" charset="0"/>
                <a:cs typeface="Segoe UI" panose="020B0502040204020203" pitchFamily="34" charset="0"/>
              </a:rPr>
              <a:t>sjr</a:t>
            </a:r>
            <a:r>
              <a:rPr lang="fr-FR" sz="1000">
                <a:highlight>
                  <a:srgbClr val="FFFF00"/>
                </a:highlight>
                <a:latin typeface="Segoe UI" panose="020B0502040204020203" pitchFamily="34" charset="0"/>
                <a:cs typeface="Segoe UI" panose="020B0502040204020203" pitchFamily="34" charset="0"/>
              </a:rPr>
              <a:t>  </a:t>
            </a:r>
          </a:p>
        </p:txBody>
      </p:sp>
      <p:sp>
        <p:nvSpPr>
          <p:cNvPr id="11" name="ZoneTexte 10">
            <a:extLst>
              <a:ext uri="{FF2B5EF4-FFF2-40B4-BE49-F238E27FC236}">
                <a16:creationId xmlns:a16="http://schemas.microsoft.com/office/drawing/2014/main" id="{BDA76888-D87C-DF65-9952-3724CB5211F0}"/>
              </a:ext>
            </a:extLst>
          </p:cNvPr>
          <p:cNvSpPr txBox="1"/>
          <p:nvPr/>
        </p:nvSpPr>
        <p:spPr>
          <a:xfrm>
            <a:off x="6412940" y="5027904"/>
            <a:ext cx="4401977" cy="246221"/>
          </a:xfrm>
          <a:prstGeom prst="rect">
            <a:avLst/>
          </a:prstGeom>
          <a:noFill/>
        </p:spPr>
        <p:txBody>
          <a:bodyPr wrap="square" rtlCol="0">
            <a:spAutoFit/>
          </a:bodyPr>
          <a:lstStyle/>
          <a:p>
            <a:pPr marL="171450" indent="-171450" algn="just">
              <a:buFontTx/>
              <a:buChar char="-"/>
            </a:pPr>
            <a:r>
              <a:rPr lang="fr-FR" sz="1000">
                <a:highlight>
                  <a:srgbClr val="FFFF00"/>
                </a:highlight>
                <a:latin typeface="Segoe UI" panose="020B0502040204020203" pitchFamily="34" charset="0"/>
                <a:cs typeface="Segoe UI" panose="020B0502040204020203" pitchFamily="34" charset="0"/>
              </a:rPr>
              <a:t>Transition : pourquoi ils coutent moins</a:t>
            </a:r>
          </a:p>
        </p:txBody>
      </p:sp>
    </p:spTree>
    <p:extLst>
      <p:ext uri="{BB962C8B-B14F-4D97-AF65-F5344CB8AC3E}">
        <p14:creationId xmlns:p14="http://schemas.microsoft.com/office/powerpoint/2010/main" val="322247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9BC0-084F-D3CC-24DF-C7CFDBAFC80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29CBF7-DF52-0E2C-87D8-96691CB30E73}"/>
              </a:ext>
            </a:extLst>
          </p:cNvPr>
          <p:cNvSpPr>
            <a:spLocks noGrp="1"/>
          </p:cNvSpPr>
          <p:nvPr>
            <p:ph type="body" sz="quarter" idx="15"/>
          </p:nvPr>
        </p:nvSpPr>
        <p:spPr>
          <a:xfrm>
            <a:off x="3771112" y="107691"/>
            <a:ext cx="8061749" cy="199465"/>
          </a:xfrm>
        </p:spPr>
        <p:txBody>
          <a:bodyPr/>
          <a:lstStyle/>
          <a:p>
            <a:r>
              <a:rPr lang="fr-FR"/>
              <a:t>APPARIEMENTS SUR LE MARCHé DU TRAVAIL ET RUPTURES CONVENTIONNELLES</a:t>
            </a:r>
          </a:p>
          <a:p>
            <a:endParaRPr lang="fr-FR"/>
          </a:p>
        </p:txBody>
      </p:sp>
      <p:sp>
        <p:nvSpPr>
          <p:cNvPr id="3" name="Espace réservé du texte 2">
            <a:extLst>
              <a:ext uri="{FF2B5EF4-FFF2-40B4-BE49-F238E27FC236}">
                <a16:creationId xmlns:a16="http://schemas.microsoft.com/office/drawing/2014/main" id="{E21BF00C-9120-4509-8DFA-B3B62AED5252}"/>
              </a:ext>
            </a:extLst>
          </p:cNvPr>
          <p:cNvSpPr>
            <a:spLocks noGrp="1"/>
          </p:cNvSpPr>
          <p:nvPr>
            <p:ph type="body" sz="quarter" idx="16"/>
          </p:nvPr>
        </p:nvSpPr>
        <p:spPr>
          <a:xfrm>
            <a:off x="793388" y="1444121"/>
            <a:ext cx="10967748" cy="4825344"/>
          </a:xfrm>
          <a:solidFill>
            <a:srgbClr val="E8F2E0"/>
          </a:solidFill>
          <a:ln>
            <a:solidFill>
              <a:srgbClr val="FFFFFF"/>
            </a:solidFill>
          </a:ln>
        </p:spPr>
        <p:txBody>
          <a:bodyPr/>
          <a:lstStyle/>
          <a:p>
            <a:r>
              <a:rPr lang="fr-FR" b="0"/>
              <a:t>LES RCI SONT PLUS NOMBREUX PARMI LE GROUPE</a:t>
            </a:r>
            <a:r>
              <a:rPr lang="fr-FR" b="0">
                <a:highlight>
                  <a:srgbClr val="FFFF00"/>
                </a:highlight>
              </a:rPr>
              <a:t> XXX </a:t>
            </a:r>
            <a:r>
              <a:rPr lang="fr-FR" b="0"/>
              <a:t>1 ET 4 </a:t>
            </a:r>
            <a:r>
              <a:rPr lang="fr-FR" b="0">
                <a:highlight>
                  <a:srgbClr val="FFFF00"/>
                </a:highlight>
              </a:rPr>
              <a:t>XXX</a:t>
            </a:r>
            <a:endParaRPr lang="fr-FR">
              <a:solidFill>
                <a:srgbClr val="E8F2E0"/>
              </a:solidFill>
              <a:highlight>
                <a:srgbClr val="FFFF00"/>
              </a:highlight>
            </a:endParaRPr>
          </a:p>
        </p:txBody>
      </p:sp>
      <p:sp>
        <p:nvSpPr>
          <p:cNvPr id="4" name="Espace réservé du texte 3">
            <a:extLst>
              <a:ext uri="{FF2B5EF4-FFF2-40B4-BE49-F238E27FC236}">
                <a16:creationId xmlns:a16="http://schemas.microsoft.com/office/drawing/2014/main" id="{C48EDAE8-3E3D-94E9-59D1-3F83BF8A9163}"/>
              </a:ext>
            </a:extLst>
          </p:cNvPr>
          <p:cNvSpPr>
            <a:spLocks noGrp="1"/>
          </p:cNvSpPr>
          <p:nvPr>
            <p:ph type="body" sz="quarter" idx="17"/>
          </p:nvPr>
        </p:nvSpPr>
        <p:spPr>
          <a:xfrm>
            <a:off x="814467" y="379472"/>
            <a:ext cx="11722271" cy="490862"/>
          </a:xfrm>
        </p:spPr>
        <p:txBody>
          <a:bodyPr/>
          <a:lstStyle/>
          <a:p>
            <a:r>
              <a:rPr lang="fr-FR" sz="1600">
                <a:highlight>
                  <a:srgbClr val="FFFF00"/>
                </a:highlight>
              </a:rPr>
              <a:t>Une surreprésentation des RCI dans deux groupes : reprise rapide en salariat durable et transition vers l'indépendance</a:t>
            </a:r>
            <a:endParaRPr lang="fr-FR" sz="1600" spc="-40">
              <a:highlight>
                <a:srgbClr val="FFFF00"/>
              </a:highlight>
            </a:endParaRPr>
          </a:p>
        </p:txBody>
      </p:sp>
      <p:pic>
        <p:nvPicPr>
          <p:cNvPr id="66" name="Graphique 65" descr="Lumières allumées contour">
            <a:extLst>
              <a:ext uri="{FF2B5EF4-FFF2-40B4-BE49-F238E27FC236}">
                <a16:creationId xmlns:a16="http://schemas.microsoft.com/office/drawing/2014/main" id="{E296C6FD-C360-7E09-1A1E-2A96A2AC6C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C6DAD62E-6325-C239-FE09-D64336BDC550}"/>
              </a:ext>
            </a:extLst>
          </p:cNvPr>
          <p:cNvSpPr>
            <a:spLocks noGrp="1"/>
          </p:cNvSpPr>
          <p:nvPr>
            <p:ph type="body" sz="quarter" idx="18"/>
          </p:nvPr>
        </p:nvSpPr>
        <p:spPr>
          <a:xfrm>
            <a:off x="803927" y="870334"/>
            <a:ext cx="11222010" cy="432000"/>
          </a:xfrm>
        </p:spPr>
        <p:txBody>
          <a:bodyPr/>
          <a:lstStyle/>
          <a:p>
            <a:r>
              <a:rPr lang="fr-FR" sz="1400">
                <a:solidFill>
                  <a:schemeClr val="accent3"/>
                </a:solidFill>
              </a:rPr>
              <a:t>Le moindre coût pour l'assurance chômage s'explique par des reprises d'emploi salarié plus durables, suivies de peu de réinscriptions.</a:t>
            </a:r>
          </a:p>
        </p:txBody>
      </p:sp>
      <p:pic>
        <p:nvPicPr>
          <p:cNvPr id="6" name="Image 5">
            <a:extLst>
              <a:ext uri="{FF2B5EF4-FFF2-40B4-BE49-F238E27FC236}">
                <a16:creationId xmlns:a16="http://schemas.microsoft.com/office/drawing/2014/main" id="{1F69FE2D-563F-0631-620E-4ADB582F3033}"/>
              </a:ext>
            </a:extLst>
          </p:cNvPr>
          <p:cNvPicPr>
            <a:picLocks noChangeAspect="1"/>
          </p:cNvPicPr>
          <p:nvPr/>
        </p:nvPicPr>
        <p:blipFill>
          <a:blip r:embed="rId3"/>
          <a:stretch>
            <a:fillRect/>
          </a:stretch>
        </p:blipFill>
        <p:spPr>
          <a:xfrm>
            <a:off x="969387" y="1858164"/>
            <a:ext cx="4712506" cy="3141671"/>
          </a:xfrm>
          <a:prstGeom prst="rect">
            <a:avLst/>
          </a:prstGeom>
        </p:spPr>
      </p:pic>
      <p:pic>
        <p:nvPicPr>
          <p:cNvPr id="9" name="Image 8">
            <a:extLst>
              <a:ext uri="{FF2B5EF4-FFF2-40B4-BE49-F238E27FC236}">
                <a16:creationId xmlns:a16="http://schemas.microsoft.com/office/drawing/2014/main" id="{FF3D4CD4-BE4A-9D75-E4FB-D29510B52240}"/>
              </a:ext>
            </a:extLst>
          </p:cNvPr>
          <p:cNvPicPr>
            <a:picLocks noChangeAspect="1"/>
          </p:cNvPicPr>
          <p:nvPr/>
        </p:nvPicPr>
        <p:blipFill>
          <a:blip r:embed="rId4"/>
          <a:stretch>
            <a:fillRect/>
          </a:stretch>
        </p:blipFill>
        <p:spPr>
          <a:xfrm>
            <a:off x="5987905" y="1858164"/>
            <a:ext cx="5467219" cy="3644813"/>
          </a:xfrm>
          <a:prstGeom prst="rect">
            <a:avLst/>
          </a:prstGeom>
        </p:spPr>
      </p:pic>
    </p:spTree>
    <p:extLst>
      <p:ext uri="{BB962C8B-B14F-4D97-AF65-F5344CB8AC3E}">
        <p14:creationId xmlns:p14="http://schemas.microsoft.com/office/powerpoint/2010/main" val="3247102044"/>
      </p:ext>
    </p:extLst>
  </p:cSld>
  <p:clrMapOvr>
    <a:masterClrMapping/>
  </p:clrMapOvr>
</p:sld>
</file>

<file path=ppt/theme/theme1.xml><?xml version="1.0" encoding="utf-8"?>
<a:theme xmlns:a="http://schemas.openxmlformats.org/drawingml/2006/main" name="Modele_vert_16_9">
  <a:themeElements>
    <a:clrScheme name="Charte ligne graphique 2021">
      <a:dk1>
        <a:sysClr val="windowText" lastClr="000000"/>
      </a:dk1>
      <a:lt1>
        <a:sysClr val="window" lastClr="FFFFFF"/>
      </a:lt1>
      <a:dk2>
        <a:srgbClr val="707982"/>
      </a:dk2>
      <a:lt2>
        <a:srgbClr val="9BA6B2"/>
      </a:lt2>
      <a:accent1>
        <a:srgbClr val="6B368A"/>
      </a:accent1>
      <a:accent2>
        <a:srgbClr val="E30045"/>
      </a:accent2>
      <a:accent3>
        <a:srgbClr val="007C80"/>
      </a:accent3>
      <a:accent4>
        <a:srgbClr val="FF9600"/>
      </a:accent4>
      <a:accent5>
        <a:srgbClr val="7BBB53"/>
      </a:accent5>
      <a:accent6>
        <a:srgbClr val="00A6C3"/>
      </a:accent6>
      <a:hlink>
        <a:srgbClr val="6FABB2"/>
      </a:hlink>
      <a:folHlink>
        <a:srgbClr val="6B368A"/>
      </a:folHlink>
    </a:clrScheme>
    <a:fontScheme name="Unédic">
      <a:majorFont>
        <a:latin typeface="Montserrat"/>
        <a:ea typeface=""/>
        <a:cs typeface=""/>
      </a:majorFont>
      <a:minorFont>
        <a:latin typeface="Source Sans Pro"/>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_vert_16_9" id="{FFF3C14D-78D7-4C9C-9FF1-2C86A633FC29}" vid="{D370BA40-5609-475F-ACA0-86274D865AFA}"/>
    </a:ext>
  </a:extLst>
</a:theme>
</file>

<file path=ppt/theme/theme2.xml><?xml version="1.0" encoding="utf-8"?>
<a:theme xmlns:a="http://schemas.openxmlformats.org/drawingml/2006/main" name="1.SUITE VERTE">
  <a:themeElements>
    <a:clrScheme name="Charte ligne graphique 2021">
      <a:dk1>
        <a:sysClr val="windowText" lastClr="000000"/>
      </a:dk1>
      <a:lt1>
        <a:sysClr val="window" lastClr="FFFFFF"/>
      </a:lt1>
      <a:dk2>
        <a:srgbClr val="707982"/>
      </a:dk2>
      <a:lt2>
        <a:srgbClr val="9BA6B2"/>
      </a:lt2>
      <a:accent1>
        <a:srgbClr val="6B368A"/>
      </a:accent1>
      <a:accent2>
        <a:srgbClr val="E30045"/>
      </a:accent2>
      <a:accent3>
        <a:srgbClr val="007C80"/>
      </a:accent3>
      <a:accent4>
        <a:srgbClr val="FF9600"/>
      </a:accent4>
      <a:accent5>
        <a:srgbClr val="7BBB53"/>
      </a:accent5>
      <a:accent6>
        <a:srgbClr val="00A6C3"/>
      </a:accent6>
      <a:hlink>
        <a:srgbClr val="6FABB2"/>
      </a:hlink>
      <a:folHlink>
        <a:srgbClr val="6B368A"/>
      </a:folHlink>
    </a:clrScheme>
    <a:fontScheme name="Unédic">
      <a:majorFont>
        <a:latin typeface="Montserrat"/>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b PPT Unedic vert OK" id="{D094EB0B-C931-C84E-B8DE-A465671A60FF}" vid="{7629F21A-BD1C-844F-BC8B-F209114110B0}"/>
    </a:ext>
  </a:extLst>
</a:theme>
</file>

<file path=ppt/theme/theme3.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INTERMEDIAIRE VER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nédic">
      <a:majorFont>
        <a:latin typeface="Montserrat"/>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dcb22d5-5dff-40e2-94a8-bdb4298f3331}" enabled="0" method="" siteId="{4dcb22d5-5dff-40e2-94a8-bdb4298f3331}" removed="1"/>
</clbl:labelList>
</file>

<file path=docProps/app.xml><?xml version="1.0" encoding="utf-8"?>
<Properties xmlns="http://schemas.openxmlformats.org/officeDocument/2006/extended-properties" xmlns:vt="http://schemas.openxmlformats.org/officeDocument/2006/docPropsVTypes">
  <Template>Modèle_EXTERNE</Template>
  <TotalTime>0</TotalTime>
  <Words>2881</Words>
  <Application>Microsoft Office PowerPoint</Application>
  <PresentationFormat>Grand écran</PresentationFormat>
  <Paragraphs>294</Paragraphs>
  <Slides>17</Slides>
  <Notes>0</Notes>
  <HiddenSlides>0</HiddenSlides>
  <MMClips>0</MMClips>
  <ScaleCrop>false</ScaleCrop>
  <HeadingPairs>
    <vt:vector size="6" baseType="variant">
      <vt:variant>
        <vt:lpstr>Polices utilisées</vt:lpstr>
      </vt:variant>
      <vt:variant>
        <vt:i4>9</vt:i4>
      </vt:variant>
      <vt:variant>
        <vt:lpstr>Thème</vt:lpstr>
      </vt:variant>
      <vt:variant>
        <vt:i4>4</vt:i4>
      </vt:variant>
      <vt:variant>
        <vt:lpstr>Titres des diapositives</vt:lpstr>
      </vt:variant>
      <vt:variant>
        <vt:i4>17</vt:i4>
      </vt:variant>
    </vt:vector>
  </HeadingPairs>
  <TitlesOfParts>
    <vt:vector size="30" baseType="lpstr">
      <vt:lpstr>Arial</vt:lpstr>
      <vt:lpstr>Cambria Math</vt:lpstr>
      <vt:lpstr>Courier New</vt:lpstr>
      <vt:lpstr>Google Sans Text</vt:lpstr>
      <vt:lpstr>Montserrat</vt:lpstr>
      <vt:lpstr>Montserrat Medium</vt:lpstr>
      <vt:lpstr>Montserrat SemiBold</vt:lpstr>
      <vt:lpstr>Segoe UI</vt:lpstr>
      <vt:lpstr>Wingdings</vt:lpstr>
      <vt:lpstr>Modele_vert_16_9</vt:lpstr>
      <vt:lpstr>1.SUITE VERTE</vt:lpstr>
      <vt:lpstr>Conception personnalisée</vt:lpstr>
      <vt:lpstr>1.INTERMEDIAIRE VERT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CONART Isabelle</dc:creator>
  <cp:lastModifiedBy>EL AAZDOUDI Salma</cp:lastModifiedBy>
  <cp:revision>1</cp:revision>
  <cp:lastPrinted>2026-09-14T19:40:26Z</cp:lastPrinted>
  <dcterms:created xsi:type="dcterms:W3CDTF">2025-03-03T10:22:42Z</dcterms:created>
  <dcterms:modified xsi:type="dcterms:W3CDTF">2026-09-19T12:34:34Z</dcterms:modified>
</cp:coreProperties>
</file>